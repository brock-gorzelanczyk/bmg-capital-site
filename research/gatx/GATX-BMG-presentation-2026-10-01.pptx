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76" r:id="rId1"/>
  </p:sldMasterIdLst>
  <p:notesMasterIdLst>
    <p:notesMasterId r:id="rId35"/>
  </p:notesMasterIdLst>
  <p:handoutMasterIdLst>
    <p:handoutMasterId r:id="rId36"/>
  </p:handoutMasterIdLst>
  <p:sldIdLst>
    <p:sldId id="856" r:id="rId2"/>
    <p:sldId id="667" r:id="rId3"/>
    <p:sldId id="753" r:id="rId4"/>
    <p:sldId id="766" r:id="rId5"/>
    <p:sldId id="889" r:id="rId6"/>
    <p:sldId id="857" r:id="rId7"/>
    <p:sldId id="890" r:id="rId8"/>
    <p:sldId id="833" r:id="rId9"/>
    <p:sldId id="834" r:id="rId10"/>
    <p:sldId id="882" r:id="rId11"/>
    <p:sldId id="883" r:id="rId12"/>
    <p:sldId id="837" r:id="rId13"/>
    <p:sldId id="884" r:id="rId14"/>
    <p:sldId id="839" r:id="rId15"/>
    <p:sldId id="606" r:id="rId16"/>
    <p:sldId id="840" r:id="rId17"/>
    <p:sldId id="867" r:id="rId18"/>
    <p:sldId id="842" r:id="rId19"/>
    <p:sldId id="624" r:id="rId20"/>
    <p:sldId id="843" r:id="rId21"/>
    <p:sldId id="844" r:id="rId22"/>
    <p:sldId id="845" r:id="rId23"/>
    <p:sldId id="846" r:id="rId24"/>
    <p:sldId id="911" r:id="rId43"/>
    <p:sldId id="903" r:id="rId25"/>
    <p:sldId id="910" r:id="rId26"/>
    <p:sldId id="904" r:id="rId27"/>
    <p:sldId id="905" r:id="rId28"/>
    <p:sldId id="909" r:id="rId29"/>
    <p:sldId id="902" r:id="rId30"/>
    <p:sldId id="865" r:id="rId31"/>
    <p:sldId id="688" r:id="rId32"/>
    <p:sldId id="906" r:id="rId33"/>
    <p:sldId id="907" r:id="rId34"/>
  </p:sldIdLst>
  <p:sldSz cx="9144000" cy="6858000" type="screen4x3"/>
  <p:notesSz cx="9223375" cy="70104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8D85C67-8340-4C92-5383-DD69BC0CB1EF}" name="Jakob Juedes" initials="JJ" userId="S::jcjuedes@uwm.edu::2a552fcc-010b-4f09-bebe-1fc3d17caa47" providerId="AD"/>
  <p188:author id="{DE0024EC-9FDF-846B-1B79-86ED9D3E0B30}" name="G Kevin Spellman" initials="GS" userId="b9d6890dc507829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F2C755"/>
    <a:srgbClr val="000000"/>
    <a:srgbClr val="FFFFFF"/>
    <a:srgbClr val="558ED5"/>
    <a:srgbClr val="89C4FF"/>
    <a:srgbClr val="552AD5"/>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48A15A-A799-4323-A45D-C13527DF73E8}" v="23" dt="2026-09-23T17:39:06.865"/>
    <p1510:client id="{15ECE3A1-5FE2-479C-86A2-575E58B778BB}" v="115" dt="2026-09-21T21:50:15.478"/>
    <p1510:client id="{26C057E4-6E04-42AE-AD67-62EE3D337007}" v="288" dt="2026-09-21T20:22:09.645"/>
    <p1510:client id="{27D4F81D-9AD2-4C02-9782-DE3D05710619}" v="999" dt="2026-09-21T19:22:48.839"/>
    <p1510:client id="{3F7C1360-940F-449D-B132-81A9E8E9BA0B}" v="301" dt="2026-09-22T04:12:19.414"/>
    <p1510:client id="{484B57E7-C672-4808-81A8-71D8640D084E}" v="2" dt="2026-09-21T17:50:33.234"/>
    <p1510:client id="{6FD45D17-474E-462E-95B3-780BAE3C008F}" v="181" dt="2026-09-22T05:43:10.847"/>
    <p1510:client id="{F64C655A-58AA-4E07-B457-AAE1CCB1D617}" v="2" dt="2026-09-21T18:08:12.5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 Id="rId35" Type="http://schemas.openxmlformats.org/officeDocument/2006/relationships/notesMaster" Target="notesMasters/notesMaster1.xml"/><Relationship Id="rId36" Type="http://schemas.openxmlformats.org/officeDocument/2006/relationships/handoutMaster" Target="handoutMasters/handout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microsoft.com/office/2015/10/relationships/revisionInfo" Target="revisionInfo.xml"/><Relationship Id="rId42" Type="http://schemas.microsoft.com/office/2018/10/relationships/authors" Target="authors.xml"/><Relationship Id="rId43"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https://panthers-my.sharepoint.com/personal/jcjuedes_uwm_edu/Documents/WEC%20Revisions.xlsx" TargetMode="External"/></Relationships>
</file>

<file path=ppt/charts/_rels/chart2.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package" Target="../embeddings/Microsoft_Excel_Worksheet_2F1_E1DAA832.xlsx"/></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4.xml"/></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32.xml.rels><?xml version='1.0' encoding='UTF-8' standalone='yes'?>
<Relationships xmlns="http://schemas.openxmlformats.org/package/2006/relationships"><Relationship Id="rId1" Type="http://schemas.openxmlformats.org/officeDocument/2006/relationships/themeOverride" Target="../theme/themeOverride5.xml"/><Relationship Id="rId2" Type="http://schemas.openxmlformats.org/officeDocument/2006/relationships/oleObject" Target="https://panthers-my.sharepoint.com/personal/jcjuedes_uwm_edu/Documents/WEC%20Revision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7469838342152657E-2"/>
          <c:y val="4.0160642570281124E-2"/>
          <c:w val="0.80632885562778422"/>
          <c:h val="0.72239720034995625"/>
        </c:manualLayout>
      </c:layout>
      <c:barChart>
        <c:barDir val="col"/>
        <c:grouping val="stacked"/>
        <c:varyColors val="0"/>
        <c:ser>
          <c:idx val="0"/>
          <c:order val="0"/>
          <c:tx>
            <c:strRef>
              <c:f>'Volume to Price'!$C$4</c:f>
              <c:strCache>
                <c:ptCount val="1"/>
                <c:pt idx="0">
                  <c:v>Volume</c:v>
                </c:pt>
              </c:strCache>
            </c:strRef>
          </c:tx>
          <c:spPr>
            <a:solidFill>
              <a:srgbClr val="F2C755"/>
            </a:solidFill>
            <a:ln w="0">
              <a:noFill/>
            </a:ln>
            <a:effectLst/>
          </c:spPr>
          <c:invertIfNegative val="0"/>
          <c:cat>
            <c:strLit>
              <c:ptCount val="301"/>
              <c:pt idx="0">
                <c:v>07/11/2025</c:v>
              </c:pt>
              <c:pt idx="1">
                <c:v>07/14/2025</c:v>
              </c:pt>
              <c:pt idx="2">
                <c:v>07/15/2025</c:v>
              </c:pt>
              <c:pt idx="3">
                <c:v>07/16/2025</c:v>
              </c:pt>
              <c:pt idx="4">
                <c:v>07/17/2025</c:v>
              </c:pt>
              <c:pt idx="5">
                <c:v>07/18/2025</c:v>
              </c:pt>
              <c:pt idx="6">
                <c:v>07/21/2025</c:v>
              </c:pt>
              <c:pt idx="7">
                <c:v>07/22/2025</c:v>
              </c:pt>
              <c:pt idx="8">
                <c:v>07/23/2025</c:v>
              </c:pt>
              <c:pt idx="9">
                <c:v>07/24/2025</c:v>
              </c:pt>
              <c:pt idx="10">
                <c:v>07/25/2025</c:v>
              </c:pt>
              <c:pt idx="11">
                <c:v>07/28/2025</c:v>
              </c:pt>
              <c:pt idx="12">
                <c:v>07/29/2025</c:v>
              </c:pt>
              <c:pt idx="13">
                <c:v>07/30/2025</c:v>
              </c:pt>
              <c:pt idx="14">
                <c:v>07/31/2025</c:v>
              </c:pt>
              <c:pt idx="15">
                <c:v>08/01/2025</c:v>
              </c:pt>
              <c:pt idx="16">
                <c:v>08/04/2025</c:v>
              </c:pt>
              <c:pt idx="17">
                <c:v>08/05/2025</c:v>
              </c:pt>
              <c:pt idx="18">
                <c:v>08/06/2025</c:v>
              </c:pt>
              <c:pt idx="19">
                <c:v>08/07/2025</c:v>
              </c:pt>
              <c:pt idx="20">
                <c:v>08/08/2025</c:v>
              </c:pt>
              <c:pt idx="21">
                <c:v>08/11/2025</c:v>
              </c:pt>
              <c:pt idx="22">
                <c:v>08/12/2025</c:v>
              </c:pt>
              <c:pt idx="23">
                <c:v>08/13/2025</c:v>
              </c:pt>
              <c:pt idx="24">
                <c:v>08/14/2025</c:v>
              </c:pt>
              <c:pt idx="25">
                <c:v>08/15/2025</c:v>
              </c:pt>
              <c:pt idx="26">
                <c:v>08/18/2025</c:v>
              </c:pt>
              <c:pt idx="27">
                <c:v>08/19/2025</c:v>
              </c:pt>
              <c:pt idx="28">
                <c:v>08/20/2025</c:v>
              </c:pt>
              <c:pt idx="29">
                <c:v>08/21/2025</c:v>
              </c:pt>
              <c:pt idx="30">
                <c:v>08/22/2025</c:v>
              </c:pt>
              <c:pt idx="31">
                <c:v>08/25/2025</c:v>
              </c:pt>
              <c:pt idx="32">
                <c:v>08/26/2025</c:v>
              </c:pt>
              <c:pt idx="33">
                <c:v>08/27/2025</c:v>
              </c:pt>
              <c:pt idx="34">
                <c:v>08/28/2025</c:v>
              </c:pt>
              <c:pt idx="35">
                <c:v>08/29/2025</c:v>
              </c:pt>
              <c:pt idx="36">
                <c:v>09/02/2025</c:v>
              </c:pt>
              <c:pt idx="37">
                <c:v>09/03/2025</c:v>
              </c:pt>
              <c:pt idx="38">
                <c:v>09/04/2025</c:v>
              </c:pt>
              <c:pt idx="39">
                <c:v>09/05/2025</c:v>
              </c:pt>
              <c:pt idx="40">
                <c:v>09/08/2025</c:v>
              </c:pt>
              <c:pt idx="41">
                <c:v>09/09/2025</c:v>
              </c:pt>
              <c:pt idx="42">
                <c:v>09/10/2025</c:v>
              </c:pt>
              <c:pt idx="43">
                <c:v>09/11/2025</c:v>
              </c:pt>
              <c:pt idx="44">
                <c:v>09/12/2025</c:v>
              </c:pt>
              <c:pt idx="45">
                <c:v>09/15/2025</c:v>
              </c:pt>
              <c:pt idx="46">
                <c:v>09/16/2025</c:v>
              </c:pt>
              <c:pt idx="47">
                <c:v>09/17/2025</c:v>
              </c:pt>
              <c:pt idx="48">
                <c:v>09/18/2025</c:v>
              </c:pt>
              <c:pt idx="49">
                <c:v>09/19/2025</c:v>
              </c:pt>
              <c:pt idx="50">
                <c:v>09/22/2025</c:v>
              </c:pt>
              <c:pt idx="51">
                <c:v>09/23/2025</c:v>
              </c:pt>
              <c:pt idx="52">
                <c:v>09/24/2025</c:v>
              </c:pt>
              <c:pt idx="53">
                <c:v>09/25/2025</c:v>
              </c:pt>
              <c:pt idx="54">
                <c:v>09/26/2025</c:v>
              </c:pt>
              <c:pt idx="55">
                <c:v>09/29/2025</c:v>
              </c:pt>
              <c:pt idx="56">
                <c:v>09/30/2025</c:v>
              </c:pt>
              <c:pt idx="57">
                <c:v>10/01/2025</c:v>
              </c:pt>
              <c:pt idx="58">
                <c:v>10/02/2025</c:v>
              </c:pt>
              <c:pt idx="59">
                <c:v>10/03/2025</c:v>
              </c:pt>
              <c:pt idx="60">
                <c:v>10/06/2025</c:v>
              </c:pt>
              <c:pt idx="61">
                <c:v>10/07/2025</c:v>
              </c:pt>
              <c:pt idx="62">
                <c:v>10/08/2025</c:v>
              </c:pt>
              <c:pt idx="63">
                <c:v>10/09/2025</c:v>
              </c:pt>
              <c:pt idx="64">
                <c:v>10/10/2025</c:v>
              </c:pt>
              <c:pt idx="65">
                <c:v>10/13/2025</c:v>
              </c:pt>
              <c:pt idx="66">
                <c:v>10/14/2025</c:v>
              </c:pt>
              <c:pt idx="67">
                <c:v>10/15/2025</c:v>
              </c:pt>
              <c:pt idx="68">
                <c:v>10/16/2025</c:v>
              </c:pt>
              <c:pt idx="69">
                <c:v>10/17/2025</c:v>
              </c:pt>
              <c:pt idx="70">
                <c:v>10/20/2025</c:v>
              </c:pt>
              <c:pt idx="71">
                <c:v>10/21/2025</c:v>
              </c:pt>
              <c:pt idx="72">
                <c:v>10/22/2025</c:v>
              </c:pt>
              <c:pt idx="73">
                <c:v>10/23/2025</c:v>
              </c:pt>
              <c:pt idx="74">
                <c:v>10/24/2025</c:v>
              </c:pt>
              <c:pt idx="75">
                <c:v>10/27/2025</c:v>
              </c:pt>
              <c:pt idx="76">
                <c:v>10/28/2025</c:v>
              </c:pt>
              <c:pt idx="77">
                <c:v>10/29/2025</c:v>
              </c:pt>
              <c:pt idx="78">
                <c:v>10/30/2025</c:v>
              </c:pt>
              <c:pt idx="79">
                <c:v>10/31/2025</c:v>
              </c:pt>
              <c:pt idx="80">
                <c:v>11/03/2025</c:v>
              </c:pt>
              <c:pt idx="81">
                <c:v>11/04/2025</c:v>
              </c:pt>
              <c:pt idx="82">
                <c:v>11/05/2025</c:v>
              </c:pt>
              <c:pt idx="83">
                <c:v>11/06/2025</c:v>
              </c:pt>
              <c:pt idx="84">
                <c:v>11/07/2025</c:v>
              </c:pt>
              <c:pt idx="85">
                <c:v>11/10/2025</c:v>
              </c:pt>
              <c:pt idx="86">
                <c:v>11/11/2025</c:v>
              </c:pt>
              <c:pt idx="87">
                <c:v>11/12/2025</c:v>
              </c:pt>
              <c:pt idx="88">
                <c:v>11/13/2025</c:v>
              </c:pt>
              <c:pt idx="89">
                <c:v>11/14/2025</c:v>
              </c:pt>
              <c:pt idx="90">
                <c:v>11/17/2025</c:v>
              </c:pt>
              <c:pt idx="91">
                <c:v>11/18/2025</c:v>
              </c:pt>
              <c:pt idx="92">
                <c:v>11/19/2025</c:v>
              </c:pt>
              <c:pt idx="93">
                <c:v>11/20/2025</c:v>
              </c:pt>
              <c:pt idx="94">
                <c:v>11/21/2025</c:v>
              </c:pt>
              <c:pt idx="95">
                <c:v>11/24/2025</c:v>
              </c:pt>
              <c:pt idx="96">
                <c:v>11/25/2025</c:v>
              </c:pt>
              <c:pt idx="97">
                <c:v>11/26/2025</c:v>
              </c:pt>
              <c:pt idx="98">
                <c:v>11/28/2025</c:v>
              </c:pt>
              <c:pt idx="99">
                <c:v>12/01/2025</c:v>
              </c:pt>
              <c:pt idx="100">
                <c:v>12/02/2025</c:v>
              </c:pt>
              <c:pt idx="101">
                <c:v>12/03/2025</c:v>
              </c:pt>
              <c:pt idx="102">
                <c:v>12/04/2025</c:v>
              </c:pt>
              <c:pt idx="103">
                <c:v>12/05/2025</c:v>
              </c:pt>
              <c:pt idx="104">
                <c:v>12/08/2025</c:v>
              </c:pt>
              <c:pt idx="105">
                <c:v>12/09/2025</c:v>
              </c:pt>
              <c:pt idx="106">
                <c:v>12/10/2025</c:v>
              </c:pt>
              <c:pt idx="107">
                <c:v>12/11/2025</c:v>
              </c:pt>
              <c:pt idx="108">
                <c:v>12/12/2025</c:v>
              </c:pt>
              <c:pt idx="109">
                <c:v>12/15/2025</c:v>
              </c:pt>
              <c:pt idx="110">
                <c:v>12/16/2025</c:v>
              </c:pt>
              <c:pt idx="111">
                <c:v>12/17/2025</c:v>
              </c:pt>
              <c:pt idx="112">
                <c:v>12/18/2025</c:v>
              </c:pt>
              <c:pt idx="113">
                <c:v>12/19/2025</c:v>
              </c:pt>
              <c:pt idx="114">
                <c:v>12/22/2025</c:v>
              </c:pt>
              <c:pt idx="115">
                <c:v>12/23/2025</c:v>
              </c:pt>
              <c:pt idx="116">
                <c:v>12/24/2025</c:v>
              </c:pt>
              <c:pt idx="117">
                <c:v>12/26/2025</c:v>
              </c:pt>
              <c:pt idx="118">
                <c:v>12/29/2025</c:v>
              </c:pt>
              <c:pt idx="119">
                <c:v>12/30/2025</c:v>
              </c:pt>
              <c:pt idx="120">
                <c:v>12/31/2025</c:v>
              </c:pt>
              <c:pt idx="121">
                <c:v>01/02/2026</c:v>
              </c:pt>
              <c:pt idx="122">
                <c:v>01/05/2026</c:v>
              </c:pt>
              <c:pt idx="123">
                <c:v>01/06/2026</c:v>
              </c:pt>
              <c:pt idx="124">
                <c:v>01/07/2026</c:v>
              </c:pt>
              <c:pt idx="125">
                <c:v>01/08/2026</c:v>
              </c:pt>
              <c:pt idx="126">
                <c:v>01/09/2026</c:v>
              </c:pt>
              <c:pt idx="127">
                <c:v>01/12/2026</c:v>
              </c:pt>
              <c:pt idx="128">
                <c:v>01/13/2026</c:v>
              </c:pt>
              <c:pt idx="129">
                <c:v>01/14/2026</c:v>
              </c:pt>
              <c:pt idx="130">
                <c:v>01/15/2026</c:v>
              </c:pt>
              <c:pt idx="131">
                <c:v>01/16/2026</c:v>
              </c:pt>
              <c:pt idx="132">
                <c:v>01/20/2026</c:v>
              </c:pt>
              <c:pt idx="133">
                <c:v>01/21/2026</c:v>
              </c:pt>
              <c:pt idx="134">
                <c:v>01/22/2026</c:v>
              </c:pt>
              <c:pt idx="135">
                <c:v>01/23/2026</c:v>
              </c:pt>
              <c:pt idx="136">
                <c:v>01/26/2026</c:v>
              </c:pt>
              <c:pt idx="137">
                <c:v>01/27/2026</c:v>
              </c:pt>
              <c:pt idx="138">
                <c:v>01/28/2026</c:v>
              </c:pt>
              <c:pt idx="139">
                <c:v>01/29/2026</c:v>
              </c:pt>
              <c:pt idx="140">
                <c:v>01/30/2026</c:v>
              </c:pt>
              <c:pt idx="141">
                <c:v>02/02/2026</c:v>
              </c:pt>
              <c:pt idx="142">
                <c:v>02/03/2026</c:v>
              </c:pt>
              <c:pt idx="143">
                <c:v>02/04/2026</c:v>
              </c:pt>
              <c:pt idx="144">
                <c:v>02/05/2026</c:v>
              </c:pt>
              <c:pt idx="145">
                <c:v>02/06/2026</c:v>
              </c:pt>
              <c:pt idx="146">
                <c:v>02/09/2026</c:v>
              </c:pt>
              <c:pt idx="147">
                <c:v>02/10/2026</c:v>
              </c:pt>
              <c:pt idx="148">
                <c:v>02/11/2026</c:v>
              </c:pt>
              <c:pt idx="149">
                <c:v>02/12/2026</c:v>
              </c:pt>
              <c:pt idx="150">
                <c:v>02/13/2026</c:v>
              </c:pt>
              <c:pt idx="151">
                <c:v>02/17/2026</c:v>
              </c:pt>
              <c:pt idx="152">
                <c:v>02/18/2026</c:v>
              </c:pt>
              <c:pt idx="153">
                <c:v>02/19/2026</c:v>
              </c:pt>
              <c:pt idx="154">
                <c:v>02/20/2026</c:v>
              </c:pt>
              <c:pt idx="155">
                <c:v>02/23/2026</c:v>
              </c:pt>
              <c:pt idx="156">
                <c:v>02/24/2026</c:v>
              </c:pt>
              <c:pt idx="157">
                <c:v>02/25/2026</c:v>
              </c:pt>
              <c:pt idx="158">
                <c:v>02/26/2026</c:v>
              </c:pt>
              <c:pt idx="159">
                <c:v>02/27/2026</c:v>
              </c:pt>
              <c:pt idx="160">
                <c:v>03/02/2026</c:v>
              </c:pt>
              <c:pt idx="161">
                <c:v>03/03/2026</c:v>
              </c:pt>
              <c:pt idx="162">
                <c:v>03/04/2026</c:v>
              </c:pt>
              <c:pt idx="163">
                <c:v>03/05/2026</c:v>
              </c:pt>
              <c:pt idx="164">
                <c:v>03/06/2026</c:v>
              </c:pt>
              <c:pt idx="165">
                <c:v>03/09/2026</c:v>
              </c:pt>
              <c:pt idx="166">
                <c:v>03/10/2026</c:v>
              </c:pt>
              <c:pt idx="167">
                <c:v>03/11/2026</c:v>
              </c:pt>
              <c:pt idx="168">
                <c:v>03/12/2026</c:v>
              </c:pt>
              <c:pt idx="169">
                <c:v>03/13/2026</c:v>
              </c:pt>
              <c:pt idx="170">
                <c:v>03/16/2026</c:v>
              </c:pt>
              <c:pt idx="171">
                <c:v>03/17/2026</c:v>
              </c:pt>
              <c:pt idx="172">
                <c:v>03/18/2026</c:v>
              </c:pt>
              <c:pt idx="173">
                <c:v>03/19/2026</c:v>
              </c:pt>
              <c:pt idx="174">
                <c:v>03/20/2026</c:v>
              </c:pt>
              <c:pt idx="175">
                <c:v>03/23/2026</c:v>
              </c:pt>
              <c:pt idx="176">
                <c:v>03/24/2026</c:v>
              </c:pt>
              <c:pt idx="177">
                <c:v>03/25/2026</c:v>
              </c:pt>
              <c:pt idx="178">
                <c:v>03/26/2026</c:v>
              </c:pt>
              <c:pt idx="179">
                <c:v>03/27/2026</c:v>
              </c:pt>
              <c:pt idx="180">
                <c:v>03/30/2026</c:v>
              </c:pt>
              <c:pt idx="181">
                <c:v>03/31/2026</c:v>
              </c:pt>
              <c:pt idx="182">
                <c:v>04/01/2026</c:v>
              </c:pt>
              <c:pt idx="183">
                <c:v>04/02/2026</c:v>
              </c:pt>
              <c:pt idx="184">
                <c:v>04/06/2026</c:v>
              </c:pt>
              <c:pt idx="185">
                <c:v>04/07/2026</c:v>
              </c:pt>
              <c:pt idx="186">
                <c:v>04/08/2026</c:v>
              </c:pt>
              <c:pt idx="187">
                <c:v>04/09/2026</c:v>
              </c:pt>
              <c:pt idx="188">
                <c:v>04/10/2026</c:v>
              </c:pt>
              <c:pt idx="189">
                <c:v>04/13/2026</c:v>
              </c:pt>
              <c:pt idx="190">
                <c:v>04/14/2026</c:v>
              </c:pt>
              <c:pt idx="191">
                <c:v>04/15/2026</c:v>
              </c:pt>
              <c:pt idx="192">
                <c:v>04/16/2026</c:v>
              </c:pt>
              <c:pt idx="193">
                <c:v>04/17/2026</c:v>
              </c:pt>
              <c:pt idx="194">
                <c:v>04/20/2026</c:v>
              </c:pt>
              <c:pt idx="195">
                <c:v>04/21/2026</c:v>
              </c:pt>
              <c:pt idx="196">
                <c:v>04/22/2026</c:v>
              </c:pt>
              <c:pt idx="197">
                <c:v>04/23/2026</c:v>
              </c:pt>
              <c:pt idx="198">
                <c:v>04/24/2026</c:v>
              </c:pt>
              <c:pt idx="199">
                <c:v>04/27/2026</c:v>
              </c:pt>
              <c:pt idx="200">
                <c:v>04/28/2026</c:v>
              </c:pt>
              <c:pt idx="201">
                <c:v>04/29/2026</c:v>
              </c:pt>
              <c:pt idx="202">
                <c:v>04/30/2026</c:v>
              </c:pt>
              <c:pt idx="203">
                <c:v>05/01/2026</c:v>
              </c:pt>
              <c:pt idx="204">
                <c:v>05/04/2026</c:v>
              </c:pt>
              <c:pt idx="205">
                <c:v>05/05/2026</c:v>
              </c:pt>
              <c:pt idx="206">
                <c:v>05/06/2026</c:v>
              </c:pt>
              <c:pt idx="207">
                <c:v>05/07/2026</c:v>
              </c:pt>
              <c:pt idx="208">
                <c:v>05/08/2026</c:v>
              </c:pt>
              <c:pt idx="209">
                <c:v>05/11/2026</c:v>
              </c:pt>
              <c:pt idx="210">
                <c:v>05/12/2026</c:v>
              </c:pt>
              <c:pt idx="211">
                <c:v>05/13/2026</c:v>
              </c:pt>
              <c:pt idx="212">
                <c:v>05/14/2026</c:v>
              </c:pt>
              <c:pt idx="213">
                <c:v>05/15/2026</c:v>
              </c:pt>
              <c:pt idx="214">
                <c:v>05/18/2026</c:v>
              </c:pt>
              <c:pt idx="215">
                <c:v>05/19/2026</c:v>
              </c:pt>
              <c:pt idx="216">
                <c:v>05/20/2026</c:v>
              </c:pt>
              <c:pt idx="217">
                <c:v>05/21/2026</c:v>
              </c:pt>
              <c:pt idx="218">
                <c:v>05/22/2026</c:v>
              </c:pt>
              <c:pt idx="219">
                <c:v>05/26/2026</c:v>
              </c:pt>
              <c:pt idx="220">
                <c:v>05/27/2026</c:v>
              </c:pt>
              <c:pt idx="221">
                <c:v>05/28/2026</c:v>
              </c:pt>
              <c:pt idx="222">
                <c:v>05/29/2026</c:v>
              </c:pt>
              <c:pt idx="223">
                <c:v>06/01/2026</c:v>
              </c:pt>
              <c:pt idx="224">
                <c:v>06/02/2026</c:v>
              </c:pt>
              <c:pt idx="225">
                <c:v>06/03/2026</c:v>
              </c:pt>
              <c:pt idx="226">
                <c:v>06/04/2026</c:v>
              </c:pt>
              <c:pt idx="227">
                <c:v>06/05/2026</c:v>
              </c:pt>
              <c:pt idx="228">
                <c:v>06/08/2026</c:v>
              </c:pt>
              <c:pt idx="229">
                <c:v>06/09/2026</c:v>
              </c:pt>
              <c:pt idx="230">
                <c:v>06/10/2026</c:v>
              </c:pt>
              <c:pt idx="231">
                <c:v>06/11/2026</c:v>
              </c:pt>
              <c:pt idx="232">
                <c:v>06/12/2026</c:v>
              </c:pt>
              <c:pt idx="233">
                <c:v>06/15/2026</c:v>
              </c:pt>
              <c:pt idx="234">
                <c:v>06/16/2026</c:v>
              </c:pt>
              <c:pt idx="235">
                <c:v>06/17/2026</c:v>
              </c:pt>
              <c:pt idx="236">
                <c:v>06/18/2026</c:v>
              </c:pt>
              <c:pt idx="237">
                <c:v>06/22/2026</c:v>
              </c:pt>
              <c:pt idx="238">
                <c:v>06/23/2026</c:v>
              </c:pt>
              <c:pt idx="239">
                <c:v>06/24/2026</c:v>
              </c:pt>
              <c:pt idx="240">
                <c:v>06/25/2026</c:v>
              </c:pt>
              <c:pt idx="241">
                <c:v>06/26/2026</c:v>
              </c:pt>
              <c:pt idx="242">
                <c:v>06/29/2026</c:v>
              </c:pt>
              <c:pt idx="243">
                <c:v>06/30/2026</c:v>
              </c:pt>
              <c:pt idx="244">
                <c:v>07/01/2026</c:v>
              </c:pt>
              <c:pt idx="245">
                <c:v>07/02/2026</c:v>
              </c:pt>
              <c:pt idx="246">
                <c:v>07/06/2026</c:v>
              </c:pt>
              <c:pt idx="247">
                <c:v>07/07/2026</c:v>
              </c:pt>
              <c:pt idx="248">
                <c:v>07/08/2026</c:v>
              </c:pt>
              <c:pt idx="249">
                <c:v>07/09/2026</c:v>
              </c:pt>
              <c:pt idx="250">
                <c:v>07/10/2026</c:v>
              </c:pt>
              <c:pt idx="251">
                <c:v>07/13/2026</c:v>
              </c:pt>
              <c:pt idx="252">
                <c:v>07/14/2026</c:v>
              </c:pt>
              <c:pt idx="253">
                <c:v>07/15/2026</c:v>
              </c:pt>
              <c:pt idx="254">
                <c:v>07/16/2026</c:v>
              </c:pt>
              <c:pt idx="255">
                <c:v>07/17/2026</c:v>
              </c:pt>
              <c:pt idx="256">
                <c:v>07/20/2026</c:v>
              </c:pt>
              <c:pt idx="257">
                <c:v>07/21/2026</c:v>
              </c:pt>
              <c:pt idx="258">
                <c:v>07/22/2026</c:v>
              </c:pt>
              <c:pt idx="259">
                <c:v>07/23/2026</c:v>
              </c:pt>
              <c:pt idx="260">
                <c:v>07/24/2026</c:v>
              </c:pt>
              <c:pt idx="261">
                <c:v>07/27/2026</c:v>
              </c:pt>
              <c:pt idx="262">
                <c:v>07/28/2026</c:v>
              </c:pt>
              <c:pt idx="263">
                <c:v>07/29/2026</c:v>
              </c:pt>
              <c:pt idx="264">
                <c:v>07/30/2026</c:v>
              </c:pt>
              <c:pt idx="265">
                <c:v>07/31/2026</c:v>
              </c:pt>
              <c:pt idx="266">
                <c:v>08/03/2026</c:v>
              </c:pt>
              <c:pt idx="267">
                <c:v>08/04/2026</c:v>
              </c:pt>
              <c:pt idx="268">
                <c:v>08/05/2026</c:v>
              </c:pt>
              <c:pt idx="269">
                <c:v>08/06/2026</c:v>
              </c:pt>
              <c:pt idx="270">
                <c:v>08/07/2026</c:v>
              </c:pt>
              <c:pt idx="271">
                <c:v>08/10/2026</c:v>
              </c:pt>
              <c:pt idx="272">
                <c:v>08/11/2026</c:v>
              </c:pt>
              <c:pt idx="273">
                <c:v>08/12/2026</c:v>
              </c:pt>
              <c:pt idx="274">
                <c:v>08/13/2026</c:v>
              </c:pt>
              <c:pt idx="275">
                <c:v>08/14/2026</c:v>
              </c:pt>
              <c:pt idx="276">
                <c:v>08/17/2026</c:v>
              </c:pt>
              <c:pt idx="277">
                <c:v>08/18/2026</c:v>
              </c:pt>
              <c:pt idx="278">
                <c:v>08/19/2026</c:v>
              </c:pt>
              <c:pt idx="279">
                <c:v>08/20/2026</c:v>
              </c:pt>
              <c:pt idx="280">
                <c:v>08/21/2026</c:v>
              </c:pt>
              <c:pt idx="281">
                <c:v>08/24/2026</c:v>
              </c:pt>
              <c:pt idx="282">
                <c:v>08/25/2026</c:v>
              </c:pt>
              <c:pt idx="283">
                <c:v>08/26/2026</c:v>
              </c:pt>
              <c:pt idx="284">
                <c:v>08/27/2026</c:v>
              </c:pt>
              <c:pt idx="285">
                <c:v>08/28/2026</c:v>
              </c:pt>
              <c:pt idx="286">
                <c:v>08/31/2026</c:v>
              </c:pt>
              <c:pt idx="287">
                <c:v>09/01/2026</c:v>
              </c:pt>
              <c:pt idx="288">
                <c:v>09/02/2026</c:v>
              </c:pt>
              <c:pt idx="289">
                <c:v>09/03/2026</c:v>
              </c:pt>
              <c:pt idx="290">
                <c:v>09/04/2026</c:v>
              </c:pt>
              <c:pt idx="291">
                <c:v>09/08/2026</c:v>
              </c:pt>
              <c:pt idx="292">
                <c:v>09/09/2026</c:v>
              </c:pt>
              <c:pt idx="293">
                <c:v>09/10/2026</c:v>
              </c:pt>
              <c:pt idx="294">
                <c:v>09/11/2026</c:v>
              </c:pt>
              <c:pt idx="295">
                <c:v>09/14/2026</c:v>
              </c:pt>
              <c:pt idx="296">
                <c:v>09/15/2026</c:v>
              </c:pt>
              <c:pt idx="297">
                <c:v>09/16/2026</c:v>
              </c:pt>
              <c:pt idx="298">
                <c:v>09/17/2026</c:v>
              </c:pt>
              <c:pt idx="299">
                <c:v>09/18/2026</c:v>
              </c:pt>
              <c:pt idx="300">
                <c:v>09/21/2026</c:v>
              </c:pt>
            </c:strLit>
          </c:cat>
          <c:val>
            <c:numLit>
              <c:formatCode>General</c:formatCode>
              <c:ptCount val="301"/>
              <c:pt idx="0">
                <c:v>129965</c:v>
              </c:pt>
              <c:pt idx="1">
                <c:v>107048</c:v>
              </c:pt>
              <c:pt idx="2">
                <c:v>184406</c:v>
              </c:pt>
              <c:pt idx="3">
                <c:v>148058</c:v>
              </c:pt>
              <c:pt idx="4">
                <c:v>175315</c:v>
              </c:pt>
              <c:pt idx="5">
                <c:v>143766</c:v>
              </c:pt>
              <c:pt idx="6">
                <c:v>217716</c:v>
              </c:pt>
              <c:pt idx="7">
                <c:v>164975</c:v>
              </c:pt>
              <c:pt idx="8">
                <c:v>176987</c:v>
              </c:pt>
              <c:pt idx="9">
                <c:v>147366</c:v>
              </c:pt>
              <c:pt idx="10">
                <c:v>130735</c:v>
              </c:pt>
              <c:pt idx="11">
                <c:v>161537</c:v>
              </c:pt>
              <c:pt idx="12">
                <c:v>379897</c:v>
              </c:pt>
              <c:pt idx="13">
                <c:v>281047</c:v>
              </c:pt>
              <c:pt idx="14">
                <c:v>220947</c:v>
              </c:pt>
              <c:pt idx="15">
                <c:v>250150</c:v>
              </c:pt>
              <c:pt idx="16">
                <c:v>124314</c:v>
              </c:pt>
              <c:pt idx="17">
                <c:v>173597</c:v>
              </c:pt>
              <c:pt idx="18">
                <c:v>123346</c:v>
              </c:pt>
              <c:pt idx="19">
                <c:v>113880</c:v>
              </c:pt>
              <c:pt idx="20">
                <c:v>82515</c:v>
              </c:pt>
              <c:pt idx="21">
                <c:v>141822</c:v>
              </c:pt>
              <c:pt idx="22">
                <c:v>178720</c:v>
              </c:pt>
              <c:pt idx="23">
                <c:v>214464</c:v>
              </c:pt>
              <c:pt idx="24">
                <c:v>189315</c:v>
              </c:pt>
              <c:pt idx="25">
                <c:v>142306</c:v>
              </c:pt>
              <c:pt idx="26">
                <c:v>160442</c:v>
              </c:pt>
              <c:pt idx="27">
                <c:v>108597</c:v>
              </c:pt>
              <c:pt idx="28">
                <c:v>113929</c:v>
              </c:pt>
              <c:pt idx="29">
                <c:v>115138</c:v>
              </c:pt>
              <c:pt idx="30">
                <c:v>196655</c:v>
              </c:pt>
              <c:pt idx="31">
                <c:v>122354</c:v>
              </c:pt>
              <c:pt idx="32">
                <c:v>201657</c:v>
              </c:pt>
              <c:pt idx="33">
                <c:v>145930</c:v>
              </c:pt>
              <c:pt idx="34">
                <c:v>269040</c:v>
              </c:pt>
              <c:pt idx="35">
                <c:v>218600</c:v>
              </c:pt>
              <c:pt idx="36">
                <c:v>175513</c:v>
              </c:pt>
              <c:pt idx="37">
                <c:v>169230</c:v>
              </c:pt>
              <c:pt idx="38">
                <c:v>134608</c:v>
              </c:pt>
              <c:pt idx="39">
                <c:v>128749</c:v>
              </c:pt>
              <c:pt idx="40">
                <c:v>144075</c:v>
              </c:pt>
              <c:pt idx="41">
                <c:v>138795</c:v>
              </c:pt>
              <c:pt idx="42">
                <c:v>214574</c:v>
              </c:pt>
              <c:pt idx="43">
                <c:v>226832</c:v>
              </c:pt>
              <c:pt idx="44">
                <c:v>168394</c:v>
              </c:pt>
              <c:pt idx="45">
                <c:v>203511</c:v>
              </c:pt>
              <c:pt idx="46">
                <c:v>197589</c:v>
              </c:pt>
              <c:pt idx="47">
                <c:v>320679</c:v>
              </c:pt>
              <c:pt idx="48">
                <c:v>383572</c:v>
              </c:pt>
              <c:pt idx="49">
                <c:v>437692</c:v>
              </c:pt>
              <c:pt idx="50">
                <c:v>327793</c:v>
              </c:pt>
              <c:pt idx="51">
                <c:v>198950</c:v>
              </c:pt>
              <c:pt idx="52">
                <c:v>194508</c:v>
              </c:pt>
              <c:pt idx="53">
                <c:v>182064</c:v>
              </c:pt>
              <c:pt idx="54">
                <c:v>155879</c:v>
              </c:pt>
              <c:pt idx="55">
                <c:v>174520</c:v>
              </c:pt>
              <c:pt idx="56">
                <c:v>174053</c:v>
              </c:pt>
              <c:pt idx="57">
                <c:v>154444</c:v>
              </c:pt>
              <c:pt idx="58">
                <c:v>130373</c:v>
              </c:pt>
              <c:pt idx="59">
                <c:v>116262</c:v>
              </c:pt>
              <c:pt idx="60">
                <c:v>125666</c:v>
              </c:pt>
              <c:pt idx="61">
                <c:v>131683</c:v>
              </c:pt>
              <c:pt idx="62">
                <c:v>92578</c:v>
              </c:pt>
              <c:pt idx="63">
                <c:v>128235</c:v>
              </c:pt>
              <c:pt idx="64">
                <c:v>140686</c:v>
              </c:pt>
              <c:pt idx="65">
                <c:v>127361</c:v>
              </c:pt>
              <c:pt idx="66">
                <c:v>145847</c:v>
              </c:pt>
              <c:pt idx="67">
                <c:v>156364</c:v>
              </c:pt>
              <c:pt idx="68">
                <c:v>144209</c:v>
              </c:pt>
              <c:pt idx="69">
                <c:v>150351</c:v>
              </c:pt>
              <c:pt idx="70">
                <c:v>230203</c:v>
              </c:pt>
              <c:pt idx="71">
                <c:v>429347</c:v>
              </c:pt>
              <c:pt idx="72">
                <c:v>236766</c:v>
              </c:pt>
              <c:pt idx="73">
                <c:v>159153</c:v>
              </c:pt>
              <c:pt idx="74">
                <c:v>124433</c:v>
              </c:pt>
              <c:pt idx="75">
                <c:v>181123</c:v>
              </c:pt>
              <c:pt idx="76">
                <c:v>203037</c:v>
              </c:pt>
              <c:pt idx="77">
                <c:v>185506</c:v>
              </c:pt>
              <c:pt idx="78">
                <c:v>151292</c:v>
              </c:pt>
              <c:pt idx="79">
                <c:v>179297</c:v>
              </c:pt>
              <c:pt idx="80">
                <c:v>157017</c:v>
              </c:pt>
              <c:pt idx="81">
                <c:v>350404</c:v>
              </c:pt>
              <c:pt idx="82">
                <c:v>277379</c:v>
              </c:pt>
              <c:pt idx="83">
                <c:v>219902</c:v>
              </c:pt>
              <c:pt idx="84">
                <c:v>162641</c:v>
              </c:pt>
              <c:pt idx="85">
                <c:v>196471</c:v>
              </c:pt>
              <c:pt idx="86">
                <c:v>137082</c:v>
              </c:pt>
              <c:pt idx="87">
                <c:v>138770</c:v>
              </c:pt>
              <c:pt idx="88">
                <c:v>190650</c:v>
              </c:pt>
              <c:pt idx="89">
                <c:v>141904</c:v>
              </c:pt>
              <c:pt idx="90">
                <c:v>139897</c:v>
              </c:pt>
              <c:pt idx="91">
                <c:v>231739</c:v>
              </c:pt>
              <c:pt idx="92">
                <c:v>151112</c:v>
              </c:pt>
              <c:pt idx="93">
                <c:v>175109</c:v>
              </c:pt>
              <c:pt idx="94">
                <c:v>191621</c:v>
              </c:pt>
              <c:pt idx="95">
                <c:v>213715</c:v>
              </c:pt>
              <c:pt idx="96">
                <c:v>142506</c:v>
              </c:pt>
              <c:pt idx="97">
                <c:v>179442</c:v>
              </c:pt>
              <c:pt idx="98">
                <c:v>97485</c:v>
              </c:pt>
              <c:pt idx="99">
                <c:v>141186</c:v>
              </c:pt>
              <c:pt idx="100">
                <c:v>175979</c:v>
              </c:pt>
              <c:pt idx="101">
                <c:v>135446</c:v>
              </c:pt>
              <c:pt idx="102">
                <c:v>131579</c:v>
              </c:pt>
              <c:pt idx="103">
                <c:v>201764</c:v>
              </c:pt>
              <c:pt idx="104">
                <c:v>154224</c:v>
              </c:pt>
              <c:pt idx="105">
                <c:v>103325</c:v>
              </c:pt>
              <c:pt idx="106">
                <c:v>223400</c:v>
              </c:pt>
              <c:pt idx="107">
                <c:v>151299</c:v>
              </c:pt>
              <c:pt idx="108">
                <c:v>201422</c:v>
              </c:pt>
              <c:pt idx="109">
                <c:v>122814</c:v>
              </c:pt>
              <c:pt idx="110">
                <c:v>187162</c:v>
              </c:pt>
              <c:pt idx="111">
                <c:v>161639</c:v>
              </c:pt>
              <c:pt idx="112">
                <c:v>293786</c:v>
              </c:pt>
              <c:pt idx="113">
                <c:v>385682</c:v>
              </c:pt>
              <c:pt idx="114">
                <c:v>133791</c:v>
              </c:pt>
              <c:pt idx="115">
                <c:v>123668</c:v>
              </c:pt>
              <c:pt idx="116">
                <c:v>52196</c:v>
              </c:pt>
              <c:pt idx="117">
                <c:v>78345</c:v>
              </c:pt>
              <c:pt idx="118">
                <c:v>123841</c:v>
              </c:pt>
              <c:pt idx="119">
                <c:v>125267</c:v>
              </c:pt>
              <c:pt idx="120">
                <c:v>114500</c:v>
              </c:pt>
              <c:pt idx="121">
                <c:v>126015</c:v>
              </c:pt>
              <c:pt idx="122">
                <c:v>130316</c:v>
              </c:pt>
              <c:pt idx="123">
                <c:v>120684</c:v>
              </c:pt>
              <c:pt idx="124">
                <c:v>129089</c:v>
              </c:pt>
              <c:pt idx="125">
                <c:v>120741</c:v>
              </c:pt>
              <c:pt idx="126">
                <c:v>179854</c:v>
              </c:pt>
              <c:pt idx="127">
                <c:v>99266</c:v>
              </c:pt>
              <c:pt idx="128">
                <c:v>103179</c:v>
              </c:pt>
              <c:pt idx="129">
                <c:v>134756</c:v>
              </c:pt>
              <c:pt idx="130">
                <c:v>184298</c:v>
              </c:pt>
              <c:pt idx="131">
                <c:v>164747</c:v>
              </c:pt>
              <c:pt idx="132">
                <c:v>300624</c:v>
              </c:pt>
              <c:pt idx="133">
                <c:v>251616</c:v>
              </c:pt>
              <c:pt idx="134">
                <c:v>276648</c:v>
              </c:pt>
              <c:pt idx="135">
                <c:v>173662</c:v>
              </c:pt>
              <c:pt idx="136">
                <c:v>228394</c:v>
              </c:pt>
              <c:pt idx="137">
                <c:v>126048</c:v>
              </c:pt>
              <c:pt idx="138">
                <c:v>147681</c:v>
              </c:pt>
              <c:pt idx="139">
                <c:v>232653</c:v>
              </c:pt>
              <c:pt idx="140">
                <c:v>498361</c:v>
              </c:pt>
              <c:pt idx="141">
                <c:v>184696</c:v>
              </c:pt>
              <c:pt idx="142">
                <c:v>156345</c:v>
              </c:pt>
              <c:pt idx="143">
                <c:v>193781</c:v>
              </c:pt>
              <c:pt idx="144">
                <c:v>205868</c:v>
              </c:pt>
              <c:pt idx="145">
                <c:v>250851</c:v>
              </c:pt>
              <c:pt idx="146">
                <c:v>128446</c:v>
              </c:pt>
              <c:pt idx="147">
                <c:v>114238</c:v>
              </c:pt>
              <c:pt idx="148">
                <c:v>162760</c:v>
              </c:pt>
              <c:pt idx="149">
                <c:v>196294</c:v>
              </c:pt>
              <c:pt idx="150">
                <c:v>123434</c:v>
              </c:pt>
              <c:pt idx="151">
                <c:v>217794</c:v>
              </c:pt>
              <c:pt idx="152">
                <c:v>266303</c:v>
              </c:pt>
              <c:pt idx="153">
                <c:v>339703</c:v>
              </c:pt>
              <c:pt idx="154">
                <c:v>511351</c:v>
              </c:pt>
              <c:pt idx="155">
                <c:v>257141</c:v>
              </c:pt>
              <c:pt idx="156">
                <c:v>250298</c:v>
              </c:pt>
              <c:pt idx="157">
                <c:v>192957</c:v>
              </c:pt>
              <c:pt idx="158">
                <c:v>224099</c:v>
              </c:pt>
              <c:pt idx="159">
                <c:v>229746</c:v>
              </c:pt>
              <c:pt idx="160">
                <c:v>212212</c:v>
              </c:pt>
              <c:pt idx="161">
                <c:v>207401</c:v>
              </c:pt>
              <c:pt idx="162">
                <c:v>160289</c:v>
              </c:pt>
              <c:pt idx="163">
                <c:v>149858</c:v>
              </c:pt>
              <c:pt idx="164">
                <c:v>181119</c:v>
              </c:pt>
              <c:pt idx="165">
                <c:v>166340</c:v>
              </c:pt>
              <c:pt idx="166">
                <c:v>163919</c:v>
              </c:pt>
              <c:pt idx="167">
                <c:v>189061</c:v>
              </c:pt>
              <c:pt idx="168">
                <c:v>149672</c:v>
              </c:pt>
              <c:pt idx="169">
                <c:v>175997</c:v>
              </c:pt>
              <c:pt idx="170">
                <c:v>179757</c:v>
              </c:pt>
              <c:pt idx="171">
                <c:v>229931</c:v>
              </c:pt>
              <c:pt idx="172">
                <c:v>224312</c:v>
              </c:pt>
              <c:pt idx="173">
                <c:v>223594</c:v>
              </c:pt>
              <c:pt idx="174">
                <c:v>451751</c:v>
              </c:pt>
              <c:pt idx="175">
                <c:v>193703</c:v>
              </c:pt>
              <c:pt idx="176">
                <c:v>172543</c:v>
              </c:pt>
              <c:pt idx="177">
                <c:v>129306</c:v>
              </c:pt>
              <c:pt idx="178">
                <c:v>129288</c:v>
              </c:pt>
              <c:pt idx="179">
                <c:v>129737</c:v>
              </c:pt>
              <c:pt idx="180">
                <c:v>242118</c:v>
              </c:pt>
              <c:pt idx="181">
                <c:v>160031</c:v>
              </c:pt>
              <c:pt idx="182">
                <c:v>198246</c:v>
              </c:pt>
              <c:pt idx="183">
                <c:v>186454</c:v>
              </c:pt>
              <c:pt idx="184">
                <c:v>119094</c:v>
              </c:pt>
              <c:pt idx="185">
                <c:v>232934</c:v>
              </c:pt>
              <c:pt idx="186">
                <c:v>449592</c:v>
              </c:pt>
              <c:pt idx="187">
                <c:v>236134</c:v>
              </c:pt>
              <c:pt idx="188">
                <c:v>266050</c:v>
              </c:pt>
              <c:pt idx="189">
                <c:v>188877</c:v>
              </c:pt>
              <c:pt idx="190">
                <c:v>206137</c:v>
              </c:pt>
              <c:pt idx="191">
                <c:v>170868</c:v>
              </c:pt>
              <c:pt idx="192">
                <c:v>147856</c:v>
              </c:pt>
              <c:pt idx="193">
                <c:v>252373</c:v>
              </c:pt>
              <c:pt idx="194">
                <c:v>187048</c:v>
              </c:pt>
              <c:pt idx="195">
                <c:v>185663</c:v>
              </c:pt>
              <c:pt idx="196">
                <c:v>263814</c:v>
              </c:pt>
              <c:pt idx="197">
                <c:v>125012</c:v>
              </c:pt>
              <c:pt idx="198">
                <c:v>179602</c:v>
              </c:pt>
              <c:pt idx="199">
                <c:v>171794</c:v>
              </c:pt>
              <c:pt idx="200">
                <c:v>138939</c:v>
              </c:pt>
              <c:pt idx="201">
                <c:v>192781</c:v>
              </c:pt>
              <c:pt idx="202">
                <c:v>201522</c:v>
              </c:pt>
              <c:pt idx="203">
                <c:v>147891</c:v>
              </c:pt>
              <c:pt idx="204">
                <c:v>142113</c:v>
              </c:pt>
              <c:pt idx="205">
                <c:v>165550</c:v>
              </c:pt>
              <c:pt idx="206">
                <c:v>232850</c:v>
              </c:pt>
              <c:pt idx="207">
                <c:v>490752</c:v>
              </c:pt>
              <c:pt idx="208">
                <c:v>250588</c:v>
              </c:pt>
              <c:pt idx="209">
                <c:v>243312</c:v>
              </c:pt>
              <c:pt idx="210">
                <c:v>272341</c:v>
              </c:pt>
              <c:pt idx="211">
                <c:v>238208</c:v>
              </c:pt>
              <c:pt idx="212">
                <c:v>345561</c:v>
              </c:pt>
              <c:pt idx="213">
                <c:v>260894</c:v>
              </c:pt>
              <c:pt idx="214">
                <c:v>183057</c:v>
              </c:pt>
              <c:pt idx="215">
                <c:v>235734</c:v>
              </c:pt>
              <c:pt idx="216">
                <c:v>168054</c:v>
              </c:pt>
              <c:pt idx="217">
                <c:v>228211</c:v>
              </c:pt>
              <c:pt idx="218">
                <c:v>169841</c:v>
              </c:pt>
              <c:pt idx="219">
                <c:v>210158</c:v>
              </c:pt>
              <c:pt idx="220">
                <c:v>132979</c:v>
              </c:pt>
              <c:pt idx="221">
                <c:v>180653</c:v>
              </c:pt>
              <c:pt idx="222">
                <c:v>148804</c:v>
              </c:pt>
              <c:pt idx="223">
                <c:v>214665</c:v>
              </c:pt>
              <c:pt idx="224">
                <c:v>223826</c:v>
              </c:pt>
              <c:pt idx="225">
                <c:v>241055</c:v>
              </c:pt>
              <c:pt idx="226">
                <c:v>282060</c:v>
              </c:pt>
              <c:pt idx="227">
                <c:v>157113</c:v>
              </c:pt>
              <c:pt idx="228">
                <c:v>208982</c:v>
              </c:pt>
              <c:pt idx="229">
                <c:v>551772</c:v>
              </c:pt>
              <c:pt idx="230">
                <c:v>201282</c:v>
              </c:pt>
              <c:pt idx="231">
                <c:v>217259</c:v>
              </c:pt>
              <c:pt idx="232">
                <c:v>163671</c:v>
              </c:pt>
              <c:pt idx="233">
                <c:v>206517</c:v>
              </c:pt>
              <c:pt idx="234">
                <c:v>178974</c:v>
              </c:pt>
              <c:pt idx="235">
                <c:v>226464</c:v>
              </c:pt>
              <c:pt idx="236">
                <c:v>387492</c:v>
              </c:pt>
              <c:pt idx="237">
                <c:v>212108</c:v>
              </c:pt>
              <c:pt idx="238">
                <c:v>227222</c:v>
              </c:pt>
              <c:pt idx="239">
                <c:v>277666</c:v>
              </c:pt>
              <c:pt idx="240">
                <c:v>304633</c:v>
              </c:pt>
              <c:pt idx="241">
                <c:v>725622</c:v>
              </c:pt>
              <c:pt idx="242">
                <c:v>308500</c:v>
              </c:pt>
              <c:pt idx="243">
                <c:v>324096</c:v>
              </c:pt>
              <c:pt idx="244">
                <c:v>321789</c:v>
              </c:pt>
              <c:pt idx="245">
                <c:v>334399</c:v>
              </c:pt>
              <c:pt idx="246">
                <c:v>154750</c:v>
              </c:pt>
              <c:pt idx="247">
                <c:v>190210</c:v>
              </c:pt>
              <c:pt idx="248">
                <c:v>200775</c:v>
              </c:pt>
              <c:pt idx="249">
                <c:v>144436</c:v>
              </c:pt>
              <c:pt idx="250">
                <c:v>212529</c:v>
              </c:pt>
              <c:pt idx="251">
                <c:v>184304</c:v>
              </c:pt>
              <c:pt idx="252">
                <c:v>274352</c:v>
              </c:pt>
              <c:pt idx="253">
                <c:v>197713</c:v>
              </c:pt>
              <c:pt idx="254">
                <c:v>220194</c:v>
              </c:pt>
              <c:pt idx="255">
                <c:v>152402</c:v>
              </c:pt>
              <c:pt idx="256">
                <c:v>195903</c:v>
              </c:pt>
              <c:pt idx="257">
                <c:v>170933</c:v>
              </c:pt>
              <c:pt idx="258">
                <c:v>193456</c:v>
              </c:pt>
              <c:pt idx="259">
                <c:v>192678</c:v>
              </c:pt>
              <c:pt idx="260">
                <c:v>204924</c:v>
              </c:pt>
              <c:pt idx="261">
                <c:v>256847</c:v>
              </c:pt>
              <c:pt idx="262">
                <c:v>330293</c:v>
              </c:pt>
              <c:pt idx="263">
                <c:v>293670</c:v>
              </c:pt>
              <c:pt idx="264">
                <c:v>398912</c:v>
              </c:pt>
              <c:pt idx="265">
                <c:v>342528</c:v>
              </c:pt>
              <c:pt idx="266">
                <c:v>276108</c:v>
              </c:pt>
              <c:pt idx="267">
                <c:v>268266</c:v>
              </c:pt>
              <c:pt idx="268">
                <c:v>213599</c:v>
              </c:pt>
              <c:pt idx="269">
                <c:v>143612</c:v>
              </c:pt>
              <c:pt idx="270">
                <c:v>145080</c:v>
              </c:pt>
              <c:pt idx="271">
                <c:v>150068</c:v>
              </c:pt>
              <c:pt idx="272">
                <c:v>160619</c:v>
              </c:pt>
              <c:pt idx="273">
                <c:v>149371</c:v>
              </c:pt>
              <c:pt idx="274">
                <c:v>162745</c:v>
              </c:pt>
              <c:pt idx="275">
                <c:v>154721</c:v>
              </c:pt>
              <c:pt idx="276">
                <c:v>186532</c:v>
              </c:pt>
              <c:pt idx="277">
                <c:v>167110</c:v>
              </c:pt>
              <c:pt idx="278">
                <c:v>173511</c:v>
              </c:pt>
              <c:pt idx="279">
                <c:v>369414</c:v>
              </c:pt>
              <c:pt idx="280">
                <c:v>225644</c:v>
              </c:pt>
              <c:pt idx="281">
                <c:v>134603</c:v>
              </c:pt>
              <c:pt idx="282">
                <c:v>157715</c:v>
              </c:pt>
              <c:pt idx="283">
                <c:v>166023</c:v>
              </c:pt>
              <c:pt idx="284">
                <c:v>141237</c:v>
              </c:pt>
              <c:pt idx="285">
                <c:v>150138</c:v>
              </c:pt>
              <c:pt idx="286">
                <c:v>165816</c:v>
              </c:pt>
              <c:pt idx="287">
                <c:v>202933</c:v>
              </c:pt>
              <c:pt idx="288">
                <c:v>205277</c:v>
              </c:pt>
              <c:pt idx="289">
                <c:v>146112</c:v>
              </c:pt>
              <c:pt idx="290">
                <c:v>125749</c:v>
              </c:pt>
              <c:pt idx="291">
                <c:v>185034</c:v>
              </c:pt>
              <c:pt idx="292">
                <c:v>180495</c:v>
              </c:pt>
              <c:pt idx="293">
                <c:v>160147</c:v>
              </c:pt>
              <c:pt idx="294">
                <c:v>185848</c:v>
              </c:pt>
              <c:pt idx="295">
                <c:v>192173</c:v>
              </c:pt>
              <c:pt idx="296">
                <c:v>289326</c:v>
              </c:pt>
              <c:pt idx="297">
                <c:v>317265</c:v>
              </c:pt>
              <c:pt idx="298">
                <c:v>287059</c:v>
              </c:pt>
              <c:pt idx="299">
                <c:v>468738</c:v>
              </c:pt>
              <c:pt idx="300">
                <c:v>80235</c:v>
              </c:pt>
            </c:numLit>
          </c:val>
          <c:extLst>
            <c:ext xmlns:c16="http://schemas.microsoft.com/office/drawing/2014/chart" uri="{C3380CC4-5D6E-409C-BE32-E72D297353CC}">
              <c16:uniqueId val="{00000000-BC20-4339-BF6C-BE76E246D822}"/>
            </c:ext>
          </c:extLst>
        </c:ser>
        <c:dLbls>
          <c:showLegendKey val="0"/>
          <c:showVal val="0"/>
          <c:showCatName val="0"/>
          <c:showSerName val="0"/>
          <c:showPercent val="0"/>
          <c:showBubbleSize val="0"/>
        </c:dLbls>
        <c:gapWidth val="20"/>
        <c:overlap val="100"/>
        <c:axId val="699759519"/>
        <c:axId val="699740319"/>
      </c:barChart>
      <c:lineChart>
        <c:grouping val="standard"/>
        <c:varyColors val="0"/>
        <c:ser>
          <c:idx val="1"/>
          <c:order val="1"/>
          <c:tx>
            <c:strRef>
              <c:f>'Volume to Price'!$D$4</c:f>
              <c:strCache>
                <c:ptCount val="1"/>
                <c:pt idx="0">
                  <c:v>Price</c:v>
                </c:pt>
              </c:strCache>
            </c:strRef>
          </c:tx>
          <c:spPr>
            <a:ln w="19050" cap="rnd">
              <a:solidFill>
                <a:sysClr val="windowText" lastClr="000000"/>
              </a:solidFill>
              <a:round/>
            </a:ln>
            <a:effectLst/>
          </c:spPr>
          <c:marker>
            <c:symbol val="none"/>
          </c:marker>
          <c:cat>
            <c:strLit>
              <c:ptCount val="301"/>
              <c:pt idx="0">
                <c:v>07/11/2025</c:v>
              </c:pt>
              <c:pt idx="1">
                <c:v>07/14/2025</c:v>
              </c:pt>
              <c:pt idx="2">
                <c:v>07/15/2025</c:v>
              </c:pt>
              <c:pt idx="3">
                <c:v>07/16/2025</c:v>
              </c:pt>
              <c:pt idx="4">
                <c:v>07/17/2025</c:v>
              </c:pt>
              <c:pt idx="5">
                <c:v>07/18/2025</c:v>
              </c:pt>
              <c:pt idx="6">
                <c:v>07/21/2025</c:v>
              </c:pt>
              <c:pt idx="7">
                <c:v>07/22/2025</c:v>
              </c:pt>
              <c:pt idx="8">
                <c:v>07/23/2025</c:v>
              </c:pt>
              <c:pt idx="9">
                <c:v>07/24/2025</c:v>
              </c:pt>
              <c:pt idx="10">
                <c:v>07/25/2025</c:v>
              </c:pt>
              <c:pt idx="11">
                <c:v>07/28/2025</c:v>
              </c:pt>
              <c:pt idx="12">
                <c:v>07/29/2025</c:v>
              </c:pt>
              <c:pt idx="13">
                <c:v>07/30/2025</c:v>
              </c:pt>
              <c:pt idx="14">
                <c:v>07/31/2025</c:v>
              </c:pt>
              <c:pt idx="15">
                <c:v>08/01/2025</c:v>
              </c:pt>
              <c:pt idx="16">
                <c:v>08/04/2025</c:v>
              </c:pt>
              <c:pt idx="17">
                <c:v>08/05/2025</c:v>
              </c:pt>
              <c:pt idx="18">
                <c:v>08/06/2025</c:v>
              </c:pt>
              <c:pt idx="19">
                <c:v>08/07/2025</c:v>
              </c:pt>
              <c:pt idx="20">
                <c:v>08/08/2025</c:v>
              </c:pt>
              <c:pt idx="21">
                <c:v>08/11/2025</c:v>
              </c:pt>
              <c:pt idx="22">
                <c:v>08/12/2025</c:v>
              </c:pt>
              <c:pt idx="23">
                <c:v>08/13/2025</c:v>
              </c:pt>
              <c:pt idx="24">
                <c:v>08/14/2025</c:v>
              </c:pt>
              <c:pt idx="25">
                <c:v>08/15/2025</c:v>
              </c:pt>
              <c:pt idx="26">
                <c:v>08/18/2025</c:v>
              </c:pt>
              <c:pt idx="27">
                <c:v>08/19/2025</c:v>
              </c:pt>
              <c:pt idx="28">
                <c:v>08/20/2025</c:v>
              </c:pt>
              <c:pt idx="29">
                <c:v>08/21/2025</c:v>
              </c:pt>
              <c:pt idx="30">
                <c:v>08/22/2025</c:v>
              </c:pt>
              <c:pt idx="31">
                <c:v>08/25/2025</c:v>
              </c:pt>
              <c:pt idx="32">
                <c:v>08/26/2025</c:v>
              </c:pt>
              <c:pt idx="33">
                <c:v>08/27/2025</c:v>
              </c:pt>
              <c:pt idx="34">
                <c:v>08/28/2025</c:v>
              </c:pt>
              <c:pt idx="35">
                <c:v>08/29/2025</c:v>
              </c:pt>
              <c:pt idx="36">
                <c:v>09/02/2025</c:v>
              </c:pt>
              <c:pt idx="37">
                <c:v>09/03/2025</c:v>
              </c:pt>
              <c:pt idx="38">
                <c:v>09/04/2025</c:v>
              </c:pt>
              <c:pt idx="39">
                <c:v>09/05/2025</c:v>
              </c:pt>
              <c:pt idx="40">
                <c:v>09/08/2025</c:v>
              </c:pt>
              <c:pt idx="41">
                <c:v>09/09/2025</c:v>
              </c:pt>
              <c:pt idx="42">
                <c:v>09/10/2025</c:v>
              </c:pt>
              <c:pt idx="43">
                <c:v>09/11/2025</c:v>
              </c:pt>
              <c:pt idx="44">
                <c:v>09/12/2025</c:v>
              </c:pt>
              <c:pt idx="45">
                <c:v>09/15/2025</c:v>
              </c:pt>
              <c:pt idx="46">
                <c:v>09/16/2025</c:v>
              </c:pt>
              <c:pt idx="47">
                <c:v>09/17/2025</c:v>
              </c:pt>
              <c:pt idx="48">
                <c:v>09/18/2025</c:v>
              </c:pt>
              <c:pt idx="49">
                <c:v>09/19/2025</c:v>
              </c:pt>
              <c:pt idx="50">
                <c:v>09/22/2025</c:v>
              </c:pt>
              <c:pt idx="51">
                <c:v>09/23/2025</c:v>
              </c:pt>
              <c:pt idx="52">
                <c:v>09/24/2025</c:v>
              </c:pt>
              <c:pt idx="53">
                <c:v>09/25/2025</c:v>
              </c:pt>
              <c:pt idx="54">
                <c:v>09/26/2025</c:v>
              </c:pt>
              <c:pt idx="55">
                <c:v>09/29/2025</c:v>
              </c:pt>
              <c:pt idx="56">
                <c:v>09/30/2025</c:v>
              </c:pt>
              <c:pt idx="57">
                <c:v>10/01/2025</c:v>
              </c:pt>
              <c:pt idx="58">
                <c:v>10/02/2025</c:v>
              </c:pt>
              <c:pt idx="59">
                <c:v>10/03/2025</c:v>
              </c:pt>
              <c:pt idx="60">
                <c:v>10/06/2025</c:v>
              </c:pt>
              <c:pt idx="61">
                <c:v>10/07/2025</c:v>
              </c:pt>
              <c:pt idx="62">
                <c:v>10/08/2025</c:v>
              </c:pt>
              <c:pt idx="63">
                <c:v>10/09/2025</c:v>
              </c:pt>
              <c:pt idx="64">
                <c:v>10/10/2025</c:v>
              </c:pt>
              <c:pt idx="65">
                <c:v>10/13/2025</c:v>
              </c:pt>
              <c:pt idx="66">
                <c:v>10/14/2025</c:v>
              </c:pt>
              <c:pt idx="67">
                <c:v>10/15/2025</c:v>
              </c:pt>
              <c:pt idx="68">
                <c:v>10/16/2025</c:v>
              </c:pt>
              <c:pt idx="69">
                <c:v>10/17/2025</c:v>
              </c:pt>
              <c:pt idx="70">
                <c:v>10/20/2025</c:v>
              </c:pt>
              <c:pt idx="71">
                <c:v>10/21/2025</c:v>
              </c:pt>
              <c:pt idx="72">
                <c:v>10/22/2025</c:v>
              </c:pt>
              <c:pt idx="73">
                <c:v>10/23/2025</c:v>
              </c:pt>
              <c:pt idx="74">
                <c:v>10/24/2025</c:v>
              </c:pt>
              <c:pt idx="75">
                <c:v>10/27/2025</c:v>
              </c:pt>
              <c:pt idx="76">
                <c:v>10/28/2025</c:v>
              </c:pt>
              <c:pt idx="77">
                <c:v>10/29/2025</c:v>
              </c:pt>
              <c:pt idx="78">
                <c:v>10/30/2025</c:v>
              </c:pt>
              <c:pt idx="79">
                <c:v>10/31/2025</c:v>
              </c:pt>
              <c:pt idx="80">
                <c:v>11/03/2025</c:v>
              </c:pt>
              <c:pt idx="81">
                <c:v>11/04/2025</c:v>
              </c:pt>
              <c:pt idx="82">
                <c:v>11/05/2025</c:v>
              </c:pt>
              <c:pt idx="83">
                <c:v>11/06/2025</c:v>
              </c:pt>
              <c:pt idx="84">
                <c:v>11/07/2025</c:v>
              </c:pt>
              <c:pt idx="85">
                <c:v>11/10/2025</c:v>
              </c:pt>
              <c:pt idx="86">
                <c:v>11/11/2025</c:v>
              </c:pt>
              <c:pt idx="87">
                <c:v>11/12/2025</c:v>
              </c:pt>
              <c:pt idx="88">
                <c:v>11/13/2025</c:v>
              </c:pt>
              <c:pt idx="89">
                <c:v>11/14/2025</c:v>
              </c:pt>
              <c:pt idx="90">
                <c:v>11/17/2025</c:v>
              </c:pt>
              <c:pt idx="91">
                <c:v>11/18/2025</c:v>
              </c:pt>
              <c:pt idx="92">
                <c:v>11/19/2025</c:v>
              </c:pt>
              <c:pt idx="93">
                <c:v>11/20/2025</c:v>
              </c:pt>
              <c:pt idx="94">
                <c:v>11/21/2025</c:v>
              </c:pt>
              <c:pt idx="95">
                <c:v>11/24/2025</c:v>
              </c:pt>
              <c:pt idx="96">
                <c:v>11/25/2025</c:v>
              </c:pt>
              <c:pt idx="97">
                <c:v>11/26/2025</c:v>
              </c:pt>
              <c:pt idx="98">
                <c:v>11/28/2025</c:v>
              </c:pt>
              <c:pt idx="99">
                <c:v>12/01/2025</c:v>
              </c:pt>
              <c:pt idx="100">
                <c:v>12/02/2025</c:v>
              </c:pt>
              <c:pt idx="101">
                <c:v>12/03/2025</c:v>
              </c:pt>
              <c:pt idx="102">
                <c:v>12/04/2025</c:v>
              </c:pt>
              <c:pt idx="103">
                <c:v>12/05/2025</c:v>
              </c:pt>
              <c:pt idx="104">
                <c:v>12/08/2025</c:v>
              </c:pt>
              <c:pt idx="105">
                <c:v>12/09/2025</c:v>
              </c:pt>
              <c:pt idx="106">
                <c:v>12/10/2025</c:v>
              </c:pt>
              <c:pt idx="107">
                <c:v>12/11/2025</c:v>
              </c:pt>
              <c:pt idx="108">
                <c:v>12/12/2025</c:v>
              </c:pt>
              <c:pt idx="109">
                <c:v>12/15/2025</c:v>
              </c:pt>
              <c:pt idx="110">
                <c:v>12/16/2025</c:v>
              </c:pt>
              <c:pt idx="111">
                <c:v>12/17/2025</c:v>
              </c:pt>
              <c:pt idx="112">
                <c:v>12/18/2025</c:v>
              </c:pt>
              <c:pt idx="113">
                <c:v>12/19/2025</c:v>
              </c:pt>
              <c:pt idx="114">
                <c:v>12/22/2025</c:v>
              </c:pt>
              <c:pt idx="115">
                <c:v>12/23/2025</c:v>
              </c:pt>
              <c:pt idx="116">
                <c:v>12/24/2025</c:v>
              </c:pt>
              <c:pt idx="117">
                <c:v>12/26/2025</c:v>
              </c:pt>
              <c:pt idx="118">
                <c:v>12/29/2025</c:v>
              </c:pt>
              <c:pt idx="119">
                <c:v>12/30/2025</c:v>
              </c:pt>
              <c:pt idx="120">
                <c:v>12/31/2025</c:v>
              </c:pt>
              <c:pt idx="121">
                <c:v>01/02/2026</c:v>
              </c:pt>
              <c:pt idx="122">
                <c:v>01/05/2026</c:v>
              </c:pt>
              <c:pt idx="123">
                <c:v>01/06/2026</c:v>
              </c:pt>
              <c:pt idx="124">
                <c:v>01/07/2026</c:v>
              </c:pt>
              <c:pt idx="125">
                <c:v>01/08/2026</c:v>
              </c:pt>
              <c:pt idx="126">
                <c:v>01/09/2026</c:v>
              </c:pt>
              <c:pt idx="127">
                <c:v>01/12/2026</c:v>
              </c:pt>
              <c:pt idx="128">
                <c:v>01/13/2026</c:v>
              </c:pt>
              <c:pt idx="129">
                <c:v>01/14/2026</c:v>
              </c:pt>
              <c:pt idx="130">
                <c:v>01/15/2026</c:v>
              </c:pt>
              <c:pt idx="131">
                <c:v>01/16/2026</c:v>
              </c:pt>
              <c:pt idx="132">
                <c:v>01/20/2026</c:v>
              </c:pt>
              <c:pt idx="133">
                <c:v>01/21/2026</c:v>
              </c:pt>
              <c:pt idx="134">
                <c:v>01/22/2026</c:v>
              </c:pt>
              <c:pt idx="135">
                <c:v>01/23/2026</c:v>
              </c:pt>
              <c:pt idx="136">
                <c:v>01/26/2026</c:v>
              </c:pt>
              <c:pt idx="137">
                <c:v>01/27/2026</c:v>
              </c:pt>
              <c:pt idx="138">
                <c:v>01/28/2026</c:v>
              </c:pt>
              <c:pt idx="139">
                <c:v>01/29/2026</c:v>
              </c:pt>
              <c:pt idx="140">
                <c:v>01/30/2026</c:v>
              </c:pt>
              <c:pt idx="141">
                <c:v>02/02/2026</c:v>
              </c:pt>
              <c:pt idx="142">
                <c:v>02/03/2026</c:v>
              </c:pt>
              <c:pt idx="143">
                <c:v>02/04/2026</c:v>
              </c:pt>
              <c:pt idx="144">
                <c:v>02/05/2026</c:v>
              </c:pt>
              <c:pt idx="145">
                <c:v>02/06/2026</c:v>
              </c:pt>
              <c:pt idx="146">
                <c:v>02/09/2026</c:v>
              </c:pt>
              <c:pt idx="147">
                <c:v>02/10/2026</c:v>
              </c:pt>
              <c:pt idx="148">
                <c:v>02/11/2026</c:v>
              </c:pt>
              <c:pt idx="149">
                <c:v>02/12/2026</c:v>
              </c:pt>
              <c:pt idx="150">
                <c:v>02/13/2026</c:v>
              </c:pt>
              <c:pt idx="151">
                <c:v>02/17/2026</c:v>
              </c:pt>
              <c:pt idx="152">
                <c:v>02/18/2026</c:v>
              </c:pt>
              <c:pt idx="153">
                <c:v>02/19/2026</c:v>
              </c:pt>
              <c:pt idx="154">
                <c:v>02/20/2026</c:v>
              </c:pt>
              <c:pt idx="155">
                <c:v>02/23/2026</c:v>
              </c:pt>
              <c:pt idx="156">
                <c:v>02/24/2026</c:v>
              </c:pt>
              <c:pt idx="157">
                <c:v>02/25/2026</c:v>
              </c:pt>
              <c:pt idx="158">
                <c:v>02/26/2026</c:v>
              </c:pt>
              <c:pt idx="159">
                <c:v>02/27/2026</c:v>
              </c:pt>
              <c:pt idx="160">
                <c:v>03/02/2026</c:v>
              </c:pt>
              <c:pt idx="161">
                <c:v>03/03/2026</c:v>
              </c:pt>
              <c:pt idx="162">
                <c:v>03/04/2026</c:v>
              </c:pt>
              <c:pt idx="163">
                <c:v>03/05/2026</c:v>
              </c:pt>
              <c:pt idx="164">
                <c:v>03/06/2026</c:v>
              </c:pt>
              <c:pt idx="165">
                <c:v>03/09/2026</c:v>
              </c:pt>
              <c:pt idx="166">
                <c:v>03/10/2026</c:v>
              </c:pt>
              <c:pt idx="167">
                <c:v>03/11/2026</c:v>
              </c:pt>
              <c:pt idx="168">
                <c:v>03/12/2026</c:v>
              </c:pt>
              <c:pt idx="169">
                <c:v>03/13/2026</c:v>
              </c:pt>
              <c:pt idx="170">
                <c:v>03/16/2026</c:v>
              </c:pt>
              <c:pt idx="171">
                <c:v>03/17/2026</c:v>
              </c:pt>
              <c:pt idx="172">
                <c:v>03/18/2026</c:v>
              </c:pt>
              <c:pt idx="173">
                <c:v>03/19/2026</c:v>
              </c:pt>
              <c:pt idx="174">
                <c:v>03/20/2026</c:v>
              </c:pt>
              <c:pt idx="175">
                <c:v>03/23/2026</c:v>
              </c:pt>
              <c:pt idx="176">
                <c:v>03/24/2026</c:v>
              </c:pt>
              <c:pt idx="177">
                <c:v>03/25/2026</c:v>
              </c:pt>
              <c:pt idx="178">
                <c:v>03/26/2026</c:v>
              </c:pt>
              <c:pt idx="179">
                <c:v>03/27/2026</c:v>
              </c:pt>
              <c:pt idx="180">
                <c:v>03/30/2026</c:v>
              </c:pt>
              <c:pt idx="181">
                <c:v>03/31/2026</c:v>
              </c:pt>
              <c:pt idx="182">
                <c:v>04/01/2026</c:v>
              </c:pt>
              <c:pt idx="183">
                <c:v>04/02/2026</c:v>
              </c:pt>
              <c:pt idx="184">
                <c:v>04/06/2026</c:v>
              </c:pt>
              <c:pt idx="185">
                <c:v>04/07/2026</c:v>
              </c:pt>
              <c:pt idx="186">
                <c:v>04/08/2026</c:v>
              </c:pt>
              <c:pt idx="187">
                <c:v>04/09/2026</c:v>
              </c:pt>
              <c:pt idx="188">
                <c:v>04/10/2026</c:v>
              </c:pt>
              <c:pt idx="189">
                <c:v>04/13/2026</c:v>
              </c:pt>
              <c:pt idx="190">
                <c:v>04/14/2026</c:v>
              </c:pt>
              <c:pt idx="191">
                <c:v>04/15/2026</c:v>
              </c:pt>
              <c:pt idx="192">
                <c:v>04/16/2026</c:v>
              </c:pt>
              <c:pt idx="193">
                <c:v>04/17/2026</c:v>
              </c:pt>
              <c:pt idx="194">
                <c:v>04/20/2026</c:v>
              </c:pt>
              <c:pt idx="195">
                <c:v>04/21/2026</c:v>
              </c:pt>
              <c:pt idx="196">
                <c:v>04/22/2026</c:v>
              </c:pt>
              <c:pt idx="197">
                <c:v>04/23/2026</c:v>
              </c:pt>
              <c:pt idx="198">
                <c:v>04/24/2026</c:v>
              </c:pt>
              <c:pt idx="199">
                <c:v>04/27/2026</c:v>
              </c:pt>
              <c:pt idx="200">
                <c:v>04/28/2026</c:v>
              </c:pt>
              <c:pt idx="201">
                <c:v>04/29/2026</c:v>
              </c:pt>
              <c:pt idx="202">
                <c:v>04/30/2026</c:v>
              </c:pt>
              <c:pt idx="203">
                <c:v>05/01/2026</c:v>
              </c:pt>
              <c:pt idx="204">
                <c:v>05/04/2026</c:v>
              </c:pt>
              <c:pt idx="205">
                <c:v>05/05/2026</c:v>
              </c:pt>
              <c:pt idx="206">
                <c:v>05/06/2026</c:v>
              </c:pt>
              <c:pt idx="207">
                <c:v>05/07/2026</c:v>
              </c:pt>
              <c:pt idx="208">
                <c:v>05/08/2026</c:v>
              </c:pt>
              <c:pt idx="209">
                <c:v>05/11/2026</c:v>
              </c:pt>
              <c:pt idx="210">
                <c:v>05/12/2026</c:v>
              </c:pt>
              <c:pt idx="211">
                <c:v>05/13/2026</c:v>
              </c:pt>
              <c:pt idx="212">
                <c:v>05/14/2026</c:v>
              </c:pt>
              <c:pt idx="213">
                <c:v>05/15/2026</c:v>
              </c:pt>
              <c:pt idx="214">
                <c:v>05/18/2026</c:v>
              </c:pt>
              <c:pt idx="215">
                <c:v>05/19/2026</c:v>
              </c:pt>
              <c:pt idx="216">
                <c:v>05/20/2026</c:v>
              </c:pt>
              <c:pt idx="217">
                <c:v>05/21/2026</c:v>
              </c:pt>
              <c:pt idx="218">
                <c:v>05/22/2026</c:v>
              </c:pt>
              <c:pt idx="219">
                <c:v>05/26/2026</c:v>
              </c:pt>
              <c:pt idx="220">
                <c:v>05/27/2026</c:v>
              </c:pt>
              <c:pt idx="221">
                <c:v>05/28/2026</c:v>
              </c:pt>
              <c:pt idx="222">
                <c:v>05/29/2026</c:v>
              </c:pt>
              <c:pt idx="223">
                <c:v>06/01/2026</c:v>
              </c:pt>
              <c:pt idx="224">
                <c:v>06/02/2026</c:v>
              </c:pt>
              <c:pt idx="225">
                <c:v>06/03/2026</c:v>
              </c:pt>
              <c:pt idx="226">
                <c:v>06/04/2026</c:v>
              </c:pt>
              <c:pt idx="227">
                <c:v>06/05/2026</c:v>
              </c:pt>
              <c:pt idx="228">
                <c:v>06/08/2026</c:v>
              </c:pt>
              <c:pt idx="229">
                <c:v>06/09/2026</c:v>
              </c:pt>
              <c:pt idx="230">
                <c:v>06/10/2026</c:v>
              </c:pt>
              <c:pt idx="231">
                <c:v>06/11/2026</c:v>
              </c:pt>
              <c:pt idx="232">
                <c:v>06/12/2026</c:v>
              </c:pt>
              <c:pt idx="233">
                <c:v>06/15/2026</c:v>
              </c:pt>
              <c:pt idx="234">
                <c:v>06/16/2026</c:v>
              </c:pt>
              <c:pt idx="235">
                <c:v>06/17/2026</c:v>
              </c:pt>
              <c:pt idx="236">
                <c:v>06/18/2026</c:v>
              </c:pt>
              <c:pt idx="237">
                <c:v>06/22/2026</c:v>
              </c:pt>
              <c:pt idx="238">
                <c:v>06/23/2026</c:v>
              </c:pt>
              <c:pt idx="239">
                <c:v>06/24/2026</c:v>
              </c:pt>
              <c:pt idx="240">
                <c:v>06/25/2026</c:v>
              </c:pt>
              <c:pt idx="241">
                <c:v>06/26/2026</c:v>
              </c:pt>
              <c:pt idx="242">
                <c:v>06/29/2026</c:v>
              </c:pt>
              <c:pt idx="243">
                <c:v>06/30/2026</c:v>
              </c:pt>
              <c:pt idx="244">
                <c:v>07/01/2026</c:v>
              </c:pt>
              <c:pt idx="245">
                <c:v>07/02/2026</c:v>
              </c:pt>
              <c:pt idx="246">
                <c:v>07/06/2026</c:v>
              </c:pt>
              <c:pt idx="247">
                <c:v>07/07/2026</c:v>
              </c:pt>
              <c:pt idx="248">
                <c:v>07/08/2026</c:v>
              </c:pt>
              <c:pt idx="249">
                <c:v>07/09/2026</c:v>
              </c:pt>
              <c:pt idx="250">
                <c:v>07/10/2026</c:v>
              </c:pt>
              <c:pt idx="251">
                <c:v>07/13/2026</c:v>
              </c:pt>
              <c:pt idx="252">
                <c:v>07/14/2026</c:v>
              </c:pt>
              <c:pt idx="253">
                <c:v>07/15/2026</c:v>
              </c:pt>
              <c:pt idx="254">
                <c:v>07/16/2026</c:v>
              </c:pt>
              <c:pt idx="255">
                <c:v>07/17/2026</c:v>
              </c:pt>
              <c:pt idx="256">
                <c:v>07/20/2026</c:v>
              </c:pt>
              <c:pt idx="257">
                <c:v>07/21/2026</c:v>
              </c:pt>
              <c:pt idx="258">
                <c:v>07/22/2026</c:v>
              </c:pt>
              <c:pt idx="259">
                <c:v>07/23/2026</c:v>
              </c:pt>
              <c:pt idx="260">
                <c:v>07/24/2026</c:v>
              </c:pt>
              <c:pt idx="261">
                <c:v>07/27/2026</c:v>
              </c:pt>
              <c:pt idx="262">
                <c:v>07/28/2026</c:v>
              </c:pt>
              <c:pt idx="263">
                <c:v>07/29/2026</c:v>
              </c:pt>
              <c:pt idx="264">
                <c:v>07/30/2026</c:v>
              </c:pt>
              <c:pt idx="265">
                <c:v>07/31/2026</c:v>
              </c:pt>
              <c:pt idx="266">
                <c:v>08/03/2026</c:v>
              </c:pt>
              <c:pt idx="267">
                <c:v>08/04/2026</c:v>
              </c:pt>
              <c:pt idx="268">
                <c:v>08/05/2026</c:v>
              </c:pt>
              <c:pt idx="269">
                <c:v>08/06/2026</c:v>
              </c:pt>
              <c:pt idx="270">
                <c:v>08/07/2026</c:v>
              </c:pt>
              <c:pt idx="271">
                <c:v>08/10/2026</c:v>
              </c:pt>
              <c:pt idx="272">
                <c:v>08/11/2026</c:v>
              </c:pt>
              <c:pt idx="273">
                <c:v>08/12/2026</c:v>
              </c:pt>
              <c:pt idx="274">
                <c:v>08/13/2026</c:v>
              </c:pt>
              <c:pt idx="275">
                <c:v>08/14/2026</c:v>
              </c:pt>
              <c:pt idx="276">
                <c:v>08/17/2026</c:v>
              </c:pt>
              <c:pt idx="277">
                <c:v>08/18/2026</c:v>
              </c:pt>
              <c:pt idx="278">
                <c:v>08/19/2026</c:v>
              </c:pt>
              <c:pt idx="279">
                <c:v>08/20/2026</c:v>
              </c:pt>
              <c:pt idx="280">
                <c:v>08/21/2026</c:v>
              </c:pt>
              <c:pt idx="281">
                <c:v>08/24/2026</c:v>
              </c:pt>
              <c:pt idx="282">
                <c:v>08/25/2026</c:v>
              </c:pt>
              <c:pt idx="283">
                <c:v>08/26/2026</c:v>
              </c:pt>
              <c:pt idx="284">
                <c:v>08/27/2026</c:v>
              </c:pt>
              <c:pt idx="285">
                <c:v>08/28/2026</c:v>
              </c:pt>
              <c:pt idx="286">
                <c:v>08/31/2026</c:v>
              </c:pt>
              <c:pt idx="287">
                <c:v>09/01/2026</c:v>
              </c:pt>
              <c:pt idx="288">
                <c:v>09/02/2026</c:v>
              </c:pt>
              <c:pt idx="289">
                <c:v>09/03/2026</c:v>
              </c:pt>
              <c:pt idx="290">
                <c:v>09/04/2026</c:v>
              </c:pt>
              <c:pt idx="291">
                <c:v>09/08/2026</c:v>
              </c:pt>
              <c:pt idx="292">
                <c:v>09/09/2026</c:v>
              </c:pt>
              <c:pt idx="293">
                <c:v>09/10/2026</c:v>
              </c:pt>
              <c:pt idx="294">
                <c:v>09/11/2026</c:v>
              </c:pt>
              <c:pt idx="295">
                <c:v>09/14/2026</c:v>
              </c:pt>
              <c:pt idx="296">
                <c:v>09/15/2026</c:v>
              </c:pt>
              <c:pt idx="297">
                <c:v>09/16/2026</c:v>
              </c:pt>
              <c:pt idx="298">
                <c:v>09/17/2026</c:v>
              </c:pt>
              <c:pt idx="299">
                <c:v>09/18/2026</c:v>
              </c:pt>
              <c:pt idx="300">
                <c:v>09/21/2026</c:v>
              </c:pt>
            </c:strLit>
          </c:cat>
          <c:val>
            <c:numLit>
              <c:formatCode>General</c:formatCode>
              <c:ptCount val="301"/>
              <c:pt idx="0">
                <c:v>157.99</c:v>
              </c:pt>
              <c:pt idx="1">
                <c:v>159</c:v>
              </c:pt>
              <c:pt idx="2">
                <c:v>154.75</c:v>
              </c:pt>
              <c:pt idx="3">
                <c:v>154.80000000000001</c:v>
              </c:pt>
              <c:pt idx="4">
                <c:v>156</c:v>
              </c:pt>
              <c:pt idx="5">
                <c:v>153.99</c:v>
              </c:pt>
              <c:pt idx="6">
                <c:v>153.49</c:v>
              </c:pt>
              <c:pt idx="7">
                <c:v>154.28</c:v>
              </c:pt>
              <c:pt idx="8">
                <c:v>154.1</c:v>
              </c:pt>
              <c:pt idx="9">
                <c:v>152.29</c:v>
              </c:pt>
              <c:pt idx="10">
                <c:v>153.47</c:v>
              </c:pt>
              <c:pt idx="11">
                <c:v>152.47999999999999</c:v>
              </c:pt>
              <c:pt idx="12">
                <c:v>154.18</c:v>
              </c:pt>
              <c:pt idx="13">
                <c:v>155.29</c:v>
              </c:pt>
              <c:pt idx="14">
                <c:v>152.69999999999999</c:v>
              </c:pt>
              <c:pt idx="15">
                <c:v>149.24</c:v>
              </c:pt>
              <c:pt idx="16">
                <c:v>149.58000000000001</c:v>
              </c:pt>
              <c:pt idx="17">
                <c:v>151.37</c:v>
              </c:pt>
              <c:pt idx="18">
                <c:v>152</c:v>
              </c:pt>
              <c:pt idx="19">
                <c:v>151.24</c:v>
              </c:pt>
              <c:pt idx="20">
                <c:v>151.26</c:v>
              </c:pt>
              <c:pt idx="21">
                <c:v>152.74</c:v>
              </c:pt>
              <c:pt idx="22">
                <c:v>158.5</c:v>
              </c:pt>
              <c:pt idx="23">
                <c:v>159.53</c:v>
              </c:pt>
              <c:pt idx="24">
                <c:v>157.34</c:v>
              </c:pt>
              <c:pt idx="25">
                <c:v>156.4</c:v>
              </c:pt>
              <c:pt idx="26">
                <c:v>158.11000000000001</c:v>
              </c:pt>
              <c:pt idx="27">
                <c:v>160.13</c:v>
              </c:pt>
              <c:pt idx="28">
                <c:v>159.96</c:v>
              </c:pt>
              <c:pt idx="29">
                <c:v>160.18</c:v>
              </c:pt>
              <c:pt idx="30">
                <c:v>166.44</c:v>
              </c:pt>
              <c:pt idx="31">
                <c:v>164.85</c:v>
              </c:pt>
              <c:pt idx="32">
                <c:v>164.88</c:v>
              </c:pt>
              <c:pt idx="33">
                <c:v>166.03</c:v>
              </c:pt>
              <c:pt idx="34">
                <c:v>170.08</c:v>
              </c:pt>
              <c:pt idx="35">
                <c:v>168.31</c:v>
              </c:pt>
              <c:pt idx="36">
                <c:v>168.2</c:v>
              </c:pt>
              <c:pt idx="37">
                <c:v>167.34</c:v>
              </c:pt>
              <c:pt idx="38">
                <c:v>168.5</c:v>
              </c:pt>
              <c:pt idx="39">
                <c:v>167.64</c:v>
              </c:pt>
              <c:pt idx="40">
                <c:v>168.01</c:v>
              </c:pt>
              <c:pt idx="41">
                <c:v>168.09</c:v>
              </c:pt>
              <c:pt idx="42">
                <c:v>168.45</c:v>
              </c:pt>
              <c:pt idx="43">
                <c:v>171.39</c:v>
              </c:pt>
              <c:pt idx="44">
                <c:v>169.79</c:v>
              </c:pt>
              <c:pt idx="45">
                <c:v>169.81</c:v>
              </c:pt>
              <c:pt idx="46">
                <c:v>168.29</c:v>
              </c:pt>
              <c:pt idx="47">
                <c:v>169.13</c:v>
              </c:pt>
              <c:pt idx="48">
                <c:v>172.68</c:v>
              </c:pt>
              <c:pt idx="49">
                <c:v>172.07</c:v>
              </c:pt>
              <c:pt idx="50">
                <c:v>175.95</c:v>
              </c:pt>
              <c:pt idx="51">
                <c:v>176.78</c:v>
              </c:pt>
              <c:pt idx="52">
                <c:v>173.49</c:v>
              </c:pt>
              <c:pt idx="53">
                <c:v>174.48</c:v>
              </c:pt>
              <c:pt idx="54">
                <c:v>176.96</c:v>
              </c:pt>
              <c:pt idx="55">
                <c:v>175.13</c:v>
              </c:pt>
              <c:pt idx="56">
                <c:v>174.8</c:v>
              </c:pt>
              <c:pt idx="57">
                <c:v>174.55</c:v>
              </c:pt>
              <c:pt idx="58">
                <c:v>175.16</c:v>
              </c:pt>
              <c:pt idx="59">
                <c:v>175.84</c:v>
              </c:pt>
              <c:pt idx="60">
                <c:v>176.25</c:v>
              </c:pt>
              <c:pt idx="61">
                <c:v>173.8</c:v>
              </c:pt>
              <c:pt idx="62">
                <c:v>173.96</c:v>
              </c:pt>
              <c:pt idx="63">
                <c:v>171.26</c:v>
              </c:pt>
              <c:pt idx="64">
                <c:v>169.14</c:v>
              </c:pt>
              <c:pt idx="65">
                <c:v>170.64</c:v>
              </c:pt>
              <c:pt idx="66">
                <c:v>173.95</c:v>
              </c:pt>
              <c:pt idx="67">
                <c:v>175.91</c:v>
              </c:pt>
              <c:pt idx="68">
                <c:v>174.44</c:v>
              </c:pt>
              <c:pt idx="69">
                <c:v>172.02</c:v>
              </c:pt>
              <c:pt idx="70">
                <c:v>172.97</c:v>
              </c:pt>
              <c:pt idx="71">
                <c:v>163.01</c:v>
              </c:pt>
              <c:pt idx="72">
                <c:v>164.75</c:v>
              </c:pt>
              <c:pt idx="73">
                <c:v>161.99</c:v>
              </c:pt>
              <c:pt idx="74">
                <c:v>161.21</c:v>
              </c:pt>
              <c:pt idx="75">
                <c:v>158.15</c:v>
              </c:pt>
              <c:pt idx="76">
                <c:v>159.91</c:v>
              </c:pt>
              <c:pt idx="77">
                <c:v>158.41999999999999</c:v>
              </c:pt>
              <c:pt idx="78">
                <c:v>158.38</c:v>
              </c:pt>
              <c:pt idx="79">
                <c:v>156.85</c:v>
              </c:pt>
              <c:pt idx="80">
                <c:v>155.21</c:v>
              </c:pt>
              <c:pt idx="81">
                <c:v>152.11000000000001</c:v>
              </c:pt>
              <c:pt idx="82">
                <c:v>152.86000000000001</c:v>
              </c:pt>
              <c:pt idx="83">
                <c:v>152.93</c:v>
              </c:pt>
              <c:pt idx="84">
                <c:v>155.08000000000001</c:v>
              </c:pt>
              <c:pt idx="85">
                <c:v>156.71</c:v>
              </c:pt>
              <c:pt idx="86">
                <c:v>155.99</c:v>
              </c:pt>
              <c:pt idx="87">
                <c:v>157.22999999999999</c:v>
              </c:pt>
              <c:pt idx="88">
                <c:v>156.35</c:v>
              </c:pt>
              <c:pt idx="89">
                <c:v>157.25</c:v>
              </c:pt>
              <c:pt idx="90">
                <c:v>152.69999999999999</c:v>
              </c:pt>
              <c:pt idx="91">
                <c:v>152.78</c:v>
              </c:pt>
              <c:pt idx="92">
                <c:v>152.47999999999999</c:v>
              </c:pt>
              <c:pt idx="93">
                <c:v>153.99</c:v>
              </c:pt>
              <c:pt idx="94">
                <c:v>157.01</c:v>
              </c:pt>
              <c:pt idx="95">
                <c:v>156.58000000000001</c:v>
              </c:pt>
              <c:pt idx="96">
                <c:v>159.41</c:v>
              </c:pt>
              <c:pt idx="97">
                <c:v>160.32</c:v>
              </c:pt>
              <c:pt idx="98">
                <c:v>159.93</c:v>
              </c:pt>
              <c:pt idx="99">
                <c:v>159.65</c:v>
              </c:pt>
              <c:pt idx="100">
                <c:v>161</c:v>
              </c:pt>
              <c:pt idx="101">
                <c:v>165.68</c:v>
              </c:pt>
              <c:pt idx="102">
                <c:v>164.78</c:v>
              </c:pt>
              <c:pt idx="103">
                <c:v>167.3</c:v>
              </c:pt>
              <c:pt idx="104">
                <c:v>165.45</c:v>
              </c:pt>
              <c:pt idx="105">
                <c:v>164.77</c:v>
              </c:pt>
              <c:pt idx="106">
                <c:v>167.22</c:v>
              </c:pt>
              <c:pt idx="107">
                <c:v>169.86</c:v>
              </c:pt>
              <c:pt idx="108">
                <c:v>168.43</c:v>
              </c:pt>
              <c:pt idx="109">
                <c:v>169.7</c:v>
              </c:pt>
              <c:pt idx="110">
                <c:v>169.86</c:v>
              </c:pt>
              <c:pt idx="111">
                <c:v>170.72</c:v>
              </c:pt>
              <c:pt idx="112">
                <c:v>172.98</c:v>
              </c:pt>
              <c:pt idx="113">
                <c:v>172.78</c:v>
              </c:pt>
              <c:pt idx="114">
                <c:v>174.14</c:v>
              </c:pt>
              <c:pt idx="115">
                <c:v>173.38</c:v>
              </c:pt>
              <c:pt idx="116">
                <c:v>174.15</c:v>
              </c:pt>
              <c:pt idx="117">
                <c:v>173.2</c:v>
              </c:pt>
              <c:pt idx="118">
                <c:v>172.34</c:v>
              </c:pt>
              <c:pt idx="119">
                <c:v>171.96</c:v>
              </c:pt>
              <c:pt idx="120">
                <c:v>169.6</c:v>
              </c:pt>
              <c:pt idx="121">
                <c:v>170.82</c:v>
              </c:pt>
              <c:pt idx="122">
                <c:v>172.64</c:v>
              </c:pt>
              <c:pt idx="123">
                <c:v>175.16</c:v>
              </c:pt>
              <c:pt idx="124">
                <c:v>174.26</c:v>
              </c:pt>
              <c:pt idx="125">
                <c:v>177.85</c:v>
              </c:pt>
              <c:pt idx="126">
                <c:v>175.87</c:v>
              </c:pt>
              <c:pt idx="127">
                <c:v>176.1</c:v>
              </c:pt>
              <c:pt idx="128">
                <c:v>175.94</c:v>
              </c:pt>
              <c:pt idx="129">
                <c:v>177.09</c:v>
              </c:pt>
              <c:pt idx="130">
                <c:v>177.03</c:v>
              </c:pt>
              <c:pt idx="131">
                <c:v>179.48</c:v>
              </c:pt>
              <c:pt idx="132">
                <c:v>179.02</c:v>
              </c:pt>
              <c:pt idx="133">
                <c:v>183.35</c:v>
              </c:pt>
              <c:pt idx="134">
                <c:v>185.62</c:v>
              </c:pt>
              <c:pt idx="135">
                <c:v>183.35</c:v>
              </c:pt>
              <c:pt idx="136">
                <c:v>184.01</c:v>
              </c:pt>
              <c:pt idx="137">
                <c:v>183.73</c:v>
              </c:pt>
              <c:pt idx="138">
                <c:v>180.08</c:v>
              </c:pt>
              <c:pt idx="139">
                <c:v>181.78</c:v>
              </c:pt>
              <c:pt idx="140">
                <c:v>181.91</c:v>
              </c:pt>
              <c:pt idx="141">
                <c:v>181.97</c:v>
              </c:pt>
              <c:pt idx="142">
                <c:v>184.55</c:v>
              </c:pt>
              <c:pt idx="143">
                <c:v>186.63</c:v>
              </c:pt>
              <c:pt idx="144">
                <c:v>188.2</c:v>
              </c:pt>
              <c:pt idx="145">
                <c:v>188.43</c:v>
              </c:pt>
              <c:pt idx="146">
                <c:v>189.13</c:v>
              </c:pt>
              <c:pt idx="147">
                <c:v>189.57</c:v>
              </c:pt>
              <c:pt idx="148">
                <c:v>188.89</c:v>
              </c:pt>
              <c:pt idx="149">
                <c:v>190.28</c:v>
              </c:pt>
              <c:pt idx="150">
                <c:v>192.05</c:v>
              </c:pt>
              <c:pt idx="151">
                <c:v>193.49</c:v>
              </c:pt>
              <c:pt idx="152">
                <c:v>190.27</c:v>
              </c:pt>
              <c:pt idx="153">
                <c:v>189.07</c:v>
              </c:pt>
              <c:pt idx="154">
                <c:v>198.51</c:v>
              </c:pt>
              <c:pt idx="155">
                <c:v>195.99</c:v>
              </c:pt>
              <c:pt idx="156">
                <c:v>195.58</c:v>
              </c:pt>
              <c:pt idx="157">
                <c:v>188.73</c:v>
              </c:pt>
              <c:pt idx="158">
                <c:v>187.5</c:v>
              </c:pt>
              <c:pt idx="159">
                <c:v>184.17</c:v>
              </c:pt>
              <c:pt idx="160">
                <c:v>185.46</c:v>
              </c:pt>
              <c:pt idx="161">
                <c:v>184.12</c:v>
              </c:pt>
              <c:pt idx="162">
                <c:v>184.71</c:v>
              </c:pt>
              <c:pt idx="163">
                <c:v>181.81</c:v>
              </c:pt>
              <c:pt idx="164">
                <c:v>178.88</c:v>
              </c:pt>
              <c:pt idx="165">
                <c:v>178.58</c:v>
              </c:pt>
              <c:pt idx="166">
                <c:v>174.85</c:v>
              </c:pt>
              <c:pt idx="167">
                <c:v>174.64</c:v>
              </c:pt>
              <c:pt idx="168">
                <c:v>169.9</c:v>
              </c:pt>
              <c:pt idx="169">
                <c:v>168.5</c:v>
              </c:pt>
              <c:pt idx="170">
                <c:v>167.25</c:v>
              </c:pt>
              <c:pt idx="171">
                <c:v>167.44</c:v>
              </c:pt>
              <c:pt idx="172">
                <c:v>164.82</c:v>
              </c:pt>
              <c:pt idx="173">
                <c:v>165.3</c:v>
              </c:pt>
              <c:pt idx="174">
                <c:v>164.7</c:v>
              </c:pt>
              <c:pt idx="175">
                <c:v>169.11</c:v>
              </c:pt>
              <c:pt idx="176">
                <c:v>169.33</c:v>
              </c:pt>
              <c:pt idx="177">
                <c:v>170.04</c:v>
              </c:pt>
              <c:pt idx="178">
                <c:v>168.42</c:v>
              </c:pt>
              <c:pt idx="179">
                <c:v>167.6</c:v>
              </c:pt>
              <c:pt idx="180">
                <c:v>167.19</c:v>
              </c:pt>
              <c:pt idx="181">
                <c:v>170.74</c:v>
              </c:pt>
              <c:pt idx="182">
                <c:v>171.66</c:v>
              </c:pt>
              <c:pt idx="183">
                <c:v>174.29</c:v>
              </c:pt>
              <c:pt idx="184">
                <c:v>172.94</c:v>
              </c:pt>
              <c:pt idx="185">
                <c:v>176.51</c:v>
              </c:pt>
              <c:pt idx="186">
                <c:v>185.2</c:v>
              </c:pt>
              <c:pt idx="187">
                <c:v>192.51</c:v>
              </c:pt>
              <c:pt idx="188">
                <c:v>193.57</c:v>
              </c:pt>
              <c:pt idx="189">
                <c:v>194.42</c:v>
              </c:pt>
              <c:pt idx="190">
                <c:v>196.08</c:v>
              </c:pt>
              <c:pt idx="191">
                <c:v>195.65</c:v>
              </c:pt>
              <c:pt idx="192">
                <c:v>197</c:v>
              </c:pt>
              <c:pt idx="193">
                <c:v>198.51</c:v>
              </c:pt>
              <c:pt idx="194">
                <c:v>200.76</c:v>
              </c:pt>
              <c:pt idx="195">
                <c:v>200.09</c:v>
              </c:pt>
              <c:pt idx="196">
                <c:v>196.56</c:v>
              </c:pt>
              <c:pt idx="197">
                <c:v>198.94</c:v>
              </c:pt>
              <c:pt idx="198">
                <c:v>198.17</c:v>
              </c:pt>
              <c:pt idx="199">
                <c:v>197.61</c:v>
              </c:pt>
              <c:pt idx="200">
                <c:v>197.44</c:v>
              </c:pt>
              <c:pt idx="201">
                <c:v>193.79</c:v>
              </c:pt>
              <c:pt idx="202">
                <c:v>195.92</c:v>
              </c:pt>
              <c:pt idx="203">
                <c:v>196.35</c:v>
              </c:pt>
              <c:pt idx="204">
                <c:v>193.28</c:v>
              </c:pt>
              <c:pt idx="205">
                <c:v>195.13</c:v>
              </c:pt>
              <c:pt idx="206">
                <c:v>199.56</c:v>
              </c:pt>
              <c:pt idx="207">
                <c:v>183.02</c:v>
              </c:pt>
              <c:pt idx="208">
                <c:v>186.43</c:v>
              </c:pt>
              <c:pt idx="209">
                <c:v>186.81</c:v>
              </c:pt>
              <c:pt idx="210">
                <c:v>183.84</c:v>
              </c:pt>
              <c:pt idx="211">
                <c:v>179.71</c:v>
              </c:pt>
              <c:pt idx="212">
                <c:v>176.32</c:v>
              </c:pt>
              <c:pt idx="213">
                <c:v>172.67</c:v>
              </c:pt>
              <c:pt idx="214">
                <c:v>171.29</c:v>
              </c:pt>
              <c:pt idx="215">
                <c:v>169.92</c:v>
              </c:pt>
              <c:pt idx="216">
                <c:v>170.85</c:v>
              </c:pt>
              <c:pt idx="217">
                <c:v>172.92</c:v>
              </c:pt>
              <c:pt idx="218">
                <c:v>169.67</c:v>
              </c:pt>
              <c:pt idx="219">
                <c:v>171.91</c:v>
              </c:pt>
              <c:pt idx="220">
                <c:v>172.34</c:v>
              </c:pt>
              <c:pt idx="221">
                <c:v>170.52</c:v>
              </c:pt>
              <c:pt idx="222">
                <c:v>169.08</c:v>
              </c:pt>
              <c:pt idx="223">
                <c:v>164.51</c:v>
              </c:pt>
              <c:pt idx="224">
                <c:v>167.64</c:v>
              </c:pt>
              <c:pt idx="225">
                <c:v>166.79</c:v>
              </c:pt>
              <c:pt idx="226">
                <c:v>173.11</c:v>
              </c:pt>
              <c:pt idx="227">
                <c:v>171.06</c:v>
              </c:pt>
              <c:pt idx="228">
                <c:v>172.37</c:v>
              </c:pt>
              <c:pt idx="229">
                <c:v>175.05</c:v>
              </c:pt>
              <c:pt idx="230">
                <c:v>171.7</c:v>
              </c:pt>
              <c:pt idx="231">
                <c:v>172.22</c:v>
              </c:pt>
              <c:pt idx="232">
                <c:v>174.56</c:v>
              </c:pt>
              <c:pt idx="233">
                <c:v>175.84</c:v>
              </c:pt>
              <c:pt idx="234">
                <c:v>177.66</c:v>
              </c:pt>
              <c:pt idx="235">
                <c:v>173.28</c:v>
              </c:pt>
              <c:pt idx="236">
                <c:v>177.17</c:v>
              </c:pt>
              <c:pt idx="237">
                <c:v>179.75</c:v>
              </c:pt>
              <c:pt idx="238">
                <c:v>177.98</c:v>
              </c:pt>
              <c:pt idx="239">
                <c:v>179.45</c:v>
              </c:pt>
              <c:pt idx="240">
                <c:v>181.66</c:v>
              </c:pt>
              <c:pt idx="241">
                <c:v>182.26</c:v>
              </c:pt>
              <c:pt idx="242">
                <c:v>178.32</c:v>
              </c:pt>
              <c:pt idx="243">
                <c:v>177.19</c:v>
              </c:pt>
              <c:pt idx="244">
                <c:v>171.74</c:v>
              </c:pt>
              <c:pt idx="245">
                <c:v>173.66</c:v>
              </c:pt>
              <c:pt idx="246">
                <c:v>177.82</c:v>
              </c:pt>
              <c:pt idx="247">
                <c:v>174.17</c:v>
              </c:pt>
              <c:pt idx="248">
                <c:v>173.57</c:v>
              </c:pt>
              <c:pt idx="249">
                <c:v>174.94</c:v>
              </c:pt>
              <c:pt idx="250">
                <c:v>180.14</c:v>
              </c:pt>
              <c:pt idx="251">
                <c:v>180.25</c:v>
              </c:pt>
              <c:pt idx="252">
                <c:v>177.74</c:v>
              </c:pt>
              <c:pt idx="253">
                <c:v>177.09</c:v>
              </c:pt>
              <c:pt idx="254">
                <c:v>181.15</c:v>
              </c:pt>
              <c:pt idx="255">
                <c:v>178.48</c:v>
              </c:pt>
              <c:pt idx="256">
                <c:v>178.13</c:v>
              </c:pt>
              <c:pt idx="257">
                <c:v>179.05</c:v>
              </c:pt>
              <c:pt idx="258">
                <c:v>180.35</c:v>
              </c:pt>
              <c:pt idx="259">
                <c:v>183.38</c:v>
              </c:pt>
              <c:pt idx="260">
                <c:v>184.63</c:v>
              </c:pt>
              <c:pt idx="261">
                <c:v>183.6</c:v>
              </c:pt>
              <c:pt idx="262">
                <c:v>185.8</c:v>
              </c:pt>
              <c:pt idx="263">
                <c:v>181.63</c:v>
              </c:pt>
              <c:pt idx="264">
                <c:v>181.7</c:v>
              </c:pt>
              <c:pt idx="265">
                <c:v>178.88</c:v>
              </c:pt>
              <c:pt idx="266">
                <c:v>180.39</c:v>
              </c:pt>
              <c:pt idx="267">
                <c:v>181.78</c:v>
              </c:pt>
              <c:pt idx="268">
                <c:v>179.52</c:v>
              </c:pt>
              <c:pt idx="269">
                <c:v>178.8</c:v>
              </c:pt>
              <c:pt idx="270">
                <c:v>177.71</c:v>
              </c:pt>
              <c:pt idx="271">
                <c:v>176.33</c:v>
              </c:pt>
              <c:pt idx="272">
                <c:v>177.56</c:v>
              </c:pt>
              <c:pt idx="273">
                <c:v>179.51</c:v>
              </c:pt>
              <c:pt idx="274">
                <c:v>179.26</c:v>
              </c:pt>
              <c:pt idx="275">
                <c:v>180.65</c:v>
              </c:pt>
              <c:pt idx="276">
                <c:v>180.65</c:v>
              </c:pt>
              <c:pt idx="277">
                <c:v>178.31</c:v>
              </c:pt>
              <c:pt idx="278">
                <c:v>176.16</c:v>
              </c:pt>
              <c:pt idx="279">
                <c:v>176.7</c:v>
              </c:pt>
              <c:pt idx="280">
                <c:v>176.93</c:v>
              </c:pt>
              <c:pt idx="281">
                <c:v>178.51</c:v>
              </c:pt>
              <c:pt idx="282">
                <c:v>179.26</c:v>
              </c:pt>
              <c:pt idx="283">
                <c:v>178.5</c:v>
              </c:pt>
              <c:pt idx="284">
                <c:v>178.43</c:v>
              </c:pt>
              <c:pt idx="285">
                <c:v>177.6</c:v>
              </c:pt>
              <c:pt idx="286">
                <c:v>174.93</c:v>
              </c:pt>
              <c:pt idx="287">
                <c:v>173.54</c:v>
              </c:pt>
              <c:pt idx="288">
                <c:v>175.78</c:v>
              </c:pt>
              <c:pt idx="289">
                <c:v>177.31</c:v>
              </c:pt>
              <c:pt idx="290">
                <c:v>178.1</c:v>
              </c:pt>
              <c:pt idx="291">
                <c:v>176.32</c:v>
              </c:pt>
              <c:pt idx="292">
                <c:v>177.08</c:v>
              </c:pt>
              <c:pt idx="293">
                <c:v>176.85</c:v>
              </c:pt>
              <c:pt idx="294">
                <c:v>178.53</c:v>
              </c:pt>
              <c:pt idx="295">
                <c:v>176.1</c:v>
              </c:pt>
              <c:pt idx="296">
                <c:v>178.34</c:v>
              </c:pt>
              <c:pt idx="297">
                <c:v>177.63</c:v>
              </c:pt>
              <c:pt idx="298">
                <c:v>180.28</c:v>
              </c:pt>
              <c:pt idx="299">
                <c:v>177.9</c:v>
              </c:pt>
              <c:pt idx="300">
                <c:v>180.68</c:v>
              </c:pt>
            </c:numLit>
          </c:val>
          <c:smooth val="0"/>
          <c:extLst>
            <c:ext xmlns:c16="http://schemas.microsoft.com/office/drawing/2014/chart" uri="{C3380CC4-5D6E-409C-BE32-E72D297353CC}">
              <c16:uniqueId val="{00000001-BC20-4339-BF6C-BE76E246D822}"/>
            </c:ext>
          </c:extLst>
        </c:ser>
        <c:dLbls>
          <c:showLegendKey val="0"/>
          <c:showVal val="0"/>
          <c:showCatName val="0"/>
          <c:showSerName val="0"/>
          <c:showPercent val="0"/>
          <c:showBubbleSize val="0"/>
        </c:dLbls>
        <c:marker val="1"/>
        <c:smooth val="0"/>
        <c:axId val="948494303"/>
        <c:axId val="948496223"/>
      </c:lineChart>
      <c:catAx>
        <c:axId val="699759519"/>
        <c:scaling>
          <c:orientation val="minMax"/>
        </c:scaling>
        <c:delete val="0"/>
        <c:axPos val="b"/>
        <c:numFmt formatCode="General" sourceLinked="0"/>
        <c:majorTickMark val="none"/>
        <c:minorTickMark val="none"/>
        <c:tickLblPos val="nextTo"/>
        <c:spPr>
          <a:noFill/>
          <a:ln w="31750" cap="flat" cmpd="sng" algn="ctr">
            <a:solidFill>
              <a:srgbClr val="292934"/>
            </a:solidFill>
            <a:round/>
          </a:ln>
          <a:effectLst/>
        </c:spPr>
        <c:txPr>
          <a:bodyPr rot="0" vert="horz"/>
          <a:lstStyle/>
          <a:p>
            <a:pPr>
              <a:defRPr/>
            </a:pPr>
            <a:endParaRPr lang="en-US"/>
          </a:p>
        </c:txPr>
        <c:crossAx val="699740319"/>
        <c:crosses val="autoZero"/>
        <c:auto val="0"/>
        <c:lblAlgn val="ctr"/>
        <c:lblOffset val="100"/>
        <c:tickLblSkip val="63"/>
        <c:tickMarkSkip val="63"/>
        <c:noMultiLvlLbl val="1"/>
      </c:catAx>
      <c:valAx>
        <c:axId val="699740319"/>
        <c:scaling>
          <c:orientation val="minMax"/>
          <c:max val="1000000"/>
          <c:min val="0"/>
        </c:scaling>
        <c:delete val="0"/>
        <c:axPos val="l"/>
        <c:majorGridlines>
          <c:spPr>
            <a:ln w="9525" cap="flat" cmpd="sng" algn="ctr">
              <a:solidFill>
                <a:schemeClr val="tx1">
                  <a:lumMod val="15000"/>
                  <a:lumOff val="85000"/>
                </a:schemeClr>
              </a:solidFill>
              <a:round/>
            </a:ln>
            <a:effectLst/>
          </c:spPr>
        </c:majorGridlines>
        <c:numFmt formatCode="#,##0,&quot;K&quot;" sourceLinked="0"/>
        <c:majorTickMark val="none"/>
        <c:minorTickMark val="none"/>
        <c:tickLblPos val="nextTo"/>
        <c:spPr>
          <a:noFill/>
          <a:ln w="31750">
            <a:solidFill>
              <a:srgbClr val="292934"/>
            </a:solidFill>
          </a:ln>
          <a:effectLst/>
        </c:spPr>
        <c:txPr>
          <a:bodyPr rot="-60000000" vert="horz"/>
          <a:lstStyle/>
          <a:p>
            <a:pPr>
              <a:defRPr/>
            </a:pPr>
            <a:endParaRPr lang="en-US"/>
          </a:p>
        </c:txPr>
        <c:crossAx val="699759519"/>
        <c:crosses val="autoZero"/>
        <c:crossBetween val="between"/>
      </c:valAx>
      <c:valAx>
        <c:axId val="948496223"/>
        <c:scaling>
          <c:orientation val="minMax"/>
          <c:min val="140"/>
        </c:scaling>
        <c:delete val="0"/>
        <c:axPos val="r"/>
        <c:numFmt formatCode="_(&quot;$&quot;* #,##0_);_(&quot;$&quot;* \(#,##0\);_(&quot;$&quot;* &quot;-&quot;_);_(@_)" sourceLinked="0"/>
        <c:majorTickMark val="none"/>
        <c:minorTickMark val="none"/>
        <c:tickLblPos val="nextTo"/>
        <c:spPr>
          <a:noFill/>
          <a:ln w="31750">
            <a:solidFill>
              <a:srgbClr val="292934"/>
            </a:solidFill>
          </a:ln>
          <a:effectLst/>
        </c:spPr>
        <c:txPr>
          <a:bodyPr rot="-60000000" vert="horz"/>
          <a:lstStyle/>
          <a:p>
            <a:pPr>
              <a:defRPr/>
            </a:pPr>
            <a:endParaRPr lang="en-US"/>
          </a:p>
        </c:txPr>
        <c:crossAx val="948494303"/>
        <c:crosses val="max"/>
        <c:crossBetween val="between"/>
      </c:valAx>
      <c:catAx>
        <c:axId val="948494303"/>
        <c:scaling>
          <c:orientation val="minMax"/>
        </c:scaling>
        <c:delete val="1"/>
        <c:axPos val="b"/>
        <c:numFmt formatCode="General" sourceLinked="0"/>
        <c:majorTickMark val="out"/>
        <c:minorTickMark val="none"/>
        <c:tickLblPos val="nextTo"/>
        <c:crossAx val="948496223"/>
        <c:crosses val="autoZero"/>
        <c:auto val="0"/>
        <c:lblAlgn val="ctr"/>
        <c:lblOffset val="100"/>
        <c:tickLblSkip val="21"/>
        <c:tickMarkSkip val="21"/>
        <c:noMultiLvlLbl val="1"/>
      </c:catAx>
      <c:spPr>
        <a:ln w="31750">
          <a:solidFill>
            <a:srgbClr val="292934"/>
          </a:solidFill>
        </a:ln>
      </c:spPr>
    </c:plotArea>
    <c:legend>
      <c:legendPos val="t"/>
      <c:overlay val="0"/>
      <c:spPr>
        <a:noFill/>
        <a:ln>
          <a:noFill/>
        </a:ln>
        <a:effectLst/>
      </c:spPr>
      <c:txPr>
        <a:bodyPr rot="0" vert="horz"/>
        <a:lstStyle/>
        <a:p>
          <a:pPr>
            <a:defRPr/>
          </a:pPr>
          <a:endParaRPr lang="en-US"/>
        </a:p>
      </c:txPr>
    </c:legend>
    <c:plotVisOnly val="1"/>
    <c:dispBlanksAs val="zero"/>
    <c:showDLblsOverMax val="0"/>
  </c:chart>
  <c:spPr>
    <a:solidFill>
      <a:srgbClr val="FFFFFF"/>
    </a:solidFill>
    <a:ln w="31750" cap="flat" cmpd="sng" algn="ctr">
      <a:solidFill>
        <a:srgbClr val="292934"/>
      </a:solidFill>
      <a:round/>
    </a:ln>
    <a:effectLst/>
  </c:spPr>
  <c:txPr>
    <a:bodyPr/>
    <a:lstStyle/>
    <a:p>
      <a:pPr>
        <a:defRPr sz="1000" b="0">
          <a:latin typeface="Calibri" panose="020F0502020204030204" pitchFamily="34" charset="0"/>
          <a:ea typeface="Calibri" panose="020F0502020204030204" pitchFamily="34" charset="0"/>
          <a:cs typeface="Calibri" panose="020F0502020204030204" pitchFamily="34" charset="0"/>
        </a:defRPr>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281763259539942"/>
          <c:y val="8.1058919180399258E-2"/>
          <c:w val="0.44139029686464126"/>
          <c:h val="0.82076347221378376"/>
        </c:manualLayout>
      </c:layout>
      <c:doughnutChart>
        <c:varyColors val="1"/>
        <c:ser>
          <c:idx val="0"/>
          <c:order val="0"/>
          <c:spPr>
            <a:ln>
              <a:noFill/>
            </a:ln>
          </c:spPr>
          <c:dPt>
            <c:idx val="0"/>
            <c:bubble3D val="0"/>
            <c:spPr>
              <a:solidFill>
                <a:srgbClr val="F2C755"/>
              </a:solidFill>
              <a:ln w="19050">
                <a:noFill/>
              </a:ln>
              <a:effectLst/>
            </c:spPr>
            <c:extLst>
              <c:ext xmlns:c16="http://schemas.microsoft.com/office/drawing/2014/chart" uri="{C3380CC4-5D6E-409C-BE32-E72D297353CC}">
                <c16:uniqueId val="{00000001-7E46-4DB2-B3D1-D8B91E9FAEBB}"/>
              </c:ext>
            </c:extLst>
          </c:dPt>
          <c:dPt>
            <c:idx val="1"/>
            <c:bubble3D val="0"/>
            <c:spPr>
              <a:solidFill>
                <a:schemeClr val="tx1"/>
              </a:solidFill>
              <a:ln w="19050">
                <a:noFill/>
              </a:ln>
              <a:effectLst/>
            </c:spPr>
            <c:extLst>
              <c:ext xmlns:c16="http://schemas.microsoft.com/office/drawing/2014/chart" uri="{C3380CC4-5D6E-409C-BE32-E72D297353CC}">
                <c16:uniqueId val="{00000003-7E46-4DB2-B3D1-D8B91E9FAEBB}"/>
              </c:ext>
            </c:extLst>
          </c:dPt>
          <c:dPt>
            <c:idx val="2"/>
            <c:bubble3D val="0"/>
            <c:spPr>
              <a:solidFill>
                <a:schemeClr val="bg1">
                  <a:lumMod val="50000"/>
                </a:schemeClr>
              </a:solidFill>
              <a:ln w="19050">
                <a:noFill/>
              </a:ln>
              <a:effectLst/>
            </c:spPr>
            <c:extLst>
              <c:ext xmlns:c16="http://schemas.microsoft.com/office/drawing/2014/chart" uri="{C3380CC4-5D6E-409C-BE32-E72D297353CC}">
                <c16:uniqueId val="{00000005-7E46-4DB2-B3D1-D8B91E9FAEBB}"/>
              </c:ext>
            </c:extLst>
          </c:dPt>
          <c:dPt>
            <c:idx val="3"/>
            <c:bubble3D val="0"/>
            <c:spPr>
              <a:solidFill>
                <a:schemeClr val="bg1">
                  <a:lumMod val="75000"/>
                </a:schemeClr>
              </a:solidFill>
              <a:ln w="19050">
                <a:noFill/>
              </a:ln>
              <a:effectLst/>
            </c:spPr>
            <c:extLst>
              <c:ext xmlns:c16="http://schemas.microsoft.com/office/drawing/2014/chart" uri="{C3380CC4-5D6E-409C-BE32-E72D297353CC}">
                <c16:uniqueId val="{00000007-7E46-4DB2-B3D1-D8B91E9FAEBB}"/>
              </c:ext>
            </c:extLst>
          </c:dPt>
          <c:dPt>
            <c:idx val="4"/>
            <c:bubble3D val="0"/>
            <c:spPr>
              <a:solidFill>
                <a:schemeClr val="bg1">
                  <a:lumMod val="95000"/>
                </a:schemeClr>
              </a:solidFill>
              <a:ln w="19050">
                <a:noFill/>
              </a:ln>
              <a:effectLst/>
            </c:spPr>
            <c:extLst>
              <c:ext xmlns:c16="http://schemas.microsoft.com/office/drawing/2014/chart" uri="{C3380CC4-5D6E-409C-BE32-E72D297353CC}">
                <c16:uniqueId val="{00000009-7E46-4DB2-B3D1-D8B91E9FAEBB}"/>
              </c:ext>
            </c:extLst>
          </c:dPt>
          <c:dLbls>
            <c:dLbl>
              <c:idx val="0"/>
              <c:layout>
                <c:manualLayout>
                  <c:x val="4.4449141540899136E-2"/>
                  <c:y val="0.3159669195417774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E46-4DB2-B3D1-D8B91E9FAEBB}"/>
                </c:ext>
              </c:extLst>
            </c:dLbl>
            <c:dLbl>
              <c:idx val="1"/>
              <c:layout>
                <c:manualLayout>
                  <c:x val="-0.13008130081300814"/>
                  <c:y val="0.1445086705202311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E46-4DB2-B3D1-D8B91E9FAEBB}"/>
                </c:ext>
              </c:extLst>
            </c:dLbl>
            <c:dLbl>
              <c:idx val="2"/>
              <c:layout>
                <c:manualLayout>
                  <c:x val="-0.16666666666666671"/>
                  <c:y val="-9.633911368015415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E46-4DB2-B3D1-D8B91E9FAEBB}"/>
                </c:ext>
              </c:extLst>
            </c:dLbl>
            <c:dLbl>
              <c:idx val="3"/>
              <c:layout>
                <c:manualLayout>
                  <c:x val="0.1192000218722659"/>
                  <c:y val="-0.1229699412573428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E46-4DB2-B3D1-D8B91E9FAEBB}"/>
                </c:ext>
              </c:extLst>
            </c:dLbl>
            <c:dLbl>
              <c:idx val="4"/>
              <c:layout>
                <c:manualLayout>
                  <c:x val="0.10755937520005114"/>
                  <c:y val="-0.1395043466387510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E46-4DB2-B3D1-D8B91E9FAEBB}"/>
                </c:ext>
              </c:extLst>
            </c:dLbl>
            <c:spPr>
              <a:noFill/>
              <a:ln>
                <a:noFill/>
              </a:ln>
              <a:effectLst/>
            </c:spPr>
            <c:txPr>
              <a:bodyPr rot="0" vert="horz"/>
              <a:lstStyle/>
              <a:p>
                <a:pPr>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Graphs!$B$3:$B$6</c:f>
              <c:strCache>
                <c:ptCount val="4"/>
                <c:pt idx="0">
                  <c:v>Rail North America</c:v>
                </c:pt>
                <c:pt idx="1">
                  <c:v>Rail International</c:v>
                </c:pt>
                <c:pt idx="2">
                  <c:v>Engine Leasing</c:v>
                </c:pt>
                <c:pt idx="3">
                  <c:v>Other</c:v>
                </c:pt>
              </c:strCache>
            </c:strRef>
          </c:cat>
          <c:val>
            <c:numRef>
              <c:f>Graphs!$G$3:$G$6</c:f>
              <c:numCache>
                <c:formatCode>0.0%</c:formatCode>
                <c:ptCount val="4"/>
                <c:pt idx="0">
                  <c:v>0.76907946498819835</c:v>
                </c:pt>
                <c:pt idx="1">
                  <c:v>0.19728560188827696</c:v>
                </c:pt>
                <c:pt idx="2">
                  <c:v>1.7309205350118019E-2</c:v>
                </c:pt>
                <c:pt idx="3">
                  <c:v>1.6325727773406767E-2</c:v>
                </c:pt>
              </c:numCache>
            </c:numRef>
          </c:val>
          <c:extLst>
            <c:ext xmlns:c16="http://schemas.microsoft.com/office/drawing/2014/chart" uri="{C3380CC4-5D6E-409C-BE32-E72D297353CC}">
              <c16:uniqueId val="{0000000A-7E46-4DB2-B3D1-D8B91E9FAEBB}"/>
            </c:ext>
          </c:extLst>
        </c:ser>
        <c:dLbls>
          <c:showLegendKey val="0"/>
          <c:showVal val="1"/>
          <c:showCatName val="0"/>
          <c:showSerName val="0"/>
          <c:showPercent val="0"/>
          <c:showBubbleSize val="0"/>
          <c:showLeaderLines val="1"/>
        </c:dLbls>
        <c:firstSliceAng val="0"/>
        <c:holeSize val="50"/>
      </c:doughnutChart>
    </c:plotArea>
    <c:legend>
      <c:legendPos val="r"/>
      <c:layout>
        <c:manualLayout>
          <c:xMode val="edge"/>
          <c:yMode val="edge"/>
          <c:x val="0.67181276116041211"/>
          <c:y val="0.16063297911920091"/>
          <c:w val="0.30479236984419694"/>
          <c:h val="0.67873404176159813"/>
        </c:manualLayout>
      </c:layout>
      <c:overlay val="0"/>
      <c:spPr>
        <a:noFill/>
        <a:ln>
          <a:noFill/>
        </a:ln>
        <a:effectLst/>
      </c:spPr>
      <c:txPr>
        <a:bodyPr rot="0" vert="horz"/>
        <a:lstStyle/>
        <a:p>
          <a:pPr>
            <a:defRPr/>
          </a:pPr>
          <a:endParaRPr lang="en-US"/>
        </a:p>
      </c:txPr>
    </c:legend>
    <c:plotVisOnly val="1"/>
    <c:dispBlanksAs val="gap"/>
    <c:showDLblsOverMax val="0"/>
    <c:extLst/>
  </c:chart>
  <c:spPr>
    <a:ln w="31750">
      <a:solidFill>
        <a:schemeClr val="tx1"/>
      </a:solidFill>
    </a:ln>
  </c:spPr>
  <c:txPr>
    <a:bodyPr/>
    <a:lstStyle/>
    <a:p>
      <a:pPr>
        <a:defRPr sz="100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v>Revenue ($M)</c:v>
          </c:tx>
          <c:spPr>
            <a:solidFill>
              <a:srgbClr val="F2C755"/>
            </a:solidFill>
            <a:ln>
              <a:noFill/>
            </a:ln>
          </c:spPr>
          <c:invertIfNegative val="0"/>
          <c:dPt>
            <c:idx val="5"/>
            <c:invertIfNegative val="0"/>
            <c:bubble3D val="0"/>
            <c:spPr>
              <a:pattFill prst="ltUpDiag">
                <a:fgClr>
                  <a:srgbClr val="F2C755"/>
                </a:fgClr>
                <a:bgClr>
                  <a:srgbClr val="FFFFFF"/>
                </a:bgClr>
              </a:pattFill>
              <a:ln w="9525">
                <a:solidFill>
                  <a:srgbClr val="AD8F67"/>
                </a:solidFill>
              </a:ln>
            </c:spPr>
            <c:extLst>
              <c:ext xmlns:c16="http://schemas.microsoft.com/office/drawing/2014/chart" uri="{C3380CC4-5D6E-409C-BE32-E72D297353CC}">
                <c16:uniqueId val="{00000001-3D82-4DEF-8A63-61375E5195B7}"/>
              </c:ext>
            </c:extLst>
          </c:dPt>
          <c:dPt>
            <c:idx val="6"/>
            <c:invertIfNegative val="0"/>
            <c:bubble3D val="0"/>
            <c:spPr>
              <a:pattFill prst="ltUpDiag">
                <a:fgClr>
                  <a:srgbClr val="F2C755"/>
                </a:fgClr>
                <a:bgClr>
                  <a:srgbClr val="FFFFFF"/>
                </a:bgClr>
              </a:pattFill>
              <a:ln w="9525">
                <a:solidFill>
                  <a:srgbClr val="AD8F67"/>
                </a:solidFill>
              </a:ln>
            </c:spPr>
            <c:extLst>
              <c:ext xmlns:c16="http://schemas.microsoft.com/office/drawing/2014/chart" uri="{C3380CC4-5D6E-409C-BE32-E72D297353CC}">
                <c16:uniqueId val="{00000003-3D82-4DEF-8A63-61375E5195B7}"/>
              </c:ext>
            </c:extLst>
          </c:dPt>
          <c:dLbls>
            <c:numFmt formatCode="&quot;$&quot;#,##0" sourceLinked="0"/>
            <c:spPr>
              <a:noFill/>
              <a:ln>
                <a:noFill/>
              </a:ln>
            </c:spPr>
            <c:txPr>
              <a:bodyPr/>
              <a:lstStyle/>
              <a:p>
                <a:pPr>
                  <a:defRPr sz="8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2021</c:v>
              </c:pt>
              <c:pt idx="1">
                <c:v>2022</c:v>
              </c:pt>
              <c:pt idx="2">
                <c:v>2023</c:v>
              </c:pt>
              <c:pt idx="3">
                <c:v>2024</c:v>
              </c:pt>
              <c:pt idx="4">
                <c:v>2025</c:v>
              </c:pt>
              <c:pt idx="5">
                <c:v>2026E</c:v>
              </c:pt>
              <c:pt idx="6">
                <c:v>2027E</c:v>
              </c:pt>
            </c:strLit>
          </c:cat>
          <c:val>
            <c:numLit>
              <c:formatCode>#,##0</c:formatCode>
              <c:ptCount val="7"/>
              <c:pt idx="0">
                <c:v>1257</c:v>
              </c:pt>
              <c:pt idx="1">
                <c:v>1273</c:v>
              </c:pt>
              <c:pt idx="2">
                <c:v>1411</c:v>
              </c:pt>
              <c:pt idx="3">
                <c:v>1586</c:v>
              </c:pt>
              <c:pt idx="4">
                <c:v>1740</c:v>
              </c:pt>
              <c:pt idx="5">
                <c:v>2379</c:v>
              </c:pt>
              <c:pt idx="6">
                <c:v>2467</c:v>
              </c:pt>
            </c:numLit>
          </c:val>
          <c:extLst>
            <c:ext xmlns:c16="http://schemas.microsoft.com/office/drawing/2014/chart" uri="{C3380CC4-5D6E-409C-BE32-E72D297353CC}">
              <c16:uniqueId val="{00000004-3D82-4DEF-8A63-61375E5195B7}"/>
            </c:ext>
          </c:extLst>
        </c:ser>
        <c:dLbls>
          <c:showLegendKey val="0"/>
          <c:showVal val="0"/>
          <c:showCatName val="0"/>
          <c:showSerName val="0"/>
          <c:showPercent val="0"/>
          <c:showBubbleSize val="0"/>
        </c:dLbls>
        <c:gapWidth val="60"/>
        <c:axId val="811111"/>
        <c:axId val="811112"/>
      </c:barChart>
      <c:lineChart>
        <c:grouping val="standard"/>
        <c:varyColors val="0"/>
        <c:ser>
          <c:idx val="1"/>
          <c:order val="1"/>
          <c:tx>
            <c:v>YoY growth (%)</c:v>
          </c:tx>
          <c:spPr>
            <a:ln w="19050" cap="rnd">
              <a:solidFill>
                <a:sysClr val="windowText" lastClr="000000"/>
              </a:solidFill>
              <a:round/>
            </a:ln>
          </c:spPr>
          <c:marker>
            <c:symbol val="circle"/>
            <c:size val="4"/>
            <c:spPr>
              <a:solidFill>
                <a:sysClr val="windowText" lastClr="000000"/>
              </a:solidFill>
              <a:ln>
                <a:noFill/>
              </a:ln>
            </c:spPr>
          </c:marker>
          <c:cat>
            <c:strLit>
              <c:ptCount val="7"/>
              <c:pt idx="0">
                <c:v>2021</c:v>
              </c:pt>
              <c:pt idx="1">
                <c:v>2022</c:v>
              </c:pt>
              <c:pt idx="2">
                <c:v>2023</c:v>
              </c:pt>
              <c:pt idx="3">
                <c:v>2024</c:v>
              </c:pt>
              <c:pt idx="4">
                <c:v>2025</c:v>
              </c:pt>
              <c:pt idx="5">
                <c:v>2026E</c:v>
              </c:pt>
              <c:pt idx="6">
                <c:v>2027E</c:v>
              </c:pt>
            </c:strLit>
          </c:cat>
          <c:val>
            <c:numLit>
              <c:formatCode>0.0</c:formatCode>
              <c:ptCount val="7"/>
              <c:pt idx="0">
                <c:v>4</c:v>
              </c:pt>
              <c:pt idx="1">
                <c:v>1.2</c:v>
              </c:pt>
              <c:pt idx="2">
                <c:v>10.8</c:v>
              </c:pt>
              <c:pt idx="3">
                <c:v>12.4</c:v>
              </c:pt>
              <c:pt idx="4">
                <c:v>9.6999999999999993</c:v>
              </c:pt>
              <c:pt idx="5">
                <c:v>35.1</c:v>
              </c:pt>
              <c:pt idx="6">
                <c:v>3.3</c:v>
              </c:pt>
            </c:numLit>
          </c:val>
          <c:smooth val="0"/>
          <c:extLst>
            <c:ext xmlns:c16="http://schemas.microsoft.com/office/drawing/2014/chart" uri="{C3380CC4-5D6E-409C-BE32-E72D297353CC}">
              <c16:uniqueId val="{00000005-3D82-4DEF-8A63-61375E5195B7}"/>
            </c:ext>
          </c:extLst>
        </c:ser>
        <c:dLbls>
          <c:showLegendKey val="0"/>
          <c:showVal val="0"/>
          <c:showCatName val="0"/>
          <c:showSerName val="0"/>
          <c:showPercent val="0"/>
          <c:showBubbleSize val="0"/>
        </c:dLbls>
        <c:marker val="1"/>
        <c:smooth val="0"/>
        <c:axId val="811113"/>
        <c:axId val="811114"/>
      </c:lineChart>
      <c:catAx>
        <c:axId val="811111"/>
        <c:scaling>
          <c:orientation val="minMax"/>
        </c:scaling>
        <c:delete val="0"/>
        <c:axPos val="b"/>
        <c:numFmt formatCode="General" sourceLinked="1"/>
        <c:majorTickMark val="none"/>
        <c:minorTickMark val="none"/>
        <c:tickLblPos val="nextTo"/>
        <c:spPr>
          <a:noFill/>
          <a:ln w="12700">
            <a:solidFill>
              <a:srgbClr val="292934"/>
            </a:solidFill>
          </a:ln>
        </c:spPr>
        <c:txPr>
          <a:bodyPr/>
          <a:lstStyle/>
          <a:p>
            <a:pPr>
              <a:defRPr sz="1000">
                <a:latin typeface="Calibri"/>
              </a:defRPr>
            </a:pPr>
            <a:endParaRPr lang="en-US"/>
          </a:p>
        </c:txPr>
        <c:crossAx val="811112"/>
        <c:crosses val="autoZero"/>
        <c:auto val="1"/>
        <c:lblAlgn val="ctr"/>
        <c:lblOffset val="100"/>
        <c:noMultiLvlLbl val="0"/>
      </c:catAx>
      <c:valAx>
        <c:axId val="811112"/>
        <c:scaling>
          <c:orientation val="minMax"/>
          <c:max val="2800"/>
          <c:min val="0"/>
        </c:scaling>
        <c:delete val="0"/>
        <c:axPos val="l"/>
        <c:majorGridlines>
          <c:spPr>
            <a:ln w="9525">
              <a:solidFill>
                <a:schemeClr val="tx1">
                  <a:lumMod val="15000"/>
                  <a:lumOff val="85000"/>
                </a:schemeClr>
              </a:solidFill>
            </a:ln>
          </c:spPr>
        </c:majorGridlines>
        <c:numFmt formatCode="&quot;$&quot;#,##0" sourceLinked="0"/>
        <c:majorTickMark val="none"/>
        <c:minorTickMark val="none"/>
        <c:tickLblPos val="nextTo"/>
        <c:spPr>
          <a:noFill/>
          <a:ln w="12700">
            <a:solidFill>
              <a:srgbClr val="292934"/>
            </a:solidFill>
          </a:ln>
        </c:spPr>
        <c:txPr>
          <a:bodyPr/>
          <a:lstStyle/>
          <a:p>
            <a:pPr>
              <a:defRPr sz="1000">
                <a:latin typeface="Calibri"/>
              </a:defRPr>
            </a:pPr>
            <a:endParaRPr lang="en-US"/>
          </a:p>
        </c:txPr>
        <c:crossAx val="811111"/>
        <c:crosses val="autoZero"/>
        <c:crossBetween val="between"/>
      </c:valAx>
      <c:valAx>
        <c:axId val="811114"/>
        <c:scaling>
          <c:orientation val="minMax"/>
          <c:max val="40"/>
          <c:min val="0"/>
        </c:scaling>
        <c:delete val="0"/>
        <c:axPos val="r"/>
        <c:numFmt formatCode="0&quot;%&quot;" sourceLinked="0"/>
        <c:majorTickMark val="none"/>
        <c:minorTickMark val="none"/>
        <c:tickLblPos val="nextTo"/>
        <c:spPr>
          <a:noFill/>
          <a:ln w="12700">
            <a:solidFill>
              <a:srgbClr val="292934"/>
            </a:solidFill>
          </a:ln>
        </c:spPr>
        <c:txPr>
          <a:bodyPr/>
          <a:lstStyle/>
          <a:p>
            <a:pPr>
              <a:defRPr sz="1000">
                <a:latin typeface="Calibri"/>
              </a:defRPr>
            </a:pPr>
            <a:endParaRPr lang="en-US"/>
          </a:p>
        </c:txPr>
        <c:crossAx val="811113"/>
        <c:crosses val="max"/>
        <c:crossBetween val="between"/>
      </c:valAx>
      <c:catAx>
        <c:axId val="811113"/>
        <c:scaling>
          <c:orientation val="minMax"/>
        </c:scaling>
        <c:delete val="1"/>
        <c:axPos val="b"/>
        <c:numFmt formatCode="General" sourceLinked="1"/>
        <c:majorTickMark val="none"/>
        <c:minorTickMark val="none"/>
        <c:tickLblPos val="nextTo"/>
        <c:crossAx val="811114"/>
        <c:crosses val="autoZero"/>
        <c:auto val="1"/>
        <c:lblAlgn val="ctr"/>
        <c:lblOffset val="100"/>
        <c:noMultiLvlLbl val="0"/>
      </c:catAx>
      <c:spPr>
        <a:ln w="12700">
          <a:solidFill>
            <a:srgbClr val="292934"/>
          </a:solidFill>
        </a:ln>
      </c:spPr>
    </c:plotArea>
    <c:legend>
      <c:legendPos val="b"/>
      <c:overlay val="0"/>
      <c:spPr>
        <a:noFill/>
        <a:ln>
          <a:noFill/>
        </a:ln>
      </c:spPr>
      <c:txPr>
        <a:bodyPr/>
        <a:lstStyle/>
        <a:p>
          <a:pPr>
            <a:defRPr sz="900">
              <a:latin typeface="Calibri"/>
            </a:defRPr>
          </a:pPr>
          <a:endParaRPr lang="en-US"/>
        </a:p>
      </c:txPr>
    </c:legend>
    <c:plotVisOnly val="1"/>
    <c:dispBlanksAs val="gap"/>
    <c:showDLblsOverMax val="1"/>
  </c:chart>
  <c:spPr>
    <a:solidFill>
      <a:srgbClr val="FFFFFF"/>
    </a:solidFill>
    <a:ln w="12700">
      <a:solidFill>
        <a:srgbClr val="292934"/>
      </a:solidFill>
    </a:ln>
  </c:spPr>
  <c:txPr>
    <a:bodyPr/>
    <a:lstStyle/>
    <a:p>
      <a:pPr>
        <a:defRPr sz="1000" b="0">
          <a:latin typeface="Calibri"/>
        </a:defRPr>
      </a:pPr>
      <a:endParaRPr lang="en-US"/>
    </a:p>
  </c:tx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4"/>
            <c:invertIfNegative val="1"/>
            <c:bubble3D val="0"/>
            <c:spPr>
              <a:solidFill>
                <a:srgbClr val="E8B93C"/>
              </a:solidFill>
              <a:ln>
                <a:noFill/>
              </a:ln>
            </c:spPr>
            <c:extLst>
              <c:ext xmlns:c16="http://schemas.microsoft.com/office/drawing/2014/chart" uri="{C3380CC4-5D6E-409C-BE32-E72D297353CC}">
                <c16:uniqueId val="{00000001-9364-4643-9DBE-0A04D677CDE3}"/>
              </c:ext>
            </c:extLst>
          </c:dPt>
          <c:dLbls>
            <c:numFmt formatCode="0.0&quot;%&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FY2022</c:v>
              </c:pt>
              <c:pt idx="1">
                <c:v>FY2023</c:v>
              </c:pt>
              <c:pt idx="2">
                <c:v>FY2024</c:v>
              </c:pt>
              <c:pt idx="3">
                <c:v>FY2025</c:v>
              </c:pt>
              <c:pt idx="4">
                <c:v>Q2 2026</c:v>
              </c:pt>
            </c:strLit>
          </c:cat>
          <c:val>
            <c:numLit>
              <c:formatCode>General</c:formatCode>
              <c:ptCount val="5"/>
              <c:pt idx="0">
                <c:v>24</c:v>
              </c:pt>
              <c:pt idx="1">
                <c:v>34</c:v>
              </c:pt>
              <c:pt idx="2">
                <c:v>27</c:v>
              </c:pt>
              <c:pt idx="3">
                <c:v>22</c:v>
              </c:pt>
              <c:pt idx="4">
                <c:v>16.8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9364-4643-9DBE-0A04D677CDE3}"/>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4"/>
            <c:invertIfNegative val="1"/>
            <c:bubble3D val="0"/>
            <c:spPr>
              <a:solidFill>
                <a:srgbClr val="E8B93C"/>
              </a:solidFill>
              <a:ln>
                <a:noFill/>
              </a:ln>
            </c:spPr>
            <c:extLst>
              <c:ext xmlns:c16="http://schemas.microsoft.com/office/drawing/2014/chart" uri="{C3380CC4-5D6E-409C-BE32-E72D297353CC}">
                <c16:uniqueId val="{00000001-D28E-4CC9-B2FC-7CA02D450440}"/>
              </c:ext>
            </c:extLst>
          </c:dPt>
          <c:dLbls>
            <c:numFmt formatCode="0.0&quot;%&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FY2022</c:v>
              </c:pt>
              <c:pt idx="1">
                <c:v>FY2023</c:v>
              </c:pt>
              <c:pt idx="2">
                <c:v>FY2024</c:v>
              </c:pt>
              <c:pt idx="3">
                <c:v>FY2025</c:v>
              </c:pt>
              <c:pt idx="4">
                <c:v>Q2 2026</c:v>
              </c:pt>
            </c:strLit>
          </c:cat>
          <c:val>
            <c:numLit>
              <c:formatCode>General</c:formatCode>
              <c:ptCount val="5"/>
              <c:pt idx="0">
                <c:v>24</c:v>
              </c:pt>
              <c:pt idx="1">
                <c:v>34</c:v>
              </c:pt>
              <c:pt idx="2">
                <c:v>27</c:v>
              </c:pt>
              <c:pt idx="3">
                <c:v>22</c:v>
              </c:pt>
              <c:pt idx="4">
                <c:v>16.8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D28E-4CC9-B2FC-7CA02D450440}"/>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1"/>
            <c:invertIfNegative val="1"/>
            <c:bubble3D val="0"/>
            <c:spPr>
              <a:solidFill>
                <a:srgbClr val="E8B93C"/>
              </a:solidFill>
              <a:ln>
                <a:noFill/>
              </a:ln>
            </c:spPr>
            <c:extLst>
              <c:ext xmlns:c16="http://schemas.microsoft.com/office/drawing/2014/chart" uri="{C3380CC4-5D6E-409C-BE32-E72D297353CC}">
                <c16:uniqueId val="{00000001-2643-4F1B-9EFE-8C704D99DD1F}"/>
              </c:ext>
            </c:extLst>
          </c:dPt>
          <c:dLbls>
            <c:numFmt formatCode="#,##0&quot; cars&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Q4 2025</c:v>
              </c:pt>
              <c:pt idx="1">
                <c:v>Q1 2026</c:v>
              </c:pt>
            </c:strLit>
          </c:cat>
          <c:val>
            <c:numLit>
              <c:formatCode>General</c:formatCode>
              <c:ptCount val="2"/>
              <c:pt idx="0">
                <c:v>99560</c:v>
              </c:pt>
              <c:pt idx="1">
                <c:v>192512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2643-4F1B-9EFE-8C704D99DD1F}"/>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Values</c:v>
          </c:tx>
          <c:spPr>
            <a:solidFill>
              <a:srgbClr val="9A9A9A"/>
            </a:solidFill>
            <a:ln>
              <a:noFill/>
            </a:ln>
          </c:spPr>
          <c:invertIfNegative val="1"/>
          <c:dPt>
            <c:idx val="0"/>
            <c:invertIfNegative val="1"/>
            <c:bubble3D val="0"/>
            <c:spPr>
              <a:solidFill>
                <a:srgbClr val="E8B93C"/>
              </a:solidFill>
              <a:ln>
                <a:noFill/>
              </a:ln>
            </c:spPr>
            <c:extLst>
              <c:ext xmlns:c16="http://schemas.microsoft.com/office/drawing/2014/chart" uri="{C3380CC4-5D6E-409C-BE32-E72D297353CC}">
                <c16:uniqueId val="{00000001-373F-42C0-8765-CBD6DB508230}"/>
              </c:ext>
            </c:extLst>
          </c:dPt>
          <c:dLbls>
            <c:numFmt formatCode="0&quot;%&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GATX</c:v>
              </c:pt>
              <c:pt idx="1">
                <c:v>Brookfield Infrastructure</c:v>
              </c:pt>
            </c:strLit>
          </c:cat>
          <c:val>
            <c:numLit>
              <c:formatCode>General</c:formatCode>
              <c:ptCount val="2"/>
              <c:pt idx="0">
                <c:v>30</c:v>
              </c:pt>
              <c:pt idx="1">
                <c:v>70</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373F-42C0-8765-CBD6DB508230}"/>
            </c:ext>
          </c:extLst>
        </c:ser>
        <c:dLbls>
          <c:showLegendKey val="0"/>
          <c:showVal val="0"/>
          <c:showCatName val="0"/>
          <c:showSerName val="0"/>
          <c:showPercent val="0"/>
          <c:showBubbleSize val="0"/>
        </c:dLbls>
        <c:gapWidth val="50"/>
        <c:axId val="1"/>
        <c:axId val="2"/>
      </c:barChart>
      <c:catAx>
        <c:axId val="1"/>
        <c:scaling>
          <c:orientation val="minMax"/>
        </c:scaling>
        <c:delete val="0"/>
        <c:axPos val="l"/>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b"/>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0"/>
            <c:invertIfNegative val="1"/>
            <c:bubble3D val="0"/>
            <c:spPr>
              <a:solidFill>
                <a:srgbClr val="E8B93C"/>
              </a:solidFill>
              <a:ln>
                <a:noFill/>
              </a:ln>
            </c:spPr>
            <c:extLst>
              <c:ext xmlns:c16="http://schemas.microsoft.com/office/drawing/2014/chart" uri="{C3380CC4-5D6E-409C-BE32-E72D297353CC}">
                <c16:uniqueId val="{00000001-D9B0-41BB-AF5A-1655DE471132}"/>
              </c:ext>
            </c:extLst>
          </c:dPt>
          <c:dLbls>
            <c:numFmt formatCode="0&quot;%&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Acquired fleet</c:v>
              </c:pt>
              <c:pt idx="1">
                <c:v>GATX legacy</c:v>
              </c:pt>
            </c:strLit>
          </c:cat>
          <c:val>
            <c:numLit>
              <c:formatCode>General</c:formatCode>
              <c:ptCount val="2"/>
              <c:pt idx="0">
                <c:v>97</c:v>
              </c:pt>
              <c:pt idx="1">
                <c:v>99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D9B0-41BB-AF5A-1655DE471132}"/>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2"/>
            <c:invertIfNegative val="1"/>
            <c:bubble3D val="0"/>
            <c:spPr>
              <a:solidFill>
                <a:srgbClr val="E8B93C"/>
              </a:solidFill>
              <a:ln>
                <a:noFill/>
              </a:ln>
            </c:spPr>
            <c:extLst>
              <c:ext xmlns:c16="http://schemas.microsoft.com/office/drawing/2014/chart" uri="{C3380CC4-5D6E-409C-BE32-E72D297353CC}">
                <c16:uniqueId val="{00000001-3E93-4FBC-A170-8507CF9A2CB3}"/>
              </c:ext>
            </c:extLst>
          </c:dPt>
          <c:dLbls>
            <c:numFmt formatCode="0.0&quot;%&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ROIC</c:v>
              </c:pt>
              <c:pt idx="1">
                <c:v>Return on total capital</c:v>
              </c:pt>
              <c:pt idx="2">
                <c:v>Cost of debt</c:v>
              </c:pt>
            </c:strLit>
          </c:cat>
          <c:val>
            <c:numLit>
              <c:formatCode>General</c:formatCode>
              <c:ptCount val="3"/>
              <c:pt idx="0">
                <c:v>3</c:v>
              </c:pt>
              <c:pt idx="1">
                <c:v>3.9</c:v>
              </c:pt>
              <c:pt idx="2">
                <c:v>4.8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3E93-4FBC-A170-8507CF9A2CB3}"/>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2"/>
            <c:invertIfNegative val="1"/>
            <c:bubble3D val="0"/>
            <c:spPr>
              <a:solidFill>
                <a:srgbClr val="E8B93C"/>
              </a:solidFill>
              <a:ln>
                <a:noFill/>
              </a:ln>
            </c:spPr>
            <c:extLst>
              <c:ext xmlns:c16="http://schemas.microsoft.com/office/drawing/2014/chart" uri="{C3380CC4-5D6E-409C-BE32-E72D297353CC}">
                <c16:uniqueId val="{00000001-87C7-4D2A-8CB1-54EF225A9371}"/>
              </c:ext>
            </c:extLst>
          </c:dPt>
          <c:dLbls>
            <c:numFmt formatCode="&quot;$&quot;#,##0&quot;M&quot;" sourceLinked="0"/>
            <c:spPr>
              <a:noFill/>
              <a:ln>
                <a:noFill/>
              </a:ln>
              <a:effectLst/>
            </c:spPr>
            <c:txPr>
              <a:bodyPr wrap="none"/>
              <a:lstStyle/>
              <a:p>
                <a:pPr>
                  <a:defRPr sz="11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3"/>
              <c:pt idx="0">
                <c:v>2023</c:v>
              </c:pt>
              <c:pt idx="1">
                <c:v>2024</c:v>
              </c:pt>
              <c:pt idx="2">
                <c:v>2025</c:v>
              </c:pt>
            </c:strLit>
          </c:cat>
          <c:val>
            <c:numLit>
              <c:formatCode>General</c:formatCode>
              <c:ptCount val="3"/>
              <c:pt idx="0">
                <c:v>1665</c:v>
              </c:pt>
              <c:pt idx="1">
                <c:v>1674</c:v>
              </c:pt>
              <c:pt idx="2">
                <c:v>1332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87C7-4D2A-8CB1-54EF225A9371}"/>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wrap="none"/>
          <a:lstStyle/>
          <a:p>
            <a:pPr>
              <a:defRPr sz="11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1"/>
            <c:invertIfNegative val="1"/>
            <c:bubble3D val="0"/>
            <c:spPr>
              <a:solidFill>
                <a:srgbClr val="E8B93C"/>
              </a:solidFill>
              <a:ln>
                <a:noFill/>
              </a:ln>
            </c:spPr>
            <c:extLst>
              <c:ext xmlns:c16="http://schemas.microsoft.com/office/drawing/2014/chart" uri="{C3380CC4-5D6E-409C-BE32-E72D297353CC}">
                <c16:uniqueId val="{00000001-1285-45C6-825E-5E82FCF49163}"/>
              </c:ext>
            </c:extLst>
          </c:dPt>
          <c:dLbls>
            <c:numFmt formatCode="0.0&quot;%&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FY2025</c:v>
              </c:pt>
              <c:pt idx="1">
                <c:v>Q1 2026</c:v>
              </c:pt>
            </c:strLit>
          </c:cat>
          <c:val>
            <c:numLit>
              <c:formatCode>General</c:formatCode>
              <c:ptCount val="2"/>
              <c:pt idx="0">
                <c:v>87</c:v>
              </c:pt>
              <c:pt idx="1">
                <c:v>79.099999999999994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1285-45C6-825E-5E82FCF49163}"/>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strRef>
              <c:f>Sheet1!$B$1</c:f>
              <c:strCache>
                <c:ptCount val="1"/>
                <c:pt idx="0">
                  <c:v/>
                </c:pt>
              </c:strCache>
            </c:strRef>
          </c:tx>
          <c:spPr>
            <a:solidFill>
              <a:srgbClr val="9A9A9A"/>
            </a:solidFill>
            <a:ln>
              <a:noFill/>
            </a:ln>
          </c:spPr>
          <c:invertIfNegative val="1"/>
          <c:dPt>
            <c:idx val="1"/>
            <c:invertIfNegative val="1"/>
            <c:bubble3D val="0"/>
            <c:spPr>
              <a:solidFill>
                <a:srgbClr val="E8B93C"/>
              </a:solidFill>
              <a:ln>
                <a:noFill/>
              </a:ln>
            </c:spPr>
            <c:extLst>
              <c:ext xmlns:c16="http://schemas.microsoft.com/office/drawing/2014/chart" uri="{C3380CC4-5D6E-409C-BE32-E72D297353CC}">
                <c16:uniqueId val="{00000001-8B59-4BDE-94A4-4424C3391038}"/>
              </c:ext>
            </c:extLst>
          </c:dPt>
          <c:dLbls>
            <c:numFmt formatCode="&quot;$&quot;#,##0.0&quot;M&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FY2026 guide, consolidated</c:v>
                </c:pt>
                <c:pt idx="1">
                  <c:v>Legacy guide</c:v>
                </c:pt>
                <c:pt idx="2">
                  <c:v>H1 2026 legacy booked</c:v>
                </c:pt>
                <c:pt idx="3">
                  <c:v>BMG FY2026 legacy</c:v>
                </c:pt>
              </c:strCache>
            </c:strRef>
          </c:cat>
          <c:val>
            <c:numRef>
              <c:f>Sheet1!$B$2:$B$5</c:f>
              <c:numCache>
                <c:formatCode>General</c:formatCode>
                <c:ptCount val="4"/>
                <c:pt idx="0">
                  <c:v>200.0</c:v>
                </c:pt>
                <c:pt idx="1">
                  <c:v>130.0</c:v>
                </c:pt>
                <c:pt idx="2">
                  <c:v>117.5</c:v>
                </c:pt>
                <c:pt idx="3">
                  <c:v>155.0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8B59-4BDE-94A4-4424C3391038}"/>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strRef>
              <c:f>Sheet1!$B$1</c:f>
              <c:strCache>
                <c:ptCount val="1"/>
                <c:pt idx="0">
                  <c:v/>
                </c:pt>
              </c:strCache>
            </c:strRef>
          </c:tx>
          <c:spPr>
            <a:solidFill>
              <a:srgbClr val="9A9A9A"/>
            </a:solidFill>
            <a:ln>
              <a:noFill/>
            </a:ln>
          </c:spPr>
          <c:invertIfNegative val="1"/>
          <c:dPt>
            <c:idx val="0"/>
            <c:invertIfNegative val="1"/>
            <c:bubble3D val="0"/>
            <c:spPr>
              <a:solidFill>
                <a:srgbClr val="E8B93C"/>
              </a:solidFill>
              <a:ln>
                <a:noFill/>
              </a:ln>
            </c:spPr>
            <c:extLst>
              <c:ext xmlns:c16="http://schemas.microsoft.com/office/drawing/2014/chart" uri="{C3380CC4-5D6E-409C-BE32-E72D297353CC}">
                <c16:uniqueId val="{00000001-4A1A-42D5-BF2D-70EFB0EE842D}"/>
              </c:ext>
            </c:extLst>
          </c:dPt>
          <c:dLbls>
            <c:numFmt formatCode="&quot;$&quot;#,##0.0&quot;M&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H1 2026 booked, legacy</c:v>
                </c:pt>
                <c:pt idx="1">
                  <c:v>H2 to meet $130M guide</c:v>
                </c:pt>
                <c:pt idx="2">
                  <c:v>H2 in BMG model</c:v>
                </c:pt>
              </c:strCache>
            </c:strRef>
          </c:cat>
          <c:val>
            <c:numRef>
              <c:f>Sheet1!$B$2:$B$4</c:f>
              <c:numCache>
                <c:formatCode>General</c:formatCode>
                <c:ptCount val="3"/>
                <c:pt idx="0">
                  <c:v>117.5</c:v>
                </c:pt>
                <c:pt idx="1">
                  <c:v>12.5</c:v>
                </c:pt>
                <c:pt idx="2">
                  <c:v>37.5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4A1A-42D5-BF2D-70EFB0EE842D}"/>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2"/>
            <c:invertIfNegative val="1"/>
            <c:bubble3D val="0"/>
            <c:spPr>
              <a:solidFill>
                <a:srgbClr val="E8B93C"/>
              </a:solidFill>
              <a:ln>
                <a:noFill/>
              </a:ln>
            </c:spPr>
            <c:extLst>
              <c:ext xmlns:c16="http://schemas.microsoft.com/office/drawing/2014/chart" uri="{C3380CC4-5D6E-409C-BE32-E72D297353CC}">
                <c16:uniqueId val="{00000001-CB3B-4424-BECF-AAA9BC0A193B}"/>
              </c:ext>
            </c:extLst>
          </c:dPt>
          <c:dPt>
            <c:idx val="3"/>
            <c:invertIfNegative val="1"/>
            <c:bubble3D val="0"/>
            <c:spPr>
              <a:pattFill prst="ltUpDiag">
                <a:fgClr>
                  <a:srgbClr val="9A9A9A"/>
                </a:fgClr>
                <a:bgClr>
                  <a:srgbClr val="FFFFFF"/>
                </a:bgClr>
              </a:pattFill>
              <a:ln>
                <a:noFill/>
              </a:ln>
            </c:spPr>
            <c:extLst>
              <c:ext xmlns:c16="http://schemas.microsoft.com/office/drawing/2014/chart" uri="{C3380CC4-5D6E-409C-BE32-E72D297353CC}">
                <c16:uniqueId val="{00000003-CB3B-4424-BECF-AAA9BC0A193B}"/>
              </c:ext>
            </c:extLst>
          </c:dPt>
          <c:dPt>
            <c:idx val="4"/>
            <c:invertIfNegative val="1"/>
            <c:bubble3D val="0"/>
            <c:spPr>
              <a:pattFill prst="ltUpDiag">
                <a:fgClr>
                  <a:srgbClr val="9A9A9A"/>
                </a:fgClr>
                <a:bgClr>
                  <a:srgbClr val="FFFFFF"/>
                </a:bgClr>
              </a:pattFill>
              <a:ln>
                <a:noFill/>
              </a:ln>
            </c:spPr>
            <c:extLst>
              <c:ext xmlns:c16="http://schemas.microsoft.com/office/drawing/2014/chart" uri="{C3380CC4-5D6E-409C-BE32-E72D297353CC}">
                <c16:uniqueId val="{00000005-CB3B-4424-BECF-AAA9BC0A193B}"/>
              </c:ext>
            </c:extLst>
          </c:dPt>
          <c:dLbls>
            <c:numFmt formatCode="&quot;$&quot;#,##0&quot;M&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2023</c:v>
              </c:pt>
              <c:pt idx="1">
                <c:v>2024</c:v>
              </c:pt>
              <c:pt idx="2">
                <c:v>2025</c:v>
              </c:pt>
              <c:pt idx="3">
                <c:v>2026E</c:v>
              </c:pt>
              <c:pt idx="4">
                <c:v>2027E</c:v>
              </c:pt>
            </c:strLit>
          </c:cat>
          <c:val>
            <c:numLit>
              <c:formatCode>General</c:formatCode>
              <c:ptCount val="5"/>
              <c:pt idx="0">
                <c:v>309.5</c:v>
              </c:pt>
              <c:pt idx="1">
                <c:v>350.3</c:v>
              </c:pt>
              <c:pt idx="2">
                <c:v>387.8</c:v>
              </c:pt>
              <c:pt idx="3">
                <c:v>425</c:v>
              </c:pt>
              <c:pt idx="4">
                <c:v>452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CB3B-4424-BECF-AAA9BC0A193B}"/>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2"/>
            <c:invertIfNegative val="1"/>
            <c:bubble3D val="0"/>
            <c:spPr>
              <a:solidFill>
                <a:srgbClr val="E8B93C"/>
              </a:solidFill>
              <a:ln>
                <a:noFill/>
              </a:ln>
            </c:spPr>
            <c:extLst>
              <c:ext xmlns:c16="http://schemas.microsoft.com/office/drawing/2014/chart" uri="{C3380CC4-5D6E-409C-BE32-E72D297353CC}">
                <c16:uniqueId val="{00000001-08D6-4AFB-9159-DB5C2135566E}"/>
              </c:ext>
            </c:extLst>
          </c:dPt>
          <c:dPt>
            <c:idx val="3"/>
            <c:invertIfNegative val="1"/>
            <c:bubble3D val="0"/>
            <c:spPr>
              <a:pattFill prst="ltUpDiag">
                <a:fgClr>
                  <a:srgbClr val="9A9A9A"/>
                </a:fgClr>
                <a:bgClr>
                  <a:srgbClr val="FFFFFF"/>
                </a:bgClr>
              </a:pattFill>
              <a:ln>
                <a:noFill/>
              </a:ln>
            </c:spPr>
            <c:extLst>
              <c:ext xmlns:c16="http://schemas.microsoft.com/office/drawing/2014/chart" uri="{C3380CC4-5D6E-409C-BE32-E72D297353CC}">
                <c16:uniqueId val="{00000003-08D6-4AFB-9159-DB5C2135566E}"/>
              </c:ext>
            </c:extLst>
          </c:dPt>
          <c:dPt>
            <c:idx val="4"/>
            <c:invertIfNegative val="1"/>
            <c:bubble3D val="0"/>
            <c:spPr>
              <a:pattFill prst="ltUpDiag">
                <a:fgClr>
                  <a:srgbClr val="9A9A9A"/>
                </a:fgClr>
                <a:bgClr>
                  <a:srgbClr val="FFFFFF"/>
                </a:bgClr>
              </a:pattFill>
              <a:ln>
                <a:noFill/>
              </a:ln>
            </c:spPr>
            <c:extLst>
              <c:ext xmlns:c16="http://schemas.microsoft.com/office/drawing/2014/chart" uri="{C3380CC4-5D6E-409C-BE32-E72D297353CC}">
                <c16:uniqueId val="{00000005-08D6-4AFB-9159-DB5C2135566E}"/>
              </c:ext>
            </c:extLst>
          </c:dPt>
          <c:dLbls>
            <c:numFmt formatCode="&quot;$&quot;#,##0&quot;M&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2023</c:v>
              </c:pt>
              <c:pt idx="1">
                <c:v>2024</c:v>
              </c:pt>
              <c:pt idx="2">
                <c:v>2025</c:v>
              </c:pt>
              <c:pt idx="3">
                <c:v>2026E</c:v>
              </c:pt>
              <c:pt idx="4">
                <c:v>2027E</c:v>
              </c:pt>
            </c:strLit>
          </c:cat>
          <c:val>
            <c:numLit>
              <c:formatCode>General</c:formatCode>
              <c:ptCount val="5"/>
              <c:pt idx="0">
                <c:v>77.2</c:v>
              </c:pt>
              <c:pt idx="1">
                <c:v>97.1</c:v>
              </c:pt>
              <c:pt idx="2">
                <c:v>124.9</c:v>
              </c:pt>
              <c:pt idx="3">
                <c:v>132</c:v>
              </c:pt>
              <c:pt idx="4">
                <c:v>150</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08D6-4AFB-9159-DB5C2135566E}"/>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3"/>
            <c:invertIfNegative val="1"/>
            <c:bubble3D val="0"/>
            <c:spPr>
              <a:solidFill>
                <a:srgbClr val="E8B93C"/>
              </a:solidFill>
              <a:ln>
                <a:noFill/>
              </a:ln>
            </c:spPr>
            <c:extLst>
              <c:ext xmlns:c16="http://schemas.microsoft.com/office/drawing/2014/chart" uri="{C3380CC4-5D6E-409C-BE32-E72D297353CC}">
                <c16:uniqueId val="{00000001-B505-44D0-8D45-32DB55985D26}"/>
              </c:ext>
            </c:extLst>
          </c:dPt>
          <c:dLbls>
            <c:numFmt formatCode="0.00"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Initial low</c:v>
              </c:pt>
              <c:pt idx="1">
                <c:v>Initial high</c:v>
              </c:pt>
              <c:pt idx="2">
                <c:v>Raised low</c:v>
              </c:pt>
              <c:pt idx="3">
                <c:v>Raised high</c:v>
              </c:pt>
            </c:strLit>
          </c:cat>
          <c:val>
            <c:numLit>
              <c:formatCode>General</c:formatCode>
              <c:ptCount val="4"/>
              <c:pt idx="0">
                <c:v>9.5</c:v>
              </c:pt>
              <c:pt idx="1">
                <c:v>10.1</c:v>
              </c:pt>
              <c:pt idx="2">
                <c:v>9.9</c:v>
              </c:pt>
              <c:pt idx="3">
                <c:v>10.3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B505-44D0-8D45-32DB55985D26}"/>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strRef>
              <c:f>Sheet1!$B$1</c:f>
              <c:strCache>
                <c:ptCount val="1"/>
                <c:pt idx="0">
                  <c:v/>
                </c:pt>
              </c:strCache>
            </c:strRef>
          </c:tx>
          <c:spPr>
            <a:solidFill>
              <a:srgbClr val="9A9A9A"/>
            </a:solidFill>
            <a:ln>
              <a:noFill/>
            </a:ln>
          </c:spPr>
          <c:invertIfNegative val="1"/>
          <c:dPt>
            <c:idx val="1"/>
            <c:invertIfNegative val="1"/>
            <c:bubble3D val="0"/>
            <c:spPr>
              <a:solidFill>
                <a:srgbClr val="E8B93C"/>
              </a:solidFill>
              <a:ln>
                <a:noFill/>
              </a:ln>
            </c:spPr>
            <c:extLst>
              <c:ext xmlns:c16="http://schemas.microsoft.com/office/drawing/2014/chart" uri="{C3380CC4-5D6E-409C-BE32-E72D297353CC}">
                <c16:uniqueId val="{00000001-916F-4863-907F-6F63E442F791}"/>
              </c:ext>
            </c:extLst>
          </c:dPt>
          <c:dLbls>
            <c:numFmt formatCode="0.00"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2027E BMG</c:v>
                </c:pt>
                <c:pt idx="1">
                  <c:v>2027E consensus</c:v>
                </c:pt>
              </c:strCache>
            </c:strRef>
          </c:cat>
          <c:val>
            <c:numRef>
              <c:f>Sheet1!$B$2:$B$3</c:f>
              <c:numCache>
                <c:formatCode>General</c:formatCode>
                <c:ptCount val="2"/>
                <c:pt idx="0">
                  <c:v>10.47</c:v>
                </c:pt>
                <c:pt idx="1">
                  <c:v>11.27</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916F-4863-907F-6F63E442F791}"/>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0"/>
            <c:invertIfNegative val="1"/>
            <c:bubble3D val="0"/>
            <c:spPr>
              <a:solidFill>
                <a:srgbClr val="E8B93C"/>
              </a:solidFill>
              <a:ln>
                <a:noFill/>
              </a:ln>
            </c:spPr>
            <c:extLst>
              <c:ext xmlns:c16="http://schemas.microsoft.com/office/drawing/2014/chart" uri="{C3380CC4-5D6E-409C-BE32-E72D297353CC}">
                <c16:uniqueId val="{00000001-C8E7-42FD-A5C8-BF8872CE83E0}"/>
              </c:ext>
            </c:extLst>
          </c:dPt>
          <c:dLbls>
            <c:numFmt formatCode="&quot;$&quot;0.00"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Disposition gains</c:v>
              </c:pt>
              <c:pt idx="1">
                <c:v>Rest of EPS</c:v>
              </c:pt>
            </c:strLit>
          </c:cat>
          <c:val>
            <c:numLit>
              <c:formatCode>General</c:formatCode>
              <c:ptCount val="2"/>
              <c:pt idx="0">
                <c:v>4.25</c:v>
              </c:pt>
              <c:pt idx="1">
                <c:v>5.85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C8E7-42FD-A5C8-BF8872CE83E0}"/>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1"/>
            <c:invertIfNegative val="1"/>
            <c:bubble3D val="0"/>
            <c:spPr>
              <a:solidFill>
                <a:srgbClr val="E8B93C"/>
              </a:solidFill>
              <a:ln>
                <a:noFill/>
              </a:ln>
            </c:spPr>
            <c:extLst>
              <c:ext xmlns:c16="http://schemas.microsoft.com/office/drawing/2014/chart" uri="{C3380CC4-5D6E-409C-BE32-E72D297353CC}">
                <c16:uniqueId val="{00000001-9009-4F3E-9FDF-71E499E55AF6}"/>
              </c:ext>
            </c:extLst>
          </c:dPt>
          <c:dLbls>
            <c:numFmt formatCode="&quot;$&quot;#,##0.0"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Attributable to GATX</c:v>
              </c:pt>
              <c:pt idx="1">
                <c:v>Available to common</c:v>
              </c:pt>
            </c:strLit>
          </c:cat>
          <c:val>
            <c:numLit>
              <c:formatCode>General</c:formatCode>
              <c:ptCount val="2"/>
              <c:pt idx="0">
                <c:v>103.4</c:v>
              </c:pt>
              <c:pt idx="1">
                <c:v>101.5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9009-4F3E-9FDF-71E499E55AF6}"/>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4"/>
            <c:invertIfNegative val="1"/>
            <c:bubble3D val="0"/>
            <c:spPr>
              <a:solidFill>
                <a:srgbClr val="E8B93C"/>
              </a:solidFill>
              <a:ln>
                <a:noFill/>
              </a:ln>
            </c:spPr>
            <c:extLst>
              <c:ext xmlns:c16="http://schemas.microsoft.com/office/drawing/2014/chart" uri="{C3380CC4-5D6E-409C-BE32-E72D297353CC}">
                <c16:uniqueId val="{00000001-8246-4081-8CCD-AE6C40364234}"/>
              </c:ext>
            </c:extLst>
          </c:dPt>
          <c:dLbls>
            <c:numFmt formatCode="#,##0"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2026</c:v>
              </c:pt>
              <c:pt idx="1">
                <c:v>2027</c:v>
              </c:pt>
              <c:pt idx="2">
                <c:v>2028</c:v>
              </c:pt>
              <c:pt idx="3">
                <c:v>2029</c:v>
              </c:pt>
              <c:pt idx="4">
                <c:v>2030</c:v>
              </c:pt>
              <c:pt idx="5">
                <c:v>Later</c:v>
              </c:pt>
            </c:strLit>
          </c:cat>
          <c:val>
            <c:numLit>
              <c:formatCode>General</c:formatCode>
              <c:ptCount val="6"/>
              <c:pt idx="0">
                <c:v>653</c:v>
              </c:pt>
              <c:pt idx="1">
                <c:v>855</c:v>
              </c:pt>
              <c:pt idx="2">
                <c:v>825</c:v>
              </c:pt>
              <c:pt idx="3">
                <c:v>907</c:v>
              </c:pt>
              <c:pt idx="4">
                <c:v>3660</c:v>
              </c:pt>
              <c:pt idx="5">
                <c:v>5605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8246-4081-8CCD-AE6C40364234}"/>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0"/>
            <c:invertIfNegative val="1"/>
            <c:bubble3D val="0"/>
            <c:spPr>
              <a:solidFill>
                <a:srgbClr val="E8B93C"/>
              </a:solidFill>
              <a:ln>
                <a:noFill/>
              </a:ln>
            </c:spPr>
            <c:extLst>
              <c:ext xmlns:c16="http://schemas.microsoft.com/office/drawing/2014/chart" uri="{C3380CC4-5D6E-409C-BE32-E72D297353CC}">
                <c16:uniqueId val="{00000001-0F4E-4F0E-8BAC-F6EBE8F35815}"/>
              </c:ext>
            </c:extLst>
          </c:dPt>
          <c:dLbls>
            <c:numFmt formatCode="#,##0"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GABX term loan</c:v>
              </c:pt>
              <c:pt idx="1">
                <c:v>Other floating</c:v>
              </c:pt>
            </c:strLit>
          </c:cat>
          <c:val>
            <c:numLit>
              <c:formatCode>General</c:formatCode>
              <c:ptCount val="2"/>
              <c:pt idx="0">
                <c:v>2959</c:v>
              </c:pt>
              <c:pt idx="1">
                <c:v>871.5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0F4E-4F0E-8BAC-F6EBE8F35815}"/>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2"/>
            <c:invertIfNegative val="1"/>
            <c:bubble3D val="0"/>
            <c:spPr>
              <a:solidFill>
                <a:srgbClr val="E8B93C"/>
              </a:solidFill>
              <a:ln>
                <a:noFill/>
              </a:ln>
            </c:spPr>
            <c:extLst>
              <c:ext xmlns:c16="http://schemas.microsoft.com/office/drawing/2014/chart" uri="{C3380CC4-5D6E-409C-BE32-E72D297353CC}">
                <c16:uniqueId val="{00000001-C5EF-41DC-B32D-66FCB58E2B1D}"/>
              </c:ext>
            </c:extLst>
          </c:dPt>
          <c:dLbls>
            <c:numFmt formatCode="0.00&quot;%&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Blended</c:v>
              </c:pt>
              <c:pt idx="1">
                <c:v>Marginal</c:v>
              </c:pt>
              <c:pt idx="2">
                <c:v>Kill</c:v>
              </c:pt>
            </c:strLit>
          </c:cat>
          <c:val>
            <c:numLit>
              <c:formatCode>General</c:formatCode>
              <c:ptCount val="3"/>
              <c:pt idx="0">
                <c:v>4.8</c:v>
              </c:pt>
              <c:pt idx="1">
                <c:v>5.3</c:v>
              </c:pt>
              <c:pt idx="2">
                <c:v>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C5EF-41DC-B32D-66FCB58E2B1D}"/>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lineChart>
        <c:grouping val="standard"/>
        <c:varyColors val="0"/>
        <c:ser>
          <c:idx val="0"/>
          <c:order val="0"/>
          <c:tx>
            <c:v>ROE</c:v>
          </c:tx>
          <c:spPr>
            <a:ln w="19050" cap="rnd">
              <a:solidFill>
                <a:sysClr val="windowText" lastClr="000000"/>
              </a:solidFill>
              <a:round/>
            </a:ln>
          </c:spPr>
          <c:marker>
            <c:symbol val="circle"/>
            <c:size val="4"/>
            <c:spPr>
              <a:solidFill>
                <a:srgbClr val="F2C755"/>
              </a:solidFill>
              <a:ln w="9525">
                <a:solidFill>
                  <a:sysClr val="windowText" lastClr="000000"/>
                </a:solidFill>
              </a:ln>
            </c:spPr>
          </c:marker>
          <c:dLbls>
            <c:dLbl>
              <c:idx val="0"/>
              <c:numFmt formatCode="0.0&quot;%&quot;" sourceLinked="0"/>
              <c:spPr>
                <a:solidFill>
                  <a:srgbClr val="FFFFFF"/>
                </a:solidFill>
                <a:ln>
                  <a:noFill/>
                </a:ln>
              </c:spPr>
              <c:txPr>
                <a:bodyPr/>
                <a:lstStyle/>
                <a:p>
                  <a:pPr>
                    <a:defRPr sz="800" b="1">
                      <a:solidFill>
                        <a:srgbClr val="292934"/>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C4B-45DD-B894-AD3AA83A1573}"/>
                </c:ext>
              </c:extLst>
            </c:dLbl>
            <c:dLbl>
              <c:idx val="1"/>
              <c:numFmt formatCode="0.0&quot;%&quot;" sourceLinked="0"/>
              <c:spPr>
                <a:solidFill>
                  <a:srgbClr val="FFFFFF"/>
                </a:solidFill>
                <a:ln>
                  <a:noFill/>
                </a:ln>
              </c:spPr>
              <c:txPr>
                <a:bodyPr/>
                <a:lstStyle/>
                <a:p>
                  <a:pPr>
                    <a:defRPr sz="800" b="1">
                      <a:solidFill>
                        <a:srgbClr val="292934"/>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C4B-45DD-B894-AD3AA83A1573}"/>
                </c:ext>
              </c:extLst>
            </c:dLbl>
            <c:dLbl>
              <c:idx val="5"/>
              <c:numFmt formatCode="0.0&quot;%&quot;" sourceLinked="0"/>
              <c:spPr>
                <a:solidFill>
                  <a:srgbClr val="FFFFFF"/>
                </a:solidFill>
                <a:ln>
                  <a:noFill/>
                </a:ln>
              </c:spPr>
              <c:txPr>
                <a:bodyPr/>
                <a:lstStyle/>
                <a:p>
                  <a:pPr>
                    <a:defRPr sz="800" b="1">
                      <a:solidFill>
                        <a:srgbClr val="292934"/>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C4B-45DD-B894-AD3AA83A1573}"/>
                </c:ext>
              </c:extLst>
            </c:dLbl>
            <c:dLbl>
              <c:idx val="9"/>
              <c:numFmt formatCode="0.0&quot;%&quot;" sourceLinked="0"/>
              <c:spPr>
                <a:solidFill>
                  <a:srgbClr val="FFFFFF"/>
                </a:solidFill>
                <a:ln>
                  <a:noFill/>
                </a:ln>
              </c:spPr>
              <c:txPr>
                <a:bodyPr/>
                <a:lstStyle/>
                <a:p>
                  <a:pPr>
                    <a:defRPr sz="800" b="1">
                      <a:solidFill>
                        <a:srgbClr val="292934"/>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C4B-45DD-B894-AD3AA83A1573}"/>
                </c:ext>
              </c:extLst>
            </c:dLbl>
            <c:dLbl>
              <c:idx val="11"/>
              <c:numFmt formatCode="0.0&quot;%&quot;" sourceLinked="0"/>
              <c:spPr>
                <a:solidFill>
                  <a:srgbClr val="FFFFFF"/>
                </a:solidFill>
                <a:ln>
                  <a:noFill/>
                </a:ln>
              </c:spPr>
              <c:txPr>
                <a:bodyPr/>
                <a:lstStyle/>
                <a:p>
                  <a:pPr>
                    <a:defRPr sz="800" b="1">
                      <a:solidFill>
                        <a:srgbClr val="292934"/>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C4B-45DD-B894-AD3AA83A1573}"/>
                </c:ext>
              </c:extLst>
            </c:dLbl>
            <c:numFmt formatCode="0.0&quot;%&quot;" sourceLinked="0"/>
            <c:spPr>
              <a:noFill/>
              <a:ln>
                <a:noFill/>
              </a:ln>
              <a:effectLst/>
            </c:spPr>
            <c:txPr>
              <a:bodyPr/>
              <a:lstStyle/>
              <a:p>
                <a:pPr>
                  <a:defRPr sz="800">
                    <a:latin typeface="Calibri"/>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2016</c:v>
              </c:pt>
              <c:pt idx="1">
                <c:v>2017</c:v>
              </c:pt>
              <c:pt idx="2">
                <c:v>2018</c:v>
              </c:pt>
              <c:pt idx="3">
                <c:v>2019</c:v>
              </c:pt>
              <c:pt idx="4">
                <c:v>2020</c:v>
              </c:pt>
              <c:pt idx="5">
                <c:v>2021</c:v>
              </c:pt>
              <c:pt idx="6">
                <c:v>2022</c:v>
              </c:pt>
              <c:pt idx="7">
                <c:v>2023</c:v>
              </c:pt>
              <c:pt idx="8">
                <c:v>2024</c:v>
              </c:pt>
              <c:pt idx="9">
                <c:v>2025</c:v>
              </c:pt>
              <c:pt idx="10">
                <c:v>2026E</c:v>
              </c:pt>
              <c:pt idx="11">
                <c:v>2027E</c:v>
              </c:pt>
            </c:strLit>
          </c:cat>
          <c:val>
            <c:numLit>
              <c:formatCode>0.0</c:formatCode>
              <c:ptCount val="12"/>
              <c:pt idx="0">
                <c:v>19.600000000000001</c:v>
              </c:pt>
              <c:pt idx="1">
                <c:v>32</c:v>
              </c:pt>
              <c:pt idx="2">
                <c:v>11.8</c:v>
              </c:pt>
              <c:pt idx="3">
                <c:v>10</c:v>
              </c:pt>
              <c:pt idx="4">
                <c:v>7.9</c:v>
              </c:pt>
              <c:pt idx="5">
                <c:v>7.2</c:v>
              </c:pt>
              <c:pt idx="6">
                <c:v>7.7</c:v>
              </c:pt>
              <c:pt idx="7">
                <c:v>12</c:v>
              </c:pt>
              <c:pt idx="8">
                <c:v>11.9</c:v>
              </c:pt>
              <c:pt idx="9">
                <c:v>12.6</c:v>
              </c:pt>
              <c:pt idx="10">
                <c:v>11.9</c:v>
              </c:pt>
              <c:pt idx="11">
                <c:v>11.5</c:v>
              </c:pt>
            </c:numLit>
          </c:val>
          <c:smooth val="0"/>
          <c:extLst>
            <c:ext xmlns:c16="http://schemas.microsoft.com/office/drawing/2014/chart" uri="{C3380CC4-5D6E-409C-BE32-E72D297353CC}">
              <c16:uniqueId val="{00000005-0C4B-45DD-B894-AD3AA83A1573}"/>
            </c:ext>
          </c:extLst>
        </c:ser>
        <c:dLbls>
          <c:showLegendKey val="0"/>
          <c:showVal val="0"/>
          <c:showCatName val="0"/>
          <c:showSerName val="0"/>
          <c:showPercent val="0"/>
          <c:showBubbleSize val="0"/>
        </c:dLbls>
        <c:marker val="1"/>
        <c:smooth val="0"/>
        <c:axId val="819111"/>
        <c:axId val="819112"/>
      </c:lineChart>
      <c:catAx>
        <c:axId val="819111"/>
        <c:scaling>
          <c:orientation val="minMax"/>
        </c:scaling>
        <c:delete val="0"/>
        <c:axPos val="b"/>
        <c:numFmt formatCode="General" sourceLinked="1"/>
        <c:majorTickMark val="none"/>
        <c:minorTickMark val="none"/>
        <c:tickLblPos val="nextTo"/>
        <c:spPr>
          <a:noFill/>
          <a:ln w="12700">
            <a:solidFill>
              <a:srgbClr val="292934"/>
            </a:solidFill>
          </a:ln>
        </c:spPr>
        <c:txPr>
          <a:bodyPr/>
          <a:lstStyle/>
          <a:p>
            <a:pPr>
              <a:defRPr sz="800">
                <a:latin typeface="Calibri"/>
              </a:defRPr>
            </a:pPr>
            <a:endParaRPr lang="en-US"/>
          </a:p>
        </c:txPr>
        <c:crossAx val="819112"/>
        <c:crosses val="autoZero"/>
        <c:auto val="1"/>
        <c:lblAlgn val="ctr"/>
        <c:lblOffset val="100"/>
        <c:noMultiLvlLbl val="0"/>
      </c:catAx>
      <c:valAx>
        <c:axId val="819112"/>
        <c:scaling>
          <c:orientation val="minMax"/>
          <c:max val="35"/>
          <c:min val="0"/>
        </c:scaling>
        <c:delete val="0"/>
        <c:axPos val="l"/>
        <c:majorGridlines>
          <c:spPr>
            <a:ln w="9525">
              <a:solidFill>
                <a:schemeClr val="tx1">
                  <a:lumMod val="15000"/>
                  <a:lumOff val="85000"/>
                </a:schemeClr>
              </a:solidFill>
            </a:ln>
          </c:spPr>
        </c:majorGridlines>
        <c:numFmt formatCode="0&quot;%&quot;" sourceLinked="0"/>
        <c:majorTickMark val="none"/>
        <c:minorTickMark val="none"/>
        <c:tickLblPos val="nextTo"/>
        <c:spPr>
          <a:noFill/>
          <a:ln w="12700">
            <a:solidFill>
              <a:srgbClr val="292934"/>
            </a:solidFill>
          </a:ln>
        </c:spPr>
        <c:txPr>
          <a:bodyPr/>
          <a:lstStyle/>
          <a:p>
            <a:pPr>
              <a:defRPr sz="900">
                <a:latin typeface="Calibri"/>
              </a:defRPr>
            </a:pPr>
            <a:endParaRPr lang="en-US"/>
          </a:p>
        </c:txPr>
        <c:crossAx val="819111"/>
        <c:crosses val="autoZero"/>
        <c:crossBetween val="between"/>
        <c:majorUnit val="10"/>
      </c:valAx>
      <c:spPr>
        <a:ln w="12700">
          <a:solidFill>
            <a:srgbClr val="292934"/>
          </a:solidFill>
        </a:ln>
      </c:spPr>
    </c:plotArea>
    <c:plotVisOnly val="1"/>
    <c:dispBlanksAs val="gap"/>
    <c:showDLblsOverMax val="1"/>
  </c:chart>
  <c:spPr>
    <a:solidFill>
      <a:srgbClr val="FFFFFF"/>
    </a:solidFill>
    <a:ln w="12700">
      <a:solidFill>
        <a:srgbClr val="292934"/>
      </a:solidFill>
    </a:ln>
  </c:spPr>
  <c:txPr>
    <a:bodyPr/>
    <a:lstStyle/>
    <a:p>
      <a:pPr>
        <a:defRPr sz="900" b="0">
          <a:latin typeface="Calibri"/>
        </a:defRPr>
      </a:pPr>
      <a:endParaRPr lang="en-US"/>
    </a:p>
  </c:txPr>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lineChart>
        <c:grouping val="standard"/>
        <c:varyColors val="0"/>
        <c:ser>
          <c:idx val="0"/>
          <c:order val="0"/>
          <c:tx>
            <c:strRef>
              <c:f>Sheet1!$B$1</c:f>
              <c:strCache>
                <c:ptCount val="1"/>
                <c:pt idx="0">
                  <c:v>NTM P/E</c:v>
                </c:pt>
              </c:strCache>
            </c:strRef>
          </c:tx>
          <c:spPr>
            <a:ln w="19050" cap="rnd">
              <a:solidFill>
                <a:sysClr val="windowText" lastClr="000000"/>
              </a:solidFill>
              <a:round/>
            </a:ln>
          </c:spPr>
          <c:marker>
            <c:symbol val="none"/>
          </c:marker>
          <c:dLbls>
            <c:dLbl>
              <c:idx val="120"/>
              <c:numFmt formatCode="0.00&quot;x&quot;" sourceLinked="0"/>
              <c:spPr>
                <a:solidFill>
                  <a:srgbClr val="FFFFFF"/>
                </a:solidFill>
                <a:ln>
                  <a:noFill/>
                </a:ln>
              </c:spPr>
              <c:txPr>
                <a:bodyPr/>
                <a:lstStyle/>
                <a:p>
                  <a:pPr>
                    <a:defRPr sz="900" b="1">
                      <a:solidFill>
                        <a:srgbClr val="292934"/>
                      </a:solidFill>
                      <a:latin typeface="Calibri"/>
                    </a:defRPr>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FFB-4F6E-81EF-782E15B8CC51}"/>
                </c:ext>
              </c:extLst>
            </c:dLbl>
            <c:numFmt formatCode="0.00&quot;x&quot;" sourceLinked="0"/>
            <c:spPr>
              <a:noFill/>
              <a:ln>
                <a:noFill/>
              </a:ln>
              <a:effectLst/>
            </c:spPr>
            <c:txPr>
              <a:bodyPr/>
              <a:lstStyle/>
              <a:p>
                <a:pPr>
                  <a:defRPr sz="900">
                    <a:latin typeface="Calibri"/>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Sheet1!$A$2:$A$122</c:f>
              <c:strCache>
                <c:ptCount val="121"/>
                <c:pt idx="0">
                  <c:v>2016-09</c:v>
                </c:pt>
                <c:pt idx="1">
                  <c:v>2016-10</c:v>
                </c:pt>
                <c:pt idx="2">
                  <c:v>2016-11</c:v>
                </c:pt>
                <c:pt idx="3">
                  <c:v>2016-12</c:v>
                </c:pt>
                <c:pt idx="4">
                  <c:v>2017-01</c:v>
                </c:pt>
                <c:pt idx="5">
                  <c:v>2017-02</c:v>
                </c:pt>
                <c:pt idx="6">
                  <c:v>2017-03</c:v>
                </c:pt>
                <c:pt idx="7">
                  <c:v>2017-04</c:v>
                </c:pt>
                <c:pt idx="8">
                  <c:v>2017-05</c:v>
                </c:pt>
                <c:pt idx="9">
                  <c:v>2017-06</c:v>
                </c:pt>
                <c:pt idx="10">
                  <c:v>2017-07</c:v>
                </c:pt>
                <c:pt idx="11">
                  <c:v>2017-08</c:v>
                </c:pt>
                <c:pt idx="12">
                  <c:v>2017-09</c:v>
                </c:pt>
                <c:pt idx="13">
                  <c:v>2017-10</c:v>
                </c:pt>
                <c:pt idx="14">
                  <c:v>2017-11</c:v>
                </c:pt>
                <c:pt idx="15">
                  <c:v>2017-12</c:v>
                </c:pt>
                <c:pt idx="16">
                  <c:v>2018-01</c:v>
                </c:pt>
                <c:pt idx="17">
                  <c:v>2018-02</c:v>
                </c:pt>
                <c:pt idx="18">
                  <c:v>2018-03</c:v>
                </c:pt>
                <c:pt idx="19">
                  <c:v>2018-04</c:v>
                </c:pt>
                <c:pt idx="20">
                  <c:v>2018-05</c:v>
                </c:pt>
                <c:pt idx="21">
                  <c:v>2018-06</c:v>
                </c:pt>
                <c:pt idx="22">
                  <c:v>2018-07</c:v>
                </c:pt>
                <c:pt idx="23">
                  <c:v>2018-08</c:v>
                </c:pt>
                <c:pt idx="24">
                  <c:v>2018-09</c:v>
                </c:pt>
                <c:pt idx="25">
                  <c:v>2018-10</c:v>
                </c:pt>
                <c:pt idx="26">
                  <c:v>2018-11</c:v>
                </c:pt>
                <c:pt idx="27">
                  <c:v>2018-12</c:v>
                </c:pt>
                <c:pt idx="28">
                  <c:v>2019-01</c:v>
                </c:pt>
                <c:pt idx="29">
                  <c:v>2019-02</c:v>
                </c:pt>
                <c:pt idx="30">
                  <c:v>2019-03</c:v>
                </c:pt>
                <c:pt idx="31">
                  <c:v>2019-04</c:v>
                </c:pt>
                <c:pt idx="32">
                  <c:v>2019-05</c:v>
                </c:pt>
                <c:pt idx="33">
                  <c:v>2019-06</c:v>
                </c:pt>
                <c:pt idx="34">
                  <c:v>2019-07</c:v>
                </c:pt>
                <c:pt idx="35">
                  <c:v>2019-08</c:v>
                </c:pt>
                <c:pt idx="36">
                  <c:v>2019-09</c:v>
                </c:pt>
                <c:pt idx="37">
                  <c:v>2019-10</c:v>
                </c:pt>
                <c:pt idx="38">
                  <c:v>2019-11</c:v>
                </c:pt>
                <c:pt idx="39">
                  <c:v>2019-12</c:v>
                </c:pt>
                <c:pt idx="40">
                  <c:v>2020-01</c:v>
                </c:pt>
                <c:pt idx="41">
                  <c:v>2020-02</c:v>
                </c:pt>
                <c:pt idx="42">
                  <c:v>2020-03</c:v>
                </c:pt>
                <c:pt idx="43">
                  <c:v>2020-04</c:v>
                </c:pt>
                <c:pt idx="44">
                  <c:v>2020-05</c:v>
                </c:pt>
                <c:pt idx="45">
                  <c:v>2020-06</c:v>
                </c:pt>
                <c:pt idx="46">
                  <c:v>2020-07</c:v>
                </c:pt>
                <c:pt idx="47">
                  <c:v>2020-08</c:v>
                </c:pt>
                <c:pt idx="48">
                  <c:v>2020-09</c:v>
                </c:pt>
                <c:pt idx="49">
                  <c:v>2020-10</c:v>
                </c:pt>
                <c:pt idx="50">
                  <c:v>2020-11</c:v>
                </c:pt>
                <c:pt idx="51">
                  <c:v>2020-12</c:v>
                </c:pt>
                <c:pt idx="52">
                  <c:v>2021-01</c:v>
                </c:pt>
                <c:pt idx="53">
                  <c:v>2021-02</c:v>
                </c:pt>
                <c:pt idx="54">
                  <c:v>2021-03</c:v>
                </c:pt>
                <c:pt idx="55">
                  <c:v>2021-04</c:v>
                </c:pt>
                <c:pt idx="56">
                  <c:v>2021-05</c:v>
                </c:pt>
                <c:pt idx="57">
                  <c:v>2021-06</c:v>
                </c:pt>
                <c:pt idx="58">
                  <c:v>2021-07</c:v>
                </c:pt>
                <c:pt idx="59">
                  <c:v>2021-08</c:v>
                </c:pt>
                <c:pt idx="60">
                  <c:v>2021-09</c:v>
                </c:pt>
                <c:pt idx="61">
                  <c:v>2021-10</c:v>
                </c:pt>
                <c:pt idx="62">
                  <c:v>2021-11</c:v>
                </c:pt>
                <c:pt idx="63">
                  <c:v>2021-12</c:v>
                </c:pt>
                <c:pt idx="64">
                  <c:v>2022-01</c:v>
                </c:pt>
                <c:pt idx="65">
                  <c:v>2022-02</c:v>
                </c:pt>
                <c:pt idx="66">
                  <c:v>2022-03</c:v>
                </c:pt>
                <c:pt idx="67">
                  <c:v>2022-04</c:v>
                </c:pt>
                <c:pt idx="68">
                  <c:v>2022-05</c:v>
                </c:pt>
                <c:pt idx="69">
                  <c:v>2022-06</c:v>
                </c:pt>
                <c:pt idx="70">
                  <c:v>2022-07</c:v>
                </c:pt>
                <c:pt idx="71">
                  <c:v>2022-08</c:v>
                </c:pt>
                <c:pt idx="72">
                  <c:v>2022-09</c:v>
                </c:pt>
                <c:pt idx="73">
                  <c:v>2022-10</c:v>
                </c:pt>
                <c:pt idx="74">
                  <c:v>2022-11</c:v>
                </c:pt>
                <c:pt idx="75">
                  <c:v>2022-12</c:v>
                </c:pt>
                <c:pt idx="76">
                  <c:v>2023-01</c:v>
                </c:pt>
                <c:pt idx="77">
                  <c:v>2023-02</c:v>
                </c:pt>
                <c:pt idx="78">
                  <c:v>2023-03</c:v>
                </c:pt>
                <c:pt idx="79">
                  <c:v>2023-04</c:v>
                </c:pt>
                <c:pt idx="80">
                  <c:v>2023-05</c:v>
                </c:pt>
                <c:pt idx="81">
                  <c:v>2023-06</c:v>
                </c:pt>
                <c:pt idx="82">
                  <c:v>2023-07</c:v>
                </c:pt>
                <c:pt idx="83">
                  <c:v>2023-08</c:v>
                </c:pt>
                <c:pt idx="84">
                  <c:v>2023-09</c:v>
                </c:pt>
                <c:pt idx="85">
                  <c:v>2023-10</c:v>
                </c:pt>
                <c:pt idx="86">
                  <c:v>2023-11</c:v>
                </c:pt>
                <c:pt idx="87">
                  <c:v>2023-12</c:v>
                </c:pt>
                <c:pt idx="88">
                  <c:v>2024-01</c:v>
                </c:pt>
                <c:pt idx="89">
                  <c:v>2024-02</c:v>
                </c:pt>
                <c:pt idx="90">
                  <c:v>2024-03</c:v>
                </c:pt>
                <c:pt idx="91">
                  <c:v>2024-04</c:v>
                </c:pt>
                <c:pt idx="92">
                  <c:v>2024-05</c:v>
                </c:pt>
                <c:pt idx="93">
                  <c:v>2024-06</c:v>
                </c:pt>
                <c:pt idx="94">
                  <c:v>2024-07</c:v>
                </c:pt>
                <c:pt idx="95">
                  <c:v>2024-08</c:v>
                </c:pt>
                <c:pt idx="96">
                  <c:v>2024-09</c:v>
                </c:pt>
                <c:pt idx="97">
                  <c:v>2024-10</c:v>
                </c:pt>
                <c:pt idx="98">
                  <c:v>2024-11</c:v>
                </c:pt>
                <c:pt idx="99">
                  <c:v>2024-12</c:v>
                </c:pt>
                <c:pt idx="100">
                  <c:v>2025-01</c:v>
                </c:pt>
                <c:pt idx="101">
                  <c:v>2025-02</c:v>
                </c:pt>
                <c:pt idx="102">
                  <c:v>2025-03</c:v>
                </c:pt>
                <c:pt idx="103">
                  <c:v>2025-04</c:v>
                </c:pt>
                <c:pt idx="104">
                  <c:v>2025-05</c:v>
                </c:pt>
                <c:pt idx="105">
                  <c:v>2025-06</c:v>
                </c:pt>
                <c:pt idx="106">
                  <c:v>2025-07</c:v>
                </c:pt>
                <c:pt idx="107">
                  <c:v>2025-08</c:v>
                </c:pt>
                <c:pt idx="108">
                  <c:v>2025-09</c:v>
                </c:pt>
                <c:pt idx="109">
                  <c:v>2025-10</c:v>
                </c:pt>
                <c:pt idx="110">
                  <c:v>2025-11</c:v>
                </c:pt>
                <c:pt idx="111">
                  <c:v>2025-12</c:v>
                </c:pt>
                <c:pt idx="112">
                  <c:v>2026-01</c:v>
                </c:pt>
                <c:pt idx="113">
                  <c:v>2026-02</c:v>
                </c:pt>
                <c:pt idx="114">
                  <c:v>2026-03</c:v>
                </c:pt>
                <c:pt idx="115">
                  <c:v>2026-04</c:v>
                </c:pt>
                <c:pt idx="116">
                  <c:v>2026-05</c:v>
                </c:pt>
                <c:pt idx="117">
                  <c:v>2026-06</c:v>
                </c:pt>
                <c:pt idx="118">
                  <c:v>2026-07</c:v>
                </c:pt>
                <c:pt idx="119">
                  <c:v>2026-08</c:v>
                </c:pt>
                <c:pt idx="120">
                  <c:v>2026-09</c:v>
                </c:pt>
              </c:strCache>
            </c:strRef>
          </c:cat>
          <c:val>
            <c:numRef>
              <c:f>Sheet1!$B$2:$B$122</c:f>
              <c:numCache>
                <c:formatCode>General</c:formatCode>
                <c:ptCount val="121"/>
                <c:pt idx="0">
                  <c:v>9.19</c:v>
                </c:pt>
                <c:pt idx="1">
                  <c:v>9.25</c:v>
                </c:pt>
                <c:pt idx="2">
                  <c:v>11.78</c:v>
                </c:pt>
                <c:pt idx="3">
                  <c:v>13.58</c:v>
                </c:pt>
                <c:pt idx="4">
                  <c:v>12.97</c:v>
                </c:pt>
                <c:pt idx="5">
                  <c:v>13.06</c:v>
                </c:pt>
                <c:pt idx="6">
                  <c:v>13.79</c:v>
                </c:pt>
                <c:pt idx="7">
                  <c:v>13.47</c:v>
                </c:pt>
                <c:pt idx="8">
                  <c:v>13.48</c:v>
                </c:pt>
                <c:pt idx="9">
                  <c:v>14.69</c:v>
                </c:pt>
                <c:pt idx="10">
                  <c:v>14.18</c:v>
                </c:pt>
                <c:pt idx="11">
                  <c:v>14.02</c:v>
                </c:pt>
                <c:pt idx="12">
                  <c:v>14.36</c:v>
                </c:pt>
                <c:pt idx="13">
                  <c:v>13.91</c:v>
                </c:pt>
                <c:pt idx="14">
                  <c:v>14.94</c:v>
                </c:pt>
                <c:pt idx="15">
                  <c:v>14.38</c:v>
                </c:pt>
                <c:pt idx="16">
                  <c:v>15.15</c:v>
                </c:pt>
                <c:pt idx="17">
                  <c:v>14.64</c:v>
                </c:pt>
                <c:pt idx="18">
                  <c:v>14.49</c:v>
                </c:pt>
                <c:pt idx="19">
                  <c:v>13.68</c:v>
                </c:pt>
                <c:pt idx="20">
                  <c:v>15.03</c:v>
                </c:pt>
                <c:pt idx="21">
                  <c:v>15.46</c:v>
                </c:pt>
                <c:pt idx="22">
                  <c:v>16.16</c:v>
                </c:pt>
                <c:pt idx="23">
                  <c:v>16.57</c:v>
                </c:pt>
                <c:pt idx="24">
                  <c:v>16.98</c:v>
                </c:pt>
                <c:pt idx="25">
                  <c:v>14.73</c:v>
                </c:pt>
                <c:pt idx="26">
                  <c:v>16.39</c:v>
                </c:pt>
                <c:pt idx="27">
                  <c:v>13.9</c:v>
                </c:pt>
                <c:pt idx="28">
                  <c:v>15.01</c:v>
                </c:pt>
                <c:pt idx="29">
                  <c:v>15.72</c:v>
                </c:pt>
                <c:pt idx="30">
                  <c:v>15.06</c:v>
                </c:pt>
                <c:pt idx="31">
                  <c:v>15.16</c:v>
                </c:pt>
                <c:pt idx="32">
                  <c:v>13.69</c:v>
                </c:pt>
                <c:pt idx="33">
                  <c:v>15.51</c:v>
                </c:pt>
                <c:pt idx="34">
                  <c:v>14.88</c:v>
                </c:pt>
                <c:pt idx="35">
                  <c:v>14.34</c:v>
                </c:pt>
                <c:pt idx="36">
                  <c:v>14.96</c:v>
                </c:pt>
                <c:pt idx="37">
                  <c:v>15.24</c:v>
                </c:pt>
                <c:pt idx="38">
                  <c:v>15.48</c:v>
                </c:pt>
                <c:pt idx="39">
                  <c:v>15.8</c:v>
                </c:pt>
                <c:pt idx="40">
                  <c:v>13.22</c:v>
                </c:pt>
                <c:pt idx="41">
                  <c:v>12.4</c:v>
                </c:pt>
                <c:pt idx="42">
                  <c:v>10.82</c:v>
                </c:pt>
                <c:pt idx="43">
                  <c:v>13.07</c:v>
                </c:pt>
                <c:pt idx="44">
                  <c:v>14.18</c:v>
                </c:pt>
                <c:pt idx="45">
                  <c:v>14.72</c:v>
                </c:pt>
                <c:pt idx="46">
                  <c:v>14.75</c:v>
                </c:pt>
                <c:pt idx="47">
                  <c:v>16.2</c:v>
                </c:pt>
                <c:pt idx="48">
                  <c:v>15.75</c:v>
                </c:pt>
                <c:pt idx="49">
                  <c:v>16.37</c:v>
                </c:pt>
                <c:pt idx="50">
                  <c:v>19.4</c:v>
                </c:pt>
                <c:pt idx="51">
                  <c:v>20.55</c:v>
                </c:pt>
                <c:pt idx="52">
                  <c:v>22.2</c:v>
                </c:pt>
                <c:pt idx="53">
                  <c:v>22.45</c:v>
                </c:pt>
                <c:pt idx="54">
                  <c:v>21.45</c:v>
                </c:pt>
                <c:pt idx="55">
                  <c:v>22.13</c:v>
                </c:pt>
                <c:pt idx="56">
                  <c:v>21.87</c:v>
                </c:pt>
                <c:pt idx="57">
                  <c:v>19.2</c:v>
                </c:pt>
                <c:pt idx="58">
                  <c:v>19.01</c:v>
                </c:pt>
                <c:pt idx="59">
                  <c:v>18.61</c:v>
                </c:pt>
                <c:pt idx="60">
                  <c:v>17.87</c:v>
                </c:pt>
                <c:pt idx="61">
                  <c:v>18.67</c:v>
                </c:pt>
                <c:pt idx="62">
                  <c:v>19.15</c:v>
                </c:pt>
                <c:pt idx="63">
                  <c:v>19.99</c:v>
                </c:pt>
                <c:pt idx="64">
                  <c:v>18.57</c:v>
                </c:pt>
                <c:pt idx="65">
                  <c:v>18.39</c:v>
                </c:pt>
                <c:pt idx="66">
                  <c:v>21.03</c:v>
                </c:pt>
                <c:pt idx="67">
                  <c:v>16.87</c:v>
                </c:pt>
                <c:pt idx="68">
                  <c:v>17.49</c:v>
                </c:pt>
                <c:pt idx="69">
                  <c:v>15.37</c:v>
                </c:pt>
                <c:pt idx="70">
                  <c:v>15.98</c:v>
                </c:pt>
                <c:pt idx="71">
                  <c:v>15.27</c:v>
                </c:pt>
                <c:pt idx="72">
                  <c:v>13.34</c:v>
                </c:pt>
                <c:pt idx="73">
                  <c:v>16.39</c:v>
                </c:pt>
                <c:pt idx="74">
                  <c:v>17.45</c:v>
                </c:pt>
                <c:pt idx="75">
                  <c:v>16.31</c:v>
                </c:pt>
                <c:pt idx="76">
                  <c:v>17.06</c:v>
                </c:pt>
                <c:pt idx="77">
                  <c:v>16.26</c:v>
                </c:pt>
                <c:pt idx="78">
                  <c:v>16.32</c:v>
                </c:pt>
                <c:pt idx="79">
                  <c:v>16.57</c:v>
                </c:pt>
                <c:pt idx="80">
                  <c:v>17.29</c:v>
                </c:pt>
                <c:pt idx="81">
                  <c:v>18.69</c:v>
                </c:pt>
                <c:pt idx="82">
                  <c:v>17.81</c:v>
                </c:pt>
                <c:pt idx="83">
                  <c:v>16.75</c:v>
                </c:pt>
                <c:pt idx="84">
                  <c:v>15.4</c:v>
                </c:pt>
                <c:pt idx="85">
                  <c:v>14.84</c:v>
                </c:pt>
                <c:pt idx="86">
                  <c:v>15.45</c:v>
                </c:pt>
                <c:pt idx="87">
                  <c:v>17.12</c:v>
                </c:pt>
                <c:pt idx="88">
                  <c:v>16.36</c:v>
                </c:pt>
                <c:pt idx="89">
                  <c:v>16.88</c:v>
                </c:pt>
                <c:pt idx="90">
                  <c:v>17.85</c:v>
                </c:pt>
                <c:pt idx="91">
                  <c:v>15.8</c:v>
                </c:pt>
                <c:pt idx="92">
                  <c:v>17.74</c:v>
                </c:pt>
                <c:pt idx="93">
                  <c:v>16.87</c:v>
                </c:pt>
                <c:pt idx="94">
                  <c:v>17.75</c:v>
                </c:pt>
                <c:pt idx="95">
                  <c:v>17.9</c:v>
                </c:pt>
                <c:pt idx="96">
                  <c:v>16.68</c:v>
                </c:pt>
                <c:pt idx="97">
                  <c:v>16.88</c:v>
                </c:pt>
                <c:pt idx="98">
                  <c:v>19.79</c:v>
                </c:pt>
                <c:pt idx="99">
                  <c:v>18.55</c:v>
                </c:pt>
                <c:pt idx="100">
                  <c:v>19.01</c:v>
                </c:pt>
                <c:pt idx="101">
                  <c:v>19.03</c:v>
                </c:pt>
                <c:pt idx="102">
                  <c:v>17.49</c:v>
                </c:pt>
                <c:pt idx="103">
                  <c:v>16.3</c:v>
                </c:pt>
                <c:pt idx="104">
                  <c:v>17.63</c:v>
                </c:pt>
                <c:pt idx="105">
                  <c:v>16.85</c:v>
                </c:pt>
                <c:pt idx="106">
                  <c:v>16.55</c:v>
                </c:pt>
                <c:pt idx="107">
                  <c:v>17.94</c:v>
                </c:pt>
                <c:pt idx="108">
                  <c:v>18.41</c:v>
                </c:pt>
                <c:pt idx="109">
                  <c:v>16.36</c:v>
                </c:pt>
                <c:pt idx="110">
                  <c:v>16.53</c:v>
                </c:pt>
                <c:pt idx="111">
                  <c:v>17.37</c:v>
                </c:pt>
                <c:pt idx="112">
                  <c:v>18.03</c:v>
                </c:pt>
                <c:pt idx="113">
                  <c:v>18.07</c:v>
                </c:pt>
                <c:pt idx="114">
                  <c:v>16.59</c:v>
                </c:pt>
                <c:pt idx="115">
                  <c:v>18.81</c:v>
                </c:pt>
                <c:pt idx="116">
                  <c:v>16.1</c:v>
                </c:pt>
                <c:pt idx="117">
                  <c:v>16.72</c:v>
                </c:pt>
                <c:pt idx="118">
                  <c:v>16.51</c:v>
                </c:pt>
                <c:pt idx="119">
                  <c:v>16.02</c:v>
                </c:pt>
                <c:pt idx="120">
                  <c:v>16.45</c:v>
                </c:pt>
              </c:numCache>
            </c:numRef>
          </c:val>
          <c:smooth val="0"/>
          <c:extLst>
            <c:ext xmlns:c16="http://schemas.microsoft.com/office/drawing/2014/chart" uri="{C3380CC4-5D6E-409C-BE32-E72D297353CC}">
              <c16:uniqueId val="{00000001-DFFB-4F6E-81EF-782E15B8CC51}"/>
            </c:ext>
          </c:extLst>
        </c:ser>
        <c:ser>
          <c:idx val="1"/>
          <c:order val="1"/>
          <c:tx>
            <c:strRef>
              <c:f>Sheet1!$C$1</c:f>
              <c:strCache>
                <c:ptCount val="1"/>
                <c:pt idx="0">
                  <c:v>10-yr median 16.34x</c:v>
                </c:pt>
              </c:strCache>
            </c:strRef>
          </c:tx>
          <c:spPr>
            <a:ln w="9525">
              <a:solidFill>
                <a:srgbClr val="595959"/>
              </a:solidFill>
            </a:ln>
          </c:spPr>
          <c:marker>
            <c:symbol val="none"/>
          </c:marker>
          <c:cat>
            <c:strRef>
              <c:f>Sheet1!$A$2:$A$122</c:f>
              <c:strCache>
                <c:ptCount val="121"/>
                <c:pt idx="0">
                  <c:v>2016-09</c:v>
                </c:pt>
                <c:pt idx="1">
                  <c:v>2016-10</c:v>
                </c:pt>
                <c:pt idx="2">
                  <c:v>2016-11</c:v>
                </c:pt>
                <c:pt idx="3">
                  <c:v>2016-12</c:v>
                </c:pt>
                <c:pt idx="4">
                  <c:v>2017-01</c:v>
                </c:pt>
                <c:pt idx="5">
                  <c:v>2017-02</c:v>
                </c:pt>
                <c:pt idx="6">
                  <c:v>2017-03</c:v>
                </c:pt>
                <c:pt idx="7">
                  <c:v>2017-04</c:v>
                </c:pt>
                <c:pt idx="8">
                  <c:v>2017-05</c:v>
                </c:pt>
                <c:pt idx="9">
                  <c:v>2017-06</c:v>
                </c:pt>
                <c:pt idx="10">
                  <c:v>2017-07</c:v>
                </c:pt>
                <c:pt idx="11">
                  <c:v>2017-08</c:v>
                </c:pt>
                <c:pt idx="12">
                  <c:v>2017-09</c:v>
                </c:pt>
                <c:pt idx="13">
                  <c:v>2017-10</c:v>
                </c:pt>
                <c:pt idx="14">
                  <c:v>2017-11</c:v>
                </c:pt>
                <c:pt idx="15">
                  <c:v>2017-12</c:v>
                </c:pt>
                <c:pt idx="16">
                  <c:v>2018-01</c:v>
                </c:pt>
                <c:pt idx="17">
                  <c:v>2018-02</c:v>
                </c:pt>
                <c:pt idx="18">
                  <c:v>2018-03</c:v>
                </c:pt>
                <c:pt idx="19">
                  <c:v>2018-04</c:v>
                </c:pt>
                <c:pt idx="20">
                  <c:v>2018-05</c:v>
                </c:pt>
                <c:pt idx="21">
                  <c:v>2018-06</c:v>
                </c:pt>
                <c:pt idx="22">
                  <c:v>2018-07</c:v>
                </c:pt>
                <c:pt idx="23">
                  <c:v>2018-08</c:v>
                </c:pt>
                <c:pt idx="24">
                  <c:v>2018-09</c:v>
                </c:pt>
                <c:pt idx="25">
                  <c:v>2018-10</c:v>
                </c:pt>
                <c:pt idx="26">
                  <c:v>2018-11</c:v>
                </c:pt>
                <c:pt idx="27">
                  <c:v>2018-12</c:v>
                </c:pt>
                <c:pt idx="28">
                  <c:v>2019-01</c:v>
                </c:pt>
                <c:pt idx="29">
                  <c:v>2019-02</c:v>
                </c:pt>
                <c:pt idx="30">
                  <c:v>2019-03</c:v>
                </c:pt>
                <c:pt idx="31">
                  <c:v>2019-04</c:v>
                </c:pt>
                <c:pt idx="32">
                  <c:v>2019-05</c:v>
                </c:pt>
                <c:pt idx="33">
                  <c:v>2019-06</c:v>
                </c:pt>
                <c:pt idx="34">
                  <c:v>2019-07</c:v>
                </c:pt>
                <c:pt idx="35">
                  <c:v>2019-08</c:v>
                </c:pt>
                <c:pt idx="36">
                  <c:v>2019-09</c:v>
                </c:pt>
                <c:pt idx="37">
                  <c:v>2019-10</c:v>
                </c:pt>
                <c:pt idx="38">
                  <c:v>2019-11</c:v>
                </c:pt>
                <c:pt idx="39">
                  <c:v>2019-12</c:v>
                </c:pt>
                <c:pt idx="40">
                  <c:v>2020-01</c:v>
                </c:pt>
                <c:pt idx="41">
                  <c:v>2020-02</c:v>
                </c:pt>
                <c:pt idx="42">
                  <c:v>2020-03</c:v>
                </c:pt>
                <c:pt idx="43">
                  <c:v>2020-04</c:v>
                </c:pt>
                <c:pt idx="44">
                  <c:v>2020-05</c:v>
                </c:pt>
                <c:pt idx="45">
                  <c:v>2020-06</c:v>
                </c:pt>
                <c:pt idx="46">
                  <c:v>2020-07</c:v>
                </c:pt>
                <c:pt idx="47">
                  <c:v>2020-08</c:v>
                </c:pt>
                <c:pt idx="48">
                  <c:v>2020-09</c:v>
                </c:pt>
                <c:pt idx="49">
                  <c:v>2020-10</c:v>
                </c:pt>
                <c:pt idx="50">
                  <c:v>2020-11</c:v>
                </c:pt>
                <c:pt idx="51">
                  <c:v>2020-12</c:v>
                </c:pt>
                <c:pt idx="52">
                  <c:v>2021-01</c:v>
                </c:pt>
                <c:pt idx="53">
                  <c:v>2021-02</c:v>
                </c:pt>
                <c:pt idx="54">
                  <c:v>2021-03</c:v>
                </c:pt>
                <c:pt idx="55">
                  <c:v>2021-04</c:v>
                </c:pt>
                <c:pt idx="56">
                  <c:v>2021-05</c:v>
                </c:pt>
                <c:pt idx="57">
                  <c:v>2021-06</c:v>
                </c:pt>
                <c:pt idx="58">
                  <c:v>2021-07</c:v>
                </c:pt>
                <c:pt idx="59">
                  <c:v>2021-08</c:v>
                </c:pt>
                <c:pt idx="60">
                  <c:v>2021-09</c:v>
                </c:pt>
                <c:pt idx="61">
                  <c:v>2021-10</c:v>
                </c:pt>
                <c:pt idx="62">
                  <c:v>2021-11</c:v>
                </c:pt>
                <c:pt idx="63">
                  <c:v>2021-12</c:v>
                </c:pt>
                <c:pt idx="64">
                  <c:v>2022-01</c:v>
                </c:pt>
                <c:pt idx="65">
                  <c:v>2022-02</c:v>
                </c:pt>
                <c:pt idx="66">
                  <c:v>2022-03</c:v>
                </c:pt>
                <c:pt idx="67">
                  <c:v>2022-04</c:v>
                </c:pt>
                <c:pt idx="68">
                  <c:v>2022-05</c:v>
                </c:pt>
                <c:pt idx="69">
                  <c:v>2022-06</c:v>
                </c:pt>
                <c:pt idx="70">
                  <c:v>2022-07</c:v>
                </c:pt>
                <c:pt idx="71">
                  <c:v>2022-08</c:v>
                </c:pt>
                <c:pt idx="72">
                  <c:v>2022-09</c:v>
                </c:pt>
                <c:pt idx="73">
                  <c:v>2022-10</c:v>
                </c:pt>
                <c:pt idx="74">
                  <c:v>2022-11</c:v>
                </c:pt>
                <c:pt idx="75">
                  <c:v>2022-12</c:v>
                </c:pt>
                <c:pt idx="76">
                  <c:v>2023-01</c:v>
                </c:pt>
                <c:pt idx="77">
                  <c:v>2023-02</c:v>
                </c:pt>
                <c:pt idx="78">
                  <c:v>2023-03</c:v>
                </c:pt>
                <c:pt idx="79">
                  <c:v>2023-04</c:v>
                </c:pt>
                <c:pt idx="80">
                  <c:v>2023-05</c:v>
                </c:pt>
                <c:pt idx="81">
                  <c:v>2023-06</c:v>
                </c:pt>
                <c:pt idx="82">
                  <c:v>2023-07</c:v>
                </c:pt>
                <c:pt idx="83">
                  <c:v>2023-08</c:v>
                </c:pt>
                <c:pt idx="84">
                  <c:v>2023-09</c:v>
                </c:pt>
                <c:pt idx="85">
                  <c:v>2023-10</c:v>
                </c:pt>
                <c:pt idx="86">
                  <c:v>2023-11</c:v>
                </c:pt>
                <c:pt idx="87">
                  <c:v>2023-12</c:v>
                </c:pt>
                <c:pt idx="88">
                  <c:v>2024-01</c:v>
                </c:pt>
                <c:pt idx="89">
                  <c:v>2024-02</c:v>
                </c:pt>
                <c:pt idx="90">
                  <c:v>2024-03</c:v>
                </c:pt>
                <c:pt idx="91">
                  <c:v>2024-04</c:v>
                </c:pt>
                <c:pt idx="92">
                  <c:v>2024-05</c:v>
                </c:pt>
                <c:pt idx="93">
                  <c:v>2024-06</c:v>
                </c:pt>
                <c:pt idx="94">
                  <c:v>2024-07</c:v>
                </c:pt>
                <c:pt idx="95">
                  <c:v>2024-08</c:v>
                </c:pt>
                <c:pt idx="96">
                  <c:v>2024-09</c:v>
                </c:pt>
                <c:pt idx="97">
                  <c:v>2024-10</c:v>
                </c:pt>
                <c:pt idx="98">
                  <c:v>2024-11</c:v>
                </c:pt>
                <c:pt idx="99">
                  <c:v>2024-12</c:v>
                </c:pt>
                <c:pt idx="100">
                  <c:v>2025-01</c:v>
                </c:pt>
                <c:pt idx="101">
                  <c:v>2025-02</c:v>
                </c:pt>
                <c:pt idx="102">
                  <c:v>2025-03</c:v>
                </c:pt>
                <c:pt idx="103">
                  <c:v>2025-04</c:v>
                </c:pt>
                <c:pt idx="104">
                  <c:v>2025-05</c:v>
                </c:pt>
                <c:pt idx="105">
                  <c:v>2025-06</c:v>
                </c:pt>
                <c:pt idx="106">
                  <c:v>2025-07</c:v>
                </c:pt>
                <c:pt idx="107">
                  <c:v>2025-08</c:v>
                </c:pt>
                <c:pt idx="108">
                  <c:v>2025-09</c:v>
                </c:pt>
                <c:pt idx="109">
                  <c:v>2025-10</c:v>
                </c:pt>
                <c:pt idx="110">
                  <c:v>2025-11</c:v>
                </c:pt>
                <c:pt idx="111">
                  <c:v>2025-12</c:v>
                </c:pt>
                <c:pt idx="112">
                  <c:v>2026-01</c:v>
                </c:pt>
                <c:pt idx="113">
                  <c:v>2026-02</c:v>
                </c:pt>
                <c:pt idx="114">
                  <c:v>2026-03</c:v>
                </c:pt>
                <c:pt idx="115">
                  <c:v>2026-04</c:v>
                </c:pt>
                <c:pt idx="116">
                  <c:v>2026-05</c:v>
                </c:pt>
                <c:pt idx="117">
                  <c:v>2026-06</c:v>
                </c:pt>
                <c:pt idx="118">
                  <c:v>2026-07</c:v>
                </c:pt>
                <c:pt idx="119">
                  <c:v>2026-08</c:v>
                </c:pt>
                <c:pt idx="120">
                  <c:v>2026-09</c:v>
                </c:pt>
              </c:strCache>
            </c:strRef>
          </c:cat>
          <c:val>
            <c:numRef>
              <c:f>Sheet1!$C$2:$C$122</c:f>
              <c:numCache>
                <c:formatCode>General</c:formatCode>
                <c:ptCount val="121"/>
                <c:pt idx="0">
                  <c:v>16.34</c:v>
                </c:pt>
                <c:pt idx="1">
                  <c:v>16.34</c:v>
                </c:pt>
                <c:pt idx="2">
                  <c:v>16.34</c:v>
                </c:pt>
                <c:pt idx="3">
                  <c:v>16.34</c:v>
                </c:pt>
                <c:pt idx="4">
                  <c:v>16.34</c:v>
                </c:pt>
                <c:pt idx="5">
                  <c:v>16.34</c:v>
                </c:pt>
                <c:pt idx="6">
                  <c:v>16.34</c:v>
                </c:pt>
                <c:pt idx="7">
                  <c:v>16.34</c:v>
                </c:pt>
                <c:pt idx="8">
                  <c:v>16.34</c:v>
                </c:pt>
                <c:pt idx="9">
                  <c:v>16.34</c:v>
                </c:pt>
                <c:pt idx="10">
                  <c:v>16.34</c:v>
                </c:pt>
                <c:pt idx="11">
                  <c:v>16.34</c:v>
                </c:pt>
                <c:pt idx="12">
                  <c:v>16.34</c:v>
                </c:pt>
                <c:pt idx="13">
                  <c:v>16.34</c:v>
                </c:pt>
                <c:pt idx="14">
                  <c:v>16.34</c:v>
                </c:pt>
                <c:pt idx="15">
                  <c:v>16.34</c:v>
                </c:pt>
                <c:pt idx="16">
                  <c:v>16.34</c:v>
                </c:pt>
                <c:pt idx="17">
                  <c:v>16.34</c:v>
                </c:pt>
                <c:pt idx="18">
                  <c:v>16.34</c:v>
                </c:pt>
                <c:pt idx="19">
                  <c:v>16.34</c:v>
                </c:pt>
                <c:pt idx="20">
                  <c:v>16.34</c:v>
                </c:pt>
                <c:pt idx="21">
                  <c:v>16.34</c:v>
                </c:pt>
                <c:pt idx="22">
                  <c:v>16.34</c:v>
                </c:pt>
                <c:pt idx="23">
                  <c:v>16.34</c:v>
                </c:pt>
                <c:pt idx="24">
                  <c:v>16.34</c:v>
                </c:pt>
                <c:pt idx="25">
                  <c:v>16.34</c:v>
                </c:pt>
                <c:pt idx="26">
                  <c:v>16.34</c:v>
                </c:pt>
                <c:pt idx="27">
                  <c:v>16.34</c:v>
                </c:pt>
                <c:pt idx="28">
                  <c:v>16.34</c:v>
                </c:pt>
                <c:pt idx="29">
                  <c:v>16.34</c:v>
                </c:pt>
                <c:pt idx="30">
                  <c:v>16.34</c:v>
                </c:pt>
                <c:pt idx="31">
                  <c:v>16.34</c:v>
                </c:pt>
                <c:pt idx="32">
                  <c:v>16.34</c:v>
                </c:pt>
                <c:pt idx="33">
                  <c:v>16.34</c:v>
                </c:pt>
                <c:pt idx="34">
                  <c:v>16.34</c:v>
                </c:pt>
                <c:pt idx="35">
                  <c:v>16.34</c:v>
                </c:pt>
                <c:pt idx="36">
                  <c:v>16.34</c:v>
                </c:pt>
                <c:pt idx="37">
                  <c:v>16.34</c:v>
                </c:pt>
                <c:pt idx="38">
                  <c:v>16.34</c:v>
                </c:pt>
                <c:pt idx="39">
                  <c:v>16.34</c:v>
                </c:pt>
                <c:pt idx="40">
                  <c:v>16.34</c:v>
                </c:pt>
                <c:pt idx="41">
                  <c:v>16.34</c:v>
                </c:pt>
                <c:pt idx="42">
                  <c:v>16.34</c:v>
                </c:pt>
                <c:pt idx="43">
                  <c:v>16.34</c:v>
                </c:pt>
                <c:pt idx="44">
                  <c:v>16.34</c:v>
                </c:pt>
                <c:pt idx="45">
                  <c:v>16.34</c:v>
                </c:pt>
                <c:pt idx="46">
                  <c:v>16.34</c:v>
                </c:pt>
                <c:pt idx="47">
                  <c:v>16.34</c:v>
                </c:pt>
                <c:pt idx="48">
                  <c:v>16.34</c:v>
                </c:pt>
                <c:pt idx="49">
                  <c:v>16.34</c:v>
                </c:pt>
                <c:pt idx="50">
                  <c:v>16.34</c:v>
                </c:pt>
                <c:pt idx="51">
                  <c:v>16.34</c:v>
                </c:pt>
                <c:pt idx="52">
                  <c:v>16.34</c:v>
                </c:pt>
                <c:pt idx="53">
                  <c:v>16.34</c:v>
                </c:pt>
                <c:pt idx="54">
                  <c:v>16.34</c:v>
                </c:pt>
                <c:pt idx="55">
                  <c:v>16.34</c:v>
                </c:pt>
                <c:pt idx="56">
                  <c:v>16.34</c:v>
                </c:pt>
                <c:pt idx="57">
                  <c:v>16.34</c:v>
                </c:pt>
                <c:pt idx="58">
                  <c:v>16.34</c:v>
                </c:pt>
                <c:pt idx="59">
                  <c:v>16.34</c:v>
                </c:pt>
                <c:pt idx="60">
                  <c:v>16.34</c:v>
                </c:pt>
                <c:pt idx="61">
                  <c:v>16.34</c:v>
                </c:pt>
                <c:pt idx="62">
                  <c:v>16.34</c:v>
                </c:pt>
                <c:pt idx="63">
                  <c:v>16.34</c:v>
                </c:pt>
                <c:pt idx="64">
                  <c:v>16.34</c:v>
                </c:pt>
                <c:pt idx="65">
                  <c:v>16.34</c:v>
                </c:pt>
                <c:pt idx="66">
                  <c:v>16.34</c:v>
                </c:pt>
                <c:pt idx="67">
                  <c:v>16.34</c:v>
                </c:pt>
                <c:pt idx="68">
                  <c:v>16.34</c:v>
                </c:pt>
                <c:pt idx="69">
                  <c:v>16.34</c:v>
                </c:pt>
                <c:pt idx="70">
                  <c:v>16.34</c:v>
                </c:pt>
                <c:pt idx="71">
                  <c:v>16.34</c:v>
                </c:pt>
                <c:pt idx="72">
                  <c:v>16.34</c:v>
                </c:pt>
                <c:pt idx="73">
                  <c:v>16.34</c:v>
                </c:pt>
                <c:pt idx="74">
                  <c:v>16.34</c:v>
                </c:pt>
                <c:pt idx="75">
                  <c:v>16.34</c:v>
                </c:pt>
                <c:pt idx="76">
                  <c:v>16.34</c:v>
                </c:pt>
                <c:pt idx="77">
                  <c:v>16.34</c:v>
                </c:pt>
                <c:pt idx="78">
                  <c:v>16.34</c:v>
                </c:pt>
                <c:pt idx="79">
                  <c:v>16.34</c:v>
                </c:pt>
                <c:pt idx="80">
                  <c:v>16.34</c:v>
                </c:pt>
                <c:pt idx="81">
                  <c:v>16.34</c:v>
                </c:pt>
                <c:pt idx="82">
                  <c:v>16.34</c:v>
                </c:pt>
                <c:pt idx="83">
                  <c:v>16.34</c:v>
                </c:pt>
                <c:pt idx="84">
                  <c:v>16.34</c:v>
                </c:pt>
                <c:pt idx="85">
                  <c:v>16.34</c:v>
                </c:pt>
                <c:pt idx="86">
                  <c:v>16.34</c:v>
                </c:pt>
                <c:pt idx="87">
                  <c:v>16.34</c:v>
                </c:pt>
                <c:pt idx="88">
                  <c:v>16.34</c:v>
                </c:pt>
                <c:pt idx="89">
                  <c:v>16.34</c:v>
                </c:pt>
                <c:pt idx="90">
                  <c:v>16.34</c:v>
                </c:pt>
                <c:pt idx="91">
                  <c:v>16.34</c:v>
                </c:pt>
                <c:pt idx="92">
                  <c:v>16.34</c:v>
                </c:pt>
                <c:pt idx="93">
                  <c:v>16.34</c:v>
                </c:pt>
                <c:pt idx="94">
                  <c:v>16.34</c:v>
                </c:pt>
                <c:pt idx="95">
                  <c:v>16.34</c:v>
                </c:pt>
                <c:pt idx="96">
                  <c:v>16.34</c:v>
                </c:pt>
                <c:pt idx="97">
                  <c:v>16.34</c:v>
                </c:pt>
                <c:pt idx="98">
                  <c:v>16.34</c:v>
                </c:pt>
                <c:pt idx="99">
                  <c:v>16.34</c:v>
                </c:pt>
                <c:pt idx="100">
                  <c:v>16.34</c:v>
                </c:pt>
                <c:pt idx="101">
                  <c:v>16.34</c:v>
                </c:pt>
                <c:pt idx="102">
                  <c:v>16.34</c:v>
                </c:pt>
                <c:pt idx="103">
                  <c:v>16.34</c:v>
                </c:pt>
                <c:pt idx="104">
                  <c:v>16.34</c:v>
                </c:pt>
                <c:pt idx="105">
                  <c:v>16.34</c:v>
                </c:pt>
                <c:pt idx="106">
                  <c:v>16.34</c:v>
                </c:pt>
                <c:pt idx="107">
                  <c:v>16.34</c:v>
                </c:pt>
                <c:pt idx="108">
                  <c:v>16.34</c:v>
                </c:pt>
                <c:pt idx="109">
                  <c:v>16.34</c:v>
                </c:pt>
                <c:pt idx="110">
                  <c:v>16.34</c:v>
                </c:pt>
                <c:pt idx="111">
                  <c:v>16.34</c:v>
                </c:pt>
                <c:pt idx="112">
                  <c:v>16.34</c:v>
                </c:pt>
                <c:pt idx="113">
                  <c:v>16.34</c:v>
                </c:pt>
                <c:pt idx="114">
                  <c:v>16.34</c:v>
                </c:pt>
                <c:pt idx="115">
                  <c:v>16.34</c:v>
                </c:pt>
                <c:pt idx="116">
                  <c:v>16.34</c:v>
                </c:pt>
                <c:pt idx="117">
                  <c:v>16.34</c:v>
                </c:pt>
                <c:pt idx="118">
                  <c:v>16.34</c:v>
                </c:pt>
                <c:pt idx="119">
                  <c:v>16.34</c:v>
                </c:pt>
                <c:pt idx="120">
                  <c:v>16.34</c:v>
                </c:pt>
              </c:numCache>
            </c:numRef>
          </c:val>
          <c:smooth val="0"/>
          <c:extLst>
            <c:ext xmlns:c16="http://schemas.microsoft.com/office/drawing/2014/chart" uri="{C3380CC4-5D6E-409C-BE32-E72D297353CC}">
              <c16:uniqueId val="{00000003-DFFB-4F6E-81EF-782E15B8CC51}"/>
            </c:ext>
          </c:extLst>
        </c:ser>
        <c:ser>
          <c:idx val="2"/>
          <c:order val="2"/>
          <c:tx>
            <c:strRef>
              <c:f>Sheet1!$D$1</c:f>
              <c:strCache>
                <c:ptCount val="1"/>
                <c:pt idx="0">
                  <c:v>5-yr median 17.08x</c:v>
                </c:pt>
              </c:strCache>
            </c:strRef>
          </c:tx>
          <c:spPr>
            <a:ln w="9525">
              <a:solidFill>
                <a:srgbClr val="8A6A44"/>
              </a:solidFill>
            </a:ln>
          </c:spPr>
          <c:marker>
            <c:symbol val="none"/>
          </c:marker>
          <c:cat>
            <c:strRef>
              <c:f>Sheet1!$A$2:$A$122</c:f>
              <c:strCache>
                <c:ptCount val="121"/>
                <c:pt idx="0">
                  <c:v>2016-09</c:v>
                </c:pt>
                <c:pt idx="1">
                  <c:v>2016-10</c:v>
                </c:pt>
                <c:pt idx="2">
                  <c:v>2016-11</c:v>
                </c:pt>
                <c:pt idx="3">
                  <c:v>2016-12</c:v>
                </c:pt>
                <c:pt idx="4">
                  <c:v>2017-01</c:v>
                </c:pt>
                <c:pt idx="5">
                  <c:v>2017-02</c:v>
                </c:pt>
                <c:pt idx="6">
                  <c:v>2017-03</c:v>
                </c:pt>
                <c:pt idx="7">
                  <c:v>2017-04</c:v>
                </c:pt>
                <c:pt idx="8">
                  <c:v>2017-05</c:v>
                </c:pt>
                <c:pt idx="9">
                  <c:v>2017-06</c:v>
                </c:pt>
                <c:pt idx="10">
                  <c:v>2017-07</c:v>
                </c:pt>
                <c:pt idx="11">
                  <c:v>2017-08</c:v>
                </c:pt>
                <c:pt idx="12">
                  <c:v>2017-09</c:v>
                </c:pt>
                <c:pt idx="13">
                  <c:v>2017-10</c:v>
                </c:pt>
                <c:pt idx="14">
                  <c:v>2017-11</c:v>
                </c:pt>
                <c:pt idx="15">
                  <c:v>2017-12</c:v>
                </c:pt>
                <c:pt idx="16">
                  <c:v>2018-01</c:v>
                </c:pt>
                <c:pt idx="17">
                  <c:v>2018-02</c:v>
                </c:pt>
                <c:pt idx="18">
                  <c:v>2018-03</c:v>
                </c:pt>
                <c:pt idx="19">
                  <c:v>2018-04</c:v>
                </c:pt>
                <c:pt idx="20">
                  <c:v>2018-05</c:v>
                </c:pt>
                <c:pt idx="21">
                  <c:v>2018-06</c:v>
                </c:pt>
                <c:pt idx="22">
                  <c:v>2018-07</c:v>
                </c:pt>
                <c:pt idx="23">
                  <c:v>2018-08</c:v>
                </c:pt>
                <c:pt idx="24">
                  <c:v>2018-09</c:v>
                </c:pt>
                <c:pt idx="25">
                  <c:v>2018-10</c:v>
                </c:pt>
                <c:pt idx="26">
                  <c:v>2018-11</c:v>
                </c:pt>
                <c:pt idx="27">
                  <c:v>2018-12</c:v>
                </c:pt>
                <c:pt idx="28">
                  <c:v>2019-01</c:v>
                </c:pt>
                <c:pt idx="29">
                  <c:v>2019-02</c:v>
                </c:pt>
                <c:pt idx="30">
                  <c:v>2019-03</c:v>
                </c:pt>
                <c:pt idx="31">
                  <c:v>2019-04</c:v>
                </c:pt>
                <c:pt idx="32">
                  <c:v>2019-05</c:v>
                </c:pt>
                <c:pt idx="33">
                  <c:v>2019-06</c:v>
                </c:pt>
                <c:pt idx="34">
                  <c:v>2019-07</c:v>
                </c:pt>
                <c:pt idx="35">
                  <c:v>2019-08</c:v>
                </c:pt>
                <c:pt idx="36">
                  <c:v>2019-09</c:v>
                </c:pt>
                <c:pt idx="37">
                  <c:v>2019-10</c:v>
                </c:pt>
                <c:pt idx="38">
                  <c:v>2019-11</c:v>
                </c:pt>
                <c:pt idx="39">
                  <c:v>2019-12</c:v>
                </c:pt>
                <c:pt idx="40">
                  <c:v>2020-01</c:v>
                </c:pt>
                <c:pt idx="41">
                  <c:v>2020-02</c:v>
                </c:pt>
                <c:pt idx="42">
                  <c:v>2020-03</c:v>
                </c:pt>
                <c:pt idx="43">
                  <c:v>2020-04</c:v>
                </c:pt>
                <c:pt idx="44">
                  <c:v>2020-05</c:v>
                </c:pt>
                <c:pt idx="45">
                  <c:v>2020-06</c:v>
                </c:pt>
                <c:pt idx="46">
                  <c:v>2020-07</c:v>
                </c:pt>
                <c:pt idx="47">
                  <c:v>2020-08</c:v>
                </c:pt>
                <c:pt idx="48">
                  <c:v>2020-09</c:v>
                </c:pt>
                <c:pt idx="49">
                  <c:v>2020-10</c:v>
                </c:pt>
                <c:pt idx="50">
                  <c:v>2020-11</c:v>
                </c:pt>
                <c:pt idx="51">
                  <c:v>2020-12</c:v>
                </c:pt>
                <c:pt idx="52">
                  <c:v>2021-01</c:v>
                </c:pt>
                <c:pt idx="53">
                  <c:v>2021-02</c:v>
                </c:pt>
                <c:pt idx="54">
                  <c:v>2021-03</c:v>
                </c:pt>
                <c:pt idx="55">
                  <c:v>2021-04</c:v>
                </c:pt>
                <c:pt idx="56">
                  <c:v>2021-05</c:v>
                </c:pt>
                <c:pt idx="57">
                  <c:v>2021-06</c:v>
                </c:pt>
                <c:pt idx="58">
                  <c:v>2021-07</c:v>
                </c:pt>
                <c:pt idx="59">
                  <c:v>2021-08</c:v>
                </c:pt>
                <c:pt idx="60">
                  <c:v>2021-09</c:v>
                </c:pt>
                <c:pt idx="61">
                  <c:v>2021-10</c:v>
                </c:pt>
                <c:pt idx="62">
                  <c:v>2021-11</c:v>
                </c:pt>
                <c:pt idx="63">
                  <c:v>2021-12</c:v>
                </c:pt>
                <c:pt idx="64">
                  <c:v>2022-01</c:v>
                </c:pt>
                <c:pt idx="65">
                  <c:v>2022-02</c:v>
                </c:pt>
                <c:pt idx="66">
                  <c:v>2022-03</c:v>
                </c:pt>
                <c:pt idx="67">
                  <c:v>2022-04</c:v>
                </c:pt>
                <c:pt idx="68">
                  <c:v>2022-05</c:v>
                </c:pt>
                <c:pt idx="69">
                  <c:v>2022-06</c:v>
                </c:pt>
                <c:pt idx="70">
                  <c:v>2022-07</c:v>
                </c:pt>
                <c:pt idx="71">
                  <c:v>2022-08</c:v>
                </c:pt>
                <c:pt idx="72">
                  <c:v>2022-09</c:v>
                </c:pt>
                <c:pt idx="73">
                  <c:v>2022-10</c:v>
                </c:pt>
                <c:pt idx="74">
                  <c:v>2022-11</c:v>
                </c:pt>
                <c:pt idx="75">
                  <c:v>2022-12</c:v>
                </c:pt>
                <c:pt idx="76">
                  <c:v>2023-01</c:v>
                </c:pt>
                <c:pt idx="77">
                  <c:v>2023-02</c:v>
                </c:pt>
                <c:pt idx="78">
                  <c:v>2023-03</c:v>
                </c:pt>
                <c:pt idx="79">
                  <c:v>2023-04</c:v>
                </c:pt>
                <c:pt idx="80">
                  <c:v>2023-05</c:v>
                </c:pt>
                <c:pt idx="81">
                  <c:v>2023-06</c:v>
                </c:pt>
                <c:pt idx="82">
                  <c:v>2023-07</c:v>
                </c:pt>
                <c:pt idx="83">
                  <c:v>2023-08</c:v>
                </c:pt>
                <c:pt idx="84">
                  <c:v>2023-09</c:v>
                </c:pt>
                <c:pt idx="85">
                  <c:v>2023-10</c:v>
                </c:pt>
                <c:pt idx="86">
                  <c:v>2023-11</c:v>
                </c:pt>
                <c:pt idx="87">
                  <c:v>2023-12</c:v>
                </c:pt>
                <c:pt idx="88">
                  <c:v>2024-01</c:v>
                </c:pt>
                <c:pt idx="89">
                  <c:v>2024-02</c:v>
                </c:pt>
                <c:pt idx="90">
                  <c:v>2024-03</c:v>
                </c:pt>
                <c:pt idx="91">
                  <c:v>2024-04</c:v>
                </c:pt>
                <c:pt idx="92">
                  <c:v>2024-05</c:v>
                </c:pt>
                <c:pt idx="93">
                  <c:v>2024-06</c:v>
                </c:pt>
                <c:pt idx="94">
                  <c:v>2024-07</c:v>
                </c:pt>
                <c:pt idx="95">
                  <c:v>2024-08</c:v>
                </c:pt>
                <c:pt idx="96">
                  <c:v>2024-09</c:v>
                </c:pt>
                <c:pt idx="97">
                  <c:v>2024-10</c:v>
                </c:pt>
                <c:pt idx="98">
                  <c:v>2024-11</c:v>
                </c:pt>
                <c:pt idx="99">
                  <c:v>2024-12</c:v>
                </c:pt>
                <c:pt idx="100">
                  <c:v>2025-01</c:v>
                </c:pt>
                <c:pt idx="101">
                  <c:v>2025-02</c:v>
                </c:pt>
                <c:pt idx="102">
                  <c:v>2025-03</c:v>
                </c:pt>
                <c:pt idx="103">
                  <c:v>2025-04</c:v>
                </c:pt>
                <c:pt idx="104">
                  <c:v>2025-05</c:v>
                </c:pt>
                <c:pt idx="105">
                  <c:v>2025-06</c:v>
                </c:pt>
                <c:pt idx="106">
                  <c:v>2025-07</c:v>
                </c:pt>
                <c:pt idx="107">
                  <c:v>2025-08</c:v>
                </c:pt>
                <c:pt idx="108">
                  <c:v>2025-09</c:v>
                </c:pt>
                <c:pt idx="109">
                  <c:v>2025-10</c:v>
                </c:pt>
                <c:pt idx="110">
                  <c:v>2025-11</c:v>
                </c:pt>
                <c:pt idx="111">
                  <c:v>2025-12</c:v>
                </c:pt>
                <c:pt idx="112">
                  <c:v>2026-01</c:v>
                </c:pt>
                <c:pt idx="113">
                  <c:v>2026-02</c:v>
                </c:pt>
                <c:pt idx="114">
                  <c:v>2026-03</c:v>
                </c:pt>
                <c:pt idx="115">
                  <c:v>2026-04</c:v>
                </c:pt>
                <c:pt idx="116">
                  <c:v>2026-05</c:v>
                </c:pt>
                <c:pt idx="117">
                  <c:v>2026-06</c:v>
                </c:pt>
                <c:pt idx="118">
                  <c:v>2026-07</c:v>
                </c:pt>
                <c:pt idx="119">
                  <c:v>2026-08</c:v>
                </c:pt>
                <c:pt idx="120">
                  <c:v>2026-09</c:v>
                </c:pt>
              </c:strCache>
            </c:strRef>
          </c:cat>
          <c:val>
            <c:numRef>
              <c:f>Sheet1!$D$2:$D$122</c:f>
              <c:numCache>
                <c:formatCode>General</c:formatCode>
                <c:ptCount val="121"/>
                <c:pt idx="0">
                  <c:v>17.08</c:v>
                </c:pt>
                <c:pt idx="1">
                  <c:v>17.08</c:v>
                </c:pt>
                <c:pt idx="2">
                  <c:v>17.08</c:v>
                </c:pt>
                <c:pt idx="3">
                  <c:v>17.08</c:v>
                </c:pt>
                <c:pt idx="4">
                  <c:v>17.08</c:v>
                </c:pt>
                <c:pt idx="5">
                  <c:v>17.08</c:v>
                </c:pt>
                <c:pt idx="6">
                  <c:v>17.08</c:v>
                </c:pt>
                <c:pt idx="7">
                  <c:v>17.08</c:v>
                </c:pt>
                <c:pt idx="8">
                  <c:v>17.08</c:v>
                </c:pt>
                <c:pt idx="9">
                  <c:v>17.08</c:v>
                </c:pt>
                <c:pt idx="10">
                  <c:v>17.08</c:v>
                </c:pt>
                <c:pt idx="11">
                  <c:v>17.08</c:v>
                </c:pt>
                <c:pt idx="12">
                  <c:v>17.08</c:v>
                </c:pt>
                <c:pt idx="13">
                  <c:v>17.08</c:v>
                </c:pt>
                <c:pt idx="14">
                  <c:v>17.08</c:v>
                </c:pt>
                <c:pt idx="15">
                  <c:v>17.08</c:v>
                </c:pt>
                <c:pt idx="16">
                  <c:v>17.08</c:v>
                </c:pt>
                <c:pt idx="17">
                  <c:v>17.08</c:v>
                </c:pt>
                <c:pt idx="18">
                  <c:v>17.08</c:v>
                </c:pt>
                <c:pt idx="19">
                  <c:v>17.08</c:v>
                </c:pt>
                <c:pt idx="20">
                  <c:v>17.08</c:v>
                </c:pt>
                <c:pt idx="21">
                  <c:v>17.08</c:v>
                </c:pt>
                <c:pt idx="22">
                  <c:v>17.08</c:v>
                </c:pt>
                <c:pt idx="23">
                  <c:v>17.08</c:v>
                </c:pt>
                <c:pt idx="24">
                  <c:v>17.08</c:v>
                </c:pt>
                <c:pt idx="25">
                  <c:v>17.08</c:v>
                </c:pt>
                <c:pt idx="26">
                  <c:v>17.08</c:v>
                </c:pt>
                <c:pt idx="27">
                  <c:v>17.08</c:v>
                </c:pt>
                <c:pt idx="28">
                  <c:v>17.08</c:v>
                </c:pt>
                <c:pt idx="29">
                  <c:v>17.08</c:v>
                </c:pt>
                <c:pt idx="30">
                  <c:v>17.08</c:v>
                </c:pt>
                <c:pt idx="31">
                  <c:v>17.08</c:v>
                </c:pt>
                <c:pt idx="32">
                  <c:v>17.08</c:v>
                </c:pt>
                <c:pt idx="33">
                  <c:v>17.08</c:v>
                </c:pt>
                <c:pt idx="34">
                  <c:v>17.08</c:v>
                </c:pt>
                <c:pt idx="35">
                  <c:v>17.08</c:v>
                </c:pt>
                <c:pt idx="36">
                  <c:v>17.08</c:v>
                </c:pt>
                <c:pt idx="37">
                  <c:v>17.08</c:v>
                </c:pt>
                <c:pt idx="38">
                  <c:v>17.08</c:v>
                </c:pt>
                <c:pt idx="39">
                  <c:v>17.08</c:v>
                </c:pt>
                <c:pt idx="40">
                  <c:v>17.08</c:v>
                </c:pt>
                <c:pt idx="41">
                  <c:v>17.08</c:v>
                </c:pt>
                <c:pt idx="42">
                  <c:v>17.08</c:v>
                </c:pt>
                <c:pt idx="43">
                  <c:v>17.08</c:v>
                </c:pt>
                <c:pt idx="44">
                  <c:v>17.08</c:v>
                </c:pt>
                <c:pt idx="45">
                  <c:v>17.08</c:v>
                </c:pt>
                <c:pt idx="46">
                  <c:v>17.08</c:v>
                </c:pt>
                <c:pt idx="47">
                  <c:v>17.08</c:v>
                </c:pt>
                <c:pt idx="48">
                  <c:v>17.08</c:v>
                </c:pt>
                <c:pt idx="49">
                  <c:v>17.08</c:v>
                </c:pt>
                <c:pt idx="50">
                  <c:v>17.08</c:v>
                </c:pt>
                <c:pt idx="51">
                  <c:v>17.08</c:v>
                </c:pt>
                <c:pt idx="52">
                  <c:v>17.08</c:v>
                </c:pt>
                <c:pt idx="53">
                  <c:v>17.08</c:v>
                </c:pt>
                <c:pt idx="54">
                  <c:v>17.08</c:v>
                </c:pt>
                <c:pt idx="55">
                  <c:v>17.08</c:v>
                </c:pt>
                <c:pt idx="56">
                  <c:v>17.08</c:v>
                </c:pt>
                <c:pt idx="57">
                  <c:v>17.08</c:v>
                </c:pt>
                <c:pt idx="58">
                  <c:v>17.08</c:v>
                </c:pt>
                <c:pt idx="59">
                  <c:v>17.08</c:v>
                </c:pt>
                <c:pt idx="60">
                  <c:v>17.08</c:v>
                </c:pt>
                <c:pt idx="61">
                  <c:v>17.08</c:v>
                </c:pt>
                <c:pt idx="62">
                  <c:v>17.08</c:v>
                </c:pt>
                <c:pt idx="63">
                  <c:v>17.08</c:v>
                </c:pt>
                <c:pt idx="64">
                  <c:v>17.08</c:v>
                </c:pt>
                <c:pt idx="65">
                  <c:v>17.08</c:v>
                </c:pt>
                <c:pt idx="66">
                  <c:v>17.08</c:v>
                </c:pt>
                <c:pt idx="67">
                  <c:v>17.08</c:v>
                </c:pt>
                <c:pt idx="68">
                  <c:v>17.08</c:v>
                </c:pt>
                <c:pt idx="69">
                  <c:v>17.08</c:v>
                </c:pt>
                <c:pt idx="70">
                  <c:v>17.08</c:v>
                </c:pt>
                <c:pt idx="71">
                  <c:v>17.08</c:v>
                </c:pt>
                <c:pt idx="72">
                  <c:v>17.08</c:v>
                </c:pt>
                <c:pt idx="73">
                  <c:v>17.08</c:v>
                </c:pt>
                <c:pt idx="74">
                  <c:v>17.08</c:v>
                </c:pt>
                <c:pt idx="75">
                  <c:v>17.08</c:v>
                </c:pt>
                <c:pt idx="76">
                  <c:v>17.08</c:v>
                </c:pt>
                <c:pt idx="77">
                  <c:v>17.08</c:v>
                </c:pt>
                <c:pt idx="78">
                  <c:v>17.08</c:v>
                </c:pt>
                <c:pt idx="79">
                  <c:v>17.08</c:v>
                </c:pt>
                <c:pt idx="80">
                  <c:v>17.08</c:v>
                </c:pt>
                <c:pt idx="81">
                  <c:v>17.08</c:v>
                </c:pt>
                <c:pt idx="82">
                  <c:v>17.08</c:v>
                </c:pt>
                <c:pt idx="83">
                  <c:v>17.08</c:v>
                </c:pt>
                <c:pt idx="84">
                  <c:v>17.08</c:v>
                </c:pt>
                <c:pt idx="85">
                  <c:v>17.08</c:v>
                </c:pt>
                <c:pt idx="86">
                  <c:v>17.08</c:v>
                </c:pt>
                <c:pt idx="87">
                  <c:v>17.08</c:v>
                </c:pt>
                <c:pt idx="88">
                  <c:v>17.08</c:v>
                </c:pt>
                <c:pt idx="89">
                  <c:v>17.08</c:v>
                </c:pt>
                <c:pt idx="90">
                  <c:v>17.08</c:v>
                </c:pt>
                <c:pt idx="91">
                  <c:v>17.08</c:v>
                </c:pt>
                <c:pt idx="92">
                  <c:v>17.08</c:v>
                </c:pt>
                <c:pt idx="93">
                  <c:v>17.08</c:v>
                </c:pt>
                <c:pt idx="94">
                  <c:v>17.08</c:v>
                </c:pt>
                <c:pt idx="95">
                  <c:v>17.08</c:v>
                </c:pt>
                <c:pt idx="96">
                  <c:v>17.08</c:v>
                </c:pt>
                <c:pt idx="97">
                  <c:v>17.08</c:v>
                </c:pt>
                <c:pt idx="98">
                  <c:v>17.08</c:v>
                </c:pt>
                <c:pt idx="99">
                  <c:v>17.08</c:v>
                </c:pt>
                <c:pt idx="100">
                  <c:v>17.08</c:v>
                </c:pt>
                <c:pt idx="101">
                  <c:v>17.08</c:v>
                </c:pt>
                <c:pt idx="102">
                  <c:v>17.08</c:v>
                </c:pt>
                <c:pt idx="103">
                  <c:v>17.08</c:v>
                </c:pt>
                <c:pt idx="104">
                  <c:v>17.08</c:v>
                </c:pt>
                <c:pt idx="105">
                  <c:v>17.08</c:v>
                </c:pt>
                <c:pt idx="106">
                  <c:v>17.08</c:v>
                </c:pt>
                <c:pt idx="107">
                  <c:v>17.08</c:v>
                </c:pt>
                <c:pt idx="108">
                  <c:v>17.08</c:v>
                </c:pt>
                <c:pt idx="109">
                  <c:v>17.08</c:v>
                </c:pt>
                <c:pt idx="110">
                  <c:v>17.08</c:v>
                </c:pt>
                <c:pt idx="111">
                  <c:v>17.08</c:v>
                </c:pt>
                <c:pt idx="112">
                  <c:v>17.08</c:v>
                </c:pt>
                <c:pt idx="113">
                  <c:v>17.08</c:v>
                </c:pt>
                <c:pt idx="114">
                  <c:v>17.08</c:v>
                </c:pt>
                <c:pt idx="115">
                  <c:v>17.08</c:v>
                </c:pt>
                <c:pt idx="116">
                  <c:v>17.08</c:v>
                </c:pt>
                <c:pt idx="117">
                  <c:v>17.08</c:v>
                </c:pt>
                <c:pt idx="118">
                  <c:v>17.08</c:v>
                </c:pt>
                <c:pt idx="119">
                  <c:v>17.08</c:v>
                </c:pt>
                <c:pt idx="120">
                  <c:v>17.08</c:v>
                </c:pt>
              </c:numCache>
            </c:numRef>
          </c:val>
          <c:smooth val="0"/>
          <c:extLst>
            <c:ext xmlns:c16="http://schemas.microsoft.com/office/drawing/2014/chart" uri="{C3380CC4-5D6E-409C-BE32-E72D297353CC}">
              <c16:uniqueId val="{00000005-DFFB-4F6E-81EF-782E15B8CC51}"/>
            </c:ext>
          </c:extLst>
        </c:ser>
        <c:ser>
          <c:idx val="3"/>
          <c:order val="3"/>
          <c:tx>
            <c:strRef>
              <c:f>Sheet1!$E$1</c:f>
              <c:strCache>
                <c:ptCount val="1"/>
                <c:pt idx="0">
                  <c:v>Current on BMG 2027E 17.5x</c:v>
                </c:pt>
              </c:strCache>
            </c:strRef>
          </c:tx>
          <c:spPr>
            <a:ln w="9525" cap="flat">
              <a:solidFill>
                <a:srgbClr val="726056"/>
              </a:solidFill>
              <a:prstDash val="dash"/>
            </a:ln>
          </c:spPr>
          <c:marker>
            <c:symbol val="none"/>
          </c:marker>
          <c:cat>
            <c:strRef>
              <c:f>Sheet1!$A$2:$A$122</c:f>
              <c:strCache>
                <c:ptCount val="121"/>
                <c:pt idx="0">
                  <c:v>2016-09</c:v>
                </c:pt>
                <c:pt idx="1">
                  <c:v>2016-10</c:v>
                </c:pt>
                <c:pt idx="2">
                  <c:v>2016-11</c:v>
                </c:pt>
                <c:pt idx="3">
                  <c:v>2016-12</c:v>
                </c:pt>
                <c:pt idx="4">
                  <c:v>2017-01</c:v>
                </c:pt>
                <c:pt idx="5">
                  <c:v>2017-02</c:v>
                </c:pt>
                <c:pt idx="6">
                  <c:v>2017-03</c:v>
                </c:pt>
                <c:pt idx="7">
                  <c:v>2017-04</c:v>
                </c:pt>
                <c:pt idx="8">
                  <c:v>2017-05</c:v>
                </c:pt>
                <c:pt idx="9">
                  <c:v>2017-06</c:v>
                </c:pt>
                <c:pt idx="10">
                  <c:v>2017-07</c:v>
                </c:pt>
                <c:pt idx="11">
                  <c:v>2017-08</c:v>
                </c:pt>
                <c:pt idx="12">
                  <c:v>2017-09</c:v>
                </c:pt>
                <c:pt idx="13">
                  <c:v>2017-10</c:v>
                </c:pt>
                <c:pt idx="14">
                  <c:v>2017-11</c:v>
                </c:pt>
                <c:pt idx="15">
                  <c:v>2017-12</c:v>
                </c:pt>
                <c:pt idx="16">
                  <c:v>2018-01</c:v>
                </c:pt>
                <c:pt idx="17">
                  <c:v>2018-02</c:v>
                </c:pt>
                <c:pt idx="18">
                  <c:v>2018-03</c:v>
                </c:pt>
                <c:pt idx="19">
                  <c:v>2018-04</c:v>
                </c:pt>
                <c:pt idx="20">
                  <c:v>2018-05</c:v>
                </c:pt>
                <c:pt idx="21">
                  <c:v>2018-06</c:v>
                </c:pt>
                <c:pt idx="22">
                  <c:v>2018-07</c:v>
                </c:pt>
                <c:pt idx="23">
                  <c:v>2018-08</c:v>
                </c:pt>
                <c:pt idx="24">
                  <c:v>2018-09</c:v>
                </c:pt>
                <c:pt idx="25">
                  <c:v>2018-10</c:v>
                </c:pt>
                <c:pt idx="26">
                  <c:v>2018-11</c:v>
                </c:pt>
                <c:pt idx="27">
                  <c:v>2018-12</c:v>
                </c:pt>
                <c:pt idx="28">
                  <c:v>2019-01</c:v>
                </c:pt>
                <c:pt idx="29">
                  <c:v>2019-02</c:v>
                </c:pt>
                <c:pt idx="30">
                  <c:v>2019-03</c:v>
                </c:pt>
                <c:pt idx="31">
                  <c:v>2019-04</c:v>
                </c:pt>
                <c:pt idx="32">
                  <c:v>2019-05</c:v>
                </c:pt>
                <c:pt idx="33">
                  <c:v>2019-06</c:v>
                </c:pt>
                <c:pt idx="34">
                  <c:v>2019-07</c:v>
                </c:pt>
                <c:pt idx="35">
                  <c:v>2019-08</c:v>
                </c:pt>
                <c:pt idx="36">
                  <c:v>2019-09</c:v>
                </c:pt>
                <c:pt idx="37">
                  <c:v>2019-10</c:v>
                </c:pt>
                <c:pt idx="38">
                  <c:v>2019-11</c:v>
                </c:pt>
                <c:pt idx="39">
                  <c:v>2019-12</c:v>
                </c:pt>
                <c:pt idx="40">
                  <c:v>2020-01</c:v>
                </c:pt>
                <c:pt idx="41">
                  <c:v>2020-02</c:v>
                </c:pt>
                <c:pt idx="42">
                  <c:v>2020-03</c:v>
                </c:pt>
                <c:pt idx="43">
                  <c:v>2020-04</c:v>
                </c:pt>
                <c:pt idx="44">
                  <c:v>2020-05</c:v>
                </c:pt>
                <c:pt idx="45">
                  <c:v>2020-06</c:v>
                </c:pt>
                <c:pt idx="46">
                  <c:v>2020-07</c:v>
                </c:pt>
                <c:pt idx="47">
                  <c:v>2020-08</c:v>
                </c:pt>
                <c:pt idx="48">
                  <c:v>2020-09</c:v>
                </c:pt>
                <c:pt idx="49">
                  <c:v>2020-10</c:v>
                </c:pt>
                <c:pt idx="50">
                  <c:v>2020-11</c:v>
                </c:pt>
                <c:pt idx="51">
                  <c:v>2020-12</c:v>
                </c:pt>
                <c:pt idx="52">
                  <c:v>2021-01</c:v>
                </c:pt>
                <c:pt idx="53">
                  <c:v>2021-02</c:v>
                </c:pt>
                <c:pt idx="54">
                  <c:v>2021-03</c:v>
                </c:pt>
                <c:pt idx="55">
                  <c:v>2021-04</c:v>
                </c:pt>
                <c:pt idx="56">
                  <c:v>2021-05</c:v>
                </c:pt>
                <c:pt idx="57">
                  <c:v>2021-06</c:v>
                </c:pt>
                <c:pt idx="58">
                  <c:v>2021-07</c:v>
                </c:pt>
                <c:pt idx="59">
                  <c:v>2021-08</c:v>
                </c:pt>
                <c:pt idx="60">
                  <c:v>2021-09</c:v>
                </c:pt>
                <c:pt idx="61">
                  <c:v>2021-10</c:v>
                </c:pt>
                <c:pt idx="62">
                  <c:v>2021-11</c:v>
                </c:pt>
                <c:pt idx="63">
                  <c:v>2021-12</c:v>
                </c:pt>
                <c:pt idx="64">
                  <c:v>2022-01</c:v>
                </c:pt>
                <c:pt idx="65">
                  <c:v>2022-02</c:v>
                </c:pt>
                <c:pt idx="66">
                  <c:v>2022-03</c:v>
                </c:pt>
                <c:pt idx="67">
                  <c:v>2022-04</c:v>
                </c:pt>
                <c:pt idx="68">
                  <c:v>2022-05</c:v>
                </c:pt>
                <c:pt idx="69">
                  <c:v>2022-06</c:v>
                </c:pt>
                <c:pt idx="70">
                  <c:v>2022-07</c:v>
                </c:pt>
                <c:pt idx="71">
                  <c:v>2022-08</c:v>
                </c:pt>
                <c:pt idx="72">
                  <c:v>2022-09</c:v>
                </c:pt>
                <c:pt idx="73">
                  <c:v>2022-10</c:v>
                </c:pt>
                <c:pt idx="74">
                  <c:v>2022-11</c:v>
                </c:pt>
                <c:pt idx="75">
                  <c:v>2022-12</c:v>
                </c:pt>
                <c:pt idx="76">
                  <c:v>2023-01</c:v>
                </c:pt>
                <c:pt idx="77">
                  <c:v>2023-02</c:v>
                </c:pt>
                <c:pt idx="78">
                  <c:v>2023-03</c:v>
                </c:pt>
                <c:pt idx="79">
                  <c:v>2023-04</c:v>
                </c:pt>
                <c:pt idx="80">
                  <c:v>2023-05</c:v>
                </c:pt>
                <c:pt idx="81">
                  <c:v>2023-06</c:v>
                </c:pt>
                <c:pt idx="82">
                  <c:v>2023-07</c:v>
                </c:pt>
                <c:pt idx="83">
                  <c:v>2023-08</c:v>
                </c:pt>
                <c:pt idx="84">
                  <c:v>2023-09</c:v>
                </c:pt>
                <c:pt idx="85">
                  <c:v>2023-10</c:v>
                </c:pt>
                <c:pt idx="86">
                  <c:v>2023-11</c:v>
                </c:pt>
                <c:pt idx="87">
                  <c:v>2023-12</c:v>
                </c:pt>
                <c:pt idx="88">
                  <c:v>2024-01</c:v>
                </c:pt>
                <c:pt idx="89">
                  <c:v>2024-02</c:v>
                </c:pt>
                <c:pt idx="90">
                  <c:v>2024-03</c:v>
                </c:pt>
                <c:pt idx="91">
                  <c:v>2024-04</c:v>
                </c:pt>
                <c:pt idx="92">
                  <c:v>2024-05</c:v>
                </c:pt>
                <c:pt idx="93">
                  <c:v>2024-06</c:v>
                </c:pt>
                <c:pt idx="94">
                  <c:v>2024-07</c:v>
                </c:pt>
                <c:pt idx="95">
                  <c:v>2024-08</c:v>
                </c:pt>
                <c:pt idx="96">
                  <c:v>2024-09</c:v>
                </c:pt>
                <c:pt idx="97">
                  <c:v>2024-10</c:v>
                </c:pt>
                <c:pt idx="98">
                  <c:v>2024-11</c:v>
                </c:pt>
                <c:pt idx="99">
                  <c:v>2024-12</c:v>
                </c:pt>
                <c:pt idx="100">
                  <c:v>2025-01</c:v>
                </c:pt>
                <c:pt idx="101">
                  <c:v>2025-02</c:v>
                </c:pt>
                <c:pt idx="102">
                  <c:v>2025-03</c:v>
                </c:pt>
                <c:pt idx="103">
                  <c:v>2025-04</c:v>
                </c:pt>
                <c:pt idx="104">
                  <c:v>2025-05</c:v>
                </c:pt>
                <c:pt idx="105">
                  <c:v>2025-06</c:v>
                </c:pt>
                <c:pt idx="106">
                  <c:v>2025-07</c:v>
                </c:pt>
                <c:pt idx="107">
                  <c:v>2025-08</c:v>
                </c:pt>
                <c:pt idx="108">
                  <c:v>2025-09</c:v>
                </c:pt>
                <c:pt idx="109">
                  <c:v>2025-10</c:v>
                </c:pt>
                <c:pt idx="110">
                  <c:v>2025-11</c:v>
                </c:pt>
                <c:pt idx="111">
                  <c:v>2025-12</c:v>
                </c:pt>
                <c:pt idx="112">
                  <c:v>2026-01</c:v>
                </c:pt>
                <c:pt idx="113">
                  <c:v>2026-02</c:v>
                </c:pt>
                <c:pt idx="114">
                  <c:v>2026-03</c:v>
                </c:pt>
                <c:pt idx="115">
                  <c:v>2026-04</c:v>
                </c:pt>
                <c:pt idx="116">
                  <c:v>2026-05</c:v>
                </c:pt>
                <c:pt idx="117">
                  <c:v>2026-06</c:v>
                </c:pt>
                <c:pt idx="118">
                  <c:v>2026-07</c:v>
                </c:pt>
                <c:pt idx="119">
                  <c:v>2026-08</c:v>
                </c:pt>
                <c:pt idx="120">
                  <c:v>2026-09</c:v>
                </c:pt>
              </c:strCache>
            </c:strRef>
          </c:cat>
          <c:val>
            <c:numRef>
              <c:f>Sheet1!$E$2:$E$122</c:f>
              <c:numCache>
                <c:formatCode>General</c:formatCode>
                <c:ptCount val="121"/>
                <c:pt idx="0">
                  <c:v>17.55</c:v>
                </c:pt>
                <c:pt idx="1">
                  <c:v>17.55</c:v>
                </c:pt>
                <c:pt idx="2">
                  <c:v>17.55</c:v>
                </c:pt>
                <c:pt idx="3">
                  <c:v>17.55</c:v>
                </c:pt>
                <c:pt idx="4">
                  <c:v>17.55</c:v>
                </c:pt>
                <c:pt idx="5">
                  <c:v>17.55</c:v>
                </c:pt>
                <c:pt idx="6">
                  <c:v>17.55</c:v>
                </c:pt>
                <c:pt idx="7">
                  <c:v>17.55</c:v>
                </c:pt>
                <c:pt idx="8">
                  <c:v>17.55</c:v>
                </c:pt>
                <c:pt idx="9">
                  <c:v>17.55</c:v>
                </c:pt>
                <c:pt idx="10">
                  <c:v>17.55</c:v>
                </c:pt>
                <c:pt idx="11">
                  <c:v>17.55</c:v>
                </c:pt>
                <c:pt idx="12">
                  <c:v>17.55</c:v>
                </c:pt>
                <c:pt idx="13">
                  <c:v>17.55</c:v>
                </c:pt>
                <c:pt idx="14">
                  <c:v>17.55</c:v>
                </c:pt>
                <c:pt idx="15">
                  <c:v>17.55</c:v>
                </c:pt>
                <c:pt idx="16">
                  <c:v>17.55</c:v>
                </c:pt>
                <c:pt idx="17">
                  <c:v>17.55</c:v>
                </c:pt>
                <c:pt idx="18">
                  <c:v>17.55</c:v>
                </c:pt>
                <c:pt idx="19">
                  <c:v>17.55</c:v>
                </c:pt>
                <c:pt idx="20">
                  <c:v>17.55</c:v>
                </c:pt>
                <c:pt idx="21">
                  <c:v>17.55</c:v>
                </c:pt>
                <c:pt idx="22">
                  <c:v>17.55</c:v>
                </c:pt>
                <c:pt idx="23">
                  <c:v>17.55</c:v>
                </c:pt>
                <c:pt idx="24">
                  <c:v>17.55</c:v>
                </c:pt>
                <c:pt idx="25">
                  <c:v>17.55</c:v>
                </c:pt>
                <c:pt idx="26">
                  <c:v>17.55</c:v>
                </c:pt>
                <c:pt idx="27">
                  <c:v>17.55</c:v>
                </c:pt>
                <c:pt idx="28">
                  <c:v>17.55</c:v>
                </c:pt>
                <c:pt idx="29">
                  <c:v>17.55</c:v>
                </c:pt>
                <c:pt idx="30">
                  <c:v>17.55</c:v>
                </c:pt>
                <c:pt idx="31">
                  <c:v>17.55</c:v>
                </c:pt>
                <c:pt idx="32">
                  <c:v>17.55</c:v>
                </c:pt>
                <c:pt idx="33">
                  <c:v>17.55</c:v>
                </c:pt>
                <c:pt idx="34">
                  <c:v>17.55</c:v>
                </c:pt>
                <c:pt idx="35">
                  <c:v>17.55</c:v>
                </c:pt>
                <c:pt idx="36">
                  <c:v>17.55</c:v>
                </c:pt>
                <c:pt idx="37">
                  <c:v>17.55</c:v>
                </c:pt>
                <c:pt idx="38">
                  <c:v>17.55</c:v>
                </c:pt>
                <c:pt idx="39">
                  <c:v>17.55</c:v>
                </c:pt>
                <c:pt idx="40">
                  <c:v>17.55</c:v>
                </c:pt>
                <c:pt idx="41">
                  <c:v>17.55</c:v>
                </c:pt>
                <c:pt idx="42">
                  <c:v>17.55</c:v>
                </c:pt>
                <c:pt idx="43">
                  <c:v>17.55</c:v>
                </c:pt>
                <c:pt idx="44">
                  <c:v>17.55</c:v>
                </c:pt>
                <c:pt idx="45">
                  <c:v>17.55</c:v>
                </c:pt>
                <c:pt idx="46">
                  <c:v>17.55</c:v>
                </c:pt>
                <c:pt idx="47">
                  <c:v>17.55</c:v>
                </c:pt>
                <c:pt idx="48">
                  <c:v>17.55</c:v>
                </c:pt>
                <c:pt idx="49">
                  <c:v>17.55</c:v>
                </c:pt>
                <c:pt idx="50">
                  <c:v>17.55</c:v>
                </c:pt>
                <c:pt idx="51">
                  <c:v>17.55</c:v>
                </c:pt>
                <c:pt idx="52">
                  <c:v>17.55</c:v>
                </c:pt>
                <c:pt idx="53">
                  <c:v>17.55</c:v>
                </c:pt>
                <c:pt idx="54">
                  <c:v>17.55</c:v>
                </c:pt>
                <c:pt idx="55">
                  <c:v>17.55</c:v>
                </c:pt>
                <c:pt idx="56">
                  <c:v>17.55</c:v>
                </c:pt>
                <c:pt idx="57">
                  <c:v>17.55</c:v>
                </c:pt>
                <c:pt idx="58">
                  <c:v>17.55</c:v>
                </c:pt>
                <c:pt idx="59">
                  <c:v>17.55</c:v>
                </c:pt>
                <c:pt idx="60">
                  <c:v>17.55</c:v>
                </c:pt>
                <c:pt idx="61">
                  <c:v>17.55</c:v>
                </c:pt>
                <c:pt idx="62">
                  <c:v>17.55</c:v>
                </c:pt>
                <c:pt idx="63">
                  <c:v>17.55</c:v>
                </c:pt>
                <c:pt idx="64">
                  <c:v>17.55</c:v>
                </c:pt>
                <c:pt idx="65">
                  <c:v>17.55</c:v>
                </c:pt>
                <c:pt idx="66">
                  <c:v>17.55</c:v>
                </c:pt>
                <c:pt idx="67">
                  <c:v>17.55</c:v>
                </c:pt>
                <c:pt idx="68">
                  <c:v>17.55</c:v>
                </c:pt>
                <c:pt idx="69">
                  <c:v>17.55</c:v>
                </c:pt>
                <c:pt idx="70">
                  <c:v>17.55</c:v>
                </c:pt>
                <c:pt idx="71">
                  <c:v>17.55</c:v>
                </c:pt>
                <c:pt idx="72">
                  <c:v>17.55</c:v>
                </c:pt>
                <c:pt idx="73">
                  <c:v>17.55</c:v>
                </c:pt>
                <c:pt idx="74">
                  <c:v>17.55</c:v>
                </c:pt>
                <c:pt idx="75">
                  <c:v>17.55</c:v>
                </c:pt>
                <c:pt idx="76">
                  <c:v>17.55</c:v>
                </c:pt>
                <c:pt idx="77">
                  <c:v>17.55</c:v>
                </c:pt>
                <c:pt idx="78">
                  <c:v>17.55</c:v>
                </c:pt>
                <c:pt idx="79">
                  <c:v>17.55</c:v>
                </c:pt>
                <c:pt idx="80">
                  <c:v>17.55</c:v>
                </c:pt>
                <c:pt idx="81">
                  <c:v>17.55</c:v>
                </c:pt>
                <c:pt idx="82">
                  <c:v>17.55</c:v>
                </c:pt>
                <c:pt idx="83">
                  <c:v>17.55</c:v>
                </c:pt>
                <c:pt idx="84">
                  <c:v>17.55</c:v>
                </c:pt>
                <c:pt idx="85">
                  <c:v>17.55</c:v>
                </c:pt>
                <c:pt idx="86">
                  <c:v>17.55</c:v>
                </c:pt>
                <c:pt idx="87">
                  <c:v>17.55</c:v>
                </c:pt>
                <c:pt idx="88">
                  <c:v>17.55</c:v>
                </c:pt>
                <c:pt idx="89">
                  <c:v>17.55</c:v>
                </c:pt>
                <c:pt idx="90">
                  <c:v>17.55</c:v>
                </c:pt>
                <c:pt idx="91">
                  <c:v>17.55</c:v>
                </c:pt>
                <c:pt idx="92">
                  <c:v>17.55</c:v>
                </c:pt>
                <c:pt idx="93">
                  <c:v>17.55</c:v>
                </c:pt>
                <c:pt idx="94">
                  <c:v>17.55</c:v>
                </c:pt>
                <c:pt idx="95">
                  <c:v>17.55</c:v>
                </c:pt>
                <c:pt idx="96">
                  <c:v>17.55</c:v>
                </c:pt>
                <c:pt idx="97">
                  <c:v>17.55</c:v>
                </c:pt>
                <c:pt idx="98">
                  <c:v>17.55</c:v>
                </c:pt>
                <c:pt idx="99">
                  <c:v>17.55</c:v>
                </c:pt>
                <c:pt idx="100">
                  <c:v>17.55</c:v>
                </c:pt>
                <c:pt idx="101">
                  <c:v>17.55</c:v>
                </c:pt>
                <c:pt idx="102">
                  <c:v>17.55</c:v>
                </c:pt>
                <c:pt idx="103">
                  <c:v>17.55</c:v>
                </c:pt>
                <c:pt idx="104">
                  <c:v>17.55</c:v>
                </c:pt>
                <c:pt idx="105">
                  <c:v>17.55</c:v>
                </c:pt>
                <c:pt idx="106">
                  <c:v>17.55</c:v>
                </c:pt>
                <c:pt idx="107">
                  <c:v>17.55</c:v>
                </c:pt>
                <c:pt idx="108">
                  <c:v>17.55</c:v>
                </c:pt>
                <c:pt idx="109">
                  <c:v>17.55</c:v>
                </c:pt>
                <c:pt idx="110">
                  <c:v>17.55</c:v>
                </c:pt>
                <c:pt idx="111">
                  <c:v>17.55</c:v>
                </c:pt>
                <c:pt idx="112">
                  <c:v>17.55</c:v>
                </c:pt>
                <c:pt idx="113">
                  <c:v>17.55</c:v>
                </c:pt>
                <c:pt idx="114">
                  <c:v>17.55</c:v>
                </c:pt>
                <c:pt idx="115">
                  <c:v>17.55</c:v>
                </c:pt>
                <c:pt idx="116">
                  <c:v>17.55</c:v>
                </c:pt>
                <c:pt idx="117">
                  <c:v>17.55</c:v>
                </c:pt>
                <c:pt idx="118">
                  <c:v>17.55</c:v>
                </c:pt>
                <c:pt idx="119">
                  <c:v>17.55</c:v>
                </c:pt>
                <c:pt idx="120">
                  <c:v>17.55</c:v>
                </c:pt>
              </c:numCache>
            </c:numRef>
          </c:val>
          <c:smooth val="0"/>
          <c:extLst>
            <c:ext xmlns:c16="http://schemas.microsoft.com/office/drawing/2014/chart" uri="{C3380CC4-5D6E-409C-BE32-E72D297353CC}">
              <c16:uniqueId val="{00000007-DFFB-4F6E-81EF-782E15B8CC51}"/>
            </c:ext>
          </c:extLst>
        </c:ser>
        <c:dLbls>
          <c:showLegendKey val="0"/>
          <c:showVal val="0"/>
          <c:showCatName val="0"/>
          <c:showSerName val="0"/>
          <c:showPercent val="0"/>
          <c:showBubbleSize val="0"/>
        </c:dLbls>
        <c:smooth val="0"/>
        <c:axId val="822111"/>
        <c:axId val="822112"/>
      </c:lineChart>
      <c:catAx>
        <c:axId val="822111"/>
        <c:scaling>
          <c:orientation val="minMax"/>
        </c:scaling>
        <c:delete val="0"/>
        <c:axPos val="b"/>
        <c:numFmt formatCode="General" sourceLinked="1"/>
        <c:majorTickMark val="none"/>
        <c:minorTickMark val="none"/>
        <c:tickLblPos val="nextTo"/>
        <c:spPr>
          <a:noFill/>
          <a:ln w="12700">
            <a:solidFill>
              <a:srgbClr val="292934"/>
            </a:solidFill>
          </a:ln>
        </c:spPr>
        <c:txPr>
          <a:bodyPr/>
          <a:lstStyle/>
          <a:p>
            <a:pPr>
              <a:defRPr sz="800">
                <a:latin typeface="Calibri"/>
              </a:defRPr>
            </a:pPr>
            <a:endParaRPr lang="en-US"/>
          </a:p>
        </c:txPr>
        <c:crossAx val="822112"/>
        <c:crosses val="autoZero"/>
        <c:auto val="1"/>
        <c:lblAlgn val="ctr"/>
        <c:lblOffset val="100"/>
        <c:tickLblSkip val="12"/>
        <c:tickMarkSkip val="12"/>
        <c:noMultiLvlLbl val="0"/>
      </c:catAx>
      <c:valAx>
        <c:axId val="822112"/>
        <c:scaling>
          <c:orientation val="minMax"/>
          <c:max val="24"/>
          <c:min val="8"/>
        </c:scaling>
        <c:delete val="0"/>
        <c:axPos val="l"/>
        <c:majorGridlines>
          <c:spPr>
            <a:ln w="9525">
              <a:solidFill>
                <a:schemeClr val="tx1">
                  <a:lumMod val="15000"/>
                  <a:lumOff val="85000"/>
                </a:schemeClr>
              </a:solidFill>
            </a:ln>
          </c:spPr>
        </c:majorGridlines>
        <c:numFmt formatCode="0&quot;x&quot;" sourceLinked="0"/>
        <c:majorTickMark val="none"/>
        <c:minorTickMark val="none"/>
        <c:tickLblPos val="nextTo"/>
        <c:spPr>
          <a:noFill/>
          <a:ln w="12700">
            <a:solidFill>
              <a:srgbClr val="292934"/>
            </a:solidFill>
          </a:ln>
        </c:spPr>
        <c:txPr>
          <a:bodyPr/>
          <a:lstStyle/>
          <a:p>
            <a:pPr>
              <a:defRPr sz="900">
                <a:latin typeface="Calibri"/>
              </a:defRPr>
            </a:pPr>
            <a:endParaRPr lang="en-US"/>
          </a:p>
        </c:txPr>
        <c:crossAx val="822111"/>
        <c:crosses val="autoZero"/>
        <c:crossBetween val="between"/>
        <c:majorUnit val="4"/>
      </c:valAx>
      <c:spPr>
        <a:ln w="12700">
          <a:solidFill>
            <a:srgbClr val="292934"/>
          </a:solidFill>
        </a:ln>
      </c:spPr>
    </c:plotArea>
    <c:legend>
      <c:legendPos val="b"/>
      <c:overlay val="0"/>
      <c:spPr>
        <a:noFill/>
        <a:ln>
          <a:noFill/>
        </a:ln>
      </c:spPr>
      <c:txPr>
        <a:bodyPr/>
        <a:lstStyle/>
        <a:p>
          <a:pPr>
            <a:defRPr sz="750">
              <a:solidFill>
                <a:srgbClr val="292934"/>
              </a:solidFill>
              <a:latin typeface="Calibri"/>
            </a:defRPr>
          </a:pPr>
          <a:endParaRPr lang="en-US"/>
        </a:p>
      </c:txPr>
    </c:legend>
    <c:plotVisOnly val="1"/>
    <c:dispBlanksAs val="gap"/>
    <c:showDLblsOverMax val="1"/>
  </c:chart>
  <c:spPr>
    <a:solidFill>
      <a:srgbClr val="FFFFFF"/>
    </a:solidFill>
    <a:ln w="12700">
      <a:solidFill>
        <a:srgbClr val="292934"/>
      </a:solidFill>
    </a:ln>
  </c:spPr>
  <c:txPr>
    <a:bodyPr/>
    <a:lstStyle/>
    <a:p>
      <a:pPr>
        <a:defRPr sz="900" b="0">
          <a:latin typeface="Calibri"/>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strRef>
              <c:f>Sheet1!$B$1</c:f>
              <c:strCache>
                <c:ptCount val="1"/>
                <c:pt idx="0">
                  <c:v/>
                </c:pt>
              </c:strCache>
            </c:strRef>
          </c:tx>
          <c:spPr>
            <a:solidFill>
              <a:srgbClr val="9A9A9A"/>
            </a:solidFill>
            <a:ln>
              <a:noFill/>
            </a:ln>
          </c:spPr>
          <c:invertIfNegative val="1"/>
          <c:dPt>
            <c:idx val="2"/>
            <c:invertIfNegative val="1"/>
            <c:bubble3D val="0"/>
            <c:spPr>
              <a:solidFill>
                <a:srgbClr val="E8B93C"/>
              </a:solidFill>
              <a:ln>
                <a:noFill/>
              </a:ln>
            </c:spPr>
            <c:extLst>
              <c:ext xmlns:c16="http://schemas.microsoft.com/office/drawing/2014/chart" uri="{C3380CC4-5D6E-409C-BE32-E72D297353CC}">
                <c16:uniqueId val="{00000001-1F2B-4B28-979D-70D826507B36}"/>
              </c:ext>
            </c:extLst>
          </c:dPt>
          <c:dLbls>
            <c:numFmt formatCode="&quot;$&quot;#,##0.00"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16.34x</c:v>
                </c:pt>
                <c:pt idx="1">
                  <c:v>17.08x</c:v>
                </c:pt>
                <c:pt idx="2">
                  <c:v>17.55x (current)</c:v>
                </c:pt>
                <c:pt idx="3">
                  <c:v>18.11x</c:v>
                </c:pt>
              </c:strCache>
            </c:strRef>
          </c:cat>
          <c:val>
            <c:numRef>
              <c:f>Sheet1!$B$2:$B$5</c:f>
              <c:numCache>
                <c:formatCode>General</c:formatCode>
                <c:ptCount val="4"/>
                <c:pt idx="0">
                  <c:v>171.08</c:v>
                </c:pt>
                <c:pt idx="1">
                  <c:v>178.83</c:v>
                </c:pt>
                <c:pt idx="2">
                  <c:v>183.73</c:v>
                </c:pt>
                <c:pt idx="3">
                  <c:v>189.61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1F2B-4B28-979D-70D826507B36}"/>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0.24"/>
          <c:y val="0.17"/>
          <c:w val="0.52"/>
          <c:h val="0.7"/>
        </c:manualLayout>
      </c:layout>
      <c:radarChart>
        <c:radarStyle val="marker"/>
        <c:varyColors val="0"/>
        <c:ser>
          <c:idx val="0"/>
          <c:order val="0"/>
          <c:tx>
            <c:v>Score</c:v>
          </c:tx>
          <c:spPr>
            <a:ln w="19050" cap="rnd">
              <a:solidFill>
                <a:srgbClr val="E8B93C"/>
              </a:solidFill>
            </a:ln>
          </c:spPr>
          <c:marker>
            <c:symbol val="none"/>
          </c:marker>
          <c:cat>
            <c:strLit>
              <c:ptCount val="5"/>
              <c:pt idx="0">
                <c:v>New entrants</c:v>
              </c:pt>
              <c:pt idx="1">
                <c:v>Supplier power</c:v>
              </c:pt>
              <c:pt idx="2">
                <c:v>Buyer power</c:v>
              </c:pt>
              <c:pt idx="3">
                <c:v>Substitutes</c:v>
              </c:pt>
              <c:pt idx="4">
                <c:v>Rivalry</c:v>
              </c:pt>
            </c:strLit>
          </c:cat>
          <c:val>
            <c:numLit>
              <c:formatCode>0</c:formatCode>
              <c:ptCount val="5"/>
              <c:pt idx="0">
                <c:v>2</c:v>
              </c:pt>
              <c:pt idx="1">
                <c:v>3</c:v>
              </c:pt>
              <c:pt idx="2">
                <c:v>3</c:v>
              </c:pt>
              <c:pt idx="3">
                <c:v>2</c:v>
              </c:pt>
              <c:pt idx="4">
                <c:v>3</c:v>
              </c:pt>
            </c:numLit>
          </c:val>
          <c:extLst>
            <c:ext xmlns:c16="http://schemas.microsoft.com/office/drawing/2014/chart" uri="{C3380CC4-5D6E-409C-BE32-E72D297353CC}">
              <c16:uniqueId val="{00000000-77AF-4726-89FC-65652E485558}"/>
            </c:ext>
          </c:extLst>
        </c:ser>
        <c:dLbls>
          <c:showLegendKey val="0"/>
          <c:showVal val="0"/>
          <c:showCatName val="0"/>
          <c:showSerName val="0"/>
          <c:showPercent val="0"/>
          <c:showBubbleSize val="0"/>
        </c:dLbls>
        <c:axId val="501"/>
        <c:axId val="502"/>
      </c:radarChart>
      <c:catAx>
        <c:axId val="501"/>
        <c:scaling>
          <c:orientation val="minMax"/>
        </c:scaling>
        <c:delete val="0"/>
        <c:axPos val="b"/>
        <c:majorGridlines>
          <c:spPr>
            <a:ln w="6350">
              <a:solidFill>
                <a:srgbClr val="C9C9C9"/>
              </a:solidFill>
            </a:ln>
          </c:spPr>
        </c:majorGridlines>
        <c:numFmt formatCode="General" sourceLinked="0"/>
        <c:majorTickMark val="none"/>
        <c:minorTickMark val="none"/>
        <c:tickLblPos val="nextTo"/>
        <c:spPr>
          <a:ln w="6350">
            <a:solidFill>
              <a:srgbClr val="C9C9C9"/>
            </a:solidFill>
          </a:ln>
        </c:spPr>
        <c:txPr>
          <a:bodyPr/>
          <a:lstStyle/>
          <a:p>
            <a:pPr>
              <a:defRPr sz="1000">
                <a:solidFill>
                  <a:srgbClr val="292934"/>
                </a:solidFill>
                <a:latin typeface="Calibri"/>
                <a:cs typeface="Calibri"/>
              </a:defRPr>
            </a:pPr>
            <a:endParaRPr lang="en-US"/>
          </a:p>
        </c:txPr>
        <c:crossAx val="502"/>
        <c:crosses val="autoZero"/>
        <c:auto val="1"/>
        <c:lblAlgn val="ctr"/>
        <c:lblOffset val="100"/>
        <c:noMultiLvlLbl val="0"/>
      </c:catAx>
      <c:valAx>
        <c:axId val="502"/>
        <c:scaling>
          <c:orientation val="minMax"/>
          <c:max val="5"/>
          <c:min val="0"/>
        </c:scaling>
        <c:delete val="1"/>
        <c:axPos val="l"/>
        <c:majorGridlines>
          <c:spPr>
            <a:ln w="6350">
              <a:solidFill>
                <a:srgbClr val="C9C9C9"/>
              </a:solidFill>
            </a:ln>
          </c:spPr>
        </c:majorGridlines>
        <c:numFmt formatCode="0" sourceLinked="0"/>
        <c:majorTickMark val="none"/>
        <c:minorTickMark val="none"/>
        <c:tickLblPos val="nextTo"/>
        <c:crossAx val="501"/>
        <c:crosses val="autoZero"/>
        <c:crossBetween val="between"/>
        <c:majorUnit val="1"/>
      </c:valAx>
      <c:spPr>
        <a:noFill/>
        <a:ln>
          <a:noFill/>
        </a:ln>
      </c:spPr>
    </c:plotArea>
    <c:plotVisOnly val="1"/>
    <c:dispBlanksAs val="gap"/>
    <c:showDLblsOverMax val="1"/>
  </c:chart>
  <c:spPr>
    <a:noFill/>
    <a:ln>
      <a:noFill/>
    </a:ln>
  </c:spPr>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4"/>
            <c:invertIfNegative val="1"/>
            <c:bubble3D val="0"/>
            <c:spPr>
              <a:solidFill>
                <a:srgbClr val="E8B93C"/>
              </a:solidFill>
              <a:ln>
                <a:noFill/>
              </a:ln>
            </c:spPr>
            <c:extLst>
              <c:ext xmlns:c16="http://schemas.microsoft.com/office/drawing/2014/chart" uri="{C3380CC4-5D6E-409C-BE32-E72D297353CC}">
                <c16:uniqueId val="{00000001-D602-457F-90E8-201B7339CCAD}"/>
              </c:ext>
            </c:extLst>
          </c:dPt>
          <c:dLbls>
            <c:numFmt formatCode="&quot;$&quot;#,##0&quot;M&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2026</c:v>
              </c:pt>
              <c:pt idx="1">
                <c:v>2027</c:v>
              </c:pt>
              <c:pt idx="2">
                <c:v>2028</c:v>
              </c:pt>
              <c:pt idx="3">
                <c:v>2029</c:v>
              </c:pt>
              <c:pt idx="4">
                <c:v>2030</c:v>
              </c:pt>
              <c:pt idx="5">
                <c:v>After 2030</c:v>
              </c:pt>
            </c:strLit>
          </c:cat>
          <c:val>
            <c:numLit>
              <c:formatCode>General</c:formatCode>
              <c:ptCount val="6"/>
              <c:pt idx="0">
                <c:v>653</c:v>
              </c:pt>
              <c:pt idx="1">
                <c:v>855</c:v>
              </c:pt>
              <c:pt idx="2">
                <c:v>825</c:v>
              </c:pt>
              <c:pt idx="3">
                <c:v>907</c:v>
              </c:pt>
              <c:pt idx="4">
                <c:v>3660</c:v>
              </c:pt>
              <c:pt idx="5">
                <c:v>5605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D602-457F-90E8-201B7339CCAD}"/>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0"/>
            <c:invertIfNegative val="1"/>
            <c:bubble3D val="0"/>
            <c:spPr>
              <a:solidFill>
                <a:srgbClr val="E8B93C"/>
              </a:solidFill>
              <a:ln>
                <a:noFill/>
              </a:ln>
            </c:spPr>
            <c:extLst>
              <c:ext xmlns:c16="http://schemas.microsoft.com/office/drawing/2014/chart" uri="{C3380CC4-5D6E-409C-BE32-E72D297353CC}">
                <c16:uniqueId val="{00000001-8FE0-4D92-ADA2-6AE5B04E63B1}"/>
              </c:ext>
            </c:extLst>
          </c:dPt>
          <c:dLbls>
            <c:numFmt formatCode="0.00&quot;%&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2026</c:v>
              </c:pt>
              <c:pt idx="1">
                <c:v>2027</c:v>
              </c:pt>
              <c:pt idx="2">
                <c:v>2028</c:v>
              </c:pt>
              <c:pt idx="3">
                <c:v>2029</c:v>
              </c:pt>
              <c:pt idx="4">
                <c:v>2030</c:v>
              </c:pt>
            </c:strLit>
          </c:cat>
          <c:val>
            <c:numLit>
              <c:formatCode>General</c:formatCode>
              <c:ptCount val="5"/>
              <c:pt idx="0">
                <c:v>3.04</c:v>
              </c:pt>
              <c:pt idx="1">
                <c:v>4.8499999999999996</c:v>
              </c:pt>
              <c:pt idx="2">
                <c:v>3.85</c:v>
              </c:pt>
              <c:pt idx="3">
                <c:v>5.03</c:v>
              </c:pt>
              <c:pt idx="4">
                <c:v>3.99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8FE0-4D92-ADA2-6AE5B04E63B1}"/>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0"/>
            <c:invertIfNegative val="1"/>
            <c:bubble3D val="0"/>
            <c:spPr>
              <a:solidFill>
                <a:srgbClr val="E8B93C"/>
              </a:solidFill>
              <a:ln>
                <a:noFill/>
              </a:ln>
            </c:spPr>
            <c:extLst>
              <c:ext xmlns:c16="http://schemas.microsoft.com/office/drawing/2014/chart" uri="{C3380CC4-5D6E-409C-BE32-E72D297353CC}">
                <c16:uniqueId val="{00000001-E0D8-4FF9-BF6E-296DC3E301F8}"/>
              </c:ext>
            </c:extLst>
          </c:dPt>
          <c:dLbls>
            <c:numFmt formatCode="&quot;$&quot;#,##0&quot;M&quot;" sourceLinked="0"/>
            <c:spPr>
              <a:noFill/>
              <a:ln>
                <a:noFill/>
              </a:ln>
              <a:effectLst/>
            </c:spPr>
            <c:txPr>
              <a:bodyPr wrap="none"/>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2"/>
              <c:pt idx="0">
                <c:v>GABX term loan</c:v>
              </c:pt>
              <c:pt idx="1">
                <c:v>Other floating</c:v>
              </c:pt>
            </c:strLit>
          </c:cat>
          <c:val>
            <c:numLit>
              <c:formatCode>General</c:formatCode>
              <c:ptCount val="2"/>
              <c:pt idx="0">
                <c:v>2959</c:v>
              </c:pt>
              <c:pt idx="1">
                <c:v>872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E0D8-4FF9-BF6E-296DC3E301F8}"/>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1"/>
            <c:invertIfNegative val="1"/>
            <c:bubble3D val="0"/>
            <c:spPr>
              <a:solidFill>
                <a:srgbClr val="E8B93C"/>
              </a:solidFill>
              <a:ln>
                <a:noFill/>
              </a:ln>
            </c:spPr>
            <c:extLst>
              <c:ext xmlns:c16="http://schemas.microsoft.com/office/drawing/2014/chart" uri="{C3380CC4-5D6E-409C-BE32-E72D297353CC}">
                <c16:uniqueId val="{00000001-78EB-4C4B-81BB-31478AF9FE9A}"/>
              </c:ext>
            </c:extLst>
          </c:dPt>
          <c:dLbls>
            <c:numFmt formatCode="0.0&quot;%&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FY2025</c:v>
              </c:pt>
              <c:pt idx="1">
                <c:v>Q2 2026</c:v>
              </c:pt>
            </c:strLit>
          </c:cat>
          <c:val>
            <c:numLit>
              <c:formatCode>General</c:formatCode>
              <c:ptCount val="2"/>
              <c:pt idx="0">
                <c:v>22</c:v>
              </c:pt>
              <c:pt idx="1">
                <c:v>16.8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78EB-4C4B-81BB-31478AF9FE9A}"/>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7.0000000000000007E-2"/>
          <c:y val="0.05"/>
          <c:w val="0.89"/>
          <c:h val="0.8"/>
        </c:manualLayout>
      </c:layout>
      <c:scatterChart>
        <c:scatterStyle val="lineMarker"/>
        <c:varyColors val="0"/>
        <c:ser>
          <c:idx val="0"/>
          <c:order val="0"/>
          <c:tx>
            <c:v>1</c:v>
          </c:tx>
          <c:spPr>
            <a:ln w="19050">
              <a:noFill/>
            </a:ln>
          </c:spPr>
          <c:marker>
            <c:symbol val="circle"/>
            <c:size val="17"/>
            <c:spPr>
              <a:solidFill>
                <a:srgbClr val="000000"/>
              </a:solidFill>
              <a:ln>
                <a:noFill/>
              </a:ln>
            </c:spPr>
          </c:marker>
          <c:dLbls>
            <c:spPr>
              <a:noFill/>
              <a:ln>
                <a:noFill/>
              </a:ln>
            </c:spPr>
            <c:txPr>
              <a:bodyPr/>
              <a:lstStyle/>
              <a:p>
                <a:pPr>
                  <a:defRPr sz="900" b="1">
                    <a:solidFill>
                      <a:srgbClr val="FFFFFF"/>
                    </a:solidFill>
                    <a:latin typeface="Calibri"/>
                    <a:cs typeface="Calibri"/>
                  </a:defRPr>
                </a:pPr>
                <a:endParaRPr lang="en-US"/>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Lit>
              <c:formatCode>General</c:formatCode>
              <c:ptCount val="1"/>
              <c:pt idx="0">
                <c:v>60</c:v>
              </c:pt>
            </c:numLit>
          </c:xVal>
          <c:yVal>
            <c:numLit>
              <c:formatCode>General</c:formatCode>
              <c:ptCount val="1"/>
              <c:pt idx="0">
                <c:v>85</c:v>
              </c:pt>
            </c:numLit>
          </c:yVal>
          <c:smooth val="0"/>
          <c:extLst>
            <c:ext xmlns:c16="http://schemas.microsoft.com/office/drawing/2014/chart" uri="{C3380CC4-5D6E-409C-BE32-E72D297353CC}">
              <c16:uniqueId val="{00000000-BB49-4DF0-8353-9699361948EA}"/>
            </c:ext>
          </c:extLst>
        </c:ser>
        <c:ser>
          <c:idx val="1"/>
          <c:order val="1"/>
          <c:tx>
            <c:v>2</c:v>
          </c:tx>
          <c:spPr>
            <a:ln w="19050">
              <a:noFill/>
            </a:ln>
          </c:spPr>
          <c:marker>
            <c:symbol val="circle"/>
            <c:size val="17"/>
            <c:spPr>
              <a:solidFill>
                <a:srgbClr val="000000"/>
              </a:solidFill>
              <a:ln>
                <a:noFill/>
              </a:ln>
            </c:spPr>
          </c:marker>
          <c:dLbls>
            <c:spPr>
              <a:noFill/>
              <a:ln>
                <a:noFill/>
              </a:ln>
            </c:spPr>
            <c:txPr>
              <a:bodyPr/>
              <a:lstStyle/>
              <a:p>
                <a:pPr>
                  <a:defRPr sz="900" b="1">
                    <a:solidFill>
                      <a:srgbClr val="FFFFFF"/>
                    </a:solidFill>
                    <a:latin typeface="Calibri"/>
                    <a:cs typeface="Calibri"/>
                  </a:defRPr>
                </a:pPr>
                <a:endParaRPr lang="en-US"/>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Lit>
              <c:formatCode>General</c:formatCode>
              <c:ptCount val="1"/>
              <c:pt idx="0">
                <c:v>70</c:v>
              </c:pt>
            </c:numLit>
          </c:xVal>
          <c:yVal>
            <c:numLit>
              <c:formatCode>General</c:formatCode>
              <c:ptCount val="1"/>
              <c:pt idx="0">
                <c:v>50</c:v>
              </c:pt>
            </c:numLit>
          </c:yVal>
          <c:smooth val="0"/>
          <c:extLst>
            <c:ext xmlns:c16="http://schemas.microsoft.com/office/drawing/2014/chart" uri="{C3380CC4-5D6E-409C-BE32-E72D297353CC}">
              <c16:uniqueId val="{00000001-BB49-4DF0-8353-9699361948EA}"/>
            </c:ext>
          </c:extLst>
        </c:ser>
        <c:ser>
          <c:idx val="2"/>
          <c:order val="2"/>
          <c:tx>
            <c:v>3</c:v>
          </c:tx>
          <c:spPr>
            <a:ln w="19050">
              <a:noFill/>
            </a:ln>
          </c:spPr>
          <c:marker>
            <c:symbol val="circle"/>
            <c:size val="17"/>
            <c:spPr>
              <a:solidFill>
                <a:srgbClr val="000000"/>
              </a:solidFill>
              <a:ln>
                <a:noFill/>
              </a:ln>
            </c:spPr>
          </c:marker>
          <c:dLbls>
            <c:spPr>
              <a:noFill/>
              <a:ln>
                <a:noFill/>
              </a:ln>
            </c:spPr>
            <c:txPr>
              <a:bodyPr/>
              <a:lstStyle/>
              <a:p>
                <a:pPr>
                  <a:defRPr sz="900" b="1">
                    <a:solidFill>
                      <a:srgbClr val="FFFFFF"/>
                    </a:solidFill>
                    <a:latin typeface="Calibri"/>
                    <a:cs typeface="Calibri"/>
                  </a:defRPr>
                </a:pPr>
                <a:endParaRPr lang="en-US"/>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Lit>
              <c:formatCode>General</c:formatCode>
              <c:ptCount val="1"/>
              <c:pt idx="0">
                <c:v>80</c:v>
              </c:pt>
            </c:numLit>
          </c:xVal>
          <c:yVal>
            <c:numLit>
              <c:formatCode>General</c:formatCode>
              <c:ptCount val="1"/>
              <c:pt idx="0">
                <c:v>40</c:v>
              </c:pt>
            </c:numLit>
          </c:yVal>
          <c:smooth val="0"/>
          <c:extLst>
            <c:ext xmlns:c16="http://schemas.microsoft.com/office/drawing/2014/chart" uri="{C3380CC4-5D6E-409C-BE32-E72D297353CC}">
              <c16:uniqueId val="{00000002-BB49-4DF0-8353-9699361948EA}"/>
            </c:ext>
          </c:extLst>
        </c:ser>
        <c:ser>
          <c:idx val="3"/>
          <c:order val="3"/>
          <c:tx>
            <c:v>4</c:v>
          </c:tx>
          <c:spPr>
            <a:ln w="19050">
              <a:noFill/>
            </a:ln>
          </c:spPr>
          <c:marker>
            <c:symbol val="circle"/>
            <c:size val="17"/>
            <c:spPr>
              <a:solidFill>
                <a:srgbClr val="000000"/>
              </a:solidFill>
              <a:ln>
                <a:noFill/>
              </a:ln>
            </c:spPr>
          </c:marker>
          <c:dLbls>
            <c:spPr>
              <a:noFill/>
              <a:ln>
                <a:noFill/>
              </a:ln>
            </c:spPr>
            <c:txPr>
              <a:bodyPr/>
              <a:lstStyle/>
              <a:p>
                <a:pPr>
                  <a:defRPr sz="900" b="1">
                    <a:solidFill>
                      <a:srgbClr val="FFFFFF"/>
                    </a:solidFill>
                    <a:latin typeface="Calibri"/>
                    <a:cs typeface="Calibri"/>
                  </a:defRPr>
                </a:pPr>
                <a:endParaRPr lang="en-US"/>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Lit>
              <c:formatCode>General</c:formatCode>
              <c:ptCount val="1"/>
              <c:pt idx="0">
                <c:v>30</c:v>
              </c:pt>
            </c:numLit>
          </c:xVal>
          <c:yVal>
            <c:numLit>
              <c:formatCode>General</c:formatCode>
              <c:ptCount val="1"/>
              <c:pt idx="0">
                <c:v>95</c:v>
              </c:pt>
            </c:numLit>
          </c:yVal>
          <c:smooth val="0"/>
          <c:extLst>
            <c:ext xmlns:c16="http://schemas.microsoft.com/office/drawing/2014/chart" uri="{C3380CC4-5D6E-409C-BE32-E72D297353CC}">
              <c16:uniqueId val="{00000003-BB49-4DF0-8353-9699361948EA}"/>
            </c:ext>
          </c:extLst>
        </c:ser>
        <c:ser>
          <c:idx val="4"/>
          <c:order val="4"/>
          <c:tx>
            <c:v>5</c:v>
          </c:tx>
          <c:spPr>
            <a:ln w="19050">
              <a:noFill/>
            </a:ln>
          </c:spPr>
          <c:marker>
            <c:symbol val="circle"/>
            <c:size val="17"/>
            <c:spPr>
              <a:solidFill>
                <a:srgbClr val="000000"/>
              </a:solidFill>
              <a:ln>
                <a:noFill/>
              </a:ln>
            </c:spPr>
          </c:marker>
          <c:dLbls>
            <c:spPr>
              <a:noFill/>
              <a:ln>
                <a:noFill/>
              </a:ln>
            </c:spPr>
            <c:txPr>
              <a:bodyPr/>
              <a:lstStyle/>
              <a:p>
                <a:pPr>
                  <a:defRPr sz="900" b="1">
                    <a:solidFill>
                      <a:srgbClr val="FFFFFF"/>
                    </a:solidFill>
                    <a:latin typeface="Calibri"/>
                    <a:cs typeface="Calibri"/>
                  </a:defRPr>
                </a:pPr>
                <a:endParaRPr lang="en-US"/>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Lit>
              <c:formatCode>General</c:formatCode>
              <c:ptCount val="1"/>
              <c:pt idx="0">
                <c:v>40</c:v>
              </c:pt>
            </c:numLit>
          </c:xVal>
          <c:yVal>
            <c:numLit>
              <c:formatCode>General</c:formatCode>
              <c:ptCount val="1"/>
              <c:pt idx="0">
                <c:v>35</c:v>
              </c:pt>
            </c:numLit>
          </c:yVal>
          <c:smooth val="0"/>
          <c:extLst>
            <c:ext xmlns:c16="http://schemas.microsoft.com/office/drawing/2014/chart" uri="{C3380CC4-5D6E-409C-BE32-E72D297353CC}">
              <c16:uniqueId val="{00000004-BB49-4DF0-8353-9699361948EA}"/>
            </c:ext>
          </c:extLst>
        </c:ser>
        <c:ser>
          <c:idx val="5"/>
          <c:order val="5"/>
          <c:tx>
            <c:v>6</c:v>
          </c:tx>
          <c:spPr>
            <a:ln w="19050">
              <a:noFill/>
            </a:ln>
          </c:spPr>
          <c:marker>
            <c:symbol val="circle"/>
            <c:size val="17"/>
            <c:spPr>
              <a:solidFill>
                <a:srgbClr val="000000"/>
              </a:solidFill>
              <a:ln>
                <a:noFill/>
              </a:ln>
            </c:spPr>
          </c:marker>
          <c:dLbls>
            <c:spPr>
              <a:noFill/>
              <a:ln>
                <a:noFill/>
              </a:ln>
            </c:spPr>
            <c:txPr>
              <a:bodyPr/>
              <a:lstStyle/>
              <a:p>
                <a:pPr>
                  <a:defRPr sz="900" b="1">
                    <a:solidFill>
                      <a:srgbClr val="FFFFFF"/>
                    </a:solidFill>
                    <a:latin typeface="Calibri"/>
                    <a:cs typeface="Calibri"/>
                  </a:defRPr>
                </a:pPr>
                <a:endParaRPr lang="en-US"/>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Lit>
              <c:formatCode>General</c:formatCode>
              <c:ptCount val="1"/>
              <c:pt idx="0">
                <c:v>55</c:v>
              </c:pt>
            </c:numLit>
          </c:xVal>
          <c:yVal>
            <c:numLit>
              <c:formatCode>General</c:formatCode>
              <c:ptCount val="1"/>
              <c:pt idx="0">
                <c:v>25</c:v>
              </c:pt>
            </c:numLit>
          </c:yVal>
          <c:smooth val="0"/>
          <c:extLst>
            <c:ext xmlns:c16="http://schemas.microsoft.com/office/drawing/2014/chart" uri="{C3380CC4-5D6E-409C-BE32-E72D297353CC}">
              <c16:uniqueId val="{00000005-BB49-4DF0-8353-9699361948EA}"/>
            </c:ext>
          </c:extLst>
        </c:ser>
        <c:ser>
          <c:idx val="6"/>
          <c:order val="6"/>
          <c:tx>
            <c:v>7</c:v>
          </c:tx>
          <c:spPr>
            <a:ln w="19050">
              <a:noFill/>
            </a:ln>
          </c:spPr>
          <c:marker>
            <c:symbol val="circle"/>
            <c:size val="17"/>
            <c:spPr>
              <a:solidFill>
                <a:srgbClr val="000000"/>
              </a:solidFill>
              <a:ln>
                <a:noFill/>
              </a:ln>
            </c:spPr>
          </c:marker>
          <c:dLbls>
            <c:spPr>
              <a:noFill/>
              <a:ln>
                <a:noFill/>
              </a:ln>
            </c:spPr>
            <c:txPr>
              <a:bodyPr/>
              <a:lstStyle/>
              <a:p>
                <a:pPr>
                  <a:defRPr sz="900" b="1">
                    <a:solidFill>
                      <a:srgbClr val="FFFFFF"/>
                    </a:solidFill>
                    <a:latin typeface="Calibri"/>
                    <a:cs typeface="Calibri"/>
                  </a:defRPr>
                </a:pPr>
                <a:endParaRPr lang="en-US"/>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Lit>
              <c:formatCode>General</c:formatCode>
              <c:ptCount val="1"/>
              <c:pt idx="0">
                <c:v>50</c:v>
              </c:pt>
            </c:numLit>
          </c:xVal>
          <c:yVal>
            <c:numLit>
              <c:formatCode>General</c:formatCode>
              <c:ptCount val="1"/>
              <c:pt idx="0">
                <c:v>25</c:v>
              </c:pt>
            </c:numLit>
          </c:yVal>
          <c:smooth val="0"/>
          <c:extLst>
            <c:ext xmlns:c16="http://schemas.microsoft.com/office/drawing/2014/chart" uri="{C3380CC4-5D6E-409C-BE32-E72D297353CC}">
              <c16:uniqueId val="{00000006-BB49-4DF0-8353-9699361948EA}"/>
            </c:ext>
          </c:extLst>
        </c:ser>
        <c:ser>
          <c:idx val="7"/>
          <c:order val="7"/>
          <c:tx>
            <c:v>8</c:v>
          </c:tx>
          <c:spPr>
            <a:ln w="19050">
              <a:noFill/>
            </a:ln>
          </c:spPr>
          <c:marker>
            <c:symbol val="circle"/>
            <c:size val="17"/>
            <c:spPr>
              <a:solidFill>
                <a:srgbClr val="000000"/>
              </a:solidFill>
              <a:ln>
                <a:noFill/>
              </a:ln>
            </c:spPr>
          </c:marker>
          <c:dLbls>
            <c:spPr>
              <a:noFill/>
              <a:ln>
                <a:noFill/>
              </a:ln>
            </c:spPr>
            <c:txPr>
              <a:bodyPr/>
              <a:lstStyle/>
              <a:p>
                <a:pPr>
                  <a:defRPr sz="900" b="1">
                    <a:solidFill>
                      <a:srgbClr val="FFFFFF"/>
                    </a:solidFill>
                    <a:latin typeface="Calibri"/>
                    <a:cs typeface="Calibri"/>
                  </a:defRPr>
                </a:pPr>
                <a:endParaRPr lang="en-US"/>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Lit>
              <c:formatCode>General</c:formatCode>
              <c:ptCount val="1"/>
              <c:pt idx="0">
                <c:v>90</c:v>
              </c:pt>
            </c:numLit>
          </c:xVal>
          <c:yVal>
            <c:numLit>
              <c:formatCode>General</c:formatCode>
              <c:ptCount val="1"/>
              <c:pt idx="0">
                <c:v>10</c:v>
              </c:pt>
            </c:numLit>
          </c:yVal>
          <c:smooth val="0"/>
          <c:extLst>
            <c:ext xmlns:c16="http://schemas.microsoft.com/office/drawing/2014/chart" uri="{C3380CC4-5D6E-409C-BE32-E72D297353CC}">
              <c16:uniqueId val="{00000007-BB49-4DF0-8353-9699361948EA}"/>
            </c:ext>
          </c:extLst>
        </c:ser>
        <c:dLbls>
          <c:showLegendKey val="0"/>
          <c:showVal val="0"/>
          <c:showCatName val="0"/>
          <c:showSerName val="0"/>
          <c:showPercent val="0"/>
          <c:showBubbleSize val="0"/>
        </c:dLbls>
        <c:axId val="601"/>
        <c:axId val="602"/>
      </c:scatterChart>
      <c:valAx>
        <c:axId val="601"/>
        <c:scaling>
          <c:orientation val="minMax"/>
          <c:max val="100"/>
          <c:min val="0"/>
        </c:scaling>
        <c:delete val="0"/>
        <c:axPos val="b"/>
        <c:title>
          <c:tx>
            <c:rich>
              <a:bodyPr/>
              <a:lstStyle/>
              <a:p>
                <a:pPr>
                  <a:defRPr sz="1000" b="0">
                    <a:solidFill>
                      <a:srgbClr val="292934"/>
                    </a:solidFill>
                    <a:latin typeface="Calibri"/>
                  </a:defRPr>
                </a:pPr>
                <a:r>
                  <a:rPr lang="en-US" sz="1000" b="0">
                    <a:solidFill>
                      <a:srgbClr val="292934"/>
                    </a:solidFill>
                    <a:latin typeface="Calibri"/>
                  </a:rPr>
                  <a:t>Effect on Business</a:t>
                </a:r>
              </a:p>
            </c:rich>
          </c:tx>
          <c:overlay val="0"/>
        </c:title>
        <c:numFmt formatCode="0" sourceLinked="0"/>
        <c:majorTickMark val="none"/>
        <c:minorTickMark val="none"/>
        <c:tickLblPos val="none"/>
        <c:spPr>
          <a:ln w="9525">
            <a:solidFill>
              <a:srgbClr val="000000"/>
            </a:solidFill>
          </a:ln>
        </c:spPr>
        <c:txPr>
          <a:bodyPr/>
          <a:lstStyle/>
          <a:p>
            <a:pPr>
              <a:defRPr sz="900">
                <a:solidFill>
                  <a:srgbClr val="292934"/>
                </a:solidFill>
                <a:latin typeface="Calibri"/>
                <a:cs typeface="Calibri"/>
              </a:defRPr>
            </a:pPr>
            <a:endParaRPr lang="en-US"/>
          </a:p>
        </c:txPr>
        <c:crossAx val="602"/>
        <c:crosses val="autoZero"/>
        <c:crossBetween val="midCat"/>
        <c:majorUnit val="25"/>
      </c:valAx>
      <c:valAx>
        <c:axId val="602"/>
        <c:scaling>
          <c:orientation val="minMax"/>
          <c:max val="100"/>
          <c:min val="0"/>
        </c:scaling>
        <c:delete val="0"/>
        <c:axPos val="l"/>
        <c:title>
          <c:tx>
            <c:rich>
              <a:bodyPr/>
              <a:lstStyle/>
              <a:p>
                <a:pPr>
                  <a:defRPr sz="1000" b="0">
                    <a:solidFill>
                      <a:srgbClr val="292934"/>
                    </a:solidFill>
                    <a:latin typeface="Calibri"/>
                  </a:defRPr>
                </a:pPr>
                <a:r>
                  <a:rPr lang="en-US" sz="1000" b="0">
                    <a:solidFill>
                      <a:srgbClr val="292934"/>
                    </a:solidFill>
                    <a:latin typeface="Calibri"/>
                  </a:rPr>
                  <a:t>Probability</a:t>
                </a:r>
              </a:p>
            </c:rich>
          </c:tx>
          <c:overlay val="0"/>
        </c:title>
        <c:numFmt formatCode="0" sourceLinked="0"/>
        <c:majorTickMark val="none"/>
        <c:minorTickMark val="none"/>
        <c:tickLblPos val="none"/>
        <c:spPr>
          <a:ln w="9525">
            <a:solidFill>
              <a:srgbClr val="000000"/>
            </a:solidFill>
          </a:ln>
        </c:spPr>
        <c:txPr>
          <a:bodyPr/>
          <a:lstStyle/>
          <a:p>
            <a:pPr>
              <a:defRPr sz="900">
                <a:solidFill>
                  <a:srgbClr val="292934"/>
                </a:solidFill>
                <a:latin typeface="Calibri"/>
                <a:cs typeface="Calibri"/>
              </a:defRPr>
            </a:pPr>
            <a:endParaRPr lang="en-US"/>
          </a:p>
        </c:txPr>
        <c:crossAx val="601"/>
        <c:crosses val="autoZero"/>
        <c:crossBetween val="midCat"/>
        <c:majorUnit val="25"/>
      </c:valAx>
      <c:spPr>
        <a:gradFill rotWithShape="1">
          <a:gsLst>
            <a:gs pos="0">
              <a:srgbClr val="5DBB63"/>
            </a:gs>
            <a:gs pos="50000">
              <a:srgbClr val="F2C14E"/>
            </a:gs>
            <a:gs pos="100000">
              <a:srgbClr val="E03C31"/>
            </a:gs>
          </a:gsLst>
          <a:lin ang="18900000" scaled="0"/>
        </a:gradFill>
        <a:ln>
          <a:noFill/>
        </a:ln>
      </c:spPr>
    </c:plotArea>
    <c:plotVisOnly val="1"/>
    <c:dispBlanksAs val="gap"/>
    <c:showDLblsOverMax val="1"/>
  </c:chart>
  <c:spPr>
    <a:solidFill>
      <a:srgbClr val="FFFFFF"/>
    </a:solidFill>
    <a:ln w="9525">
      <a:solidFill>
        <a:srgbClr val="000000"/>
      </a:solidFill>
    </a:ln>
  </c:spPr>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7469838342152657E-2"/>
          <c:y val="4.0160642570281124E-2"/>
          <c:w val="0.80632885562778422"/>
          <c:h val="0.72239720034995625"/>
        </c:manualLayout>
      </c:layout>
      <c:barChart>
        <c:barDir val="col"/>
        <c:grouping val="stacked"/>
        <c:varyColors val="0"/>
        <c:ser>
          <c:idx val="0"/>
          <c:order val="0"/>
          <c:tx>
            <c:strRef>
              <c:f>'Volume to Price'!$C$4</c:f>
              <c:strCache>
                <c:ptCount val="1"/>
                <c:pt idx="0">
                  <c:v>Volume</c:v>
                </c:pt>
              </c:strCache>
            </c:strRef>
          </c:tx>
          <c:spPr>
            <a:solidFill>
              <a:srgbClr val="F2C755"/>
            </a:solidFill>
            <a:ln w="0">
              <a:noFill/>
            </a:ln>
            <a:effectLst/>
          </c:spPr>
          <c:invertIfNegative val="0"/>
          <c:cat>
            <c:numRef>
              <c:f>'Volume to Price'!$B$5:$B$68</c:f>
              <c:numCache>
                <c:formatCode>m/d/yyyy</c:formatCode>
                <c:ptCount val="64"/>
                <c:pt idx="0">
                  <c:v>45849</c:v>
                </c:pt>
                <c:pt idx="1">
                  <c:v>45856</c:v>
                </c:pt>
                <c:pt idx="2">
                  <c:v>45863</c:v>
                </c:pt>
                <c:pt idx="3">
                  <c:v>45870</c:v>
                </c:pt>
                <c:pt idx="4">
                  <c:v>45877</c:v>
                </c:pt>
                <c:pt idx="5">
                  <c:v>45884</c:v>
                </c:pt>
                <c:pt idx="6">
                  <c:v>45891</c:v>
                </c:pt>
                <c:pt idx="7">
                  <c:v>45898</c:v>
                </c:pt>
                <c:pt idx="8">
                  <c:v>45905</c:v>
                </c:pt>
                <c:pt idx="9">
                  <c:v>45912</c:v>
                </c:pt>
                <c:pt idx="10">
                  <c:v>45919</c:v>
                </c:pt>
                <c:pt idx="11">
                  <c:v>45926</c:v>
                </c:pt>
                <c:pt idx="12">
                  <c:v>45933</c:v>
                </c:pt>
                <c:pt idx="13">
                  <c:v>45940</c:v>
                </c:pt>
                <c:pt idx="14">
                  <c:v>45947</c:v>
                </c:pt>
                <c:pt idx="15">
                  <c:v>45954</c:v>
                </c:pt>
                <c:pt idx="16">
                  <c:v>45961</c:v>
                </c:pt>
                <c:pt idx="17">
                  <c:v>45968</c:v>
                </c:pt>
                <c:pt idx="18">
                  <c:v>45975</c:v>
                </c:pt>
                <c:pt idx="19">
                  <c:v>45982</c:v>
                </c:pt>
                <c:pt idx="20">
                  <c:v>45989</c:v>
                </c:pt>
                <c:pt idx="21">
                  <c:v>45996</c:v>
                </c:pt>
                <c:pt idx="22">
                  <c:v>46003</c:v>
                </c:pt>
                <c:pt idx="23">
                  <c:v>46010</c:v>
                </c:pt>
                <c:pt idx="24">
                  <c:v>46017</c:v>
                </c:pt>
                <c:pt idx="25">
                  <c:v>46024</c:v>
                </c:pt>
                <c:pt idx="26">
                  <c:v>46031</c:v>
                </c:pt>
                <c:pt idx="27">
                  <c:v>46038</c:v>
                </c:pt>
                <c:pt idx="28">
                  <c:v>46045</c:v>
                </c:pt>
                <c:pt idx="29">
                  <c:v>46052</c:v>
                </c:pt>
                <c:pt idx="30">
                  <c:v>46059</c:v>
                </c:pt>
                <c:pt idx="31">
                  <c:v>46066</c:v>
                </c:pt>
                <c:pt idx="32">
                  <c:v>46073</c:v>
                </c:pt>
                <c:pt idx="33">
                  <c:v>46080</c:v>
                </c:pt>
                <c:pt idx="34">
                  <c:v>46087</c:v>
                </c:pt>
                <c:pt idx="35">
                  <c:v>46094</c:v>
                </c:pt>
                <c:pt idx="36">
                  <c:v>46101</c:v>
                </c:pt>
                <c:pt idx="37">
                  <c:v>46108</c:v>
                </c:pt>
                <c:pt idx="38">
                  <c:v>46115</c:v>
                </c:pt>
                <c:pt idx="39">
                  <c:v>46122</c:v>
                </c:pt>
                <c:pt idx="40">
                  <c:v>46129</c:v>
                </c:pt>
                <c:pt idx="41">
                  <c:v>46136</c:v>
                </c:pt>
                <c:pt idx="42">
                  <c:v>46143</c:v>
                </c:pt>
                <c:pt idx="43">
                  <c:v>46150</c:v>
                </c:pt>
                <c:pt idx="44">
                  <c:v>46157</c:v>
                </c:pt>
                <c:pt idx="45">
                  <c:v>46164</c:v>
                </c:pt>
                <c:pt idx="46">
                  <c:v>46171</c:v>
                </c:pt>
                <c:pt idx="47">
                  <c:v>46178</c:v>
                </c:pt>
                <c:pt idx="48">
                  <c:v>46185</c:v>
                </c:pt>
                <c:pt idx="49">
                  <c:v>46192</c:v>
                </c:pt>
                <c:pt idx="50">
                  <c:v>46199</c:v>
                </c:pt>
                <c:pt idx="51">
                  <c:v>46206</c:v>
                </c:pt>
                <c:pt idx="52">
                  <c:v>46213</c:v>
                </c:pt>
                <c:pt idx="53">
                  <c:v>46220</c:v>
                </c:pt>
                <c:pt idx="54">
                  <c:v>46227</c:v>
                </c:pt>
                <c:pt idx="55">
                  <c:v>46234</c:v>
                </c:pt>
                <c:pt idx="56">
                  <c:v>46241</c:v>
                </c:pt>
                <c:pt idx="57">
                  <c:v>46248</c:v>
                </c:pt>
                <c:pt idx="58">
                  <c:v>46255</c:v>
                </c:pt>
                <c:pt idx="59">
                  <c:v>46262</c:v>
                </c:pt>
                <c:pt idx="60">
                  <c:v>46269</c:v>
                </c:pt>
                <c:pt idx="61">
                  <c:v>46276</c:v>
                </c:pt>
                <c:pt idx="62">
                  <c:v>46283</c:v>
                </c:pt>
                <c:pt idx="63">
                  <c:v>46286</c:v>
                </c:pt>
              </c:numCache>
            </c:numRef>
          </c:cat>
          <c:val>
            <c:numRef>
              <c:f>'Volume to Price'!$C$5:$C$68</c:f>
              <c:numCache>
                <c:formatCode>General</c:formatCode>
                <c:ptCount val="64"/>
                <c:pt idx="0">
                  <c:v>129965</c:v>
                </c:pt>
                <c:pt idx="1">
                  <c:v>758593</c:v>
                </c:pt>
                <c:pt idx="2">
                  <c:v>837779</c:v>
                </c:pt>
                <c:pt idx="3">
                  <c:v>1293578</c:v>
                </c:pt>
                <c:pt idx="4">
                  <c:v>617652</c:v>
                </c:pt>
                <c:pt idx="5">
                  <c:v>866627</c:v>
                </c:pt>
                <c:pt idx="6">
                  <c:v>694761</c:v>
                </c:pt>
                <c:pt idx="7">
                  <c:v>957581</c:v>
                </c:pt>
                <c:pt idx="8">
                  <c:v>826700</c:v>
                </c:pt>
                <c:pt idx="9">
                  <c:v>892670</c:v>
                </c:pt>
                <c:pt idx="10">
                  <c:v>1543043</c:v>
                </c:pt>
                <c:pt idx="11">
                  <c:v>1059194</c:v>
                </c:pt>
                <c:pt idx="12">
                  <c:v>749652</c:v>
                </c:pt>
                <c:pt idx="13">
                  <c:v>618848</c:v>
                </c:pt>
                <c:pt idx="14">
                  <c:v>724132</c:v>
                </c:pt>
                <c:pt idx="15">
                  <c:v>1179902</c:v>
                </c:pt>
                <c:pt idx="16">
                  <c:v>900255</c:v>
                </c:pt>
                <c:pt idx="17">
                  <c:v>1167343</c:v>
                </c:pt>
                <c:pt idx="18">
                  <c:v>804877</c:v>
                </c:pt>
                <c:pt idx="19">
                  <c:v>889478</c:v>
                </c:pt>
                <c:pt idx="20">
                  <c:v>812590</c:v>
                </c:pt>
                <c:pt idx="21">
                  <c:v>785954</c:v>
                </c:pt>
                <c:pt idx="22">
                  <c:v>833670</c:v>
                </c:pt>
                <c:pt idx="23">
                  <c:v>1151083</c:v>
                </c:pt>
                <c:pt idx="24">
                  <c:v>440196</c:v>
                </c:pt>
                <c:pt idx="25">
                  <c:v>604123</c:v>
                </c:pt>
                <c:pt idx="26">
                  <c:v>680684</c:v>
                </c:pt>
                <c:pt idx="27">
                  <c:v>686246</c:v>
                </c:pt>
                <c:pt idx="28">
                  <c:v>1167297</c:v>
                </c:pt>
                <c:pt idx="29">
                  <c:v>1233137</c:v>
                </c:pt>
                <c:pt idx="30">
                  <c:v>991541</c:v>
                </c:pt>
                <c:pt idx="31">
                  <c:v>725172</c:v>
                </c:pt>
                <c:pt idx="32">
                  <c:v>1458585</c:v>
                </c:pt>
                <c:pt idx="33">
                  <c:v>1154241</c:v>
                </c:pt>
                <c:pt idx="34">
                  <c:v>910879</c:v>
                </c:pt>
                <c:pt idx="35">
                  <c:v>844989</c:v>
                </c:pt>
                <c:pt idx="36">
                  <c:v>1309345</c:v>
                </c:pt>
                <c:pt idx="37">
                  <c:v>754577</c:v>
                </c:pt>
                <c:pt idx="38">
                  <c:v>973303</c:v>
                </c:pt>
                <c:pt idx="39">
                  <c:v>1303804</c:v>
                </c:pt>
                <c:pt idx="40">
                  <c:v>966111</c:v>
                </c:pt>
                <c:pt idx="41">
                  <c:v>941139</c:v>
                </c:pt>
                <c:pt idx="42">
                  <c:v>852927</c:v>
                </c:pt>
                <c:pt idx="43">
                  <c:v>1281853</c:v>
                </c:pt>
                <c:pt idx="44">
                  <c:v>1360316</c:v>
                </c:pt>
                <c:pt idx="45">
                  <c:v>984897</c:v>
                </c:pt>
                <c:pt idx="46">
                  <c:v>842435</c:v>
                </c:pt>
                <c:pt idx="47">
                  <c:v>1118719</c:v>
                </c:pt>
                <c:pt idx="48">
                  <c:v>1342966</c:v>
                </c:pt>
                <c:pt idx="49">
                  <c:v>1386939</c:v>
                </c:pt>
                <c:pt idx="50">
                  <c:v>1747251</c:v>
                </c:pt>
                <c:pt idx="51">
                  <c:v>1623183</c:v>
                </c:pt>
                <c:pt idx="52">
                  <c:v>902700</c:v>
                </c:pt>
                <c:pt idx="53">
                  <c:v>1028965</c:v>
                </c:pt>
                <c:pt idx="54">
                  <c:v>957894</c:v>
                </c:pt>
                <c:pt idx="55">
                  <c:v>1622250</c:v>
                </c:pt>
                <c:pt idx="56">
                  <c:v>1046665</c:v>
                </c:pt>
                <c:pt idx="57">
                  <c:v>777524</c:v>
                </c:pt>
                <c:pt idx="58">
                  <c:v>1122211</c:v>
                </c:pt>
                <c:pt idx="59">
                  <c:v>749716</c:v>
                </c:pt>
                <c:pt idx="60">
                  <c:v>845887</c:v>
                </c:pt>
                <c:pt idx="61">
                  <c:v>837273</c:v>
                </c:pt>
                <c:pt idx="62">
                  <c:v>1554561</c:v>
                </c:pt>
                <c:pt idx="63">
                  <c:v>80235</c:v>
                </c:pt>
              </c:numCache>
            </c:numRef>
          </c:val>
          <c:extLst>
            <c:ext xmlns:c16="http://schemas.microsoft.com/office/drawing/2014/chart" uri="{C3380CC4-5D6E-409C-BE32-E72D297353CC}">
              <c16:uniqueId val="{00000000-8964-41DE-847D-6F3AE133F152}"/>
            </c:ext>
          </c:extLst>
        </c:ser>
        <c:dLbls>
          <c:showLegendKey val="0"/>
          <c:showVal val="0"/>
          <c:showCatName val="0"/>
          <c:showSerName val="0"/>
          <c:showPercent val="0"/>
          <c:showBubbleSize val="0"/>
        </c:dLbls>
        <c:gapWidth val="150"/>
        <c:overlap val="100"/>
        <c:axId val="699759519"/>
        <c:axId val="699740319"/>
      </c:barChart>
      <c:lineChart>
        <c:grouping val="standard"/>
        <c:varyColors val="0"/>
        <c:ser>
          <c:idx val="1"/>
          <c:order val="1"/>
          <c:tx>
            <c:strRef>
              <c:f>'Volume to Price'!$D$4</c:f>
              <c:strCache>
                <c:ptCount val="1"/>
                <c:pt idx="0">
                  <c:v>Price</c:v>
                </c:pt>
              </c:strCache>
            </c:strRef>
          </c:tx>
          <c:spPr>
            <a:ln w="19050" cap="rnd">
              <a:solidFill>
                <a:sysClr val="windowText" lastClr="000000"/>
              </a:solidFill>
              <a:round/>
            </a:ln>
            <a:effectLst/>
          </c:spPr>
          <c:marker>
            <c:symbol val="none"/>
          </c:marker>
          <c:cat>
            <c:numRef>
              <c:f>'Volume to Price'!$B$5:$B$68</c:f>
              <c:numCache>
                <c:formatCode>m/d/yyyy</c:formatCode>
                <c:ptCount val="64"/>
                <c:pt idx="0">
                  <c:v>45849</c:v>
                </c:pt>
                <c:pt idx="1">
                  <c:v>45856</c:v>
                </c:pt>
                <c:pt idx="2">
                  <c:v>45863</c:v>
                </c:pt>
                <c:pt idx="3">
                  <c:v>45870</c:v>
                </c:pt>
                <c:pt idx="4">
                  <c:v>45877</c:v>
                </c:pt>
                <c:pt idx="5">
                  <c:v>45884</c:v>
                </c:pt>
                <c:pt idx="6">
                  <c:v>45891</c:v>
                </c:pt>
                <c:pt idx="7">
                  <c:v>45898</c:v>
                </c:pt>
                <c:pt idx="8">
                  <c:v>45905</c:v>
                </c:pt>
                <c:pt idx="9">
                  <c:v>45912</c:v>
                </c:pt>
                <c:pt idx="10">
                  <c:v>45919</c:v>
                </c:pt>
                <c:pt idx="11">
                  <c:v>45926</c:v>
                </c:pt>
                <c:pt idx="12">
                  <c:v>45933</c:v>
                </c:pt>
                <c:pt idx="13">
                  <c:v>45940</c:v>
                </c:pt>
                <c:pt idx="14">
                  <c:v>45947</c:v>
                </c:pt>
                <c:pt idx="15">
                  <c:v>45954</c:v>
                </c:pt>
                <c:pt idx="16">
                  <c:v>45961</c:v>
                </c:pt>
                <c:pt idx="17">
                  <c:v>45968</c:v>
                </c:pt>
                <c:pt idx="18">
                  <c:v>45975</c:v>
                </c:pt>
                <c:pt idx="19">
                  <c:v>45982</c:v>
                </c:pt>
                <c:pt idx="20">
                  <c:v>45989</c:v>
                </c:pt>
                <c:pt idx="21">
                  <c:v>45996</c:v>
                </c:pt>
                <c:pt idx="22">
                  <c:v>46003</c:v>
                </c:pt>
                <c:pt idx="23">
                  <c:v>46010</c:v>
                </c:pt>
                <c:pt idx="24">
                  <c:v>46017</c:v>
                </c:pt>
                <c:pt idx="25">
                  <c:v>46024</c:v>
                </c:pt>
                <c:pt idx="26">
                  <c:v>46031</c:v>
                </c:pt>
                <c:pt idx="27">
                  <c:v>46038</c:v>
                </c:pt>
                <c:pt idx="28">
                  <c:v>46045</c:v>
                </c:pt>
                <c:pt idx="29">
                  <c:v>46052</c:v>
                </c:pt>
                <c:pt idx="30">
                  <c:v>46059</c:v>
                </c:pt>
                <c:pt idx="31">
                  <c:v>46066</c:v>
                </c:pt>
                <c:pt idx="32">
                  <c:v>46073</c:v>
                </c:pt>
                <c:pt idx="33">
                  <c:v>46080</c:v>
                </c:pt>
                <c:pt idx="34">
                  <c:v>46087</c:v>
                </c:pt>
                <c:pt idx="35">
                  <c:v>46094</c:v>
                </c:pt>
                <c:pt idx="36">
                  <c:v>46101</c:v>
                </c:pt>
                <c:pt idx="37">
                  <c:v>46108</c:v>
                </c:pt>
                <c:pt idx="38">
                  <c:v>46115</c:v>
                </c:pt>
                <c:pt idx="39">
                  <c:v>46122</c:v>
                </c:pt>
                <c:pt idx="40">
                  <c:v>46129</c:v>
                </c:pt>
                <c:pt idx="41">
                  <c:v>46136</c:v>
                </c:pt>
                <c:pt idx="42">
                  <c:v>46143</c:v>
                </c:pt>
                <c:pt idx="43">
                  <c:v>46150</c:v>
                </c:pt>
                <c:pt idx="44">
                  <c:v>46157</c:v>
                </c:pt>
                <c:pt idx="45">
                  <c:v>46164</c:v>
                </c:pt>
                <c:pt idx="46">
                  <c:v>46171</c:v>
                </c:pt>
                <c:pt idx="47">
                  <c:v>46178</c:v>
                </c:pt>
                <c:pt idx="48">
                  <c:v>46185</c:v>
                </c:pt>
                <c:pt idx="49">
                  <c:v>46192</c:v>
                </c:pt>
                <c:pt idx="50">
                  <c:v>46199</c:v>
                </c:pt>
                <c:pt idx="51">
                  <c:v>46206</c:v>
                </c:pt>
                <c:pt idx="52">
                  <c:v>46213</c:v>
                </c:pt>
                <c:pt idx="53">
                  <c:v>46220</c:v>
                </c:pt>
                <c:pt idx="54">
                  <c:v>46227</c:v>
                </c:pt>
                <c:pt idx="55">
                  <c:v>46234</c:v>
                </c:pt>
                <c:pt idx="56">
                  <c:v>46241</c:v>
                </c:pt>
                <c:pt idx="57">
                  <c:v>46248</c:v>
                </c:pt>
                <c:pt idx="58">
                  <c:v>46255</c:v>
                </c:pt>
                <c:pt idx="59">
                  <c:v>46262</c:v>
                </c:pt>
                <c:pt idx="60">
                  <c:v>46269</c:v>
                </c:pt>
                <c:pt idx="61">
                  <c:v>46276</c:v>
                </c:pt>
                <c:pt idx="62">
                  <c:v>46283</c:v>
                </c:pt>
                <c:pt idx="63">
                  <c:v>46286</c:v>
                </c:pt>
              </c:numCache>
            </c:numRef>
          </c:cat>
          <c:val>
            <c:numRef>
              <c:f>'Volume to Price'!$D$5:$D$68</c:f>
              <c:numCache>
                <c:formatCode>General</c:formatCode>
                <c:ptCount val="64"/>
                <c:pt idx="0">
                  <c:v>157.99</c:v>
                </c:pt>
                <c:pt idx="1">
                  <c:v>153.99</c:v>
                </c:pt>
                <c:pt idx="2">
                  <c:v>153.47</c:v>
                </c:pt>
                <c:pt idx="3">
                  <c:v>149.24</c:v>
                </c:pt>
                <c:pt idx="4">
                  <c:v>151.26</c:v>
                </c:pt>
                <c:pt idx="5">
                  <c:v>156.4</c:v>
                </c:pt>
                <c:pt idx="6">
                  <c:v>166.44</c:v>
                </c:pt>
                <c:pt idx="7">
                  <c:v>168.31</c:v>
                </c:pt>
                <c:pt idx="8">
                  <c:v>167.64</c:v>
                </c:pt>
                <c:pt idx="9">
                  <c:v>169.79</c:v>
                </c:pt>
                <c:pt idx="10">
                  <c:v>172.07</c:v>
                </c:pt>
                <c:pt idx="11">
                  <c:v>176.96</c:v>
                </c:pt>
                <c:pt idx="12">
                  <c:v>175.84</c:v>
                </c:pt>
                <c:pt idx="13">
                  <c:v>169.14</c:v>
                </c:pt>
                <c:pt idx="14">
                  <c:v>172.02</c:v>
                </c:pt>
                <c:pt idx="15">
                  <c:v>161.21</c:v>
                </c:pt>
                <c:pt idx="16">
                  <c:v>156.85</c:v>
                </c:pt>
                <c:pt idx="17">
                  <c:v>155.08000000000001</c:v>
                </c:pt>
                <c:pt idx="18">
                  <c:v>157.25</c:v>
                </c:pt>
                <c:pt idx="19">
                  <c:v>157.01</c:v>
                </c:pt>
                <c:pt idx="20">
                  <c:v>159.93</c:v>
                </c:pt>
                <c:pt idx="21">
                  <c:v>167.3</c:v>
                </c:pt>
                <c:pt idx="22">
                  <c:v>168.43</c:v>
                </c:pt>
                <c:pt idx="23">
                  <c:v>172.78</c:v>
                </c:pt>
                <c:pt idx="24">
                  <c:v>173.2</c:v>
                </c:pt>
                <c:pt idx="25">
                  <c:v>170.82</c:v>
                </c:pt>
                <c:pt idx="26">
                  <c:v>175.87</c:v>
                </c:pt>
                <c:pt idx="27">
                  <c:v>179.48</c:v>
                </c:pt>
                <c:pt idx="28">
                  <c:v>183.35</c:v>
                </c:pt>
                <c:pt idx="29">
                  <c:v>181.91</c:v>
                </c:pt>
                <c:pt idx="30">
                  <c:v>188.43</c:v>
                </c:pt>
                <c:pt idx="31">
                  <c:v>192.05</c:v>
                </c:pt>
                <c:pt idx="32">
                  <c:v>198.51</c:v>
                </c:pt>
                <c:pt idx="33">
                  <c:v>184.17</c:v>
                </c:pt>
                <c:pt idx="34">
                  <c:v>178.88</c:v>
                </c:pt>
                <c:pt idx="35">
                  <c:v>168.5</c:v>
                </c:pt>
                <c:pt idx="36">
                  <c:v>164.7</c:v>
                </c:pt>
                <c:pt idx="37">
                  <c:v>167.6</c:v>
                </c:pt>
                <c:pt idx="38">
                  <c:v>174.29</c:v>
                </c:pt>
                <c:pt idx="39">
                  <c:v>193.57</c:v>
                </c:pt>
                <c:pt idx="40">
                  <c:v>198.51</c:v>
                </c:pt>
                <c:pt idx="41">
                  <c:v>198.17</c:v>
                </c:pt>
                <c:pt idx="42">
                  <c:v>196.35</c:v>
                </c:pt>
                <c:pt idx="43">
                  <c:v>186.43</c:v>
                </c:pt>
                <c:pt idx="44">
                  <c:v>172.67</c:v>
                </c:pt>
                <c:pt idx="45">
                  <c:v>169.67</c:v>
                </c:pt>
                <c:pt idx="46">
                  <c:v>169.08</c:v>
                </c:pt>
                <c:pt idx="47">
                  <c:v>171.06</c:v>
                </c:pt>
                <c:pt idx="48">
                  <c:v>174.56</c:v>
                </c:pt>
                <c:pt idx="49">
                  <c:v>177.17</c:v>
                </c:pt>
                <c:pt idx="50">
                  <c:v>182.26</c:v>
                </c:pt>
                <c:pt idx="51">
                  <c:v>173.66</c:v>
                </c:pt>
                <c:pt idx="52">
                  <c:v>180.14</c:v>
                </c:pt>
                <c:pt idx="53">
                  <c:v>178.48</c:v>
                </c:pt>
                <c:pt idx="54">
                  <c:v>184.63</c:v>
                </c:pt>
                <c:pt idx="55">
                  <c:v>178.88</c:v>
                </c:pt>
                <c:pt idx="56">
                  <c:v>177.71</c:v>
                </c:pt>
                <c:pt idx="57">
                  <c:v>180.65</c:v>
                </c:pt>
                <c:pt idx="58">
                  <c:v>176.93</c:v>
                </c:pt>
                <c:pt idx="59">
                  <c:v>177.6</c:v>
                </c:pt>
                <c:pt idx="60">
                  <c:v>178.1</c:v>
                </c:pt>
                <c:pt idx="61">
                  <c:v>178.53</c:v>
                </c:pt>
                <c:pt idx="62">
                  <c:v>177.9</c:v>
                </c:pt>
                <c:pt idx="63">
                  <c:v>180.68</c:v>
                </c:pt>
              </c:numCache>
            </c:numRef>
          </c:val>
          <c:smooth val="0"/>
          <c:extLst>
            <c:ext xmlns:c16="http://schemas.microsoft.com/office/drawing/2014/chart" uri="{C3380CC4-5D6E-409C-BE32-E72D297353CC}">
              <c16:uniqueId val="{00000001-8964-41DE-847D-6F3AE133F152}"/>
            </c:ext>
          </c:extLst>
        </c:ser>
        <c:dLbls>
          <c:showLegendKey val="0"/>
          <c:showVal val="0"/>
          <c:showCatName val="0"/>
          <c:showSerName val="0"/>
          <c:showPercent val="0"/>
          <c:showBubbleSize val="0"/>
        </c:dLbls>
        <c:marker val="1"/>
        <c:smooth val="0"/>
        <c:axId val="948494303"/>
        <c:axId val="948496223"/>
      </c:lineChart>
      <c:dateAx>
        <c:axId val="699759519"/>
        <c:scaling>
          <c:orientation val="minMax"/>
        </c:scaling>
        <c:delete val="0"/>
        <c:axPos val="b"/>
        <c:numFmt formatCode="mm/yy" sourceLinked="0"/>
        <c:majorTickMark val="none"/>
        <c:minorTickMark val="none"/>
        <c:tickLblPos val="nextTo"/>
        <c:spPr>
          <a:noFill/>
          <a:ln w="31750" cap="flat" cmpd="sng" algn="ctr">
            <a:solidFill>
              <a:srgbClr val="292934"/>
            </a:solidFill>
            <a:round/>
          </a:ln>
          <a:effectLst/>
        </c:spPr>
        <c:txPr>
          <a:bodyPr rot="-60000000" vert="horz"/>
          <a:lstStyle/>
          <a:p>
            <a:pPr>
              <a:defRPr/>
            </a:pPr>
            <a:endParaRPr lang="en-US"/>
          </a:p>
        </c:txPr>
        <c:crossAx val="699740319"/>
        <c:crosses val="autoZero"/>
        <c:auto val="1"/>
        <c:lblOffset val="100"/>
        <c:baseTimeUnit val="days"/>
      </c:dateAx>
      <c:valAx>
        <c:axId val="699740319"/>
        <c:scaling>
          <c:orientation val="minMax"/>
          <c:max val="3500000"/>
          <c:min val="0"/>
        </c:scaling>
        <c:delete val="0"/>
        <c:axPos val="l"/>
        <c:majorGridlines>
          <c:spPr>
            <a:ln w="9525" cap="flat" cmpd="sng" algn="ctr">
              <a:solidFill>
                <a:schemeClr val="tx1">
                  <a:lumMod val="15000"/>
                  <a:lumOff val="85000"/>
                </a:schemeClr>
              </a:solidFill>
              <a:round/>
            </a:ln>
            <a:effectLst/>
          </c:spPr>
        </c:majorGridlines>
        <c:numFmt formatCode="#,##0,&quot;K&quot;" sourceLinked="0"/>
        <c:majorTickMark val="none"/>
        <c:minorTickMark val="none"/>
        <c:tickLblPos val="nextTo"/>
        <c:spPr>
          <a:noFill/>
          <a:ln w="31750">
            <a:solidFill>
              <a:srgbClr val="292934"/>
            </a:solidFill>
          </a:ln>
          <a:effectLst/>
        </c:spPr>
        <c:txPr>
          <a:bodyPr rot="-60000000" vert="horz"/>
          <a:lstStyle/>
          <a:p>
            <a:pPr>
              <a:defRPr/>
            </a:pPr>
            <a:endParaRPr lang="en-US"/>
          </a:p>
        </c:txPr>
        <c:crossAx val="699759519"/>
        <c:crosses val="autoZero"/>
        <c:crossBetween val="between"/>
      </c:valAx>
      <c:valAx>
        <c:axId val="948496223"/>
        <c:scaling>
          <c:orientation val="minMax"/>
          <c:min val="140"/>
        </c:scaling>
        <c:delete val="0"/>
        <c:axPos val="r"/>
        <c:numFmt formatCode="_(&quot;$&quot;* #,##0_);_(&quot;$&quot;* \(#,##0\);_(&quot;$&quot;* &quot;-&quot;_);_(@_)" sourceLinked="0"/>
        <c:majorTickMark val="none"/>
        <c:minorTickMark val="none"/>
        <c:tickLblPos val="nextTo"/>
        <c:spPr>
          <a:noFill/>
          <a:ln w="31750">
            <a:solidFill>
              <a:srgbClr val="292934"/>
            </a:solidFill>
          </a:ln>
          <a:effectLst/>
        </c:spPr>
        <c:txPr>
          <a:bodyPr rot="-60000000" vert="horz"/>
          <a:lstStyle/>
          <a:p>
            <a:pPr>
              <a:defRPr/>
            </a:pPr>
            <a:endParaRPr lang="en-US"/>
          </a:p>
        </c:txPr>
        <c:crossAx val="948494303"/>
        <c:crosses val="max"/>
        <c:crossBetween val="between"/>
      </c:valAx>
      <c:dateAx>
        <c:axId val="948494303"/>
        <c:scaling>
          <c:orientation val="minMax"/>
        </c:scaling>
        <c:delete val="1"/>
        <c:axPos val="b"/>
        <c:numFmt formatCode="m/d/yyyy" sourceLinked="1"/>
        <c:majorTickMark val="out"/>
        <c:minorTickMark val="none"/>
        <c:tickLblPos val="nextTo"/>
        <c:crossAx val="948496223"/>
        <c:crosses val="autoZero"/>
        <c:auto val="1"/>
        <c:lblOffset val="100"/>
        <c:baseTimeUnit val="days"/>
      </c:dateAx>
      <c:spPr>
        <a:ln w="31750">
          <a:solidFill>
            <a:srgbClr val="292934"/>
          </a:solidFill>
        </a:ln>
      </c:spPr>
    </c:plotArea>
    <c:legend>
      <c:legendPos val="b"/>
      <c:overlay val="0"/>
      <c:spPr>
        <a:noFill/>
        <a:ln>
          <a:noFill/>
        </a:ln>
        <a:effectLst/>
      </c:spPr>
      <c:txPr>
        <a:bodyPr rot="0" vert="horz"/>
        <a:lstStyle/>
        <a:p>
          <a:pPr>
            <a:defRPr/>
          </a:pPr>
          <a:endParaRPr lang="en-US"/>
        </a:p>
      </c:txPr>
    </c:legend>
    <c:plotVisOnly val="1"/>
    <c:dispBlanksAs val="zero"/>
    <c:showDLblsOverMax val="0"/>
  </c:chart>
  <c:spPr>
    <a:solidFill>
      <a:srgbClr val="FFFFFF"/>
    </a:solidFill>
    <a:ln w="31750" cap="flat" cmpd="sng" algn="ctr">
      <a:solidFill>
        <a:srgbClr val="292934"/>
      </a:solidFill>
      <a:round/>
    </a:ln>
    <a:effectLst/>
  </c:spPr>
  <c:txPr>
    <a:bodyPr/>
    <a:lstStyle/>
    <a:p>
      <a:pPr>
        <a:defRPr sz="1000" b="0">
          <a:solidFill>
            <a:srgbClr val="000000"/>
          </a:solidFill>
          <a:latin typeface="Calibri" panose="020F0502020204030204" pitchFamily="34" charset="0"/>
          <a:ea typeface="Calibri" panose="020F0502020204030204" pitchFamily="34" charset="0"/>
          <a:cs typeface="Calibri" panose="020F0502020204030204" pitchFamily="34" charset="0"/>
        </a:defRPr>
      </a:pPr>
      <a:endParaRPr lang="en-US"/>
    </a:p>
  </c:txPr>
  <c:externalData r:id="rId2">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ABDE341-93C2-0CD7-7353-27FA0A371992}"/>
              </a:ext>
            </a:extLst>
          </p:cNvPr>
          <p:cNvSpPr>
            <a:spLocks noGrp="1"/>
          </p:cNvSpPr>
          <p:nvPr>
            <p:ph type="hdr" sz="quarter"/>
          </p:nvPr>
        </p:nvSpPr>
        <p:spPr>
          <a:xfrm>
            <a:off x="0" y="0"/>
            <a:ext cx="3997325" cy="352425"/>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r>
              <a:rPr lang="en-US"/>
              <a:t>Monsanto Company (MON)</a:t>
            </a:r>
          </a:p>
        </p:txBody>
      </p:sp>
      <p:sp>
        <p:nvSpPr>
          <p:cNvPr id="3" name="Date Placeholder 2">
            <a:extLst>
              <a:ext uri="{FF2B5EF4-FFF2-40B4-BE49-F238E27FC236}">
                <a16:creationId xmlns:a16="http://schemas.microsoft.com/office/drawing/2014/main" id="{A794B06B-08B6-792E-24B7-7963CB53F61A}"/>
              </a:ext>
            </a:extLst>
          </p:cNvPr>
          <p:cNvSpPr>
            <a:spLocks noGrp="1"/>
          </p:cNvSpPr>
          <p:nvPr>
            <p:ph type="dt" idx="1"/>
          </p:nvPr>
        </p:nvSpPr>
        <p:spPr>
          <a:xfrm>
            <a:off x="5224463" y="0"/>
            <a:ext cx="3997325" cy="352425"/>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6511DD67-574E-4602-BC26-EAE9AECC4814}" type="datetimeFigureOut">
              <a:rPr lang="en-US"/>
              <a:pPr>
                <a:defRPr/>
              </a:pPr>
              <a:t>9/28/2026</a:t>
            </a:fld>
            <a:endParaRPr lang="en-US"/>
          </a:p>
        </p:txBody>
      </p:sp>
      <p:sp>
        <p:nvSpPr>
          <p:cNvPr id="4" name="Slide Image Placeholder 3">
            <a:extLst>
              <a:ext uri="{FF2B5EF4-FFF2-40B4-BE49-F238E27FC236}">
                <a16:creationId xmlns:a16="http://schemas.microsoft.com/office/drawing/2014/main" id="{F6F3E848-96A0-E6CD-3458-34A171BD944B}"/>
              </a:ext>
            </a:extLst>
          </p:cNvPr>
          <p:cNvSpPr>
            <a:spLocks noGrp="1" noRot="1" noChangeAspect="1"/>
          </p:cNvSpPr>
          <p:nvPr>
            <p:ph type="sldImg" idx="2"/>
          </p:nvPr>
        </p:nvSpPr>
        <p:spPr>
          <a:xfrm>
            <a:off x="3035300" y="876300"/>
            <a:ext cx="3152775" cy="2365375"/>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FE9B7818-521F-7851-EBDE-B37FB8F90047}"/>
              </a:ext>
            </a:extLst>
          </p:cNvPr>
          <p:cNvSpPr>
            <a:spLocks noGrp="1"/>
          </p:cNvSpPr>
          <p:nvPr>
            <p:ph type="body" sz="quarter" idx="3"/>
          </p:nvPr>
        </p:nvSpPr>
        <p:spPr>
          <a:xfrm>
            <a:off x="922338" y="3373438"/>
            <a:ext cx="7378700" cy="2760662"/>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D9E28262-8BB4-61AB-CC96-73992F615DA8}"/>
              </a:ext>
            </a:extLst>
          </p:cNvPr>
          <p:cNvSpPr>
            <a:spLocks noGrp="1"/>
          </p:cNvSpPr>
          <p:nvPr>
            <p:ph type="ftr" sz="quarter" idx="4"/>
          </p:nvPr>
        </p:nvSpPr>
        <p:spPr>
          <a:xfrm>
            <a:off x="0" y="6657975"/>
            <a:ext cx="3997325" cy="352425"/>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r>
              <a:rPr lang="en-US"/>
              <a:t>IMCP - Super Stock Pitch Day</a:t>
            </a:r>
          </a:p>
        </p:txBody>
      </p:sp>
      <p:sp>
        <p:nvSpPr>
          <p:cNvPr id="7" name="Slide Number Placeholder 6">
            <a:extLst>
              <a:ext uri="{FF2B5EF4-FFF2-40B4-BE49-F238E27FC236}">
                <a16:creationId xmlns:a16="http://schemas.microsoft.com/office/drawing/2014/main" id="{9BA3C9E5-25BD-60B8-E6D1-40B4EEE64A7A}"/>
              </a:ext>
            </a:extLst>
          </p:cNvPr>
          <p:cNvSpPr>
            <a:spLocks noGrp="1"/>
          </p:cNvSpPr>
          <p:nvPr>
            <p:ph type="sldNum" sz="quarter" idx="5"/>
          </p:nvPr>
        </p:nvSpPr>
        <p:spPr>
          <a:xfrm>
            <a:off x="5224463" y="6657975"/>
            <a:ext cx="3997325" cy="3524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358458C8-3D92-403E-A7D0-38FB75CD5FBE}" type="slidenum">
              <a:rPr lang="en-US" altLang="en-US"/>
              <a:pPr/>
              <a:t>‹#›</a:t>
            </a:fld>
            <a:endParaRPr lang="en-US" altLang="en-US"/>
          </a:p>
        </p:txBody>
      </p:sp>
    </p:spTree>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F298672D-A664-6405-7366-53316FEB46B6}"/>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a:extLst>
              <a:ext uri="{FF2B5EF4-FFF2-40B4-BE49-F238E27FC236}">
                <a16:creationId xmlns:a16="http://schemas.microsoft.com/office/drawing/2014/main" id="{7821427F-8D31-4382-B734-8622899E602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a:p>
        </p:txBody>
      </p:sp>
      <p:sp>
        <p:nvSpPr>
          <p:cNvPr id="11268" name="Header Placeholder 3">
            <a:extLst>
              <a:ext uri="{FF2B5EF4-FFF2-40B4-BE49-F238E27FC236}">
                <a16:creationId xmlns:a16="http://schemas.microsoft.com/office/drawing/2014/main" id="{66D83A9B-EF83-823D-6548-B6044081E737}"/>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1269" name="Footer Placeholder 4">
            <a:extLst>
              <a:ext uri="{FF2B5EF4-FFF2-40B4-BE49-F238E27FC236}">
                <a16:creationId xmlns:a16="http://schemas.microsoft.com/office/drawing/2014/main" id="{DD55DFE6-25DF-D4F4-169D-42CCEA1F6242}"/>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1270" name="Slide Number Placeholder 5">
            <a:extLst>
              <a:ext uri="{FF2B5EF4-FFF2-40B4-BE49-F238E27FC236}">
                <a16:creationId xmlns:a16="http://schemas.microsoft.com/office/drawing/2014/main" id="{7A514866-C6C6-C965-EAF8-EA5B96E1BC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DC4FE15-980B-44C6-9DA0-521F053CF0D1}" type="slidenum">
              <a:rPr lang="en-US" altLang="en-US">
                <a:latin typeface="Calibri" panose="020F0502020204030204" pitchFamily="34" charset="0"/>
              </a:rPr>
              <a:pPr/>
              <a:t>1</a:t>
            </a:fld>
            <a:endParaRPr lang="en-US"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FB33D-A49B-BF36-01CC-77488D5522A8}"/>
            </a:ext>
          </a:extLst>
        </p:cNvPr>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4AA9C9D9-7754-5A69-8620-9B83E26C3A22}"/>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7D6E7AFD-4958-0683-0FBE-33A6831476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316" name="Header Placeholder 3">
            <a:extLst>
              <a:ext uri="{FF2B5EF4-FFF2-40B4-BE49-F238E27FC236}">
                <a16:creationId xmlns:a16="http://schemas.microsoft.com/office/drawing/2014/main" id="{2406A572-07E5-A599-44DD-2997EB3F36BA}"/>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3317" name="Footer Placeholder 4">
            <a:extLst>
              <a:ext uri="{FF2B5EF4-FFF2-40B4-BE49-F238E27FC236}">
                <a16:creationId xmlns:a16="http://schemas.microsoft.com/office/drawing/2014/main" id="{437B548F-0A96-5600-AE07-58619989CB26}"/>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3318" name="Slide Number Placeholder 5">
            <a:extLst>
              <a:ext uri="{FF2B5EF4-FFF2-40B4-BE49-F238E27FC236}">
                <a16:creationId xmlns:a16="http://schemas.microsoft.com/office/drawing/2014/main" id="{6D94B2DE-F2F6-5BF8-9221-D1D9DD6B6A4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B539FD-C57D-4992-A656-F8592AFCFEE8}" type="slidenum">
              <a:rPr lang="en-US" altLang="en-US">
                <a:latin typeface="Calibri" panose="020F0502020204030204" pitchFamily="34" charset="0"/>
              </a:rPr>
              <a:pPr/>
              <a:t>2</a:t>
            </a:fld>
            <a:endParaRPr lang="en-US" altLang="en-US">
              <a:latin typeface="Calibri" panose="020F0502020204030204" pitchFamily="34" charset="0"/>
            </a:endParaRPr>
          </a:p>
        </p:txBody>
      </p:sp>
    </p:spTree>
    <p:extLst>
      <p:ext uri="{BB962C8B-B14F-4D97-AF65-F5344CB8AC3E}">
        <p14:creationId xmlns:p14="http://schemas.microsoft.com/office/powerpoint/2010/main" val="3532168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B8111-28B8-8AD8-65E3-D7337D87E7D9}"/>
            </a:ext>
          </a:extLst>
        </p:cNvPr>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07011A32-0A14-DD42-4100-EF4080BAA6E4}"/>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a:extLst>
              <a:ext uri="{FF2B5EF4-FFF2-40B4-BE49-F238E27FC236}">
                <a16:creationId xmlns:a16="http://schemas.microsoft.com/office/drawing/2014/main" id="{57D58D49-DDF4-B46A-83FB-9D76A3AD3A2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5364" name="Header Placeholder 3">
            <a:extLst>
              <a:ext uri="{FF2B5EF4-FFF2-40B4-BE49-F238E27FC236}">
                <a16:creationId xmlns:a16="http://schemas.microsoft.com/office/drawing/2014/main" id="{C3BD8B96-BD07-3BF9-EAA3-F1FC007F286D}"/>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5365" name="Footer Placeholder 4">
            <a:extLst>
              <a:ext uri="{FF2B5EF4-FFF2-40B4-BE49-F238E27FC236}">
                <a16:creationId xmlns:a16="http://schemas.microsoft.com/office/drawing/2014/main" id="{A7732163-E889-D414-F893-0D245EC91BFF}"/>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5366" name="Slide Number Placeholder 5">
            <a:extLst>
              <a:ext uri="{FF2B5EF4-FFF2-40B4-BE49-F238E27FC236}">
                <a16:creationId xmlns:a16="http://schemas.microsoft.com/office/drawing/2014/main" id="{5847D8C5-D0DB-CF7F-7E93-E73CED55077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699EDC6-C712-44CD-AFC9-0E8FB5E822C2}" type="slidenum">
              <a:rPr lang="en-US" altLang="en-US">
                <a:latin typeface="Calibri" panose="020F0502020204030204" pitchFamily="34" charset="0"/>
              </a:rPr>
              <a:pPr/>
              <a:t>3</a:t>
            </a:fld>
            <a:endParaRPr lang="en-US" altLang="en-US">
              <a:latin typeface="Calibri" panose="020F0502020204030204" pitchFamily="34" charset="0"/>
            </a:endParaRPr>
          </a:p>
        </p:txBody>
      </p:sp>
    </p:spTree>
    <p:extLst>
      <p:ext uri="{BB962C8B-B14F-4D97-AF65-F5344CB8AC3E}">
        <p14:creationId xmlns:p14="http://schemas.microsoft.com/office/powerpoint/2010/main" val="2637235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513A0-2C5A-EB5D-610D-28197D3E70E7}"/>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58E2C7BB-C46A-7179-9D72-AE12E5C239AD}"/>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050A37B1-6304-9127-BB00-7F980561AC6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165263FE-852E-C234-421E-14734A9183AE}"/>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015766CD-5399-0AC8-94C0-A02278472221}"/>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78643D79-031F-6948-754C-A69A56C45CC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4</a:t>
            </a:fld>
            <a:endParaRPr lang="en-US" altLang="en-US">
              <a:latin typeface="Calibri" panose="020F0502020204030204" pitchFamily="34" charset="0"/>
            </a:endParaRPr>
          </a:p>
        </p:txBody>
      </p:sp>
    </p:spTree>
    <p:extLst>
      <p:ext uri="{BB962C8B-B14F-4D97-AF65-F5344CB8AC3E}">
        <p14:creationId xmlns:p14="http://schemas.microsoft.com/office/powerpoint/2010/main" val="3137731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B3FF2-47D0-D855-A0B9-54C939579088}"/>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9D58E9EC-A55B-84D3-A95B-9B084FB9D9B7}"/>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304B1FB8-F3CD-2EEF-D6F5-2F06DF80428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787B49F9-61C8-CFCB-B242-BF919DC5C517}"/>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B59A8639-A40A-E055-C540-8153D73D43A9}"/>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E2AA5D59-293C-4D40-FBC4-159F3AFCFFD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5</a:t>
            </a:fld>
            <a:endParaRPr lang="en-US" altLang="en-US">
              <a:latin typeface="Calibri" panose="020F0502020204030204" pitchFamily="34" charset="0"/>
            </a:endParaRPr>
          </a:p>
        </p:txBody>
      </p:sp>
    </p:spTree>
    <p:extLst>
      <p:ext uri="{BB962C8B-B14F-4D97-AF65-F5344CB8AC3E}">
        <p14:creationId xmlns:p14="http://schemas.microsoft.com/office/powerpoint/2010/main" val="2394532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E28FE-591B-D4AA-610F-3BCC97412ED3}"/>
            </a:ext>
          </a:extLst>
        </p:cNvPr>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6EF427B0-1ABF-5301-24B8-D321F15F78D5}"/>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17AED901-19F8-331F-517C-2DC2E2021D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316" name="Header Placeholder 3">
            <a:extLst>
              <a:ext uri="{FF2B5EF4-FFF2-40B4-BE49-F238E27FC236}">
                <a16:creationId xmlns:a16="http://schemas.microsoft.com/office/drawing/2014/main" id="{4B00AB8B-B5A1-A8ED-34C2-B56EAB397F4A}"/>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3317" name="Footer Placeholder 4">
            <a:extLst>
              <a:ext uri="{FF2B5EF4-FFF2-40B4-BE49-F238E27FC236}">
                <a16:creationId xmlns:a16="http://schemas.microsoft.com/office/drawing/2014/main" id="{9AA2F045-0960-9B8F-EE5A-CA1CBDD500A7}"/>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3318" name="Slide Number Placeholder 5">
            <a:extLst>
              <a:ext uri="{FF2B5EF4-FFF2-40B4-BE49-F238E27FC236}">
                <a16:creationId xmlns:a16="http://schemas.microsoft.com/office/drawing/2014/main" id="{A8801C99-4B43-61E9-C084-5DE97CED9A1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B539FD-C57D-4992-A656-F8592AFCFEE8}" type="slidenum">
              <a:rPr lang="en-US" altLang="en-US">
                <a:latin typeface="Calibri" panose="020F0502020204030204" pitchFamily="34" charset="0"/>
              </a:rPr>
              <a:pPr/>
              <a:t>6</a:t>
            </a:fld>
            <a:endParaRPr lang="en-US" altLang="en-US">
              <a:latin typeface="Calibri" panose="020F0502020204030204" pitchFamily="34" charset="0"/>
            </a:endParaRPr>
          </a:p>
        </p:txBody>
      </p:sp>
    </p:spTree>
    <p:extLst>
      <p:ext uri="{BB962C8B-B14F-4D97-AF65-F5344CB8AC3E}">
        <p14:creationId xmlns:p14="http://schemas.microsoft.com/office/powerpoint/2010/main" val="1931653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D7968-0CAC-868A-E0C3-EF4E1B803598}"/>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1B298C12-F275-00E3-2AB4-290B464E6AC8}"/>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0896E424-274B-7103-EDBC-EE626042C74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3EF6F4E2-3CA5-7B38-1779-0868D9B52CEF}"/>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5B3A3439-688F-8122-59A1-0AD856DD01E8}"/>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203172A1-1964-2DF1-601C-E8C47380F78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7</a:t>
            </a:fld>
            <a:endParaRPr lang="en-US" altLang="en-US">
              <a:latin typeface="Calibri" panose="020F0502020204030204" pitchFamily="34" charset="0"/>
            </a:endParaRPr>
          </a:p>
        </p:txBody>
      </p:sp>
    </p:spTree>
    <p:extLst>
      <p:ext uri="{BB962C8B-B14F-4D97-AF65-F5344CB8AC3E}">
        <p14:creationId xmlns:p14="http://schemas.microsoft.com/office/powerpoint/2010/main" val="32627402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D7968-0CAC-868A-E0C3-EF4E1B803598}"/>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1B298C12-F275-00E3-2AB4-290B464E6AC8}"/>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0896E424-274B-7103-EDBC-EE626042C74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3EF6F4E2-3CA5-7B38-1779-0868D9B52CEF}"/>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5B3A3439-688F-8122-59A1-0AD856DD01E8}"/>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203172A1-1964-2DF1-601C-E8C47380F78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8</a:t>
            </a:fld>
            <a:endParaRPr lang="en-US" altLang="en-US">
              <a:latin typeface="Calibri" panose="020F0502020204030204" pitchFamily="34" charset="0"/>
            </a:endParaRPr>
          </a:p>
        </p:txBody>
      </p:sp>
    </p:spTree>
    <p:extLst>
      <p:ext uri="{BB962C8B-B14F-4D97-AF65-F5344CB8AC3E}">
        <p14:creationId xmlns:p14="http://schemas.microsoft.com/office/powerpoint/2010/main" val="3262740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46D2-0A6F-9BCA-46B9-FB5D35DCDC89}"/>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FEB40EB5-0A0A-B52A-27E1-C7B6C2A0BDAE}"/>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1C73F26E-02AA-8EC6-1323-A4E1ABF855F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83FD26D8-8D6C-A53F-015F-CCC86A92CE86}"/>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0C0E3B63-C4D3-3645-12DB-4779EAF03288}"/>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8EA82110-CA00-8753-E293-A701A5D3119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9</a:t>
            </a:fld>
            <a:endParaRPr lang="en-US" altLang="en-US">
              <a:latin typeface="Calibri" panose="020F0502020204030204" pitchFamily="34" charset="0"/>
            </a:endParaRPr>
          </a:p>
        </p:txBody>
      </p:sp>
    </p:spTree>
    <p:extLst>
      <p:ext uri="{BB962C8B-B14F-4D97-AF65-F5344CB8AC3E}">
        <p14:creationId xmlns:p14="http://schemas.microsoft.com/office/powerpoint/2010/main" val="33516568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FA072655-EE4C-C397-256D-C3747B19106A}"/>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468BC3A1-9331-AE43-A49B-618D580CFC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7B783F98-FCA9-7FFB-5B42-A1D22C6A9A2C}"/>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E8609179-ED01-22A2-F1F3-0B2C36E8DC1A}"/>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98A99CCE-B7BC-86B9-0017-6B083FD58A7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10</a:t>
            </a:fld>
            <a:endParaRPr lang="en-US" altLang="en-US">
              <a:latin typeface="Calibri" panose="020F0502020204030204" pitchFamily="34" charset="0"/>
            </a:endParaRPr>
          </a:p>
        </p:txBody>
      </p:sp>
    </p:spTree>
    <p:extLst>
      <p:ext uri="{BB962C8B-B14F-4D97-AF65-F5344CB8AC3E}">
        <p14:creationId xmlns:p14="http://schemas.microsoft.com/office/powerpoint/2010/main" val="20930452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BA80B-8E90-A7C4-5B0F-795BAC79AD64}"/>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FBF5A40E-2B4B-A5E7-D7CF-1E18F4078BDE}"/>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B2F5CB0B-E3D3-C7CF-8815-4A270870F6B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232CDA2C-E4D3-1AC0-4DFD-BFEC0D9650BF}"/>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E3821027-8954-4648-E74F-964A0869C9F2}"/>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F67814F7-1268-4492-7210-D92D267DF3D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11</a:t>
            </a:fld>
            <a:endParaRPr lang="en-US" altLang="en-US">
              <a:latin typeface="Calibri" panose="020F0502020204030204" pitchFamily="34" charset="0"/>
            </a:endParaRPr>
          </a:p>
        </p:txBody>
      </p:sp>
    </p:spTree>
    <p:extLst>
      <p:ext uri="{BB962C8B-B14F-4D97-AF65-F5344CB8AC3E}">
        <p14:creationId xmlns:p14="http://schemas.microsoft.com/office/powerpoint/2010/main" val="479670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C0990-1028-5EE1-A537-7DABCAB05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2DCC34-A129-33E6-858A-F67CE01382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406131-B5BC-251F-869A-6D5FF10911EC}"/>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5113B3DD-6507-D5E6-7594-B2C9F81F9F24}"/>
              </a:ext>
            </a:extLst>
          </p:cNvPr>
          <p:cNvSpPr>
            <a:spLocks noGrp="1"/>
          </p:cNvSpPr>
          <p:nvPr>
            <p:ph type="hdr" sz="quarter"/>
          </p:nvPr>
        </p:nvSpPr>
        <p:spPr/>
        <p:txBody>
          <a:bodyPr/>
          <a:lstStyle/>
          <a:p>
            <a:pPr>
              <a:defRPr/>
            </a:pPr>
            <a:r>
              <a:rPr lang="en-US"/>
              <a:t>Monsanto Company (MON)</a:t>
            </a:r>
          </a:p>
        </p:txBody>
      </p:sp>
      <p:sp>
        <p:nvSpPr>
          <p:cNvPr id="5" name="Footer Placeholder 4">
            <a:extLst>
              <a:ext uri="{FF2B5EF4-FFF2-40B4-BE49-F238E27FC236}">
                <a16:creationId xmlns:a16="http://schemas.microsoft.com/office/drawing/2014/main" id="{1B1232DA-AC4B-D383-A653-9F45C96C4044}"/>
              </a:ext>
            </a:extLst>
          </p:cNvPr>
          <p:cNvSpPr>
            <a:spLocks noGrp="1"/>
          </p:cNvSpPr>
          <p:nvPr>
            <p:ph type="ftr" sz="quarter" idx="4"/>
          </p:nvPr>
        </p:nvSpPr>
        <p:spPr/>
        <p:txBody>
          <a:bodyPr/>
          <a:lstStyle/>
          <a:p>
            <a:pPr>
              <a:defRPr/>
            </a:pPr>
            <a:r>
              <a:rPr lang="en-US"/>
              <a:t>IMCP - Super Stock Pitch Day</a:t>
            </a:r>
          </a:p>
        </p:txBody>
      </p:sp>
      <p:sp>
        <p:nvSpPr>
          <p:cNvPr id="6" name="Slide Number Placeholder 5">
            <a:extLst>
              <a:ext uri="{FF2B5EF4-FFF2-40B4-BE49-F238E27FC236}">
                <a16:creationId xmlns:a16="http://schemas.microsoft.com/office/drawing/2014/main" id="{E2701262-F66D-B603-B689-F14895B4DA92}"/>
              </a:ext>
            </a:extLst>
          </p:cNvPr>
          <p:cNvSpPr>
            <a:spLocks noGrp="1"/>
          </p:cNvSpPr>
          <p:nvPr>
            <p:ph type="sldNum" sz="quarter" idx="5"/>
          </p:nvPr>
        </p:nvSpPr>
        <p:spPr/>
        <p:txBody>
          <a:bodyPr/>
          <a:lstStyle/>
          <a:p>
            <a:fld id="{358458C8-3D92-403E-A7D0-38FB75CD5FBE}" type="slidenum">
              <a:rPr lang="en-US" altLang="en-US" smtClean="0"/>
              <a:pPr/>
              <a:t>12</a:t>
            </a:fld>
            <a:endParaRPr lang="en-US" altLang="en-US"/>
          </a:p>
        </p:txBody>
      </p:sp>
    </p:spTree>
    <p:extLst>
      <p:ext uri="{BB962C8B-B14F-4D97-AF65-F5344CB8AC3E}">
        <p14:creationId xmlns:p14="http://schemas.microsoft.com/office/powerpoint/2010/main" val="11850776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0F380-2700-A6BA-D532-98A04D1449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1090FD-75AE-E115-1CDD-EDE9FDA50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AB2187-57B0-15B3-5200-C4FC0960A1EF}"/>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B0B85E42-9806-BF44-1EF2-1AD5FB6F3DB5}"/>
              </a:ext>
            </a:extLst>
          </p:cNvPr>
          <p:cNvSpPr>
            <a:spLocks noGrp="1"/>
          </p:cNvSpPr>
          <p:nvPr>
            <p:ph type="hdr" sz="quarter"/>
          </p:nvPr>
        </p:nvSpPr>
        <p:spPr/>
        <p:txBody>
          <a:bodyPr/>
          <a:lstStyle/>
          <a:p>
            <a:pPr>
              <a:defRPr/>
            </a:pPr>
            <a:r>
              <a:rPr lang="en-US"/>
              <a:t>Monsanto Company (MON)</a:t>
            </a:r>
          </a:p>
        </p:txBody>
      </p:sp>
      <p:sp>
        <p:nvSpPr>
          <p:cNvPr id="5" name="Footer Placeholder 4">
            <a:extLst>
              <a:ext uri="{FF2B5EF4-FFF2-40B4-BE49-F238E27FC236}">
                <a16:creationId xmlns:a16="http://schemas.microsoft.com/office/drawing/2014/main" id="{1D0734DA-B76E-7484-984D-2AB832F3130B}"/>
              </a:ext>
            </a:extLst>
          </p:cNvPr>
          <p:cNvSpPr>
            <a:spLocks noGrp="1"/>
          </p:cNvSpPr>
          <p:nvPr>
            <p:ph type="ftr" sz="quarter" idx="4"/>
          </p:nvPr>
        </p:nvSpPr>
        <p:spPr/>
        <p:txBody>
          <a:bodyPr/>
          <a:lstStyle/>
          <a:p>
            <a:pPr>
              <a:defRPr/>
            </a:pPr>
            <a:r>
              <a:rPr lang="en-US"/>
              <a:t>IMCP - Super Stock Pitch Day</a:t>
            </a:r>
          </a:p>
        </p:txBody>
      </p:sp>
      <p:sp>
        <p:nvSpPr>
          <p:cNvPr id="6" name="Slide Number Placeholder 5">
            <a:extLst>
              <a:ext uri="{FF2B5EF4-FFF2-40B4-BE49-F238E27FC236}">
                <a16:creationId xmlns:a16="http://schemas.microsoft.com/office/drawing/2014/main" id="{E1920128-0221-8EEF-4D93-F117FE0DFDC1}"/>
              </a:ext>
            </a:extLst>
          </p:cNvPr>
          <p:cNvSpPr>
            <a:spLocks noGrp="1"/>
          </p:cNvSpPr>
          <p:nvPr>
            <p:ph type="sldNum" sz="quarter" idx="5"/>
          </p:nvPr>
        </p:nvSpPr>
        <p:spPr/>
        <p:txBody>
          <a:bodyPr/>
          <a:lstStyle/>
          <a:p>
            <a:fld id="{358458C8-3D92-403E-A7D0-38FB75CD5FBE}" type="slidenum">
              <a:rPr lang="en-US" altLang="en-US" smtClean="0"/>
              <a:pPr/>
              <a:t>13</a:t>
            </a:fld>
            <a:endParaRPr lang="en-US" altLang="en-US"/>
          </a:p>
        </p:txBody>
      </p:sp>
    </p:spTree>
    <p:extLst>
      <p:ext uri="{BB962C8B-B14F-4D97-AF65-F5344CB8AC3E}">
        <p14:creationId xmlns:p14="http://schemas.microsoft.com/office/powerpoint/2010/main" val="28061628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D7968-0CAC-868A-E0C3-EF4E1B803598}"/>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1B298C12-F275-00E3-2AB4-290B464E6AC8}"/>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0896E424-274B-7103-EDBC-EE626042C74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3EF6F4E2-3CA5-7B38-1779-0868D9B52CEF}"/>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5B3A3439-688F-8122-59A1-0AD856DD01E8}"/>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203172A1-1964-2DF1-601C-E8C47380F78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14</a:t>
            </a:fld>
            <a:endParaRPr lang="en-US" altLang="en-US">
              <a:latin typeface="Calibri" panose="020F0502020204030204" pitchFamily="34" charset="0"/>
            </a:endParaRPr>
          </a:p>
        </p:txBody>
      </p:sp>
    </p:spTree>
    <p:extLst>
      <p:ext uri="{BB962C8B-B14F-4D97-AF65-F5344CB8AC3E}">
        <p14:creationId xmlns:p14="http://schemas.microsoft.com/office/powerpoint/2010/main" val="32627402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ED45D-2B4E-F1C3-6076-726AB84FB06D}"/>
            </a:ext>
          </a:extLst>
        </p:cNvPr>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2E829A5A-2C9E-C561-B71F-E3373CC0E058}"/>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9FB8F0D0-AEFE-5373-6EBD-096F98E04EC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316" name="Header Placeholder 3">
            <a:extLst>
              <a:ext uri="{FF2B5EF4-FFF2-40B4-BE49-F238E27FC236}">
                <a16:creationId xmlns:a16="http://schemas.microsoft.com/office/drawing/2014/main" id="{A2CC91FD-CEF2-81F6-BE0C-E4E7CFC63B70}"/>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3317" name="Footer Placeholder 4">
            <a:extLst>
              <a:ext uri="{FF2B5EF4-FFF2-40B4-BE49-F238E27FC236}">
                <a16:creationId xmlns:a16="http://schemas.microsoft.com/office/drawing/2014/main" id="{E7FC15FF-38BD-8F07-7E6D-15C883CC3594}"/>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3318" name="Slide Number Placeholder 5">
            <a:extLst>
              <a:ext uri="{FF2B5EF4-FFF2-40B4-BE49-F238E27FC236}">
                <a16:creationId xmlns:a16="http://schemas.microsoft.com/office/drawing/2014/main" id="{5C51BE0A-7F4E-A8E4-F126-929B723F293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B539FD-C57D-4992-A656-F8592AFCFEE8}" type="slidenum">
              <a:rPr lang="en-US" altLang="en-US">
                <a:latin typeface="Calibri" panose="020F0502020204030204" pitchFamily="34" charset="0"/>
              </a:rPr>
              <a:pPr/>
              <a:t>15</a:t>
            </a:fld>
            <a:endParaRPr lang="en-US" altLang="en-US">
              <a:latin typeface="Calibri" panose="020F0502020204030204" pitchFamily="34" charset="0"/>
            </a:endParaRPr>
          </a:p>
        </p:txBody>
      </p:sp>
    </p:spTree>
    <p:extLst>
      <p:ext uri="{BB962C8B-B14F-4D97-AF65-F5344CB8AC3E}">
        <p14:creationId xmlns:p14="http://schemas.microsoft.com/office/powerpoint/2010/main" val="6095861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DF3E9-6E95-2D5B-1E0B-FE835AD54070}"/>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94093F71-E894-04F1-4599-5D07FE5C4026}"/>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40FE1CDC-76B3-24B3-1D1C-E2E90227A62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1A01D214-FDEF-0BB5-5FC0-B984974D9738}"/>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4C3D03A0-73F7-8442-72FD-B510FD28AE6D}"/>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181A5BDD-D9EC-E36C-B15D-C61BED1CC4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16</a:t>
            </a:fld>
            <a:endParaRPr lang="en-US" altLang="en-US">
              <a:latin typeface="Calibri" panose="020F0502020204030204" pitchFamily="34" charset="0"/>
            </a:endParaRPr>
          </a:p>
        </p:txBody>
      </p:sp>
    </p:spTree>
    <p:extLst>
      <p:ext uri="{BB962C8B-B14F-4D97-AF65-F5344CB8AC3E}">
        <p14:creationId xmlns:p14="http://schemas.microsoft.com/office/powerpoint/2010/main" val="12859448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A271B-77D7-954D-5E09-821336D0112C}"/>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C8E9187F-088F-F824-3274-D7B1E45E976B}"/>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F9D362A5-B4D3-AEEA-C960-2B36BBDAEC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B603D74E-877A-6A81-817C-F610AFD92F67}"/>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17FBA0C8-AD93-00D6-350A-5B5A994ADC21}"/>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63A2F6ED-0A3F-D6BC-0D40-085247F6F34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17</a:t>
            </a:fld>
            <a:endParaRPr lang="en-US" altLang="en-US">
              <a:latin typeface="Calibri" panose="020F0502020204030204" pitchFamily="34" charset="0"/>
            </a:endParaRPr>
          </a:p>
        </p:txBody>
      </p:sp>
    </p:spTree>
    <p:extLst>
      <p:ext uri="{BB962C8B-B14F-4D97-AF65-F5344CB8AC3E}">
        <p14:creationId xmlns:p14="http://schemas.microsoft.com/office/powerpoint/2010/main" val="41754036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CD562-3506-600A-FE46-8E5CA930DBAA}"/>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61AFB435-937E-8F8B-601E-CFCAFF09A0B4}"/>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3D9217ED-6D88-62CE-5712-6CBA54EE55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4CA3CE56-D262-AEC2-2EF7-A9140E687B84}"/>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A3F15392-9986-943D-C7A2-D23F837C94C9}"/>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186684FE-60F8-C423-9C03-1B1EC4C22DD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18</a:t>
            </a:fld>
            <a:endParaRPr lang="en-US" altLang="en-US">
              <a:latin typeface="Calibri" panose="020F0502020204030204" pitchFamily="34" charset="0"/>
            </a:endParaRPr>
          </a:p>
        </p:txBody>
      </p:sp>
    </p:spTree>
    <p:extLst>
      <p:ext uri="{BB962C8B-B14F-4D97-AF65-F5344CB8AC3E}">
        <p14:creationId xmlns:p14="http://schemas.microsoft.com/office/powerpoint/2010/main" val="24277055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1EBD3-EAFA-24AE-98A2-EEFED865EB51}"/>
            </a:ext>
          </a:extLst>
        </p:cNvPr>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2BC4DCAB-089A-2F2C-44CE-70E3E06EAC1D}"/>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2DFC5110-4E27-956D-9EFF-BF3EE2A9846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316" name="Header Placeholder 3">
            <a:extLst>
              <a:ext uri="{FF2B5EF4-FFF2-40B4-BE49-F238E27FC236}">
                <a16:creationId xmlns:a16="http://schemas.microsoft.com/office/drawing/2014/main" id="{F31D0359-43C5-50F1-9EB1-33071233D64D}"/>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3317" name="Footer Placeholder 4">
            <a:extLst>
              <a:ext uri="{FF2B5EF4-FFF2-40B4-BE49-F238E27FC236}">
                <a16:creationId xmlns:a16="http://schemas.microsoft.com/office/drawing/2014/main" id="{50083D10-F4CC-C998-5DD6-854AD5A66A3B}"/>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3318" name="Slide Number Placeholder 5">
            <a:extLst>
              <a:ext uri="{FF2B5EF4-FFF2-40B4-BE49-F238E27FC236}">
                <a16:creationId xmlns:a16="http://schemas.microsoft.com/office/drawing/2014/main" id="{269979DE-3EA7-CEBC-C98E-63CA10AC987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B539FD-C57D-4992-A656-F8592AFCFEE8}" type="slidenum">
              <a:rPr lang="en-US" altLang="en-US">
                <a:latin typeface="Calibri" panose="020F0502020204030204" pitchFamily="34" charset="0"/>
              </a:rPr>
              <a:pPr/>
              <a:t>19</a:t>
            </a:fld>
            <a:endParaRPr lang="en-US" altLang="en-US">
              <a:latin typeface="Calibri" panose="020F0502020204030204" pitchFamily="34" charset="0"/>
            </a:endParaRPr>
          </a:p>
        </p:txBody>
      </p:sp>
    </p:spTree>
    <p:extLst>
      <p:ext uri="{BB962C8B-B14F-4D97-AF65-F5344CB8AC3E}">
        <p14:creationId xmlns:p14="http://schemas.microsoft.com/office/powerpoint/2010/main" val="2101460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F1E86-B00B-7AF0-3EA0-AA5ED6240EC3}"/>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4F37BDA9-3565-9C30-6B84-5ED618C46221}"/>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A00B883F-39F7-7975-1986-BFDD2CDC1AB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C12AB0A0-DA71-4B1A-2CC2-24454081604A}"/>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CEE69F30-F775-2319-5EFE-2748E3679713}"/>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91629CEB-01F5-334F-5C98-3EC481BBA9D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20</a:t>
            </a:fld>
            <a:endParaRPr lang="en-US" altLang="en-US">
              <a:latin typeface="Calibri" panose="020F0502020204030204" pitchFamily="34" charset="0"/>
            </a:endParaRPr>
          </a:p>
        </p:txBody>
      </p:sp>
    </p:spTree>
    <p:extLst>
      <p:ext uri="{BB962C8B-B14F-4D97-AF65-F5344CB8AC3E}">
        <p14:creationId xmlns:p14="http://schemas.microsoft.com/office/powerpoint/2010/main" val="14577290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D8468-A9BF-A787-D905-5F06B42E37FF}"/>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7EBF94F3-655A-DEB8-7415-E2CF48B505B8}"/>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D6F71A20-968A-B1D6-5915-D77FDB770E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F8904A41-37CF-C5B7-A8F1-6472D9622CF1}"/>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F8C54349-E326-8E1D-5FED-B7C51C1F4A98}"/>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F04C4132-BD55-362F-B1B5-DD34F29049E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21</a:t>
            </a:fld>
            <a:endParaRPr lang="en-US" altLang="en-US">
              <a:latin typeface="Calibri" panose="020F0502020204030204" pitchFamily="34" charset="0"/>
            </a:endParaRPr>
          </a:p>
        </p:txBody>
      </p:sp>
    </p:spTree>
    <p:extLst>
      <p:ext uri="{BB962C8B-B14F-4D97-AF65-F5344CB8AC3E}">
        <p14:creationId xmlns:p14="http://schemas.microsoft.com/office/powerpoint/2010/main" val="28826703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C7FB8-62E8-13B7-CF01-FCBA673909E5}"/>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0D698F80-8635-E5A8-FBA7-3613FC1B5EB3}"/>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DB6447BE-9F49-B0C6-93E2-BE9A8DC082F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D29CB06A-48A1-76A2-91A6-7DD06D86D197}"/>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432071B6-1EE6-4EC6-6934-42AEE2B2BB77}"/>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5C35566D-E9A8-39AE-6A48-7C66CA30F96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22</a:t>
            </a:fld>
            <a:endParaRPr lang="en-US" altLang="en-US">
              <a:latin typeface="Calibri" panose="020F0502020204030204" pitchFamily="34" charset="0"/>
            </a:endParaRPr>
          </a:p>
        </p:txBody>
      </p:sp>
    </p:spTree>
    <p:extLst>
      <p:ext uri="{BB962C8B-B14F-4D97-AF65-F5344CB8AC3E}">
        <p14:creationId xmlns:p14="http://schemas.microsoft.com/office/powerpoint/2010/main" val="22048643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2B634-111B-3AE5-1104-9E5D5F06D2F0}"/>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620650CB-40FE-C9D9-9595-960464589B0E}"/>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70EE047E-7F94-4394-0C26-8AF4AA075F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2543BF55-84E5-187F-35BD-48428D3B855F}"/>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46C433BA-4166-B04D-827C-A99DB0206F97}"/>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7B37BA89-3FCC-4A45-583B-DB1B5BFF8DE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23</a:t>
            </a:fld>
            <a:endParaRPr lang="en-US" altLang="en-US">
              <a:latin typeface="Calibri" panose="020F0502020204030204" pitchFamily="34" charset="0"/>
            </a:endParaRPr>
          </a:p>
        </p:txBody>
      </p:sp>
    </p:spTree>
    <p:extLst>
      <p:ext uri="{BB962C8B-B14F-4D97-AF65-F5344CB8AC3E}">
        <p14:creationId xmlns:p14="http://schemas.microsoft.com/office/powerpoint/2010/main" val="34194330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9EB60-A707-D3AE-8858-AAFB36C02B37}"/>
            </a:ext>
          </a:extLst>
        </p:cNvPr>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4315153B-C4D5-C07D-02A4-5F4A870F9922}"/>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E9F02545-9F11-98F3-BBD4-D789D13C9E1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316" name="Header Placeholder 3">
            <a:extLst>
              <a:ext uri="{FF2B5EF4-FFF2-40B4-BE49-F238E27FC236}">
                <a16:creationId xmlns:a16="http://schemas.microsoft.com/office/drawing/2014/main" id="{26D09D93-DB98-62B0-881B-1415D622A8FE}"/>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3317" name="Footer Placeholder 4">
            <a:extLst>
              <a:ext uri="{FF2B5EF4-FFF2-40B4-BE49-F238E27FC236}">
                <a16:creationId xmlns:a16="http://schemas.microsoft.com/office/drawing/2014/main" id="{5F7AF91D-59CF-49D6-DCEF-102ABC6B514E}"/>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3318" name="Slide Number Placeholder 5">
            <a:extLst>
              <a:ext uri="{FF2B5EF4-FFF2-40B4-BE49-F238E27FC236}">
                <a16:creationId xmlns:a16="http://schemas.microsoft.com/office/drawing/2014/main" id="{6642A489-82D7-78CC-9B9B-F7AB6F8B50B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B539FD-C57D-4992-A656-F8592AFCFEE8}" type="slidenum">
              <a:rPr lang="en-US" altLang="en-US">
                <a:latin typeface="Calibri" panose="020F0502020204030204" pitchFamily="34" charset="0"/>
              </a:rPr>
              <a:pPr/>
              <a:t>24</a:t>
            </a:fld>
            <a:endParaRPr lang="en-US" altLang="en-US">
              <a:latin typeface="Calibri" panose="020F0502020204030204" pitchFamily="34" charset="0"/>
            </a:endParaRPr>
          </a:p>
        </p:txBody>
      </p:sp>
    </p:spTree>
    <p:extLst>
      <p:ext uri="{BB962C8B-B14F-4D97-AF65-F5344CB8AC3E}">
        <p14:creationId xmlns:p14="http://schemas.microsoft.com/office/powerpoint/2010/main" val="16751923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57B42-30F8-539B-E271-FED13D747D6E}"/>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18478A69-A222-A9F8-5F51-0645B36EF3A6}"/>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56D088C9-2CD1-8DE2-661D-BA0C3EAB665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EAF9087E-23E3-8980-A382-A6F1AEC23C10}"/>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2173047F-F4C6-96A7-4D06-4E5E9E10C050}"/>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C5BF9FD8-085D-AF35-A70B-D4FF6ECCE5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26</a:t>
            </a:fld>
            <a:endParaRPr lang="en-US" altLang="en-US">
              <a:latin typeface="Calibri" panose="020F0502020204030204" pitchFamily="34" charset="0"/>
            </a:endParaRPr>
          </a:p>
        </p:txBody>
      </p:sp>
    </p:spTree>
    <p:extLst>
      <p:ext uri="{BB962C8B-B14F-4D97-AF65-F5344CB8AC3E}">
        <p14:creationId xmlns:p14="http://schemas.microsoft.com/office/powerpoint/2010/main" val="3127040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3056B-2E4B-728F-62CF-33F2B8D4138A}"/>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A3F49C79-CCF5-EA1A-FF8A-72CB9729FD71}"/>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B861053E-BE68-197C-E70D-8ABC5303B95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1A3AA365-55F3-2993-6DE5-5F779BC27DA7}"/>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F8A5A984-5210-F99B-FE74-C5D58D31995A}"/>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2F8D9406-586F-81F8-5FE5-C5CCCB9E643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27</a:t>
            </a:fld>
            <a:endParaRPr lang="en-US" altLang="en-US">
              <a:latin typeface="Calibri" panose="020F0502020204030204" pitchFamily="34" charset="0"/>
            </a:endParaRPr>
          </a:p>
        </p:txBody>
      </p:sp>
    </p:spTree>
    <p:extLst>
      <p:ext uri="{BB962C8B-B14F-4D97-AF65-F5344CB8AC3E}">
        <p14:creationId xmlns:p14="http://schemas.microsoft.com/office/powerpoint/2010/main" val="3206070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385C523-04CB-13A5-A51D-E542C59D2290}"/>
              </a:ext>
            </a:extLst>
          </p:cNvPr>
          <p:cNvCxnSpPr/>
          <p:nvPr/>
        </p:nvCxnSpPr>
        <p:spPr>
          <a:xfrm>
            <a:off x="685800" y="3398843"/>
            <a:ext cx="78486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685800" y="1371606"/>
            <a:ext cx="7848600" cy="1927225"/>
          </a:xfrm>
        </p:spPr>
        <p:txBody>
          <a:bodyPr anchor="b">
            <a:noAutofit/>
          </a:bodyPr>
          <a:lstStyle>
            <a:lvl1pPr>
              <a:defRPr sz="4051" cap="all" baseline="0"/>
            </a:lvl1pPr>
          </a:lstStyle>
          <a:p>
            <a:r>
              <a:rPr lang="en-US"/>
              <a:t>Click to edit Master title style</a:t>
            </a:r>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342891" indent="0" algn="ctr">
              <a:buNone/>
              <a:defRPr>
                <a:solidFill>
                  <a:schemeClr val="tx1">
                    <a:tint val="75000"/>
                  </a:schemeClr>
                </a:solidFill>
              </a:defRPr>
            </a:lvl2pPr>
            <a:lvl3pPr marL="685783" indent="0" algn="ctr">
              <a:buNone/>
              <a:defRPr>
                <a:solidFill>
                  <a:schemeClr val="tx1">
                    <a:tint val="75000"/>
                  </a:schemeClr>
                </a:solidFill>
              </a:defRPr>
            </a:lvl3pPr>
            <a:lvl4pPr marL="1028674" indent="0" algn="ctr">
              <a:buNone/>
              <a:defRPr>
                <a:solidFill>
                  <a:schemeClr val="tx1">
                    <a:tint val="75000"/>
                  </a:schemeClr>
                </a:solidFill>
              </a:defRPr>
            </a:lvl4pPr>
            <a:lvl5pPr marL="1371566" indent="0" algn="ctr">
              <a:buNone/>
              <a:defRPr>
                <a:solidFill>
                  <a:schemeClr val="tx1">
                    <a:tint val="75000"/>
                  </a:schemeClr>
                </a:solidFill>
              </a:defRPr>
            </a:lvl5pPr>
            <a:lvl6pPr marL="1714457" indent="0" algn="ctr">
              <a:buNone/>
              <a:defRPr>
                <a:solidFill>
                  <a:schemeClr val="tx1">
                    <a:tint val="75000"/>
                  </a:schemeClr>
                </a:solidFill>
              </a:defRPr>
            </a:lvl6pPr>
            <a:lvl7pPr marL="2057349" indent="0" algn="ctr">
              <a:buNone/>
              <a:defRPr>
                <a:solidFill>
                  <a:schemeClr val="tx1">
                    <a:tint val="75000"/>
                  </a:schemeClr>
                </a:solidFill>
              </a:defRPr>
            </a:lvl7pPr>
            <a:lvl8pPr marL="2400240" indent="0" algn="ctr">
              <a:buNone/>
              <a:defRPr>
                <a:solidFill>
                  <a:schemeClr val="tx1">
                    <a:tint val="75000"/>
                  </a:schemeClr>
                </a:solidFill>
              </a:defRPr>
            </a:lvl8pPr>
            <a:lvl9pPr marL="2743131" indent="0" algn="ctr">
              <a:buNone/>
              <a:defRPr>
                <a:solidFill>
                  <a:schemeClr val="tx1">
                    <a:tint val="75000"/>
                  </a:schemeClr>
                </a:solidFill>
              </a:defRPr>
            </a:lvl9pPr>
          </a:lstStyle>
          <a:p>
            <a:r>
              <a:rPr lang="en-US"/>
              <a:t>Click to edit Master subtitle style</a:t>
            </a:r>
          </a:p>
        </p:txBody>
      </p:sp>
      <p:sp>
        <p:nvSpPr>
          <p:cNvPr id="5" name="Date Placeholder 3">
            <a:extLst>
              <a:ext uri="{FF2B5EF4-FFF2-40B4-BE49-F238E27FC236}">
                <a16:creationId xmlns:a16="http://schemas.microsoft.com/office/drawing/2014/main" id="{A48C4B43-F2AF-DF60-B852-74E0D4E7907B}"/>
              </a:ext>
            </a:extLst>
          </p:cNvPr>
          <p:cNvSpPr>
            <a:spLocks noGrp="1"/>
          </p:cNvSpPr>
          <p:nvPr>
            <p:ph type="dt" sz="half" idx="10"/>
          </p:nvPr>
        </p:nvSpPr>
        <p:spPr/>
        <p:txBody>
          <a:bodyPr/>
          <a:lstStyle>
            <a:lvl1pPr>
              <a:defRPr/>
            </a:lvl1pPr>
          </a:lstStyle>
          <a:p>
            <a:pPr>
              <a:defRPr/>
            </a:pPr>
            <a:fld id="{73EE98EB-FD61-4CDD-8A73-5C7F924EB5B4}" type="datetime1">
              <a:rPr lang="en-US" smtClean="0"/>
              <a:t>9/28/2026</a:t>
            </a:fld>
            <a:endParaRPr lang="en-US"/>
          </a:p>
        </p:txBody>
      </p:sp>
      <p:sp>
        <p:nvSpPr>
          <p:cNvPr id="6" name="Footer Placeholder 4">
            <a:extLst>
              <a:ext uri="{FF2B5EF4-FFF2-40B4-BE49-F238E27FC236}">
                <a16:creationId xmlns:a16="http://schemas.microsoft.com/office/drawing/2014/main" id="{A4D0BDDC-E50F-26D3-238F-0F5A34047A2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BBF59C97-3681-C747-349F-347A998CE62D}"/>
              </a:ext>
            </a:extLst>
          </p:cNvPr>
          <p:cNvSpPr>
            <a:spLocks noGrp="1"/>
          </p:cNvSpPr>
          <p:nvPr>
            <p:ph type="sldNum" sz="quarter" idx="12"/>
          </p:nvPr>
        </p:nvSpPr>
        <p:spPr/>
        <p:txBody>
          <a:bodyPr/>
          <a:lstStyle>
            <a:lvl1pPr>
              <a:defRPr/>
            </a:lvl1pPr>
          </a:lstStyle>
          <a:p>
            <a:fld id="{EF521297-7B03-4E64-B889-AF868BDEDEA2}" type="slidenum">
              <a:rPr lang="en-US" altLang="en-US"/>
              <a:pPr/>
              <a:t>‹#›</a:t>
            </a:fld>
            <a:endParaRPr lang="en-US" altLang="en-US"/>
          </a:p>
        </p:txBody>
      </p:sp>
    </p:spTree>
    <p:extLst>
      <p:ext uri="{BB962C8B-B14F-4D97-AF65-F5344CB8AC3E}">
        <p14:creationId xmlns:p14="http://schemas.microsoft.com/office/powerpoint/2010/main" val="1323675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69F824-7901-A3A4-F80B-9FC775D74E0E}"/>
              </a:ext>
            </a:extLst>
          </p:cNvPr>
          <p:cNvSpPr>
            <a:spLocks noGrp="1"/>
          </p:cNvSpPr>
          <p:nvPr>
            <p:ph type="dt" sz="half" idx="10"/>
          </p:nvPr>
        </p:nvSpPr>
        <p:spPr/>
        <p:txBody>
          <a:bodyPr/>
          <a:lstStyle>
            <a:lvl1pPr>
              <a:defRPr/>
            </a:lvl1pPr>
          </a:lstStyle>
          <a:p>
            <a:pPr>
              <a:defRPr/>
            </a:pPr>
            <a:fld id="{8439B0C7-4A65-4B07-AF27-414EAAFC788E}" type="datetime1">
              <a:rPr lang="en-US" smtClean="0"/>
              <a:t>9/28/2026</a:t>
            </a:fld>
            <a:endParaRPr lang="en-US"/>
          </a:p>
        </p:txBody>
      </p:sp>
      <p:sp>
        <p:nvSpPr>
          <p:cNvPr id="5" name="Footer Placeholder 4">
            <a:extLst>
              <a:ext uri="{FF2B5EF4-FFF2-40B4-BE49-F238E27FC236}">
                <a16:creationId xmlns:a16="http://schemas.microsoft.com/office/drawing/2014/main" id="{159F5DB1-7002-3BFE-4D16-BA7AAFD14F1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5E27DC7-F3BD-EDF7-CDD5-5841FE3CE167}"/>
              </a:ext>
            </a:extLst>
          </p:cNvPr>
          <p:cNvSpPr>
            <a:spLocks noGrp="1"/>
          </p:cNvSpPr>
          <p:nvPr>
            <p:ph type="sldNum" sz="quarter" idx="12"/>
          </p:nvPr>
        </p:nvSpPr>
        <p:spPr/>
        <p:txBody>
          <a:bodyPr/>
          <a:lstStyle>
            <a:lvl1pPr>
              <a:defRPr/>
            </a:lvl1pPr>
          </a:lstStyle>
          <a:p>
            <a:fld id="{85C05E47-A9C6-4BBC-A5EB-B97C144431F6}" type="slidenum">
              <a:rPr lang="en-US" altLang="en-US"/>
              <a:pPr/>
              <a:t>‹#›</a:t>
            </a:fld>
            <a:endParaRPr lang="en-US" altLang="en-US"/>
          </a:p>
        </p:txBody>
      </p:sp>
    </p:spTree>
    <p:extLst>
      <p:ext uri="{BB962C8B-B14F-4D97-AF65-F5344CB8AC3E}">
        <p14:creationId xmlns:p14="http://schemas.microsoft.com/office/powerpoint/2010/main" val="4047734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2"/>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BD5039A-BD48-74DA-E1E3-414B97475724}"/>
              </a:ext>
            </a:extLst>
          </p:cNvPr>
          <p:cNvCxnSpPr/>
          <p:nvPr/>
        </p:nvCxnSpPr>
        <p:spPr>
          <a:xfrm>
            <a:off x="731044" y="4598993"/>
            <a:ext cx="78486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22313" y="2362201"/>
            <a:ext cx="7772400" cy="2200275"/>
          </a:xfrm>
        </p:spPr>
        <p:txBody>
          <a:bodyPr anchor="b"/>
          <a:lstStyle>
            <a:lvl1pPr algn="l">
              <a:defRPr sz="3600" b="0" cap="all"/>
            </a:lvl1pPr>
          </a:lstStyle>
          <a:p>
            <a:r>
              <a:rPr lang="en-US"/>
              <a:t>Click to edit Master title style</a:t>
            </a:r>
          </a:p>
        </p:txBody>
      </p:sp>
      <p:sp>
        <p:nvSpPr>
          <p:cNvPr id="3" name="Text Placeholder 2"/>
          <p:cNvSpPr>
            <a:spLocks noGrp="1"/>
          </p:cNvSpPr>
          <p:nvPr>
            <p:ph type="body" idx="1"/>
          </p:nvPr>
        </p:nvSpPr>
        <p:spPr>
          <a:xfrm>
            <a:off x="722313" y="4626870"/>
            <a:ext cx="7772400" cy="1500187"/>
          </a:xfrm>
        </p:spPr>
        <p:txBody>
          <a:bodyPr>
            <a:normAutofit/>
          </a:bodyPr>
          <a:lstStyle>
            <a:lvl1pPr marL="0" indent="0">
              <a:buNone/>
              <a:defRPr sz="1800">
                <a:solidFill>
                  <a:schemeClr val="tx2"/>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id="{A7D14361-0249-07D9-4D4C-ABEE3A83F2FE}"/>
              </a:ext>
            </a:extLst>
          </p:cNvPr>
          <p:cNvSpPr>
            <a:spLocks noGrp="1"/>
          </p:cNvSpPr>
          <p:nvPr>
            <p:ph type="dt" sz="half" idx="10"/>
          </p:nvPr>
        </p:nvSpPr>
        <p:spPr/>
        <p:txBody>
          <a:bodyPr/>
          <a:lstStyle>
            <a:lvl1pPr>
              <a:defRPr/>
            </a:lvl1pPr>
          </a:lstStyle>
          <a:p>
            <a:pPr>
              <a:defRPr/>
            </a:pPr>
            <a:fld id="{391A5789-6BE4-44E9-A9CB-D3517D51DE35}" type="datetime1">
              <a:rPr lang="en-US" smtClean="0"/>
              <a:t>9/28/2026</a:t>
            </a:fld>
            <a:endParaRPr lang="en-US"/>
          </a:p>
        </p:txBody>
      </p:sp>
      <p:sp>
        <p:nvSpPr>
          <p:cNvPr id="6" name="Footer Placeholder 4">
            <a:extLst>
              <a:ext uri="{FF2B5EF4-FFF2-40B4-BE49-F238E27FC236}">
                <a16:creationId xmlns:a16="http://schemas.microsoft.com/office/drawing/2014/main" id="{A8971842-17A0-7022-0DB3-326BB387BD2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9AB91DA-F073-65DD-4E3D-4C0797A7E015}"/>
              </a:ext>
            </a:extLst>
          </p:cNvPr>
          <p:cNvSpPr>
            <a:spLocks noGrp="1"/>
          </p:cNvSpPr>
          <p:nvPr>
            <p:ph type="sldNum" sz="quarter" idx="12"/>
          </p:nvPr>
        </p:nvSpPr>
        <p:spPr/>
        <p:txBody>
          <a:bodyPr/>
          <a:lstStyle>
            <a:lvl1pPr>
              <a:defRPr/>
            </a:lvl1pPr>
          </a:lstStyle>
          <a:p>
            <a:fld id="{55AC91BC-3294-49E4-BD5B-764965544EA6}" type="slidenum">
              <a:rPr lang="en-US" altLang="en-US"/>
              <a:pPr/>
              <a:t>‹#›</a:t>
            </a:fld>
            <a:endParaRPr lang="en-US" altLang="en-US"/>
          </a:p>
        </p:txBody>
      </p:sp>
    </p:spTree>
    <p:extLst>
      <p:ext uri="{BB962C8B-B14F-4D97-AF65-F5344CB8AC3E}">
        <p14:creationId xmlns:p14="http://schemas.microsoft.com/office/powerpoint/2010/main" val="327230593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100"/>
            </a:lvl1pPr>
            <a:lvl2pPr>
              <a:defRPr sz="1800"/>
            </a:lvl2pPr>
            <a:lvl3pPr>
              <a:defRPr sz="1500"/>
            </a:lvl3pPr>
            <a:lvl4pPr>
              <a:defRPr sz="1351"/>
            </a:lvl4pPr>
            <a:lvl5pPr>
              <a:defRPr sz="1351"/>
            </a:lvl5pPr>
            <a:lvl6pPr>
              <a:defRPr sz="1351"/>
            </a:lvl6pPr>
            <a:lvl7pPr>
              <a:defRPr sz="1351"/>
            </a:lvl7pPr>
            <a:lvl8pPr>
              <a:defRPr sz="1351"/>
            </a:lvl8pPr>
            <a:lvl9pPr>
              <a:defRPr sz="13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3352"/>
            <a:ext cx="4038600" cy="4718304"/>
          </a:xfrm>
        </p:spPr>
        <p:txBody>
          <a:bodyPr/>
          <a:lstStyle>
            <a:lvl1pPr>
              <a:defRPr sz="2100"/>
            </a:lvl1pPr>
            <a:lvl2pPr>
              <a:defRPr sz="1800"/>
            </a:lvl2pPr>
            <a:lvl3pPr>
              <a:defRPr sz="1500"/>
            </a:lvl3pPr>
            <a:lvl4pPr>
              <a:defRPr sz="1351"/>
            </a:lvl4pPr>
            <a:lvl5pPr>
              <a:defRPr sz="1351"/>
            </a:lvl5pPr>
            <a:lvl6pPr>
              <a:defRPr sz="1351"/>
            </a:lvl6pPr>
            <a:lvl7pPr>
              <a:defRPr sz="1351"/>
            </a:lvl7pPr>
            <a:lvl8pPr>
              <a:defRPr sz="1351"/>
            </a:lvl8pPr>
            <a:lvl9pPr>
              <a:defRPr sz="13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02BC4BB8-2AFF-6B38-5352-A5B04E7963CF}"/>
              </a:ext>
            </a:extLst>
          </p:cNvPr>
          <p:cNvSpPr>
            <a:spLocks noGrp="1"/>
          </p:cNvSpPr>
          <p:nvPr>
            <p:ph type="dt" sz="half" idx="10"/>
          </p:nvPr>
        </p:nvSpPr>
        <p:spPr/>
        <p:txBody>
          <a:bodyPr/>
          <a:lstStyle>
            <a:lvl1pPr>
              <a:defRPr/>
            </a:lvl1pPr>
          </a:lstStyle>
          <a:p>
            <a:pPr>
              <a:defRPr/>
            </a:pPr>
            <a:fld id="{6D5DB4BC-5924-4ED0-A615-55B60C8A8202}" type="datetime1">
              <a:rPr lang="en-US" smtClean="0"/>
              <a:t>9/28/2026</a:t>
            </a:fld>
            <a:endParaRPr lang="en-US"/>
          </a:p>
        </p:txBody>
      </p:sp>
      <p:sp>
        <p:nvSpPr>
          <p:cNvPr id="6" name="Footer Placeholder 4">
            <a:extLst>
              <a:ext uri="{FF2B5EF4-FFF2-40B4-BE49-F238E27FC236}">
                <a16:creationId xmlns:a16="http://schemas.microsoft.com/office/drawing/2014/main" id="{A03A243A-118B-015F-34BA-AE7EE328055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AE930F3-B41A-241C-BE4C-F907E75E775E}"/>
              </a:ext>
            </a:extLst>
          </p:cNvPr>
          <p:cNvSpPr>
            <a:spLocks noGrp="1"/>
          </p:cNvSpPr>
          <p:nvPr>
            <p:ph type="sldNum" sz="quarter" idx="12"/>
          </p:nvPr>
        </p:nvSpPr>
        <p:spPr/>
        <p:txBody>
          <a:bodyPr/>
          <a:lstStyle>
            <a:lvl1pPr>
              <a:defRPr/>
            </a:lvl1pPr>
          </a:lstStyle>
          <a:p>
            <a:fld id="{8FBE0AA0-0A70-4AF2-ACF5-DB631574F992}" type="slidenum">
              <a:rPr lang="en-US" altLang="en-US"/>
              <a:pPr/>
              <a:t>‹#›</a:t>
            </a:fld>
            <a:endParaRPr lang="en-US" altLang="en-US"/>
          </a:p>
        </p:txBody>
      </p:sp>
    </p:spTree>
    <p:extLst>
      <p:ext uri="{BB962C8B-B14F-4D97-AF65-F5344CB8AC3E}">
        <p14:creationId xmlns:p14="http://schemas.microsoft.com/office/powerpoint/2010/main" val="2165245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4BECF3A8-B140-AD80-00DC-FFBDD5B70091}"/>
              </a:ext>
            </a:extLst>
          </p:cNvPr>
          <p:cNvCxnSpPr/>
          <p:nvPr/>
        </p:nvCxnSpPr>
        <p:spPr>
          <a:xfrm rot="5400000">
            <a:off x="2218335" y="4045945"/>
            <a:ext cx="4708525"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1500" b="0">
                <a:solidFill>
                  <a:schemeClr val="tx2"/>
                </a:solidFill>
              </a:defRPr>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1800"/>
            </a:lvl1pPr>
            <a:lvl2pPr>
              <a:defRPr sz="1500"/>
            </a:lvl2pPr>
            <a:lvl3pPr>
              <a:defRPr sz="1351"/>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1500" b="0" kern="1200" dirty="0" smtClean="0">
                <a:solidFill>
                  <a:schemeClr val="tx2"/>
                </a:solidFill>
                <a:latin typeface="+mn-lt"/>
                <a:ea typeface="+mn-ea"/>
                <a:cs typeface="+mn-cs"/>
              </a:defRPr>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1800"/>
            </a:lvl1pPr>
            <a:lvl2pPr>
              <a:defRPr sz="1500"/>
            </a:lvl2pPr>
            <a:lvl3pPr>
              <a:defRPr sz="1351"/>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6">
            <a:extLst>
              <a:ext uri="{FF2B5EF4-FFF2-40B4-BE49-F238E27FC236}">
                <a16:creationId xmlns:a16="http://schemas.microsoft.com/office/drawing/2014/main" id="{3704CB35-5A77-BC62-66B2-0D8F94125A27}"/>
              </a:ext>
            </a:extLst>
          </p:cNvPr>
          <p:cNvSpPr>
            <a:spLocks noGrp="1"/>
          </p:cNvSpPr>
          <p:nvPr>
            <p:ph type="dt" sz="half" idx="10"/>
          </p:nvPr>
        </p:nvSpPr>
        <p:spPr/>
        <p:txBody>
          <a:bodyPr/>
          <a:lstStyle>
            <a:lvl1pPr>
              <a:defRPr/>
            </a:lvl1pPr>
          </a:lstStyle>
          <a:p>
            <a:pPr>
              <a:defRPr/>
            </a:pPr>
            <a:fld id="{34F04C66-16DA-45A0-8B5B-049DE2091259}" type="datetime1">
              <a:rPr lang="en-US" smtClean="0"/>
              <a:t>9/28/2026</a:t>
            </a:fld>
            <a:endParaRPr lang="en-US"/>
          </a:p>
        </p:txBody>
      </p:sp>
      <p:sp>
        <p:nvSpPr>
          <p:cNvPr id="9" name="Footer Placeholder 7">
            <a:extLst>
              <a:ext uri="{FF2B5EF4-FFF2-40B4-BE49-F238E27FC236}">
                <a16:creationId xmlns:a16="http://schemas.microsoft.com/office/drawing/2014/main" id="{955E0508-AA92-A349-DF5F-12DC78A81A99}"/>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8">
            <a:extLst>
              <a:ext uri="{FF2B5EF4-FFF2-40B4-BE49-F238E27FC236}">
                <a16:creationId xmlns:a16="http://schemas.microsoft.com/office/drawing/2014/main" id="{CFC7089D-B7CE-F04E-B1B7-D0D7D227244A}"/>
              </a:ext>
            </a:extLst>
          </p:cNvPr>
          <p:cNvSpPr>
            <a:spLocks noGrp="1"/>
          </p:cNvSpPr>
          <p:nvPr>
            <p:ph type="sldNum" sz="quarter" idx="12"/>
          </p:nvPr>
        </p:nvSpPr>
        <p:spPr/>
        <p:txBody>
          <a:bodyPr/>
          <a:lstStyle>
            <a:lvl1pPr>
              <a:defRPr/>
            </a:lvl1pPr>
          </a:lstStyle>
          <a:p>
            <a:fld id="{61ACEC07-1EBF-4291-9730-0A250238CBCD}" type="slidenum">
              <a:rPr lang="en-US" altLang="en-US"/>
              <a:pPr/>
              <a:t>‹#›</a:t>
            </a:fld>
            <a:endParaRPr lang="en-US" altLang="en-US"/>
          </a:p>
        </p:txBody>
      </p:sp>
    </p:spTree>
    <p:extLst>
      <p:ext uri="{BB962C8B-B14F-4D97-AF65-F5344CB8AC3E}">
        <p14:creationId xmlns:p14="http://schemas.microsoft.com/office/powerpoint/2010/main" val="458005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1DE739C2-CAEE-6402-B514-D772FEC711DE}"/>
              </a:ext>
            </a:extLst>
          </p:cNvPr>
          <p:cNvSpPr>
            <a:spLocks noGrp="1"/>
          </p:cNvSpPr>
          <p:nvPr>
            <p:ph type="dt" sz="half" idx="10"/>
          </p:nvPr>
        </p:nvSpPr>
        <p:spPr/>
        <p:txBody>
          <a:bodyPr/>
          <a:lstStyle>
            <a:lvl1pPr>
              <a:defRPr/>
            </a:lvl1pPr>
          </a:lstStyle>
          <a:p>
            <a:pPr>
              <a:defRPr/>
            </a:pPr>
            <a:fld id="{19BA5E47-AAFB-4B53-B726-8DD30BF9430C}" type="datetime1">
              <a:rPr lang="en-US" smtClean="0"/>
              <a:t>9/28/2026</a:t>
            </a:fld>
            <a:endParaRPr lang="en-US"/>
          </a:p>
        </p:txBody>
      </p:sp>
      <p:sp>
        <p:nvSpPr>
          <p:cNvPr id="4" name="Footer Placeholder 4">
            <a:extLst>
              <a:ext uri="{FF2B5EF4-FFF2-40B4-BE49-F238E27FC236}">
                <a16:creationId xmlns:a16="http://schemas.microsoft.com/office/drawing/2014/main" id="{CF20A610-E679-6A72-5000-6A9D91FA7E02}"/>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A456EC2E-6F8A-EF26-38C1-3D05835C8206}"/>
              </a:ext>
            </a:extLst>
          </p:cNvPr>
          <p:cNvSpPr>
            <a:spLocks noGrp="1"/>
          </p:cNvSpPr>
          <p:nvPr>
            <p:ph type="sldNum" sz="quarter" idx="12"/>
          </p:nvPr>
        </p:nvSpPr>
        <p:spPr/>
        <p:txBody>
          <a:bodyPr/>
          <a:lstStyle>
            <a:lvl1pPr>
              <a:defRPr/>
            </a:lvl1pPr>
          </a:lstStyle>
          <a:p>
            <a:fld id="{763E63E3-3972-446C-8D4C-DDC4F18578E9}" type="slidenum">
              <a:rPr lang="en-US" altLang="en-US"/>
              <a:pPr/>
              <a:t>‹#›</a:t>
            </a:fld>
            <a:endParaRPr lang="en-US" altLang="en-US"/>
          </a:p>
        </p:txBody>
      </p:sp>
    </p:spTree>
    <p:extLst>
      <p:ext uri="{BB962C8B-B14F-4D97-AF65-F5344CB8AC3E}">
        <p14:creationId xmlns:p14="http://schemas.microsoft.com/office/powerpoint/2010/main" val="1666690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EF267DE-2D58-C1D7-5F6E-FE8DB3389442}"/>
              </a:ext>
            </a:extLst>
          </p:cNvPr>
          <p:cNvSpPr>
            <a:spLocks noGrp="1"/>
          </p:cNvSpPr>
          <p:nvPr>
            <p:ph type="dt" sz="half" idx="10"/>
          </p:nvPr>
        </p:nvSpPr>
        <p:spPr/>
        <p:txBody>
          <a:bodyPr/>
          <a:lstStyle>
            <a:lvl1pPr>
              <a:defRPr/>
            </a:lvl1pPr>
          </a:lstStyle>
          <a:p>
            <a:pPr>
              <a:defRPr/>
            </a:pPr>
            <a:fld id="{984576D6-85B0-444D-BB48-AAF1C9AE07E3}" type="datetime1">
              <a:rPr lang="en-US" smtClean="0"/>
              <a:t>9/28/2026</a:t>
            </a:fld>
            <a:endParaRPr lang="en-US"/>
          </a:p>
        </p:txBody>
      </p:sp>
      <p:sp>
        <p:nvSpPr>
          <p:cNvPr id="3" name="Footer Placeholder 4">
            <a:extLst>
              <a:ext uri="{FF2B5EF4-FFF2-40B4-BE49-F238E27FC236}">
                <a16:creationId xmlns:a16="http://schemas.microsoft.com/office/drawing/2014/main" id="{4971E0AE-83FD-D1DD-C405-7782FEFBE66E}"/>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D5534D72-7500-44CA-E47C-A3E24418AF42}"/>
              </a:ext>
            </a:extLst>
          </p:cNvPr>
          <p:cNvSpPr>
            <a:spLocks noGrp="1"/>
          </p:cNvSpPr>
          <p:nvPr>
            <p:ph type="sldNum" sz="quarter" idx="12"/>
          </p:nvPr>
        </p:nvSpPr>
        <p:spPr/>
        <p:txBody>
          <a:bodyPr/>
          <a:lstStyle>
            <a:lvl1pPr>
              <a:defRPr/>
            </a:lvl1pPr>
          </a:lstStyle>
          <a:p>
            <a:fld id="{8ACD56A5-2A67-46A3-ABC4-4BCCE8895E6D}" type="slidenum">
              <a:rPr lang="en-US" altLang="en-US"/>
              <a:pPr/>
              <a:t>‹#›</a:t>
            </a:fld>
            <a:endParaRPr lang="en-US" altLang="en-US"/>
          </a:p>
        </p:txBody>
      </p:sp>
    </p:spTree>
    <p:extLst>
      <p:ext uri="{BB962C8B-B14F-4D97-AF65-F5344CB8AC3E}">
        <p14:creationId xmlns:p14="http://schemas.microsoft.com/office/powerpoint/2010/main" val="3249100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98969074-601E-C5F1-8FEA-8AAA7326CE76}"/>
              </a:ext>
            </a:extLst>
          </p:cNvPr>
          <p:cNvCxnSpPr/>
          <p:nvPr/>
        </p:nvCxnSpPr>
        <p:spPr>
          <a:xfrm rot="5400000">
            <a:off x="-13293" y="3580808"/>
            <a:ext cx="5578475" cy="119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792080"/>
            <a:ext cx="2139696" cy="1261872"/>
          </a:xfrm>
        </p:spPr>
        <p:txBody>
          <a:bodyPr anchor="b">
            <a:noAutofit/>
          </a:bodyPr>
          <a:lstStyle>
            <a:lvl1pPr algn="l">
              <a:defRPr sz="1800" b="0"/>
            </a:lvl1pPr>
          </a:lstStyle>
          <a:p>
            <a:r>
              <a:rPr lang="en-US"/>
              <a:t>Click to edit Master title style</a:t>
            </a:r>
          </a:p>
        </p:txBody>
      </p:sp>
      <p:sp>
        <p:nvSpPr>
          <p:cNvPr id="3" name="Content Placeholder 2"/>
          <p:cNvSpPr>
            <a:spLocks noGrp="1"/>
          </p:cNvSpPr>
          <p:nvPr>
            <p:ph idx="1"/>
          </p:nvPr>
        </p:nvSpPr>
        <p:spPr>
          <a:xfrm>
            <a:off x="2971800" y="792080"/>
            <a:ext cx="5715000" cy="557784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2130558"/>
            <a:ext cx="2139696" cy="4243615"/>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t>Click to edit Master text styles</a:t>
            </a:r>
          </a:p>
        </p:txBody>
      </p:sp>
      <p:sp>
        <p:nvSpPr>
          <p:cNvPr id="6" name="Date Placeholder 4">
            <a:extLst>
              <a:ext uri="{FF2B5EF4-FFF2-40B4-BE49-F238E27FC236}">
                <a16:creationId xmlns:a16="http://schemas.microsoft.com/office/drawing/2014/main" id="{19196D0A-E72B-4BA9-F6C1-7F1082F93828}"/>
              </a:ext>
            </a:extLst>
          </p:cNvPr>
          <p:cNvSpPr>
            <a:spLocks noGrp="1"/>
          </p:cNvSpPr>
          <p:nvPr>
            <p:ph type="dt" sz="half" idx="10"/>
          </p:nvPr>
        </p:nvSpPr>
        <p:spPr/>
        <p:txBody>
          <a:bodyPr/>
          <a:lstStyle>
            <a:lvl1pPr>
              <a:defRPr/>
            </a:lvl1pPr>
          </a:lstStyle>
          <a:p>
            <a:pPr>
              <a:defRPr/>
            </a:pPr>
            <a:fld id="{B6DEF2E5-2840-45BD-A50F-107C81A3656F}" type="datetime1">
              <a:rPr lang="en-US" smtClean="0"/>
              <a:t>9/28/2026</a:t>
            </a:fld>
            <a:endParaRPr lang="en-US"/>
          </a:p>
        </p:txBody>
      </p:sp>
      <p:sp>
        <p:nvSpPr>
          <p:cNvPr id="7" name="Footer Placeholder 5">
            <a:extLst>
              <a:ext uri="{FF2B5EF4-FFF2-40B4-BE49-F238E27FC236}">
                <a16:creationId xmlns:a16="http://schemas.microsoft.com/office/drawing/2014/main" id="{5204B3F0-68A8-FB39-83AA-0DBE08E385DE}"/>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77F02B52-1525-2151-9F9A-BFD21797F172}"/>
              </a:ext>
            </a:extLst>
          </p:cNvPr>
          <p:cNvSpPr>
            <a:spLocks noGrp="1"/>
          </p:cNvSpPr>
          <p:nvPr>
            <p:ph type="sldNum" sz="quarter" idx="12"/>
          </p:nvPr>
        </p:nvSpPr>
        <p:spPr/>
        <p:txBody>
          <a:bodyPr/>
          <a:lstStyle>
            <a:lvl1pPr>
              <a:defRPr/>
            </a:lvl1pPr>
          </a:lstStyle>
          <a:p>
            <a:fld id="{C0A431CF-545B-479B-89CA-2A8F97D39A62}" type="slidenum">
              <a:rPr lang="en-US" altLang="en-US"/>
              <a:pPr/>
              <a:t>‹#›</a:t>
            </a:fld>
            <a:endParaRPr lang="en-US" altLang="en-US"/>
          </a:p>
        </p:txBody>
      </p:sp>
    </p:spTree>
    <p:extLst>
      <p:ext uri="{BB962C8B-B14F-4D97-AF65-F5344CB8AC3E}">
        <p14:creationId xmlns:p14="http://schemas.microsoft.com/office/powerpoint/2010/main" val="88592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792480"/>
            <a:ext cx="2142680" cy="1264920"/>
          </a:xfrm>
        </p:spPr>
        <p:txBody>
          <a:bodyPr anchor="b"/>
          <a:lstStyle>
            <a:lvl1pPr algn="l">
              <a:defRPr sz="1800" b="0"/>
            </a:lvl1pPr>
          </a:lstStyle>
          <a:p>
            <a:r>
              <a:rPr lang="en-US"/>
              <a:t>Click to edit Master title style</a:t>
            </a:r>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rtlCol="0">
            <a:normAutofit/>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t>Click to edit Master text styles</a:t>
            </a:r>
          </a:p>
        </p:txBody>
      </p:sp>
      <p:sp>
        <p:nvSpPr>
          <p:cNvPr id="5" name="Date Placeholder 3">
            <a:extLst>
              <a:ext uri="{FF2B5EF4-FFF2-40B4-BE49-F238E27FC236}">
                <a16:creationId xmlns:a16="http://schemas.microsoft.com/office/drawing/2014/main" id="{670AAF80-B944-DFD0-5055-01066AD466C6}"/>
              </a:ext>
            </a:extLst>
          </p:cNvPr>
          <p:cNvSpPr>
            <a:spLocks noGrp="1"/>
          </p:cNvSpPr>
          <p:nvPr>
            <p:ph type="dt" sz="half" idx="10"/>
          </p:nvPr>
        </p:nvSpPr>
        <p:spPr/>
        <p:txBody>
          <a:bodyPr/>
          <a:lstStyle>
            <a:lvl1pPr>
              <a:defRPr/>
            </a:lvl1pPr>
          </a:lstStyle>
          <a:p>
            <a:pPr>
              <a:defRPr/>
            </a:pPr>
            <a:fld id="{94E242E5-BD59-49AF-82CA-7F537FB007D2}" type="datetime1">
              <a:rPr lang="en-US" smtClean="0"/>
              <a:t>9/28/2026</a:t>
            </a:fld>
            <a:endParaRPr lang="en-US"/>
          </a:p>
        </p:txBody>
      </p:sp>
      <p:sp>
        <p:nvSpPr>
          <p:cNvPr id="6" name="Footer Placeholder 4">
            <a:extLst>
              <a:ext uri="{FF2B5EF4-FFF2-40B4-BE49-F238E27FC236}">
                <a16:creationId xmlns:a16="http://schemas.microsoft.com/office/drawing/2014/main" id="{4A425B0F-568F-A744-ACFB-4D1F1E35904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0915748-09CB-12B2-4785-C7698467C016}"/>
              </a:ext>
            </a:extLst>
          </p:cNvPr>
          <p:cNvSpPr>
            <a:spLocks noGrp="1"/>
          </p:cNvSpPr>
          <p:nvPr>
            <p:ph type="sldNum" sz="quarter" idx="12"/>
          </p:nvPr>
        </p:nvSpPr>
        <p:spPr/>
        <p:txBody>
          <a:bodyPr/>
          <a:lstStyle>
            <a:lvl1pPr>
              <a:defRPr/>
            </a:lvl1pPr>
          </a:lstStyle>
          <a:p>
            <a:fld id="{145AFB29-16F1-4845-B745-03C2B5838E4C}" type="slidenum">
              <a:rPr lang="en-US" altLang="en-US"/>
              <a:pPr/>
              <a:t>‹#›</a:t>
            </a:fld>
            <a:endParaRPr lang="en-US" altLang="en-US"/>
          </a:p>
        </p:txBody>
      </p:sp>
    </p:spTree>
    <p:extLst>
      <p:ext uri="{BB962C8B-B14F-4D97-AF65-F5344CB8AC3E}">
        <p14:creationId xmlns:p14="http://schemas.microsoft.com/office/powerpoint/2010/main" val="370678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26E532-12A2-6501-3240-67F608E6A407}"/>
              </a:ext>
            </a:extLst>
          </p:cNvPr>
          <p:cNvSpPr>
            <a:spLocks noGrp="1"/>
          </p:cNvSpPr>
          <p:nvPr>
            <p:ph type="dt" sz="half" idx="10"/>
          </p:nvPr>
        </p:nvSpPr>
        <p:spPr/>
        <p:txBody>
          <a:bodyPr/>
          <a:lstStyle>
            <a:lvl1pPr>
              <a:defRPr/>
            </a:lvl1pPr>
          </a:lstStyle>
          <a:p>
            <a:pPr>
              <a:defRPr/>
            </a:pPr>
            <a:fld id="{A7A9C591-C993-4AC3-96E2-2A846C855263}" type="datetime1">
              <a:rPr lang="en-US" smtClean="0"/>
              <a:t>9/28/2026</a:t>
            </a:fld>
            <a:endParaRPr lang="en-US"/>
          </a:p>
        </p:txBody>
      </p:sp>
      <p:sp>
        <p:nvSpPr>
          <p:cNvPr id="5" name="Footer Placeholder 4">
            <a:extLst>
              <a:ext uri="{FF2B5EF4-FFF2-40B4-BE49-F238E27FC236}">
                <a16:creationId xmlns:a16="http://schemas.microsoft.com/office/drawing/2014/main" id="{C3555A8B-43BE-F363-A688-D089F5C83A6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A5A2EF8-292B-EF5F-B329-FCCBAECDC508}"/>
              </a:ext>
            </a:extLst>
          </p:cNvPr>
          <p:cNvSpPr>
            <a:spLocks noGrp="1"/>
          </p:cNvSpPr>
          <p:nvPr>
            <p:ph type="sldNum" sz="quarter" idx="12"/>
          </p:nvPr>
        </p:nvSpPr>
        <p:spPr/>
        <p:txBody>
          <a:bodyPr/>
          <a:lstStyle>
            <a:lvl1pPr>
              <a:defRPr/>
            </a:lvl1pPr>
          </a:lstStyle>
          <a:p>
            <a:fld id="{B2654A5B-D4DF-4CA0-9EAD-B33B7D7AD1AC}" type="slidenum">
              <a:rPr lang="en-US" altLang="en-US"/>
              <a:pPr/>
              <a:t>‹#›</a:t>
            </a:fld>
            <a:endParaRPr lang="en-US" altLang="en-US"/>
          </a:p>
        </p:txBody>
      </p:sp>
    </p:spTree>
    <p:extLst>
      <p:ext uri="{BB962C8B-B14F-4D97-AF65-F5344CB8AC3E}">
        <p14:creationId xmlns:p14="http://schemas.microsoft.com/office/powerpoint/2010/main" val="3127483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E41F87-A4C2-E3AE-656B-B314B134A06D}"/>
              </a:ext>
            </a:extLst>
          </p:cNvPr>
          <p:cNvSpPr>
            <a:spLocks noGrp="1"/>
          </p:cNvSpPr>
          <p:nvPr>
            <p:ph type="dt" sz="half" idx="10"/>
          </p:nvPr>
        </p:nvSpPr>
        <p:spPr/>
        <p:txBody>
          <a:bodyPr/>
          <a:lstStyle>
            <a:lvl1pPr>
              <a:defRPr/>
            </a:lvl1pPr>
          </a:lstStyle>
          <a:p>
            <a:pPr>
              <a:defRPr/>
            </a:pPr>
            <a:fld id="{6A26B610-AB7C-4498-95D4-26EB683F38A1}" type="datetime1">
              <a:rPr lang="en-US" smtClean="0"/>
              <a:t>9/28/2026</a:t>
            </a:fld>
            <a:endParaRPr lang="en-US"/>
          </a:p>
        </p:txBody>
      </p:sp>
      <p:sp>
        <p:nvSpPr>
          <p:cNvPr id="5" name="Footer Placeholder 4">
            <a:extLst>
              <a:ext uri="{FF2B5EF4-FFF2-40B4-BE49-F238E27FC236}">
                <a16:creationId xmlns:a16="http://schemas.microsoft.com/office/drawing/2014/main" id="{51ECF570-697B-3A02-04F1-84970171C39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36060E5-3D89-AE1B-E3D1-38EBBA29F8AA}"/>
              </a:ext>
            </a:extLst>
          </p:cNvPr>
          <p:cNvSpPr>
            <a:spLocks noGrp="1"/>
          </p:cNvSpPr>
          <p:nvPr>
            <p:ph type="sldNum" sz="quarter" idx="12"/>
          </p:nvPr>
        </p:nvSpPr>
        <p:spPr/>
        <p:txBody>
          <a:bodyPr/>
          <a:lstStyle>
            <a:lvl1pPr>
              <a:defRPr/>
            </a:lvl1pPr>
          </a:lstStyle>
          <a:p>
            <a:fld id="{CDC008E5-9BA7-4C22-A04E-A1CA47A2A8E2}" type="slidenum">
              <a:rPr lang="en-US" altLang="en-US"/>
              <a:pPr/>
              <a:t>‹#›</a:t>
            </a:fld>
            <a:endParaRPr lang="en-US" altLang="en-US"/>
          </a:p>
        </p:txBody>
      </p:sp>
    </p:spTree>
    <p:extLst>
      <p:ext uri="{BB962C8B-B14F-4D97-AF65-F5344CB8AC3E}">
        <p14:creationId xmlns:p14="http://schemas.microsoft.com/office/powerpoint/2010/main" val="32416031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D7E5665-848A-081D-9D35-116CB05AAB71}"/>
              </a:ext>
            </a:extLst>
          </p:cNvPr>
          <p:cNvSpPr/>
          <p:nvPr/>
        </p:nvSpPr>
        <p:spPr>
          <a:xfrm>
            <a:off x="0" y="220663"/>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Placeholder 1">
            <a:extLst>
              <a:ext uri="{FF2B5EF4-FFF2-40B4-BE49-F238E27FC236}">
                <a16:creationId xmlns:a16="http://schemas.microsoft.com/office/drawing/2014/main" id="{19824863-2C7F-F310-A792-F4B7FB109CD3}"/>
              </a:ext>
            </a:extLst>
          </p:cNvPr>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p>
        </p:txBody>
      </p:sp>
      <p:sp>
        <p:nvSpPr>
          <p:cNvPr id="1028" name="Text Placeholder 2">
            <a:extLst>
              <a:ext uri="{FF2B5EF4-FFF2-40B4-BE49-F238E27FC236}">
                <a16:creationId xmlns:a16="http://schemas.microsoft.com/office/drawing/2014/main" id="{BF4B07C3-926F-F9B1-D157-59DE28D47347}"/>
              </a:ext>
            </a:extLst>
          </p:cNvPr>
          <p:cNvSpPr>
            <a:spLocks noGrp="1"/>
          </p:cNvSpPr>
          <p:nvPr>
            <p:ph type="body" idx="1"/>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Rectangle 6">
            <a:extLst>
              <a:ext uri="{FF2B5EF4-FFF2-40B4-BE49-F238E27FC236}">
                <a16:creationId xmlns:a16="http://schemas.microsoft.com/office/drawing/2014/main" id="{FE5D6275-C03A-5EA1-6086-E5B39C8DD8FB}"/>
              </a:ext>
            </a:extLst>
          </p:cNvPr>
          <p:cNvSpPr/>
          <p:nvPr/>
        </p:nvSpPr>
        <p:spPr>
          <a:xfrm>
            <a:off x="0" y="5"/>
            <a:ext cx="9144000" cy="365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Date Placeholder 3">
            <a:extLst>
              <a:ext uri="{FF2B5EF4-FFF2-40B4-BE49-F238E27FC236}">
                <a16:creationId xmlns:a16="http://schemas.microsoft.com/office/drawing/2014/main" id="{A87709CF-24C6-F093-7968-6D590F4FF96C}"/>
              </a:ext>
            </a:extLst>
          </p:cNvPr>
          <p:cNvSpPr>
            <a:spLocks noGrp="1"/>
          </p:cNvSpPr>
          <p:nvPr>
            <p:ph type="dt" sz="half" idx="2"/>
          </p:nvPr>
        </p:nvSpPr>
        <p:spPr>
          <a:xfrm>
            <a:off x="457200" y="19055"/>
            <a:ext cx="2895600" cy="328613"/>
          </a:xfrm>
          <a:prstGeom prst="rect">
            <a:avLst/>
          </a:prstGeom>
        </p:spPr>
        <p:txBody>
          <a:bodyPr vert="horz" lIns="91440" tIns="45720" rIns="91440" bIns="45720" rtlCol="0" anchor="ctr"/>
          <a:lstStyle>
            <a:lvl1pPr algn="l" eaLnBrk="1" fontAlgn="auto" hangingPunct="1">
              <a:spcBef>
                <a:spcPts val="0"/>
              </a:spcBef>
              <a:spcAft>
                <a:spcPts val="0"/>
              </a:spcAft>
              <a:defRPr sz="900">
                <a:solidFill>
                  <a:srgbClr val="FFFFFF"/>
                </a:solidFill>
                <a:latin typeface="+mn-lt"/>
              </a:defRPr>
            </a:lvl1pPr>
          </a:lstStyle>
          <a:p>
            <a:pPr>
              <a:defRPr/>
            </a:pPr>
            <a:fld id="{A604F315-EE5C-48AC-8968-EFED53881723}" type="datetime1">
              <a:rPr lang="en-US" smtClean="0"/>
              <a:t>9/28/2026</a:t>
            </a:fld>
            <a:endParaRPr lang="en-US"/>
          </a:p>
        </p:txBody>
      </p:sp>
      <p:sp>
        <p:nvSpPr>
          <p:cNvPr id="5" name="Footer Placeholder 4">
            <a:extLst>
              <a:ext uri="{FF2B5EF4-FFF2-40B4-BE49-F238E27FC236}">
                <a16:creationId xmlns:a16="http://schemas.microsoft.com/office/drawing/2014/main" id="{14BA0608-11C2-EC1F-BC10-378483018CA0}"/>
              </a:ext>
            </a:extLst>
          </p:cNvPr>
          <p:cNvSpPr>
            <a:spLocks noGrp="1"/>
          </p:cNvSpPr>
          <p:nvPr>
            <p:ph type="ftr" sz="quarter" idx="3"/>
          </p:nvPr>
        </p:nvSpPr>
        <p:spPr>
          <a:xfrm>
            <a:off x="3429000" y="19055"/>
            <a:ext cx="4114800" cy="328613"/>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rgbClr val="FFFFFF"/>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63CD4FA3-6FEB-8B64-678B-4EDA76B28A63}"/>
              </a:ext>
            </a:extLst>
          </p:cNvPr>
          <p:cNvSpPr>
            <a:spLocks noGrp="1"/>
          </p:cNvSpPr>
          <p:nvPr>
            <p:ph type="sldNum" sz="quarter" idx="4"/>
          </p:nvPr>
        </p:nvSpPr>
        <p:spPr>
          <a:xfrm>
            <a:off x="7620000" y="19055"/>
            <a:ext cx="1066800" cy="328613"/>
          </a:xfrm>
          <a:prstGeom prst="rect">
            <a:avLst/>
          </a:prstGeom>
        </p:spPr>
        <p:txBody>
          <a:bodyPr vert="horz" wrap="square" lIns="91440" tIns="45720" rIns="91440" bIns="45720" numCol="1" anchor="ctr" anchorCtr="0" compatLnSpc="1">
            <a:prstTxWarp prst="textNoShape">
              <a:avLst/>
            </a:prstTxWarp>
          </a:bodyPr>
          <a:lstStyle>
            <a:lvl1pPr eaLnBrk="1" hangingPunct="1">
              <a:defRPr sz="1051" b="1">
                <a:solidFill>
                  <a:srgbClr val="FFFFFF"/>
                </a:solidFill>
              </a:defRPr>
            </a:lvl1pPr>
          </a:lstStyle>
          <a:p>
            <a:fld id="{D354761A-B58F-4E8D-A420-5D645B2EB7E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04" r:id="rId1"/>
    <p:sldLayoutId id="2147483997" r:id="rId2"/>
    <p:sldLayoutId id="2147484005" r:id="rId3"/>
    <p:sldLayoutId id="2147483998" r:id="rId4"/>
    <p:sldLayoutId id="2147484006" r:id="rId5"/>
    <p:sldLayoutId id="2147483999" r:id="rId6"/>
    <p:sldLayoutId id="2147484000" r:id="rId7"/>
    <p:sldLayoutId id="2147484007" r:id="rId8"/>
    <p:sldLayoutId id="2147484001" r:id="rId9"/>
    <p:sldLayoutId id="2147484002" r:id="rId10"/>
    <p:sldLayoutId id="2147484003" r:id="rId11"/>
  </p:sldLayoutIdLst>
  <p:hf sldNum="0" hdr="0" ftr="0" dt="0"/>
  <p:txStyles>
    <p:titleStyle>
      <a:lvl1pPr algn="l" rtl="0" eaLnBrk="0" fontAlgn="base" hangingPunct="0">
        <a:spcBef>
          <a:spcPct val="0"/>
        </a:spcBef>
        <a:spcAft>
          <a:spcPct val="0"/>
        </a:spcAft>
        <a:defRPr sz="3000" kern="1200" spc="-75">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Arial" panose="020B0604020202020204" pitchFamily="34" charset="0"/>
        </a:defRPr>
      </a:lvl2pPr>
      <a:lvl3pPr algn="l" rtl="0" eaLnBrk="0" fontAlgn="base" hangingPunct="0">
        <a:spcBef>
          <a:spcPct val="0"/>
        </a:spcBef>
        <a:spcAft>
          <a:spcPct val="0"/>
        </a:spcAft>
        <a:defRPr sz="3000">
          <a:solidFill>
            <a:schemeClr val="tx2"/>
          </a:solidFill>
          <a:latin typeface="Arial" panose="020B0604020202020204" pitchFamily="34" charset="0"/>
        </a:defRPr>
      </a:lvl3pPr>
      <a:lvl4pPr algn="l" rtl="0" eaLnBrk="0" fontAlgn="base" hangingPunct="0">
        <a:spcBef>
          <a:spcPct val="0"/>
        </a:spcBef>
        <a:spcAft>
          <a:spcPct val="0"/>
        </a:spcAft>
        <a:defRPr sz="3000">
          <a:solidFill>
            <a:schemeClr val="tx2"/>
          </a:solidFill>
          <a:latin typeface="Arial" panose="020B0604020202020204" pitchFamily="34" charset="0"/>
        </a:defRPr>
      </a:lvl4pPr>
      <a:lvl5pPr algn="l" rtl="0" eaLnBrk="0" fontAlgn="base" hangingPunct="0">
        <a:spcBef>
          <a:spcPct val="0"/>
        </a:spcBef>
        <a:spcAft>
          <a:spcPct val="0"/>
        </a:spcAft>
        <a:defRPr sz="3000">
          <a:solidFill>
            <a:schemeClr val="tx2"/>
          </a:solidFill>
          <a:latin typeface="Arial" panose="020B0604020202020204" pitchFamily="34" charset="0"/>
        </a:defRPr>
      </a:lvl5pPr>
      <a:lvl6pPr marL="342891" algn="l" rtl="0" fontAlgn="base">
        <a:spcBef>
          <a:spcPct val="0"/>
        </a:spcBef>
        <a:spcAft>
          <a:spcPct val="0"/>
        </a:spcAft>
        <a:defRPr sz="3000">
          <a:solidFill>
            <a:schemeClr val="tx2"/>
          </a:solidFill>
          <a:latin typeface="Arial" panose="020B0604020202020204" pitchFamily="34" charset="0"/>
        </a:defRPr>
      </a:lvl6pPr>
      <a:lvl7pPr marL="685783" algn="l" rtl="0" fontAlgn="base">
        <a:spcBef>
          <a:spcPct val="0"/>
        </a:spcBef>
        <a:spcAft>
          <a:spcPct val="0"/>
        </a:spcAft>
        <a:defRPr sz="3000">
          <a:solidFill>
            <a:schemeClr val="tx2"/>
          </a:solidFill>
          <a:latin typeface="Arial" panose="020B0604020202020204" pitchFamily="34" charset="0"/>
        </a:defRPr>
      </a:lvl7pPr>
      <a:lvl8pPr marL="1028674" algn="l" rtl="0" fontAlgn="base">
        <a:spcBef>
          <a:spcPct val="0"/>
        </a:spcBef>
        <a:spcAft>
          <a:spcPct val="0"/>
        </a:spcAft>
        <a:defRPr sz="3000">
          <a:solidFill>
            <a:schemeClr val="tx2"/>
          </a:solidFill>
          <a:latin typeface="Arial" panose="020B0604020202020204" pitchFamily="34" charset="0"/>
        </a:defRPr>
      </a:lvl8pPr>
      <a:lvl9pPr marL="1371566" algn="l" rtl="0" fontAlgn="base">
        <a:spcBef>
          <a:spcPct val="0"/>
        </a:spcBef>
        <a:spcAft>
          <a:spcPct val="0"/>
        </a:spcAft>
        <a:defRPr sz="3000">
          <a:solidFill>
            <a:schemeClr val="tx2"/>
          </a:solidFill>
          <a:latin typeface="Arial" panose="020B0604020202020204" pitchFamily="34" charset="0"/>
        </a:defRPr>
      </a:lvl9pPr>
    </p:titleStyle>
    <p:bodyStyle>
      <a:lvl1pPr marL="136919" indent="-136919" algn="l" rtl="0" eaLnBrk="0" fontAlgn="base" hangingPunct="0">
        <a:spcBef>
          <a:spcPct val="20000"/>
        </a:spcBef>
        <a:spcAft>
          <a:spcPct val="0"/>
        </a:spcAft>
        <a:buClr>
          <a:schemeClr val="accent1"/>
        </a:buClr>
        <a:buSzPct val="85000"/>
        <a:buFont typeface="Arial" panose="020B0604020202020204" pitchFamily="34" charset="0"/>
        <a:buChar char="•"/>
        <a:defRPr sz="1800" kern="1200">
          <a:solidFill>
            <a:schemeClr val="tx1"/>
          </a:solidFill>
          <a:latin typeface="+mn-lt"/>
          <a:ea typeface="+mn-ea"/>
          <a:cs typeface="+mn-cs"/>
        </a:defRPr>
      </a:lvl1pPr>
      <a:lvl2pPr marL="342891" indent="-136919" algn="l" rtl="0" eaLnBrk="0" fontAlgn="base" hangingPunct="0">
        <a:spcBef>
          <a:spcPct val="20000"/>
        </a:spcBef>
        <a:spcAft>
          <a:spcPct val="0"/>
        </a:spcAft>
        <a:buClr>
          <a:schemeClr val="accent1"/>
        </a:buClr>
        <a:buSzPct val="85000"/>
        <a:buFont typeface="Arial" panose="020B0604020202020204" pitchFamily="34" charset="0"/>
        <a:buChar char="•"/>
        <a:defRPr sz="1500" kern="1200">
          <a:solidFill>
            <a:schemeClr val="tx1"/>
          </a:solidFill>
          <a:latin typeface="+mn-lt"/>
          <a:ea typeface="+mn-ea"/>
          <a:cs typeface="+mn-cs"/>
        </a:defRPr>
      </a:lvl2pPr>
      <a:lvl3pPr marL="547674" indent="-136919" algn="l" rtl="0" eaLnBrk="0" fontAlgn="base" hangingPunct="0">
        <a:spcBef>
          <a:spcPct val="20000"/>
        </a:spcBef>
        <a:spcAft>
          <a:spcPct val="0"/>
        </a:spcAft>
        <a:buClr>
          <a:schemeClr val="accent1"/>
        </a:buClr>
        <a:buSzPct val="90000"/>
        <a:buFont typeface="Arial" panose="020B0604020202020204" pitchFamily="34" charset="0"/>
        <a:buChar char="•"/>
        <a:defRPr kern="1200">
          <a:solidFill>
            <a:schemeClr val="tx1"/>
          </a:solidFill>
          <a:latin typeface="+mn-lt"/>
          <a:ea typeface="+mn-ea"/>
          <a:cs typeface="+mn-cs"/>
        </a:defRPr>
      </a:lvl3pPr>
      <a:lvl4pPr marL="753648" indent="-136919" algn="l" rtl="0" eaLnBrk="0" fontAlgn="base" hangingPunct="0">
        <a:spcBef>
          <a:spcPct val="20000"/>
        </a:spcBef>
        <a:spcAft>
          <a:spcPct val="0"/>
        </a:spcAft>
        <a:buClr>
          <a:schemeClr val="accent1"/>
        </a:buClr>
        <a:buFont typeface="Arial" panose="020B0604020202020204" pitchFamily="34" charset="0"/>
        <a:buChar char="•"/>
        <a:defRPr sz="1200" kern="1200">
          <a:solidFill>
            <a:schemeClr val="tx1"/>
          </a:solidFill>
          <a:latin typeface="+mn-lt"/>
          <a:ea typeface="+mn-ea"/>
          <a:cs typeface="+mn-cs"/>
        </a:defRPr>
      </a:lvl4pPr>
      <a:lvl5pPr marL="890566" indent="-102392" algn="l" rtl="0" eaLnBrk="0" fontAlgn="base" hangingPunct="0">
        <a:spcBef>
          <a:spcPct val="20000"/>
        </a:spcBef>
        <a:spcAft>
          <a:spcPct val="0"/>
        </a:spcAft>
        <a:buClr>
          <a:schemeClr val="accent1"/>
        </a:buClr>
        <a:buSzPct val="100000"/>
        <a:buFont typeface="Arial" panose="020B0604020202020204" pitchFamily="34" charset="0"/>
        <a:buChar char="•"/>
        <a:defRPr sz="1051" kern="1200">
          <a:solidFill>
            <a:schemeClr val="tx1"/>
          </a:solidFill>
          <a:latin typeface="+mn-lt"/>
          <a:ea typeface="+mn-ea"/>
          <a:cs typeface="+mn-cs"/>
        </a:defRPr>
      </a:lvl5pPr>
      <a:lvl6pPr marL="1028674" indent="-137157" algn="l" defTabSz="685783"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6pPr>
      <a:lvl7pPr marL="1165831" indent="-137157" algn="l" defTabSz="685783"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7pPr>
      <a:lvl8pPr marL="1302987" indent="-137157" algn="l" defTabSz="685783"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8pPr>
      <a:lvl9pPr marL="1440144" indent="-137157" algn="l" defTabSz="685783"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svg"/><Relationship Id="rId6" Type="http://schemas.openxmlformats.org/officeDocument/2006/relationships/image" Target="../media/image2.png"/><Relationship Id="rId7" Type="http://schemas.openxmlformats.org/officeDocument/2006/relationships/chart" Target="../charts/chart2.xml"/><Relationship Id="rId8"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sv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svg"/><Relationship Id="rId6" Type="http://schemas.openxmlformats.org/officeDocument/2006/relationships/image" Target="../media/image2.png"/><Relationship Id="rId7" Type="http://schemas.openxmlformats.org/officeDocument/2006/relationships/chart" Target="../charts/chart4.xml"/><Relationship Id="rId8"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svg"/><Relationship Id="rId6" Type="http://schemas.openxmlformats.org/officeDocument/2006/relationships/image" Target="../media/image2.png"/><Relationship Id="rId7" Type="http://schemas.openxmlformats.org/officeDocument/2006/relationships/chart" Target="../charts/chart5.xml"/><Relationship Id="rId8"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svg"/><Relationship Id="rId6" Type="http://schemas.openxmlformats.org/officeDocument/2006/relationships/image" Target="../media/image2.png"/><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s>
</file>

<file path=ppt/slides/_rels/slide9.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6.xml"/><Relationship Id="rId3" Type="http://schemas.openxmlformats.org/officeDocument/2006/relationships/notesSlide" Target="../notesSlides/notesSlide9.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svg"/><Relationship Id="rId7" Type="http://schemas.openxmlformats.org/officeDocument/2006/relationships/image" Target="../media/image2.png"/><Relationship Id="rId8" Type="http://schemas.openxmlformats.org/officeDocument/2006/relationships/chart" Target="../charts/chart9.xml"/><Relationship Id="rId9" Type="http://schemas.openxmlformats.org/officeDocument/2006/relationships/chart" Target="../charts/chart10.xml"/></Relationships>
</file>

<file path=ppt/slides/_rels/slide10.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6.xml"/><Relationship Id="rId3" Type="http://schemas.openxmlformats.org/officeDocument/2006/relationships/notesSlide" Target="../notesSlides/notesSlide10.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svg"/><Relationship Id="rId7"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6.xml"/><Relationship Id="rId3" Type="http://schemas.openxmlformats.org/officeDocument/2006/relationships/notesSlide" Target="../notesSlides/notesSlide11.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svg"/><Relationship Id="rId7" Type="http://schemas.openxmlformats.org/officeDocument/2006/relationships/image" Target="../media/image2.png"/><Relationship Id="rId8" Type="http://schemas.openxmlformats.org/officeDocument/2006/relationships/chart" Target="../charts/chart11.xml"/></Relationships>
</file>

<file path=ppt/slides/_rels/slide1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6.xml"/><Relationship Id="rId3" Type="http://schemas.openxmlformats.org/officeDocument/2006/relationships/notesSlide" Target="../notesSlides/notesSlide12.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svg"/><Relationship Id="rId7" Type="http://schemas.openxmlformats.org/officeDocument/2006/relationships/image" Target="../media/image2.png"/><Relationship Id="rId8" Type="http://schemas.openxmlformats.org/officeDocument/2006/relationships/chart" Target="../charts/chart12.xml"/></Relationships>
</file>

<file path=ppt/slides/_rels/slide1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6.xml"/><Relationship Id="rId3" Type="http://schemas.openxmlformats.org/officeDocument/2006/relationships/notesSlide" Target="../notesSlides/notesSlide13.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svg"/><Relationship Id="rId7" Type="http://schemas.openxmlformats.org/officeDocument/2006/relationships/image" Target="../media/image2.png"/><Relationship Id="rId8" Type="http://schemas.openxmlformats.org/officeDocument/2006/relationships/chart" Target="../charts/char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svg"/><Relationship Id="rId6" Type="http://schemas.openxmlformats.org/officeDocument/2006/relationships/image" Target="../media/image2.png"/><Relationship Id="rId7" Type="http://schemas.openxmlformats.org/officeDocument/2006/relationships/chart" Target="../charts/chart14.xml"/><Relationship Id="rId8" Type="http://schemas.openxmlformats.org/officeDocument/2006/relationships/chart" Target="../charts/char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6.xml"/><Relationship Id="rId3" Type="http://schemas.openxmlformats.org/officeDocument/2006/relationships/notesSlide" Target="../notesSlides/notesSlide16.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svg"/><Relationship Id="rId7" Type="http://schemas.openxmlformats.org/officeDocument/2006/relationships/image" Target="../media/image2.png"/><Relationship Id="rId8" Type="http://schemas.openxmlformats.org/officeDocument/2006/relationships/chart" Target="../charts/chart16.xml"/><Relationship Id="rId9" Type="http://schemas.openxmlformats.org/officeDocument/2006/relationships/chart" Target="../charts/chart17.xml"/><Relationship Id="rId10" Type="http://schemas.openxmlformats.org/officeDocument/2006/relationships/chart" Target="../charts/chart18.xml"/><Relationship Id="rId11" Type="http://schemas.openxmlformats.org/officeDocument/2006/relationships/chart" Target="../charts/char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4.svg"/><Relationship Id="rId7" Type="http://schemas.openxmlformats.org/officeDocument/2006/relationships/chart" Target="../charts/chart20.xml"/><Relationship Id="rId8" Type="http://schemas.openxmlformats.org/officeDocument/2006/relationships/chart" Target="../charts/chart21.xml"/><Relationship Id="rId9" Type="http://schemas.openxmlformats.org/officeDocument/2006/relationships/chart" Target="../charts/char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4.sv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chart" Target="../charts/chart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6.xml"/><Relationship Id="rId3" Type="http://schemas.openxmlformats.org/officeDocument/2006/relationships/notesSlide" Target="../notesSlides/notesSlide20.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svg"/><Relationship Id="rId7"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svg"/><Relationship Id="rId6" Type="http://schemas.openxmlformats.org/officeDocument/2006/relationships/image" Target="../media/image2.png"/><Relationship Id="rId7" Type="http://schemas.openxmlformats.org/officeDocument/2006/relationships/chart" Target="../charts/chart24.xml"/></Relationships>
</file>

<file path=ppt/slides/_rels/slide22.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6.xml"/><Relationship Id="rId3" Type="http://schemas.openxmlformats.org/officeDocument/2006/relationships/notesSlide" Target="../notesSlides/notesSlide22.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svg"/><Relationship Id="rId7"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svg"/><Relationship Id="rId6" Type="http://schemas.openxmlformats.org/officeDocument/2006/relationships/image" Target="../media/image2.png"/><Relationship Id="rId7" Type="http://schemas.openxmlformats.org/officeDocument/2006/relationships/chart" Target="../charts/chart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4.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svg"/><Relationship Id="rId5" Type="http://schemas.openxmlformats.org/officeDocument/2006/relationships/image" Target="../media/image2.png"/><Relationship Id="rId6" Type="http://schemas.openxmlformats.org/officeDocument/2006/relationships/chart" Target="../charts/chart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svg"/><Relationship Id="rId6" Type="http://schemas.openxmlformats.org/officeDocument/2006/relationships/image" Target="../media/image2.png"/><Relationship Id="rId7" Type="http://schemas.openxmlformats.org/officeDocument/2006/relationships/chart" Target="../charts/chart27.xml"/><Relationship Id="rId8" Type="http://schemas.openxmlformats.org/officeDocument/2006/relationships/chart" Target="../charts/chart28.xml"/><Relationship Id="rId9" Type="http://schemas.openxmlformats.org/officeDocument/2006/relationships/chart" Target="../charts/chart29.xml"/></Relationships>
</file>

<file path=ppt/slides/_rels/slide28.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6.xml"/><Relationship Id="rId3" Type="http://schemas.openxmlformats.org/officeDocument/2006/relationships/notesSlide" Target="../notesSlides/notesSlide26.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svg"/><Relationship Id="rId7" Type="http://schemas.openxmlformats.org/officeDocument/2006/relationships/image" Target="../media/image2.png"/><Relationship Id="rId8" Type="http://schemas.openxmlformats.org/officeDocument/2006/relationships/chart" Target="../charts/chart3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svg"/><Relationship Id="rId5" Type="http://schemas.openxmlformats.org/officeDocument/2006/relationships/image" Target="../media/image2.png"/><Relationship Id="rId6" Type="http://schemas.openxmlformats.org/officeDocument/2006/relationships/chart" Target="../charts/chart3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svg"/><Relationship Id="rId5"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svg"/><Relationship Id="rId5" Type="http://schemas.openxmlformats.org/officeDocument/2006/relationships/image" Target="../media/image2.png"/><Relationship Id="rId6" Type="http://schemas.openxmlformats.org/officeDocument/2006/relationships/chart" Target="../charts/chart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svg"/><Relationship Id="rId5"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svg"/><Relationship Id="rId5"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sv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4" name="Group 2056">
            <a:extLst>
              <a:ext uri="{FF2B5EF4-FFF2-40B4-BE49-F238E27FC236}">
                <a16:creationId xmlns:a16="http://schemas.microsoft.com/office/drawing/2014/main" id="{3B5D31CA-2509-FAB0-0432-B9A5001CE99C}"/>
              </a:ext>
            </a:extLst>
          </p:cNvPr>
          <p:cNvGrpSpPr>
            <a:grpSpLocks/>
          </p:cNvGrpSpPr>
          <p:nvPr/>
        </p:nvGrpSpPr>
        <p:grpSpPr bwMode="auto">
          <a:xfrm>
            <a:off x="3728545" y="5597849"/>
            <a:ext cx="5283437" cy="540544"/>
            <a:chOff x="5404032" y="5724682"/>
            <a:chExt cx="6336921" cy="721150"/>
          </a:xfrm>
        </p:grpSpPr>
        <p:sp>
          <p:nvSpPr>
            <p:cNvPr id="37" name="Rounded Rectangle 36">
              <a:extLst>
                <a:ext uri="{FF2B5EF4-FFF2-40B4-BE49-F238E27FC236}">
                  <a16:creationId xmlns:a16="http://schemas.microsoft.com/office/drawing/2014/main" id="{A13790DA-A12F-A6FD-B3C4-0839A2FFC313}"/>
                </a:ext>
              </a:extLst>
            </p:cNvPr>
            <p:cNvSpPr/>
            <p:nvPr/>
          </p:nvSpPr>
          <p:spPr>
            <a:xfrm>
              <a:off x="5404032" y="5832696"/>
              <a:ext cx="2407109" cy="505123"/>
            </a:xfrm>
            <a:prstGeom prst="roundRect">
              <a:avLst/>
            </a:prstGeom>
            <a:solidFill>
              <a:srgbClr val="F2C755"/>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Current Price: $183.73</a:t>
              </a:r>
            </a:p>
          </p:txBody>
        </p:sp>
        <p:sp>
          <p:nvSpPr>
            <p:cNvPr id="39" name="Down Arrow 38">
              <a:extLst>
                <a:ext uri="{FF2B5EF4-FFF2-40B4-BE49-F238E27FC236}">
                  <a16:creationId xmlns:a16="http://schemas.microsoft.com/office/drawing/2014/main" id="{DBF09A14-4F05-D4FA-CF17-68E14BCD22B3}"/>
                </a:ext>
              </a:extLst>
            </p:cNvPr>
            <p:cNvSpPr/>
            <p:nvPr/>
          </p:nvSpPr>
          <p:spPr>
            <a:xfrm rot="16200000">
              <a:off x="8322269" y="5681956"/>
              <a:ext cx="721150" cy="806604"/>
            </a:xfrm>
            <a:prstGeom prst="down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29" name="Rounded Rectangle 28">
              <a:extLst>
                <a:ext uri="{FF2B5EF4-FFF2-40B4-BE49-F238E27FC236}">
                  <a16:creationId xmlns:a16="http://schemas.microsoft.com/office/drawing/2014/main" id="{BB81187E-944E-F1DA-5299-C43CFD312285}"/>
                </a:ext>
              </a:extLst>
            </p:cNvPr>
            <p:cNvSpPr/>
            <p:nvPr/>
          </p:nvSpPr>
          <p:spPr>
            <a:xfrm>
              <a:off x="9333844" y="5832696"/>
              <a:ext cx="2407109" cy="505123"/>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Target Price: $165.54</a:t>
              </a:r>
            </a:p>
          </p:txBody>
        </p:sp>
      </p:grpSp>
      <p:sp>
        <p:nvSpPr>
          <p:cNvPr id="20" name="Rounded Rectangle 19">
            <a:extLst>
              <a:ext uri="{FF2B5EF4-FFF2-40B4-BE49-F238E27FC236}">
                <a16:creationId xmlns:a16="http://schemas.microsoft.com/office/drawing/2014/main" id="{73BE8B27-F14E-073F-00DE-12A312D627A3}"/>
              </a:ext>
            </a:extLst>
          </p:cNvPr>
          <p:cNvSpPr/>
          <p:nvPr/>
        </p:nvSpPr>
        <p:spPr>
          <a:xfrm>
            <a:off x="125780" y="1088289"/>
            <a:ext cx="3464635" cy="378619"/>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600" b="1">
                <a:solidFill>
                  <a:srgbClr val="000000"/>
                </a:solidFill>
                <a:latin typeface="Calibri" panose="020F0502020204030204" pitchFamily="34" charset="0"/>
                <a:ea typeface="Calibri" panose="020F0502020204030204" pitchFamily="34" charset="0"/>
                <a:cs typeface="Calibri" panose="020F0502020204030204" pitchFamily="34" charset="0"/>
              </a:rPr>
              <a:t>RECOMMENDATION: SELL</a:t>
            </a:r>
          </a:p>
        </p:txBody>
      </p:sp>
      <p:sp>
        <p:nvSpPr>
          <p:cNvPr id="2" name="TextBox 1">
            <a:extLst>
              <a:ext uri="{FF2B5EF4-FFF2-40B4-BE49-F238E27FC236}">
                <a16:creationId xmlns:a16="http://schemas.microsoft.com/office/drawing/2014/main" id="{8B9ACBDD-1411-07AA-E462-4F4F08289884}"/>
              </a:ext>
            </a:extLst>
          </p:cNvPr>
          <p:cNvSpPr txBox="1"/>
          <p:nvPr/>
        </p:nvSpPr>
        <p:spPr>
          <a:xfrm>
            <a:off x="80129" y="5734930"/>
            <a:ext cx="3248028" cy="600164"/>
          </a:xfrm>
          <a:prstGeom prst="rect">
            <a:avLst/>
          </a:prstGeom>
          <a:noFill/>
        </p:spPr>
        <p:txBody>
          <a:bodyPr wrap="square" lIns="91440" tIns="45720" rIns="91440" bIns="45720" rtlCol="0" anchor="t">
            <a:spAutoFit/>
          </a:bodyPr>
          <a:lstStyle/>
          <a:p>
            <a:r>
              <a:rPr lang="en-US" sz="1100" b="1">
                <a:latin typeface="Calibri"/>
                <a:ea typeface="Calibri"/>
                <a:cs typeface="Calibri"/>
              </a:rPr>
              <a:t>Ticker: GATX</a:t>
            </a:r>
          </a:p>
          <a:p>
            <a:r>
              <a:rPr lang="en-US" sz="1100">
                <a:latin typeface="Calibri"/>
                <a:ea typeface="Calibri"/>
                <a:cs typeface="Calibri"/>
              </a:rPr>
              <a:t>Analyst: Brock </a:t>
            </a:r>
            <a:r>
              <a:rPr lang="en-US" sz="1100" err="1">
                <a:latin typeface="Calibri"/>
                <a:ea typeface="Calibri"/>
                <a:cs typeface="Calibri"/>
              </a:rPr>
              <a:t>Gorzelanczyk</a:t>
            </a:r>
          </a:p>
          <a:p>
            <a:r>
              <a:rPr lang="en-US" sz="1100">
                <a:latin typeface="Calibri"/>
                <a:ea typeface="Calibri"/>
                <a:cs typeface="Calibri"/>
              </a:rPr>
              <a:t>Contact at Gorzela2@uwm.edu</a:t>
            </a:r>
            <a:endParaRPr lang="en-US" sz="1100">
              <a:latin typeface="Calibri" panose="020F0502020204030204" pitchFamily="34" charset="0"/>
              <a:ea typeface="Calibri"/>
              <a:cs typeface="Calibri" panose="020F0502020204030204" pitchFamily="34" charset="0"/>
            </a:endParaRPr>
          </a:p>
        </p:txBody>
      </p:sp>
      <p:grpSp>
        <p:nvGrpSpPr>
          <p:cNvPr id="35" name="Group 34">
            <a:extLst>
              <a:ext uri="{FF2B5EF4-FFF2-40B4-BE49-F238E27FC236}">
                <a16:creationId xmlns:a16="http://schemas.microsoft.com/office/drawing/2014/main" id="{8C05FA5D-8E76-ECA8-7784-39C4FC8D3D5D}"/>
              </a:ext>
            </a:extLst>
          </p:cNvPr>
          <p:cNvGrpSpPr/>
          <p:nvPr/>
        </p:nvGrpSpPr>
        <p:grpSpPr>
          <a:xfrm>
            <a:off x="3728546" y="1094827"/>
            <a:ext cx="5288998" cy="787946"/>
            <a:chOff x="3149500" y="910514"/>
            <a:chExt cx="5258037" cy="585875"/>
          </a:xfrm>
        </p:grpSpPr>
        <p:sp>
          <p:nvSpPr>
            <p:cNvPr id="36" name="Rectangle 35">
              <a:extLst>
                <a:ext uri="{FF2B5EF4-FFF2-40B4-BE49-F238E27FC236}">
                  <a16:creationId xmlns:a16="http://schemas.microsoft.com/office/drawing/2014/main" id="{37D462EE-5E5F-70A1-D4B6-EEE56884F9B3}"/>
                </a:ext>
              </a:extLst>
            </p:cNvPr>
            <p:cNvSpPr/>
            <p:nvPr/>
          </p:nvSpPr>
          <p:spPr bwMode="auto">
            <a:xfrm>
              <a:off x="3426457" y="1144291"/>
              <a:ext cx="4905562" cy="15503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grpSp>
          <p:nvGrpSpPr>
            <p:cNvPr id="10255" name="Group 3">
              <a:extLst>
                <a:ext uri="{FF2B5EF4-FFF2-40B4-BE49-F238E27FC236}">
                  <a16:creationId xmlns:a16="http://schemas.microsoft.com/office/drawing/2014/main" id="{7D9A2093-28CF-EC4B-2E88-52671B1CFB1B}"/>
                </a:ext>
              </a:extLst>
            </p:cNvPr>
            <p:cNvGrpSpPr>
              <a:grpSpLocks/>
            </p:cNvGrpSpPr>
            <p:nvPr/>
          </p:nvGrpSpPr>
          <p:grpSpPr bwMode="auto">
            <a:xfrm>
              <a:off x="3149500" y="914261"/>
              <a:ext cx="3107470" cy="578660"/>
              <a:chOff x="4443105" y="1696872"/>
              <a:chExt cx="7123462" cy="691132"/>
            </a:xfrm>
          </p:grpSpPr>
          <p:sp>
            <p:nvSpPr>
              <p:cNvPr id="18" name="Rounded Rectangle 17">
                <a:extLst>
                  <a:ext uri="{FF2B5EF4-FFF2-40B4-BE49-F238E27FC236}">
                    <a16:creationId xmlns:a16="http://schemas.microsoft.com/office/drawing/2014/main" id="{FAB3564D-E876-03A6-5CEB-D16792D1E901}"/>
                  </a:ext>
                </a:extLst>
              </p:cNvPr>
              <p:cNvSpPr/>
              <p:nvPr/>
            </p:nvSpPr>
            <p:spPr>
              <a:xfrm>
                <a:off x="4443105" y="1696872"/>
                <a:ext cx="2182434" cy="691132"/>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Railcar Supply</a:t>
                </a:r>
              </a:p>
            </p:txBody>
          </p:sp>
          <p:sp>
            <p:nvSpPr>
              <p:cNvPr id="19" name="Rounded Rectangle 18">
                <a:extLst>
                  <a:ext uri="{FF2B5EF4-FFF2-40B4-BE49-F238E27FC236}">
                    <a16:creationId xmlns:a16="http://schemas.microsoft.com/office/drawing/2014/main" id="{7343957F-ACD4-1725-93C5-196D6FC19BAC}"/>
                  </a:ext>
                </a:extLst>
              </p:cNvPr>
              <p:cNvSpPr/>
              <p:nvPr/>
            </p:nvSpPr>
            <p:spPr>
              <a:xfrm>
                <a:off x="6912827" y="1696872"/>
                <a:ext cx="2184020" cy="691132"/>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Fleet Growth</a:t>
                </a:r>
              </a:p>
            </p:txBody>
          </p:sp>
          <p:sp>
            <p:nvSpPr>
              <p:cNvPr id="21" name="Rounded Rectangle 20">
                <a:extLst>
                  <a:ext uri="{FF2B5EF4-FFF2-40B4-BE49-F238E27FC236}">
                    <a16:creationId xmlns:a16="http://schemas.microsoft.com/office/drawing/2014/main" id="{5662EAA5-B398-BA0A-762D-1563244D4019}"/>
                  </a:ext>
                </a:extLst>
              </p:cNvPr>
              <p:cNvSpPr/>
              <p:nvPr/>
            </p:nvSpPr>
            <p:spPr>
              <a:xfrm>
                <a:off x="9384135" y="1696872"/>
                <a:ext cx="2182432" cy="691132"/>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Renewal Pricing</a:t>
                </a:r>
              </a:p>
            </p:txBody>
          </p:sp>
        </p:grpSp>
        <p:sp>
          <p:nvSpPr>
            <p:cNvPr id="33" name="Rounded Rectangle 20">
              <a:extLst>
                <a:ext uri="{FF2B5EF4-FFF2-40B4-BE49-F238E27FC236}">
                  <a16:creationId xmlns:a16="http://schemas.microsoft.com/office/drawing/2014/main" id="{B24FEADB-1445-E30B-F954-80D187AA6C6D}"/>
                </a:ext>
              </a:extLst>
            </p:cNvPr>
            <p:cNvSpPr/>
            <p:nvPr/>
          </p:nvSpPr>
          <p:spPr bwMode="auto">
            <a:xfrm>
              <a:off x="7455494" y="917729"/>
              <a:ext cx="952043" cy="578660"/>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Intl &amp; Engines</a:t>
              </a:r>
            </a:p>
          </p:txBody>
        </p:sp>
        <p:sp>
          <p:nvSpPr>
            <p:cNvPr id="34" name="Rounded Rectangle 20">
              <a:extLst>
                <a:ext uri="{FF2B5EF4-FFF2-40B4-BE49-F238E27FC236}">
                  <a16:creationId xmlns:a16="http://schemas.microsoft.com/office/drawing/2014/main" id="{7567923E-695B-7495-A9C5-C1045C6ADBA3}"/>
                </a:ext>
              </a:extLst>
            </p:cNvPr>
            <p:cNvSpPr/>
            <p:nvPr/>
          </p:nvSpPr>
          <p:spPr bwMode="auto">
            <a:xfrm>
              <a:off x="6380210" y="910514"/>
              <a:ext cx="952043" cy="578660"/>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Disposition Gains</a:t>
              </a:r>
            </a:p>
          </p:txBody>
        </p:sp>
      </p:grpSp>
      <p:sp>
        <p:nvSpPr>
          <p:cNvPr id="7" name="TextBox 6">
            <a:extLst>
              <a:ext uri="{FF2B5EF4-FFF2-40B4-BE49-F238E27FC236}">
                <a16:creationId xmlns:a16="http://schemas.microsoft.com/office/drawing/2014/main" id="{D44D5FE0-8D81-9172-5B3D-6FE6629A1F77}"/>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a:t>
            </a:fld>
            <a:endParaRPr lang="en-US" sz="1400">
              <a:latin typeface="Calibri" panose="020F0502020204030204" pitchFamily="34" charset="0"/>
              <a:cs typeface="Calibri" panose="020F0502020204030204" pitchFamily="34" charset="0"/>
            </a:endParaRPr>
          </a:p>
        </p:txBody>
      </p:sp>
      <p:pic>
        <p:nvPicPr>
          <p:cNvPr id="10" name="Picture 9" descr="A black background with blue text&#10;&#10;Description automatically generated">
            <a:extLst>
              <a:ext uri="{FF2B5EF4-FFF2-40B4-BE49-F238E27FC236}">
                <a16:creationId xmlns:a16="http://schemas.microsoft.com/office/drawing/2014/main" id="{B769DD72-4F5D-B71C-BD99-21C9267FDB50}"/>
              </a:ext>
            </a:extLst>
          </p:cNvPr>
          <p:cNvPicPr>
            <a:picLocks noChangeAspect="1"/>
          </p:cNvPicPr>
          <p:nvPr/>
        </p:nvPicPr>
        <p:blipFill>
          <a:blip r:embed="rId3">
            <a:extLst>
              <a:ext uri="{28A0092B-C50C-407E-A947-70E740481C1C}">
                <a14:useLocalDpi xmlns:a14="http://schemas.microsoft.com/office/drawing/2010/main" val="0"/>
              </a:ext>
            </a:extLst>
          </a:blip>
          <a:srcRect t="30000" b="30000"/>
          <a:stretch>
            <a:fillRect/>
          </a:stretch>
        </p:blipFill>
        <p:spPr>
          <a:xfrm>
            <a:off x="3365500" y="76200"/>
            <a:ext cx="2413000" cy="965200"/>
          </a:xfrm>
          <a:prstGeom prst="rect">
            <a:avLst/>
          </a:prstGeom>
        </p:spPr>
      </p:pic>
      <p:graphicFrame>
        <p:nvGraphicFramePr>
          <p:cNvPr id="9" name="Chart 8">
            <a:extLst>
              <a:ext uri="{FF2B5EF4-FFF2-40B4-BE49-F238E27FC236}">
                <a16:creationId xmlns:a16="http://schemas.microsoft.com/office/drawing/2014/main" id="{B7BCF3A8-291D-B169-0501-C8FF09C9512E}"/>
              </a:ext>
            </a:extLst>
          </p:cNvPr>
          <p:cNvGraphicFramePr>
            <a:graphicFrameLocks/>
          </p:cNvGraphicFramePr>
          <p:nvPr/>
        </p:nvGraphicFramePr>
        <p:xfrm>
          <a:off x="3728545" y="2086328"/>
          <a:ext cx="5278560" cy="284606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Table 5">
            <a:extLst>
              <a:ext uri="{FF2B5EF4-FFF2-40B4-BE49-F238E27FC236}">
                <a16:creationId xmlns:a16="http://schemas.microsoft.com/office/drawing/2014/main" id="{E776EF71-607F-F855-56CA-F38F55ABE739}"/>
              </a:ext>
            </a:extLst>
          </p:cNvPr>
          <p:cNvGraphicFramePr>
            <a:graphicFrameLocks noGrp="1"/>
          </p:cNvGraphicFramePr>
          <p:nvPr/>
        </p:nvGraphicFramePr>
        <p:xfrm>
          <a:off x="126138" y="1637715"/>
          <a:ext cx="3463959" cy="1828800"/>
        </p:xfrm>
        <a:graphic>
          <a:graphicData uri="http://schemas.openxmlformats.org/drawingml/2006/table">
            <a:tbl>
              <a:tblPr/>
              <a:tblGrid>
                <a:gridCol w="1917107">
                  <a:extLst>
                    <a:ext uri="{9D8B030D-6E8A-4147-A177-3AD203B41FA5}">
                      <a16:colId xmlns:a16="http://schemas.microsoft.com/office/drawing/2014/main" val="896875415"/>
                    </a:ext>
                  </a:extLst>
                </a:gridCol>
                <a:gridCol w="1546852">
                  <a:extLst>
                    <a:ext uri="{9D8B030D-6E8A-4147-A177-3AD203B41FA5}">
                      <a16:colId xmlns:a16="http://schemas.microsoft.com/office/drawing/2014/main" val="1268898054"/>
                    </a:ext>
                  </a:extLst>
                </a:gridCol>
              </a:tblGrid>
              <a:tr h="165100">
                <a:tc gridSpan="2">
                  <a:txBody>
                    <a:bodyPr/>
                    <a:lstStyle/>
                    <a:p>
                      <a:pPr algn="ctr" fontAlgn="b"/>
                      <a:r>
                        <a:rPr lang="en-US" sz="1200" b="1" i="0" u="none" strike="noStrike">
                          <a:solidFill>
                            <a:srgbClr val="000000"/>
                          </a:solidFill>
                          <a:effectLst/>
                          <a:latin typeface="Calibri" panose="020F0502020204030204" pitchFamily="34" charset="0"/>
                        </a:rPr>
                        <a:t>Market Profile</a:t>
                      </a:r>
                    </a:p>
                  </a:txBody>
                  <a:tcPr marL="0" marR="0" marT="0" marB="0" anchor="b">
                    <a:lnL>
                      <a:noFill/>
                    </a:lnL>
                    <a:lnR>
                      <a:noFill/>
                    </a:lnR>
                    <a:lnT>
                      <a:noFill/>
                    </a:lnT>
                    <a:lnB>
                      <a:noFill/>
                    </a:lnB>
                    <a:solidFill>
                      <a:srgbClr val="F2C755"/>
                    </a:solidFill>
                  </a:tcPr>
                </a:tc>
                <a:tc hMerge="1">
                  <a:txBody>
                    <a:bodyPr/>
                    <a:lstStyle/>
                    <a:p>
                      <a:endParaRPr lang="en-US"/>
                    </a:p>
                  </a:txBody>
                  <a:tcPr/>
                </a:tc>
                <a:extLst>
                  <a:ext uri="{0D108BD9-81ED-4DB2-BD59-A6C34878D82A}">
                    <a16:rowId xmlns:a16="http://schemas.microsoft.com/office/drawing/2014/main" val="1258083743"/>
                  </a:ext>
                </a:extLst>
              </a:tr>
              <a:tr h="165100">
                <a:tc>
                  <a:txBody>
                    <a:bodyPr/>
                    <a:lstStyle/>
                    <a:p>
                      <a:pPr algn="l" fontAlgn="b"/>
                      <a:r>
                        <a:rPr lang="en-US" sz="1200" b="0" i="0" u="none" strike="noStrike">
                          <a:solidFill>
                            <a:srgbClr val="000000"/>
                          </a:solidFill>
                          <a:effectLst/>
                          <a:latin typeface="Calibri" panose="020F0502020204030204" pitchFamily="34" charset="0"/>
                        </a:rPr>
                        <a:t>Closing Price</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$183.73</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4256948883"/>
                  </a:ext>
                </a:extLst>
              </a:tr>
              <a:tr h="165100">
                <a:tc>
                  <a:txBody>
                    <a:bodyPr/>
                    <a:lstStyle/>
                    <a:p>
                      <a:pPr algn="l" fontAlgn="b"/>
                      <a:r>
                        <a:rPr lang="en-US" sz="1200" b="0" i="0" u="none" strike="noStrike">
                          <a:solidFill>
                            <a:srgbClr val="000000"/>
                          </a:solidFill>
                          <a:effectLst/>
                          <a:latin typeface="Calibri" panose="020F0502020204030204" pitchFamily="34" charset="0"/>
                        </a:rPr>
                        <a:t>52-Week High / Low</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$205.56 / $150.42</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870374520"/>
                  </a:ext>
                </a:extLst>
              </a:tr>
              <a:tr h="165100">
                <a:tc>
                  <a:txBody>
                    <a:bodyPr/>
                    <a:lstStyle/>
                    <a:p>
                      <a:pPr algn="l" fontAlgn="b"/>
                      <a:r>
                        <a:rPr lang="en-US" sz="1200" b="0" i="0" u="none" strike="noStrike">
                          <a:solidFill>
                            <a:srgbClr val="000000"/>
                          </a:solidFill>
                          <a:effectLst/>
                          <a:latin typeface="Calibri" panose="020F0502020204030204" pitchFamily="34" charset="0"/>
                        </a:rPr>
                        <a:t>Insider Ownership</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~1.2%</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146997787"/>
                  </a:ext>
                </a:extLst>
              </a:tr>
              <a:tr h="165100">
                <a:tc>
                  <a:txBody>
                    <a:bodyPr/>
                    <a:lstStyle/>
                    <a:p>
                      <a:pPr algn="l" fontAlgn="b"/>
                      <a:r>
                        <a:rPr lang="en-US" sz="1200" b="0" i="0" u="none" strike="noStrike">
                          <a:solidFill>
                            <a:srgbClr val="000000"/>
                          </a:solidFill>
                          <a:effectLst/>
                          <a:latin typeface="Calibri" panose="020F0502020204030204" pitchFamily="34" charset="0"/>
                        </a:rPr>
                        <a:t>Market Capitalization ($B)</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6.58</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4223947492"/>
                  </a:ext>
                </a:extLst>
              </a:tr>
              <a:tr h="165100">
                <a:tc>
                  <a:txBody>
                    <a:bodyPr/>
                    <a:lstStyle/>
                    <a:p>
                      <a:pPr algn="l" fontAlgn="b"/>
                      <a:r>
                        <a:rPr lang="en-US" sz="1200" b="0" i="0" u="none" strike="noStrike">
                          <a:solidFill>
                            <a:srgbClr val="000000"/>
                          </a:solidFill>
                          <a:effectLst/>
                          <a:latin typeface="Calibri" panose="020F0502020204030204" pitchFamily="34" charset="0"/>
                        </a:rPr>
                        <a:t>Enterprise Value ($B)</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18.1</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1578010006"/>
                  </a:ext>
                </a:extLst>
              </a:tr>
              <a:tr h="165100">
                <a:tc>
                  <a:txBody>
                    <a:bodyPr/>
                    <a:lstStyle/>
                    <a:p>
                      <a:pPr algn="l" fontAlgn="b"/>
                      <a:r>
                        <a:rPr lang="en-US" sz="1200" b="0" i="0" u="none" strike="noStrike">
                          <a:solidFill>
                            <a:srgbClr val="000000"/>
                          </a:solidFill>
                          <a:effectLst/>
                          <a:latin typeface="Calibri" panose="020F0502020204030204" pitchFamily="34" charset="0"/>
                        </a:rPr>
                        <a:t>P/E (TTM)</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17.6</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43143438"/>
                  </a:ext>
                </a:extLst>
              </a:tr>
              <a:tr h="165100">
                <a:tc>
                  <a:txBody>
                    <a:bodyPr/>
                    <a:lstStyle/>
                    <a:p>
                      <a:pPr algn="l" fontAlgn="b"/>
                      <a:r>
                        <a:rPr lang="en-US" sz="1200" b="0" i="0" u="none" strike="noStrike">
                          <a:solidFill>
                            <a:srgbClr val="000000"/>
                          </a:solidFill>
                          <a:effectLst/>
                          <a:latin typeface="Calibri" panose="020F0502020204030204" pitchFamily="34" charset="0"/>
                        </a:rPr>
                        <a:t>EV/EBITDA</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15.4</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217659247"/>
                  </a:ext>
                </a:extLst>
              </a:tr>
              <a:tr h="165100">
                <a:tc>
                  <a:txBody>
                    <a:bodyPr/>
                    <a:lstStyle/>
                    <a:p>
                      <a:pPr algn="l" fontAlgn="b"/>
                      <a:r>
                        <a:rPr lang="en-US" sz="1200" b="0" i="0" u="none" strike="noStrike">
                          <a:solidFill>
                            <a:srgbClr val="000000"/>
                          </a:solidFill>
                          <a:effectLst/>
                          <a:latin typeface="Calibri" panose="020F0502020204030204" pitchFamily="34" charset="0"/>
                        </a:rPr>
                        <a:t>Dividend Yield</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1.48%</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2733735783"/>
                  </a:ext>
                </a:extLst>
              </a:tr>
              <a:tr h="165100">
                <a:tc>
                  <a:txBody>
                    <a:bodyPr/>
                    <a:lstStyle/>
                    <a:p>
                      <a:pPr algn="l" fontAlgn="b"/>
                      <a:r>
                        <a:rPr lang="en-US" sz="1200" b="0" i="0" u="none" strike="noStrike">
                          <a:solidFill>
                            <a:srgbClr val="000000"/>
                          </a:solidFill>
                          <a:effectLst/>
                          <a:latin typeface="Calibri" panose="020F0502020204030204" pitchFamily="34" charset="0"/>
                        </a:rPr>
                        <a:t>Dividend Payout</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26.7%</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2429623004"/>
                  </a:ext>
                </a:extLst>
              </a:tr>
            </a:tbl>
          </a:graphicData>
        </a:graphic>
      </p:graphicFrame>
      <p:graphicFrame>
        <p:nvGraphicFramePr>
          <p:cNvPr id="13" name="Table 12">
            <a:extLst>
              <a:ext uri="{FF2B5EF4-FFF2-40B4-BE49-F238E27FC236}">
                <a16:creationId xmlns:a16="http://schemas.microsoft.com/office/drawing/2014/main" id="{9E1DFCBB-7470-7752-4BC6-D2765C00A56F}"/>
              </a:ext>
            </a:extLst>
          </p:cNvPr>
          <p:cNvGraphicFramePr>
            <a:graphicFrameLocks noGrp="1"/>
          </p:cNvGraphicFramePr>
          <p:nvPr/>
        </p:nvGraphicFramePr>
        <p:xfrm>
          <a:off x="125780" y="3890637"/>
          <a:ext cx="3463961" cy="1691894"/>
        </p:xfrm>
        <a:graphic>
          <a:graphicData uri="http://schemas.openxmlformats.org/drawingml/2006/table">
            <a:tbl>
              <a:tblPr/>
              <a:tblGrid>
                <a:gridCol w="1010321">
                  <a:extLst>
                    <a:ext uri="{9D8B030D-6E8A-4147-A177-3AD203B41FA5}">
                      <a16:colId xmlns:a16="http://schemas.microsoft.com/office/drawing/2014/main" val="3480260116"/>
                    </a:ext>
                  </a:extLst>
                </a:gridCol>
                <a:gridCol w="490728">
                  <a:extLst>
                    <a:ext uri="{9D8B030D-6E8A-4147-A177-3AD203B41FA5}">
                      <a16:colId xmlns:a16="http://schemas.microsoft.com/office/drawing/2014/main" val="2548579359"/>
                    </a:ext>
                  </a:extLst>
                </a:gridCol>
                <a:gridCol w="490728">
                  <a:extLst>
                    <a:ext uri="{9D8B030D-6E8A-4147-A177-3AD203B41FA5}">
                      <a16:colId xmlns:a16="http://schemas.microsoft.com/office/drawing/2014/main" val="3798772497"/>
                    </a:ext>
                  </a:extLst>
                </a:gridCol>
                <a:gridCol w="490728">
                  <a:extLst>
                    <a:ext uri="{9D8B030D-6E8A-4147-A177-3AD203B41FA5}">
                      <a16:colId xmlns:a16="http://schemas.microsoft.com/office/drawing/2014/main" val="1778791415"/>
                    </a:ext>
                  </a:extLst>
                </a:gridCol>
                <a:gridCol w="490728">
                  <a:extLst>
                    <a:ext uri="{9D8B030D-6E8A-4147-A177-3AD203B41FA5}">
                      <a16:colId xmlns:a16="http://schemas.microsoft.com/office/drawing/2014/main" val="1198873406"/>
                    </a:ext>
                  </a:extLst>
                </a:gridCol>
                <a:gridCol w="490728">
                  <a:extLst>
                    <a:ext uri="{9D8B030D-6E8A-4147-A177-3AD203B41FA5}">
                      <a16:colId xmlns:a16="http://schemas.microsoft.com/office/drawing/2014/main" val="3689895595"/>
                    </a:ext>
                  </a:extLst>
                </a:gridCol>
              </a:tblGrid>
              <a:tr h="174300">
                <a:tc>
                  <a:txBody>
                    <a:bodyPr/>
                    <a:lstStyle/>
                    <a:p>
                      <a:pPr algn="l" fontAlgn="b"/>
                      <a:r>
                        <a:rPr lang="en-US" sz="1200" b="1" i="0" u="none" strike="noStrike">
                          <a:solidFill>
                            <a:srgbClr val="000000"/>
                          </a:solidFill>
                          <a:effectLst/>
                          <a:latin typeface="Calibri" panose="020F0502020204030204" pitchFamily="34" charset="0"/>
                        </a:rPr>
                        <a:t>Financial Data</a:t>
                      </a:r>
                    </a:p>
                  </a:txBody>
                  <a:tcPr marL="0" marR="0" marT="0" marB="0" anchor="b">
                    <a:lnL>
                      <a:noFill/>
                    </a:lnL>
                    <a:lnR>
                      <a:noFill/>
                    </a:lnR>
                    <a:lnT>
                      <a:noFill/>
                    </a:lnT>
                    <a:lnB>
                      <a:noFill/>
                    </a:lnB>
                    <a:solidFill>
                      <a:srgbClr val="F2C755"/>
                    </a:solidFill>
                  </a:tcPr>
                </a:tc>
                <a:tc>
                  <a:txBody>
                    <a:bodyPr/>
                    <a:lstStyle/>
                    <a:p>
                      <a:pPr algn="r" fontAlgn="b"/>
                      <a:r>
                        <a:rPr lang="en-US" sz="1200" b="1" i="0" u="none" strike="noStrike">
                          <a:solidFill>
                            <a:srgbClr val="000000"/>
                          </a:solidFill>
                          <a:effectLst/>
                          <a:latin typeface="Calibri" panose="020F0502020204030204" pitchFamily="34" charset="0"/>
                        </a:rPr>
                        <a:t>2023</a:t>
                      </a:r>
                    </a:p>
                  </a:txBody>
                  <a:tcPr marL="0" marR="0" marT="0" marB="0" anchor="b">
                    <a:lnL>
                      <a:noFill/>
                    </a:lnL>
                    <a:lnR>
                      <a:noFill/>
                    </a:lnR>
                    <a:lnT>
                      <a:noFill/>
                    </a:lnT>
                    <a:lnB>
                      <a:noFill/>
                    </a:lnB>
                    <a:solidFill>
                      <a:srgbClr val="F2C755"/>
                    </a:solidFill>
                  </a:tcPr>
                </a:tc>
                <a:tc>
                  <a:txBody>
                    <a:bodyPr/>
                    <a:lstStyle/>
                    <a:p>
                      <a:pPr algn="r" fontAlgn="b"/>
                      <a:r>
                        <a:rPr lang="en-US" sz="1200" b="1" i="0" u="none" strike="noStrike">
                          <a:solidFill>
                            <a:srgbClr val="000000"/>
                          </a:solidFill>
                          <a:effectLst/>
                          <a:latin typeface="Calibri" panose="020F0502020204030204" pitchFamily="34" charset="0"/>
                        </a:rPr>
                        <a:t>2024</a:t>
                      </a:r>
                    </a:p>
                  </a:txBody>
                  <a:tcPr marL="0" marR="0" marT="0" marB="0" anchor="b">
                    <a:lnL>
                      <a:noFill/>
                    </a:lnL>
                    <a:lnR>
                      <a:noFill/>
                    </a:lnR>
                    <a:lnT>
                      <a:noFill/>
                    </a:lnT>
                    <a:lnB>
                      <a:noFill/>
                    </a:lnB>
                    <a:solidFill>
                      <a:srgbClr val="F2C755"/>
                    </a:solidFill>
                  </a:tcPr>
                </a:tc>
                <a:tc>
                  <a:txBody>
                    <a:bodyPr/>
                    <a:lstStyle/>
                    <a:p>
                      <a:pPr algn="r" fontAlgn="b"/>
                      <a:r>
                        <a:rPr lang="en-US" sz="1200" b="1" i="0" u="none" strike="noStrike">
                          <a:solidFill>
                            <a:srgbClr val="000000"/>
                          </a:solidFill>
                          <a:effectLst/>
                          <a:latin typeface="Calibri" panose="020F0502020204030204" pitchFamily="34" charset="0"/>
                        </a:rPr>
                        <a:t>2025</a:t>
                      </a:r>
                    </a:p>
                  </a:txBody>
                  <a:tcPr marL="0" marR="0" marT="0" marB="0" anchor="b">
                    <a:lnL>
                      <a:noFill/>
                    </a:lnL>
                    <a:lnR>
                      <a:noFill/>
                    </a:lnR>
                    <a:lnT>
                      <a:noFill/>
                    </a:lnT>
                    <a:lnB>
                      <a:noFill/>
                    </a:lnB>
                    <a:solidFill>
                      <a:srgbClr val="F2C755"/>
                    </a:solidFill>
                  </a:tcPr>
                </a:tc>
                <a:tc>
                  <a:txBody>
                    <a:bodyPr/>
                    <a:lstStyle/>
                    <a:p>
                      <a:pPr algn="r" fontAlgn="b"/>
                      <a:r>
                        <a:rPr lang="en-US" sz="1200" b="1" i="0" u="none" strike="noStrike">
                          <a:solidFill>
                            <a:srgbClr val="000000"/>
                          </a:solidFill>
                          <a:effectLst/>
                          <a:latin typeface="Calibri" panose="020F0502020204030204" pitchFamily="34" charset="0"/>
                        </a:rPr>
                        <a:t>2026E</a:t>
                      </a:r>
                    </a:p>
                  </a:txBody>
                  <a:tcPr marL="0" marR="0" marT="0" marB="0" anchor="b">
                    <a:lnL>
                      <a:noFill/>
                    </a:lnL>
                    <a:lnR>
                      <a:noFill/>
                    </a:lnR>
                    <a:lnT>
                      <a:noFill/>
                    </a:lnT>
                    <a:lnB>
                      <a:noFill/>
                    </a:lnB>
                    <a:solidFill>
                      <a:srgbClr val="F2C755"/>
                    </a:solidFill>
                  </a:tcPr>
                </a:tc>
                <a:tc>
                  <a:txBody>
                    <a:bodyPr/>
                    <a:lstStyle/>
                    <a:p>
                      <a:pPr algn="r" fontAlgn="b"/>
                      <a:r>
                        <a:rPr lang="en-US" sz="1200" b="1" i="0" u="none" strike="noStrike">
                          <a:solidFill>
                            <a:srgbClr val="000000"/>
                          </a:solidFill>
                          <a:effectLst/>
                          <a:latin typeface="Calibri" panose="020F0502020204030204" pitchFamily="34" charset="0"/>
                        </a:rPr>
                        <a:t>2027E</a:t>
                      </a:r>
                    </a:p>
                  </a:txBody>
                  <a:tcPr marL="0" marR="0" marT="0" marB="0" anchor="b">
                    <a:lnL>
                      <a:noFill/>
                    </a:lnL>
                    <a:lnR>
                      <a:noFill/>
                    </a:lnR>
                    <a:lnT>
                      <a:noFill/>
                    </a:lnT>
                    <a:lnB>
                      <a:noFill/>
                    </a:lnB>
                    <a:solidFill>
                      <a:srgbClr val="F2C755"/>
                    </a:solidFill>
                  </a:tcPr>
                </a:tc>
                <a:extLst>
                  <a:ext uri="{0D108BD9-81ED-4DB2-BD59-A6C34878D82A}">
                    <a16:rowId xmlns:a16="http://schemas.microsoft.com/office/drawing/2014/main" val="2201760001"/>
                  </a:ext>
                </a:extLst>
              </a:tr>
              <a:tr h="174300">
                <a:tc>
                  <a:txBody>
                    <a:bodyPr/>
                    <a:lstStyle/>
                    <a:p>
                      <a:pPr algn="l" fontAlgn="b"/>
                      <a:r>
                        <a:rPr lang="en-US" sz="1200" b="0" i="0" u="none" strike="noStrike">
                          <a:solidFill>
                            <a:srgbClr val="000000"/>
                          </a:solidFill>
                          <a:effectLst/>
                          <a:latin typeface="Calibri" panose="020F0502020204030204" pitchFamily="34" charset="0"/>
                        </a:rPr>
                        <a:t>Sales ($M)</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1,411</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1,586</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1,740</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2,379</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2,467</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082905698"/>
                  </a:ext>
                </a:extLst>
              </a:tr>
              <a:tr h="174300">
                <a:tc>
                  <a:txBody>
                    <a:bodyPr/>
                    <a:lstStyle/>
                    <a:p>
                      <a:pPr algn="l" fontAlgn="b"/>
                      <a:r>
                        <a:rPr lang="en-US" sz="1200" b="0" i="0" u="none" strike="noStrike">
                          <a:solidFill>
                            <a:srgbClr val="000000"/>
                          </a:solidFill>
                          <a:effectLst/>
                          <a:latin typeface="Calibri" panose="020F0502020204030204" pitchFamily="34" charset="0"/>
                        </a:rPr>
                        <a:t>Sales Growth</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10.8%</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12.4%</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9.7%</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36.7%</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3.7%</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142169131"/>
                  </a:ext>
                </a:extLst>
              </a:tr>
              <a:tr h="174300">
                <a:tc>
                  <a:txBody>
                    <a:bodyPr/>
                    <a:lstStyle/>
                    <a:p>
                      <a:pPr algn="l" fontAlgn="b"/>
                      <a:r>
                        <a:rPr lang="en-US" sz="1200" b="0" i="0" u="none" strike="noStrike">
                          <a:solidFill>
                            <a:srgbClr val="000000"/>
                          </a:solidFill>
                          <a:effectLst/>
                          <a:latin typeface="Calibri" panose="020F0502020204030204" pitchFamily="34" charset="0"/>
                        </a:rPr>
                        <a:t>EBIT Margin</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27.5%</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29.9%</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30.7%</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29.4%</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31.7%</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61575481"/>
                  </a:ext>
                </a:extLst>
              </a:tr>
              <a:tr h="174300">
                <a:tc>
                  <a:txBody>
                    <a:bodyPr/>
                    <a:lstStyle/>
                    <a:p>
                      <a:pPr algn="l" fontAlgn="b"/>
                      <a:r>
                        <a:rPr lang="en-US" sz="1200" b="0" i="0" u="none" strike="noStrike">
                          <a:solidFill>
                            <a:srgbClr val="000000"/>
                          </a:solidFill>
                          <a:effectLst/>
                          <a:latin typeface="Calibri" panose="020F0502020204030204" pitchFamily="34" charset="0"/>
                        </a:rPr>
                        <a:t>BMG EPS</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$7.07</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$7.89</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$8.75</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$10.53</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$10.47</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417905302"/>
                  </a:ext>
                </a:extLst>
              </a:tr>
              <a:tr h="174300">
                <a:tc>
                  <a:txBody>
                    <a:bodyPr/>
                    <a:lstStyle/>
                    <a:p>
                      <a:pPr algn="l" fontAlgn="b"/>
                      <a:r>
                        <a:rPr lang="en-US" sz="1200" b="0" i="0" u="none" strike="noStrike">
                          <a:solidFill>
                            <a:srgbClr val="000000"/>
                          </a:solidFill>
                          <a:effectLst/>
                          <a:latin typeface="Calibri" panose="020F0502020204030204" pitchFamily="34" charset="0"/>
                        </a:rPr>
                        <a:t>   Consensus</a:t>
                      </a:r>
                    </a:p>
                  </a:txBody>
                  <a:tcPr marL="0" marR="0" marT="0" marB="0" anchor="b">
                    <a:lnL>
                      <a:noFill/>
                    </a:lnL>
                    <a:lnR>
                      <a:noFill/>
                    </a:lnR>
                    <a:lnT>
                      <a:noFill/>
                    </a:lnT>
                    <a:lnB>
                      <a:noFill/>
                    </a:lnB>
                    <a:solidFill>
                      <a:srgbClr val="F2F2F2"/>
                    </a:solidFill>
                  </a:tcPr>
                </a:tc>
                <a:tc>
                  <a:txBody>
                    <a:bodyPr/>
                    <a:lstStyle/>
                    <a:p>
                      <a:pPr algn="r" fontAlgn="b"/>
                      <a:endParaRPr lang="en-US" sz="12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F2F2F2"/>
                    </a:solidFill>
                  </a:tcPr>
                </a:tc>
                <a:tc>
                  <a:txBody>
                    <a:bodyPr/>
                    <a:lstStyle/>
                    <a:p>
                      <a:pPr algn="r" fontAlgn="b"/>
                      <a:endParaRPr lang="en-US" sz="12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F2F2F2"/>
                    </a:solidFill>
                  </a:tcPr>
                </a:tc>
                <a:tc>
                  <a:txBody>
                    <a:bodyPr/>
                    <a:lstStyle/>
                    <a:p>
                      <a:pPr algn="r" fontAlgn="b"/>
                      <a:endParaRP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$10.23</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$11.27</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630374290"/>
                  </a:ext>
                </a:extLst>
              </a:tr>
              <a:tr h="174300">
                <a:tc>
                  <a:txBody>
                    <a:bodyPr/>
                    <a:lstStyle/>
                    <a:p>
                      <a:pPr algn="l" fontAlgn="b"/>
                      <a:r>
                        <a:rPr lang="en-US" sz="1200" b="0" i="0" u="none" strike="noStrike">
                          <a:solidFill>
                            <a:srgbClr val="000000"/>
                          </a:solidFill>
                          <a:effectLst/>
                          <a:latin typeface="Calibri" panose="020F0502020204030204" pitchFamily="34" charset="0"/>
                        </a:rPr>
                        <a:t>ROE</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12.0%</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11.9%</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12.6%</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13.2%</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12.2%</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3580415"/>
                  </a:ext>
                </a:extLst>
              </a:tr>
              <a:tr h="174300">
                <a:tc>
                  <a:txBody>
                    <a:bodyPr/>
                    <a:lstStyle/>
                    <a:p>
                      <a:pPr algn="l" fontAlgn="b"/>
                      <a:r>
                        <a:rPr lang="en-US" sz="1200" b="0" i="0" u="none" strike="noStrike">
                          <a:solidFill>
                            <a:srgbClr val="000000"/>
                          </a:solidFill>
                          <a:effectLst/>
                          <a:latin typeface="Calibri" panose="020F0502020204030204" pitchFamily="34" charset="0"/>
                        </a:rPr>
                        <a:t>ROA</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2.4%</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2.3%</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2.1%</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1.9%</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2.0%</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1698144586"/>
                  </a:ext>
                </a:extLst>
              </a:tr>
              <a:tr h="174300">
                <a:tc>
                  <a:txBody>
                    <a:bodyPr/>
                    <a:lstStyle/>
                    <a:p>
                      <a:pPr algn="l" fontAlgn="b"/>
                      <a:r>
                        <a:rPr lang="en-US" sz="1200" b="0" i="0" u="none" strike="noStrike">
                          <a:solidFill>
                            <a:srgbClr val="000000"/>
                          </a:solidFill>
                          <a:effectLst/>
                          <a:latin typeface="Calibri" panose="020F0502020204030204" pitchFamily="34" charset="0"/>
                        </a:rPr>
                        <a:t>LT Debt/Equity</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310%</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317%</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324%</a:t>
                      </a:r>
                    </a:p>
                  </a:txBody>
                  <a:tcPr marL="0" marR="0" marT="0" marB="0" anchor="b">
                    <a:lnL>
                      <a:noFill/>
                    </a:lnL>
                    <a:lnR>
                      <a:noFill/>
                    </a:lnR>
                    <a:lnT>
                      <a:noFill/>
                    </a:lnT>
                    <a:lnB>
                      <a:noFill/>
                    </a:lnB>
                    <a:solidFill>
                      <a:srgbClr val="FFFFFF"/>
                    </a:solidFill>
                  </a:tcPr>
                </a:tc>
                <a:tc>
                  <a:txBody>
                    <a:bodyPr/>
                    <a:lstStyle/>
                    <a:p>
                      <a:pPr algn="r" fontAlgn="b"/>
                      <a:endParaRPr/>
                    </a:p>
                  </a:txBody>
                  <a:tcPr marL="0" marR="0" marT="0" marB="0" anchor="b">
                    <a:lnL>
                      <a:noFill/>
                    </a:lnL>
                    <a:lnR>
                      <a:noFill/>
                    </a:lnR>
                    <a:lnT>
                      <a:noFill/>
                    </a:lnT>
                    <a:lnB>
                      <a:noFill/>
                    </a:lnB>
                    <a:solidFill>
                      <a:srgbClr val="FFFFFF"/>
                    </a:solidFill>
                  </a:tcPr>
                </a:tc>
                <a:tc>
                  <a:txBody>
                    <a:bodyPr/>
                    <a:lstStyle/>
                    <a:p>
                      <a:pPr algn="r" fontAlgn="b"/>
                      <a:endParaRP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626572813"/>
                  </a:ext>
                </a:extLst>
              </a:tr>
            </a:tbl>
          </a:graphicData>
        </a:graphic>
      </p:graphicFrame>
      <p:graphicFrame>
        <p:nvGraphicFramePr>
          <p:cNvPr id="23" name="Table 22">
            <a:extLst>
              <a:ext uri="{FF2B5EF4-FFF2-40B4-BE49-F238E27FC236}">
                <a16:creationId xmlns:a16="http://schemas.microsoft.com/office/drawing/2014/main" id="{0A2A2D05-0434-A1EE-D26A-13C73F490965}"/>
              </a:ext>
            </a:extLst>
          </p:cNvPr>
          <p:cNvGraphicFramePr>
            <a:graphicFrameLocks noGrp="1"/>
          </p:cNvGraphicFramePr>
          <p:nvPr/>
        </p:nvGraphicFramePr>
        <p:xfrm>
          <a:off x="3728545" y="5086301"/>
          <a:ext cx="5289000" cy="381127"/>
        </p:xfrm>
        <a:graphic>
          <a:graphicData uri="http://schemas.openxmlformats.org/drawingml/2006/table">
            <a:tbl>
              <a:tblPr/>
              <a:tblGrid>
                <a:gridCol w="945000">
                  <a:extLst>
                    <a:ext uri="{9D8B030D-6E8A-4147-A177-3AD203B41FA5}">
                      <a16:colId xmlns:a16="http://schemas.microsoft.com/office/drawing/2014/main" val="1111111111"/>
                    </a:ext>
                  </a:extLst>
                </a:gridCol>
                <a:gridCol w="543000">
                  <a:extLst>
                    <a:ext uri="{9D8B030D-6E8A-4147-A177-3AD203B41FA5}">
                      <a16:colId xmlns:a16="http://schemas.microsoft.com/office/drawing/2014/main" val="2732735793"/>
                    </a:ext>
                  </a:extLst>
                </a:gridCol>
                <a:gridCol w="543000">
                  <a:extLst>
                    <a:ext uri="{9D8B030D-6E8A-4147-A177-3AD203B41FA5}">
                      <a16:colId xmlns:a16="http://schemas.microsoft.com/office/drawing/2014/main" val="2062202970"/>
                    </a:ext>
                  </a:extLst>
                </a:gridCol>
                <a:gridCol w="543000">
                  <a:extLst>
                    <a:ext uri="{9D8B030D-6E8A-4147-A177-3AD203B41FA5}">
                      <a16:colId xmlns:a16="http://schemas.microsoft.com/office/drawing/2014/main" val="3992850697"/>
                    </a:ext>
                  </a:extLst>
                </a:gridCol>
                <a:gridCol w="543000">
                  <a:extLst>
                    <a:ext uri="{9D8B030D-6E8A-4147-A177-3AD203B41FA5}">
                      <a16:colId xmlns:a16="http://schemas.microsoft.com/office/drawing/2014/main" val="1553325107"/>
                    </a:ext>
                  </a:extLst>
                </a:gridCol>
                <a:gridCol w="543000">
                  <a:extLst>
                    <a:ext uri="{9D8B030D-6E8A-4147-A177-3AD203B41FA5}">
                      <a16:colId xmlns:a16="http://schemas.microsoft.com/office/drawing/2014/main" val="968391423"/>
                    </a:ext>
                  </a:extLst>
                </a:gridCol>
                <a:gridCol w="543000">
                  <a:extLst>
                    <a:ext uri="{9D8B030D-6E8A-4147-A177-3AD203B41FA5}">
                      <a16:colId xmlns:a16="http://schemas.microsoft.com/office/drawing/2014/main" val="4069636667"/>
                    </a:ext>
                  </a:extLst>
                </a:gridCol>
                <a:gridCol w="543000">
                  <a:extLst>
                    <a:ext uri="{9D8B030D-6E8A-4147-A177-3AD203B41FA5}">
                      <a16:colId xmlns:a16="http://schemas.microsoft.com/office/drawing/2014/main" val="371497639"/>
                    </a:ext>
                  </a:extLst>
                </a:gridCol>
                <a:gridCol w="543000">
                  <a:extLst>
                    <a:ext uri="{9D8B030D-6E8A-4147-A177-3AD203B41FA5}">
                      <a16:colId xmlns:a16="http://schemas.microsoft.com/office/drawing/2014/main" val="2715393630"/>
                    </a:ext>
                  </a:extLst>
                </a:gridCol>
              </a:tblGrid>
              <a:tr h="175260">
                <a:tc>
                  <a:txBody>
                    <a:bodyPr/>
                    <a:lstStyle/>
                    <a:p>
                      <a:pPr algn="ctr" fontAlgn="ctr"/>
                      <a:r>
                        <a:rPr lang="en-US" sz="1000" b="1" i="0" u="none" strike="noStrike">
                          <a:effectLst/>
                          <a:latin typeface="Calibri" panose="020F0502020204030204" pitchFamily="34" charset="0"/>
                        </a:rPr>
                        <a:t>Price return</a:t>
                      </a:r>
                    </a:p>
                  </a:txBody>
                  <a:tcPr marL="0" marR="0" marT="0" marB="0" anchor="ctr">
                    <a:lnL>
                      <a:noFill/>
                    </a:lnL>
                    <a:lnR>
                      <a:noFill/>
                    </a:lnR>
                    <a:lnT>
                      <a:noFill/>
                    </a:lnT>
                    <a:lnB>
                      <a:noFill/>
                    </a:lnB>
                    <a:solidFill>
                      <a:srgbClr val="F2C755"/>
                    </a:solidFill>
                  </a:tcPr>
                </a:tc>
                <a:tc>
                  <a:txBody>
                    <a:bodyPr/>
                    <a:lstStyle/>
                    <a:p>
                      <a:pPr algn="ctr" fontAlgn="ctr"/>
                      <a:r>
                        <a:rPr lang="en-US" sz="1000" b="1" i="0" u="none" strike="noStrike">
                          <a:effectLst/>
                          <a:latin typeface="Calibri" panose="020F0502020204030204" pitchFamily="34" charset="0"/>
                        </a:rPr>
                        <a:t>5Y</a:t>
                      </a:r>
                    </a:p>
                  </a:txBody>
                  <a:tcPr marL="0" marR="0" marT="0" marB="0" anchor="ctr">
                    <a:lnL>
                      <a:noFill/>
                    </a:lnL>
                    <a:lnR>
                      <a:noFill/>
                    </a:lnR>
                    <a:lnT>
                      <a:noFill/>
                    </a:lnT>
                    <a:lnB>
                      <a:noFill/>
                    </a:lnB>
                    <a:solidFill>
                      <a:srgbClr val="F2C755"/>
                    </a:solidFill>
                  </a:tcPr>
                </a:tc>
                <a:tc>
                  <a:txBody>
                    <a:bodyPr/>
                    <a:lstStyle/>
                    <a:p>
                      <a:pPr algn="ctr" fontAlgn="ctr"/>
                      <a:r>
                        <a:rPr lang="en-US" sz="1000" b="1" i="0" u="none" strike="noStrike">
                          <a:effectLst/>
                          <a:latin typeface="Calibri" panose="020F0502020204030204" pitchFamily="34" charset="0"/>
                        </a:rPr>
                        <a:t>3Y</a:t>
                      </a:r>
                    </a:p>
                  </a:txBody>
                  <a:tcPr marL="0" marR="0" marT="0" marB="0" anchor="ctr">
                    <a:lnL>
                      <a:noFill/>
                    </a:lnL>
                    <a:lnR>
                      <a:noFill/>
                    </a:lnR>
                    <a:lnT>
                      <a:noFill/>
                    </a:lnT>
                    <a:lnB>
                      <a:noFill/>
                    </a:lnB>
                    <a:solidFill>
                      <a:srgbClr val="F2C755"/>
                    </a:solidFill>
                  </a:tcPr>
                </a:tc>
                <a:tc>
                  <a:txBody>
                    <a:bodyPr/>
                    <a:lstStyle/>
                    <a:p>
                      <a:pPr algn="ctr" fontAlgn="ctr"/>
                      <a:r>
                        <a:rPr lang="en-US" sz="1000" b="1" i="0" u="none" strike="noStrike">
                          <a:effectLst/>
                          <a:latin typeface="Calibri" panose="020F0502020204030204" pitchFamily="34" charset="0"/>
                        </a:rPr>
                        <a:t>2Y</a:t>
                      </a:r>
                    </a:p>
                  </a:txBody>
                  <a:tcPr marL="0" marR="0" marT="0" marB="0" anchor="ctr">
                    <a:lnL>
                      <a:noFill/>
                    </a:lnL>
                    <a:lnR>
                      <a:noFill/>
                    </a:lnR>
                    <a:lnT>
                      <a:noFill/>
                    </a:lnT>
                    <a:lnB>
                      <a:noFill/>
                    </a:lnB>
                    <a:solidFill>
                      <a:srgbClr val="F2C755"/>
                    </a:solidFill>
                  </a:tcPr>
                </a:tc>
                <a:tc>
                  <a:txBody>
                    <a:bodyPr/>
                    <a:lstStyle/>
                    <a:p>
                      <a:pPr algn="ctr" fontAlgn="ctr"/>
                      <a:r>
                        <a:rPr lang="en-US" sz="1000" b="1" i="0" u="none" strike="noStrike">
                          <a:effectLst/>
                          <a:latin typeface="Calibri" panose="020F0502020204030204" pitchFamily="34" charset="0"/>
                        </a:rPr>
                        <a:t>LTM</a:t>
                      </a:r>
                    </a:p>
                  </a:txBody>
                  <a:tcPr marL="0" marR="0" marT="0" marB="0" anchor="ctr">
                    <a:lnL>
                      <a:noFill/>
                    </a:lnL>
                    <a:lnR>
                      <a:noFill/>
                    </a:lnR>
                    <a:lnT>
                      <a:noFill/>
                    </a:lnT>
                    <a:lnB>
                      <a:noFill/>
                    </a:lnB>
                    <a:solidFill>
                      <a:srgbClr val="F2C755"/>
                    </a:solidFill>
                  </a:tcPr>
                </a:tc>
                <a:tc>
                  <a:txBody>
                    <a:bodyPr/>
                    <a:lstStyle/>
                    <a:p>
                      <a:pPr algn="ctr" fontAlgn="ctr"/>
                      <a:r>
                        <a:rPr lang="en-US" sz="1000" b="1" i="0" u="none" strike="noStrike">
                          <a:effectLst/>
                          <a:latin typeface="Calibri" panose="020F0502020204030204" pitchFamily="34" charset="0"/>
                        </a:rPr>
                        <a:t>YTD</a:t>
                      </a:r>
                    </a:p>
                  </a:txBody>
                  <a:tcPr marL="0" marR="0" marT="0" marB="0" anchor="ctr">
                    <a:lnL>
                      <a:noFill/>
                    </a:lnL>
                    <a:lnR>
                      <a:noFill/>
                    </a:lnR>
                    <a:lnT>
                      <a:noFill/>
                    </a:lnT>
                    <a:lnB>
                      <a:noFill/>
                    </a:lnB>
                    <a:solidFill>
                      <a:srgbClr val="F2C755"/>
                    </a:solidFill>
                  </a:tcPr>
                </a:tc>
                <a:tc>
                  <a:txBody>
                    <a:bodyPr/>
                    <a:lstStyle/>
                    <a:p>
                      <a:pPr algn="ctr" fontAlgn="ctr"/>
                      <a:r>
                        <a:rPr lang="en-US" sz="1000" b="1" i="0" u="none" strike="noStrike">
                          <a:effectLst/>
                          <a:latin typeface="Calibri" panose="020F0502020204030204" pitchFamily="34" charset="0"/>
                        </a:rPr>
                        <a:t>6M</a:t>
                      </a:r>
                    </a:p>
                  </a:txBody>
                  <a:tcPr marL="0" marR="0" marT="0" marB="0" anchor="ctr">
                    <a:lnL>
                      <a:noFill/>
                    </a:lnL>
                    <a:lnR>
                      <a:noFill/>
                    </a:lnR>
                    <a:lnT>
                      <a:noFill/>
                    </a:lnT>
                    <a:lnB>
                      <a:noFill/>
                    </a:lnB>
                    <a:solidFill>
                      <a:srgbClr val="F2C755"/>
                    </a:solidFill>
                  </a:tcPr>
                </a:tc>
                <a:tc>
                  <a:txBody>
                    <a:bodyPr/>
                    <a:lstStyle/>
                    <a:p>
                      <a:pPr algn="ctr" fontAlgn="ctr"/>
                      <a:r>
                        <a:rPr lang="en-US" sz="1000" b="1" i="0" u="none" strike="noStrike">
                          <a:effectLst/>
                          <a:latin typeface="Calibri" panose="020F0502020204030204" pitchFamily="34" charset="0"/>
                        </a:rPr>
                        <a:t>3M</a:t>
                      </a:r>
                    </a:p>
                  </a:txBody>
                  <a:tcPr marL="0" marR="0" marT="0" marB="0" anchor="ctr">
                    <a:lnL>
                      <a:noFill/>
                    </a:lnL>
                    <a:lnR>
                      <a:noFill/>
                    </a:lnR>
                    <a:lnT>
                      <a:noFill/>
                    </a:lnT>
                    <a:lnB>
                      <a:noFill/>
                    </a:lnB>
                    <a:solidFill>
                      <a:srgbClr val="F2C755"/>
                    </a:solidFill>
                  </a:tcPr>
                </a:tc>
                <a:tc>
                  <a:txBody>
                    <a:bodyPr/>
                    <a:lstStyle/>
                    <a:p>
                      <a:pPr algn="ctr" fontAlgn="ctr"/>
                      <a:r>
                        <a:rPr lang="en-US" sz="1000" b="1" i="0" u="none" strike="noStrike">
                          <a:effectLst/>
                          <a:latin typeface="Calibri" panose="020F0502020204030204" pitchFamily="34" charset="0"/>
                        </a:rPr>
                        <a:t>1M</a:t>
                      </a:r>
                    </a:p>
                  </a:txBody>
                  <a:tcPr marL="0" marR="0" marT="0" marB="0" anchor="ctr">
                    <a:lnL>
                      <a:noFill/>
                    </a:lnL>
                    <a:lnR>
                      <a:noFill/>
                    </a:lnR>
                    <a:lnT>
                      <a:noFill/>
                    </a:lnT>
                    <a:lnB>
                      <a:noFill/>
                    </a:lnB>
                    <a:solidFill>
                      <a:srgbClr val="F2C755"/>
                    </a:solidFill>
                  </a:tcPr>
                </a:tc>
                <a:extLst>
                  <a:ext uri="{0D108BD9-81ED-4DB2-BD59-A6C34878D82A}">
                    <a16:rowId xmlns:a16="http://schemas.microsoft.com/office/drawing/2014/main" val="3426154047"/>
                  </a:ext>
                </a:extLst>
              </a:tr>
              <a:tr h="175260">
                <a:tc>
                  <a:txBody>
                    <a:bodyPr/>
                    <a:lstStyle/>
                    <a:p>
                      <a:pPr algn="ctr" fontAlgn="ctr"/>
                      <a:endParaRPr/>
                    </a:p>
                  </a:txBody>
                  <a:tcPr marL="0" marR="0" marT="0" marB="0" anchor="ctr">
                    <a:lnL>
                      <a:noFill/>
                    </a:lnL>
                    <a:lnR>
                      <a:noFill/>
                    </a:lnR>
                    <a:lnT>
                      <a:noFill/>
                    </a:lnT>
                    <a:lnB>
                      <a:noFill/>
                    </a:lnB>
                    <a:solidFill>
                      <a:srgbClr val="FFFFFF"/>
                    </a:solidFill>
                  </a:tcPr>
                </a:tc>
                <a:tc>
                  <a:txBody>
                    <a:bodyPr/>
                    <a:lstStyle/>
                    <a:p>
                      <a:pPr algn="ctr" fontAlgn="ctr"/>
                      <a:r>
                        <a:rPr lang="en-US" sz="1000" b="0" i="0" u="none" strike="noStrike">
                          <a:effectLst/>
                          <a:latin typeface="Calibri" panose="020F0502020204030204" pitchFamily="34" charset="0"/>
                        </a:rPr>
                        <a:t>113.0%</a:t>
                      </a:r>
                    </a:p>
                  </a:txBody>
                  <a:tcPr marL="0" marR="0" marT="0" marB="0" anchor="ctr">
                    <a:lnL>
                      <a:noFill/>
                    </a:lnL>
                    <a:lnR>
                      <a:noFill/>
                    </a:lnR>
                    <a:lnT>
                      <a:noFill/>
                    </a:lnT>
                    <a:lnB>
                      <a:noFill/>
                    </a:lnB>
                    <a:solidFill>
                      <a:srgbClr val="FFFFFF"/>
                    </a:solidFill>
                  </a:tcPr>
                </a:tc>
                <a:tc>
                  <a:txBody>
                    <a:bodyPr/>
                    <a:lstStyle/>
                    <a:p>
                      <a:pPr algn="ctr" fontAlgn="ctr"/>
                      <a:r>
                        <a:rPr lang="en-US" sz="1000" b="0" i="0" u="none" strike="noStrike">
                          <a:effectLst/>
                          <a:latin typeface="Calibri" panose="020F0502020204030204" pitchFamily="34" charset="0"/>
                        </a:rPr>
                        <a:t>64.3%</a:t>
                      </a:r>
                    </a:p>
                  </a:txBody>
                  <a:tcPr marL="0" marR="0" marT="0" marB="0" anchor="ctr">
                    <a:lnL>
                      <a:noFill/>
                    </a:lnL>
                    <a:lnR>
                      <a:noFill/>
                    </a:lnR>
                    <a:lnT>
                      <a:noFill/>
                    </a:lnT>
                    <a:lnB>
                      <a:noFill/>
                    </a:lnB>
                    <a:solidFill>
                      <a:srgbClr val="FFFFFF"/>
                    </a:solidFill>
                  </a:tcPr>
                </a:tc>
                <a:tc>
                  <a:txBody>
                    <a:bodyPr/>
                    <a:lstStyle/>
                    <a:p>
                      <a:pPr algn="ctr" fontAlgn="ctr"/>
                      <a:r>
                        <a:rPr lang="en-US" sz="1000" b="0" i="0" u="none" strike="noStrike">
                          <a:effectLst/>
                          <a:latin typeface="Calibri" panose="020F0502020204030204" pitchFamily="34" charset="0"/>
                        </a:rPr>
                        <a:t>30.9%</a:t>
                      </a:r>
                    </a:p>
                  </a:txBody>
                  <a:tcPr marL="0" marR="0" marT="0" marB="0" anchor="ctr">
                    <a:lnL>
                      <a:noFill/>
                    </a:lnL>
                    <a:lnR>
                      <a:noFill/>
                    </a:lnR>
                    <a:lnT>
                      <a:noFill/>
                    </a:lnT>
                    <a:lnB>
                      <a:noFill/>
                    </a:lnB>
                    <a:solidFill>
                      <a:srgbClr val="FFFFFF"/>
                    </a:solidFill>
                  </a:tcPr>
                </a:tc>
                <a:tc>
                  <a:txBody>
                    <a:bodyPr/>
                    <a:lstStyle/>
                    <a:p>
                      <a:pPr algn="ctr" fontAlgn="ctr"/>
                      <a:r>
                        <a:rPr lang="en-US" sz="1000" b="0" i="0" u="none" strike="noStrike">
                          <a:effectLst/>
                          <a:latin typeface="Calibri" panose="020F0502020204030204" pitchFamily="34" charset="0"/>
                        </a:rPr>
                        <a:t>5.0%</a:t>
                      </a:r>
                    </a:p>
                  </a:txBody>
                  <a:tcPr marL="0" marR="0" marT="0" marB="0" anchor="ctr">
                    <a:lnL>
                      <a:noFill/>
                    </a:lnL>
                    <a:lnR>
                      <a:noFill/>
                    </a:lnR>
                    <a:lnT>
                      <a:noFill/>
                    </a:lnT>
                    <a:lnB>
                      <a:noFill/>
                    </a:lnB>
                    <a:solidFill>
                      <a:srgbClr val="FFFFFF"/>
                    </a:solidFill>
                  </a:tcPr>
                </a:tc>
                <a:tc>
                  <a:txBody>
                    <a:bodyPr/>
                    <a:lstStyle/>
                    <a:p>
                      <a:pPr algn="ctr" fontAlgn="ctr"/>
                      <a:r>
                        <a:rPr lang="en-US" sz="1000" b="0" i="0" u="none" strike="noStrike">
                          <a:effectLst/>
                          <a:latin typeface="Calibri" panose="020F0502020204030204" pitchFamily="34" charset="0"/>
                        </a:rPr>
                        <a:t>6.5%</a:t>
                      </a:r>
                    </a:p>
                  </a:txBody>
                  <a:tcPr marL="0" marR="0" marT="0" marB="0" anchor="ctr">
                    <a:lnL>
                      <a:noFill/>
                    </a:lnL>
                    <a:lnR>
                      <a:noFill/>
                    </a:lnR>
                    <a:lnT>
                      <a:noFill/>
                    </a:lnT>
                    <a:lnB>
                      <a:noFill/>
                    </a:lnB>
                    <a:solidFill>
                      <a:srgbClr val="FFFFFF"/>
                    </a:solidFill>
                  </a:tcPr>
                </a:tc>
                <a:tc>
                  <a:txBody>
                    <a:bodyPr/>
                    <a:lstStyle/>
                    <a:p>
                      <a:pPr algn="ctr" fontAlgn="ctr"/>
                      <a:r>
                        <a:rPr lang="en-US" sz="1000" b="0" i="0" u="none" strike="noStrike">
                          <a:effectLst/>
                          <a:latin typeface="Calibri" panose="020F0502020204030204" pitchFamily="34" charset="0"/>
                        </a:rPr>
                        <a:t>6.8%</a:t>
                      </a:r>
                    </a:p>
                  </a:txBody>
                  <a:tcPr marL="0" marR="0" marT="0" marB="0" anchor="ctr">
                    <a:lnL>
                      <a:noFill/>
                    </a:lnL>
                    <a:lnR>
                      <a:noFill/>
                    </a:lnR>
                    <a:lnT>
                      <a:noFill/>
                    </a:lnT>
                    <a:lnB>
                      <a:noFill/>
                    </a:lnB>
                    <a:solidFill>
                      <a:srgbClr val="FFFFFF"/>
                    </a:solidFill>
                  </a:tcPr>
                </a:tc>
                <a:tc>
                  <a:txBody>
                    <a:bodyPr/>
                    <a:lstStyle/>
                    <a:p>
                      <a:pPr algn="ctr" fontAlgn="ctr"/>
                      <a:r>
                        <a:rPr lang="en-US" sz="1000" b="0" i="0" u="none" strike="noStrike">
                          <a:effectLst/>
                          <a:latin typeface="Calibri" panose="020F0502020204030204" pitchFamily="34" charset="0"/>
                        </a:rPr>
                        <a:t>0.5%</a:t>
                      </a:r>
                    </a:p>
                  </a:txBody>
                  <a:tcPr marL="0" marR="0" marT="0" marB="0" anchor="ctr">
                    <a:lnL>
                      <a:noFill/>
                    </a:lnL>
                    <a:lnR>
                      <a:noFill/>
                    </a:lnR>
                    <a:lnT>
                      <a:noFill/>
                    </a:lnT>
                    <a:lnB>
                      <a:noFill/>
                    </a:lnB>
                    <a:solidFill>
                      <a:srgbClr val="FFFFFF"/>
                    </a:solidFill>
                  </a:tcPr>
                </a:tc>
                <a:tc>
                  <a:txBody>
                    <a:bodyPr/>
                    <a:lstStyle/>
                    <a:p>
                      <a:pPr algn="ctr" fontAlgn="ctr"/>
                      <a:r>
                        <a:rPr lang="en-US" sz="1000" b="0" i="0" u="none" strike="noStrike">
                          <a:effectLst/>
                          <a:latin typeface="Calibri" panose="020F0502020204030204" pitchFamily="34" charset="0"/>
                        </a:rPr>
                        <a:t>2.1%</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631064881"/>
                  </a:ext>
                </a:extLst>
              </a:tr>
            </a:tbl>
          </a:graphicData>
        </a:graphic>
      </p:graphicFrame>
      <p:sp>
        <p:nvSpPr>
          <p:cNvPr id="905" name="Short interest note">
            <a:extLst>
              <a:ext uri="{FF2B5EF4-FFF2-40B4-BE49-F238E27FC236}">
                <a16:creationId xmlns:a16="http://schemas.microsoft.com/office/drawing/2014/main" id="{A13790DA-A12F-A6FD-B3C4-0839A2FFC313}"/>
              </a:ext>
            </a:extLst>
          </p:cNvPr>
          <p:cNvSpPr/>
          <p:nvPr/>
        </p:nvSpPr>
        <p:spPr>
          <a:xfrm>
            <a:off x="5003800" y="6299200"/>
            <a:ext cx="3810000" cy="177800"/>
          </a:xfrm>
          <a:prstGeom prst="roundRect">
            <a:avLst/>
          </a:prstGeom>
          <a:noFill/>
          <a:ln>
            <a:noFill/>
          </a:ln>
        </p:spPr>
        <p:txBody>
          <a:bodyPr wrap="none" lIns="0" tIns="0" rIns="0" bIns="0" anchor="t"/>
          <a:lstStyle/>
          <a:p>
            <a:pPr algn="l">
              <a:buNone/>
            </a:pPr>
            <a:r>
              <a:rPr lang="en-US" sz="900">
                <a:solidFill>
                  <a:srgbClr val="404040"/>
                </a:solidFill>
                <a:latin typeface="Calibri" panose="020F0502020204030204" pitchFamily="34" charset="0"/>
              </a:rPr>
              <a:t>Short interest 5.9% of float, 11 days to cover. Beta 0.85 (3Y adjusted, vs S&amp;P 500).</a:t>
            </a:r>
          </a:p>
        </p:txBody>
      </p:sp>
      <p:sp>
        <p:nvSpPr>
          <p:cNvPr id="950" name="Figure 1 caption"/>
          <p:cNvSpPr txBox="1"/>
          <p:nvPr/>
        </p:nvSpPr>
        <p:spPr>
          <a:xfrm>
            <a:off x="3733800" y="1879600"/>
            <a:ext cx="5283200" cy="165100"/>
          </a:xfrm>
          <a:prstGeom prst="rect">
            <a:avLst/>
          </a:prstGeom>
          <a:noFill/>
          <a:ln>
            <a:noFill/>
          </a:ln>
        </p:spPr>
        <p:txBody>
          <a:bodyPr wrap="none" lIns="0" tIns="0" rIns="0" bIns="0" anchor="t">
            <a:spAutoFit/>
          </a:bodyPr>
          <a:lstStyle/>
          <a:p>
            <a:pPr algn="l">
              <a:buNone/>
            </a:pPr>
            <a:r>
              <a:rPr lang="en-US" sz="1000" b="0">
                <a:solidFill>
                  <a:srgbClr val="292934"/>
                </a:solidFill>
                <a:latin typeface="Calibri"/>
              </a:rPr>
              <a:t>Figure 1: GATX price and volume, one year (daily)</a:t>
            </a:r>
          </a:p>
        </p:txBody>
      </p:sp>
      <p:sp>
        <p:nvSpPr>
          <p:cNvPr id="951" name="Figure 1 source"/>
          <p:cNvSpPr txBox="1"/>
          <p:nvPr/>
        </p:nvSpPr>
        <p:spPr>
          <a:xfrm>
            <a:off x="3733800" y="4940300"/>
            <a:ext cx="5283200" cy="139700"/>
          </a:xfrm>
          <a:prstGeom prst="rect">
            <a:avLst/>
          </a:prstGeom>
          <a:noFill/>
          <a:ln>
            <a:noFill/>
          </a:ln>
        </p:spPr>
        <p:txBody>
          <a:bodyPr wrap="none" lIns="0" tIns="0" rIns="0" bIns="0" anchor="t">
            <a:spAutoFit/>
          </a:bodyPr>
          <a:lstStyle/>
          <a:p>
            <a:pPr algn="l">
              <a:buNone/>
            </a:pPr>
            <a:r>
              <a:rPr lang="en-US" sz="800" b="0">
                <a:solidFill>
                  <a:srgbClr val="595959"/>
                </a:solidFill>
                <a:latin typeface="Calibri"/>
              </a:rPr>
              <a:t>FactSet, daily closes, trading days 2025-07-11 to 2026-09-21.</a:t>
            </a:r>
          </a:p>
        </p:txBody>
      </p:sp>
      <p:sp>
        <p:nvSpPr>
          <p:cNvPr id="3" name="Slide 1 basis footnote">
            <a:extLst>
              <a:ext uri="{FF2B5EF4-FFF2-40B4-BE49-F238E27FC236}">
                <a16:creationId xmlns:a16="http://schemas.microsoft.com/office/drawing/2014/main" id="{1FC2D692-1664-4ED6-9A60-2B5DE436C7B5}"/>
              </a:ext>
            </a:extLst>
          </p:cNvPr>
          <p:cNvSpPr txBox="1"/>
          <p:nvPr/>
        </p:nvSpPr>
        <p:spPr>
          <a:xfrm>
            <a:off x="3733800" y="6502400"/>
            <a:ext cx="5080000" cy="304800"/>
          </a:xfrm>
          <a:prstGeom prst="rect">
            <a:avLst/>
          </a:prstGeom>
          <a:noFill/>
        </p:spPr>
        <p:txBody>
          <a:bodyPr vertOverflow="overflow" vert="horz" wrap="square" rtlCol="0" anchor="t" anchorCtr="0">
            <a:noAutofit/>
          </a:bodyPr>
          <a:lstStyle/>
          <a:p>
            <a:pPr algn="l"/>
            <a:r>
              <a:rPr lang="en-US" sz="800">
                <a:solidFill>
                  <a:srgbClr val="292934"/>
                </a:solidFill>
                <a:latin typeface="Calibri"/>
                <a:ea typeface="Calibri"/>
                <a:cs typeface="Calibri"/>
              </a:rPr>
              <a:t>Closing price is the 2026-09-25 SIP close. 2026E and 2027E sales, EPS and ROE are the BMG model (GATX-FSM-v32, built from the 10-K and Q2 10-Q); consensus is FactSet. 2023 to 2025 EPS is non-GAAP adjusted; ROE and ROA are FactSet GAAP-based. Insider ownership derived from float of 98.78%.</a:t>
            </a:r>
          </a:p>
        </p:txBody>
      </p:sp>
    </p:spTree>
    <p:extLst>
      <p:ext uri="{BB962C8B-B14F-4D97-AF65-F5344CB8AC3E}">
        <p14:creationId xmlns:p14="http://schemas.microsoft.com/office/powerpoint/2010/main" val="3615882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CBB53-38EC-360D-9875-EC636BE1C5E4}"/>
            </a:ext>
          </a:extLst>
        </p:cNvPr>
        <p:cNvGrpSpPr/>
        <p:nvPr/>
      </p:nvGrpSpPr>
      <p:grpSpPr>
        <a:xfrm>
          <a:off x="0" y="0"/>
          <a:ext cx="0" cy="0"/>
          <a:chOff x="0" y="0"/>
          <a:chExt cx="0" cy="0"/>
        </a:xfrm>
      </p:grpSpPr>
      <p:sp>
        <p:nvSpPr>
          <p:cNvPr id="12292" name="AutoShape 22" descr="Image result for risk black clip art">
            <a:extLst>
              <a:ext uri="{FF2B5EF4-FFF2-40B4-BE49-F238E27FC236}">
                <a16:creationId xmlns:a16="http://schemas.microsoft.com/office/drawing/2014/main" id="{7AFE7498-6207-3544-5C30-37558B192701}"/>
              </a:ext>
            </a:extLst>
          </p:cNvPr>
          <p:cNvSpPr>
            <a:spLocks noChangeAspect="1" noChangeArrowheads="1"/>
          </p:cNvSpPr>
          <p:nvPr/>
        </p:nvSpPr>
        <p:spPr bwMode="auto">
          <a:xfrm>
            <a:off x="116681" y="748906"/>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400">
              <a:solidFill>
                <a:srgbClr val="292934"/>
              </a:solidFill>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226613F5-4D8F-4E1C-969C-3491492EE6E5}"/>
              </a:ext>
            </a:extLst>
          </p:cNvPr>
          <p:cNvSpPr>
            <a:spLocks noGrp="1"/>
          </p:cNvSpPr>
          <p:nvPr>
            <p:ph type="sldNum" sz="quarter" idx="12"/>
          </p:nvPr>
        </p:nvSpPr>
        <p:spPr/>
        <p:txBody>
          <a:bodyPr/>
          <a:lstStyle/>
          <a:p>
            <a:fld id="{763E63E3-3972-446C-8D4C-DDC4F18578E9}" type="slidenum">
              <a:rPr lang="en-US" altLang="en-US" sz="1400" smtClean="0">
                <a:latin typeface="Calibri" panose="020F0502020204030204" pitchFamily="34" charset="0"/>
                <a:cs typeface="Calibri" panose="020F0502020204030204" pitchFamily="34" charset="0"/>
              </a:rPr>
              <a:pPr/>
              <a:t>2</a:t>
            </a:fld>
            <a:endParaRPr lang="en-US" altLang="en-US" sz="140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27E9787F-6ABD-3ACA-9289-ED94F72647AB}"/>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a:t>
            </a:fld>
            <a:endParaRPr lang="en-US" sz="1400">
              <a:latin typeface="Calibri" panose="020F0502020204030204" pitchFamily="34" charset="0"/>
              <a:cs typeface="Calibri" panose="020F0502020204030204" pitchFamily="34" charset="0"/>
            </a:endParaRPr>
          </a:p>
        </p:txBody>
      </p:sp>
      <p:sp>
        <p:nvSpPr>
          <p:cNvPr id="83" name="Left-Right Arrow 2063">
            <a:extLst>
              <a:ext uri="{FF2B5EF4-FFF2-40B4-BE49-F238E27FC236}">
                <a16:creationId xmlns:a16="http://schemas.microsoft.com/office/drawing/2014/main" id="{36BA07C9-CC36-32A3-12DD-D01781B1117C}"/>
              </a:ext>
            </a:extLst>
          </p:cNvPr>
          <p:cNvSpPr/>
          <p:nvPr/>
        </p:nvSpPr>
        <p:spPr bwMode="auto">
          <a:xfrm>
            <a:off x="688861" y="4220820"/>
            <a:ext cx="7753471" cy="677315"/>
          </a:xfrm>
          <a:prstGeom prst="leftRight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Key Highlights</a:t>
            </a:r>
          </a:p>
        </p:txBody>
      </p:sp>
      <p:grpSp>
        <p:nvGrpSpPr>
          <p:cNvPr id="34" name="Group 33">
            <a:extLst>
              <a:ext uri="{FF2B5EF4-FFF2-40B4-BE49-F238E27FC236}">
                <a16:creationId xmlns:a16="http://schemas.microsoft.com/office/drawing/2014/main" id="{549B7205-4036-6547-45D3-D99331E5C17F}"/>
              </a:ext>
            </a:extLst>
          </p:cNvPr>
          <p:cNvGrpSpPr/>
          <p:nvPr/>
        </p:nvGrpSpPr>
        <p:grpSpPr>
          <a:xfrm>
            <a:off x="694642" y="739926"/>
            <a:ext cx="7753470" cy="3242764"/>
            <a:chOff x="695702" y="695161"/>
            <a:chExt cx="7753470" cy="3242764"/>
          </a:xfrm>
        </p:grpSpPr>
        <p:sp>
          <p:nvSpPr>
            <p:cNvPr id="29" name="Down Arrow Callout 49">
              <a:extLst>
                <a:ext uri="{FF2B5EF4-FFF2-40B4-BE49-F238E27FC236}">
                  <a16:creationId xmlns:a16="http://schemas.microsoft.com/office/drawing/2014/main" id="{6770A084-93B7-0135-B9B5-3A8E9261665F}"/>
                </a:ext>
              </a:extLst>
            </p:cNvPr>
            <p:cNvSpPr/>
            <p:nvPr/>
          </p:nvSpPr>
          <p:spPr bwMode="auto">
            <a:xfrm>
              <a:off x="2280317"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Drivers</a:t>
              </a:r>
            </a:p>
          </p:txBody>
        </p:sp>
        <p:grpSp>
          <p:nvGrpSpPr>
            <p:cNvPr id="75" name="Group 74">
              <a:extLst>
                <a:ext uri="{FF2B5EF4-FFF2-40B4-BE49-F238E27FC236}">
                  <a16:creationId xmlns:a16="http://schemas.microsoft.com/office/drawing/2014/main" id="{0961D6F1-72C0-9413-7D4B-308630AC48E7}"/>
                </a:ext>
              </a:extLst>
            </p:cNvPr>
            <p:cNvGrpSpPr/>
            <p:nvPr/>
          </p:nvGrpSpPr>
          <p:grpSpPr>
            <a:xfrm>
              <a:off x="2281074" y="701514"/>
              <a:ext cx="1435608" cy="1645920"/>
              <a:chOff x="1780524" y="1001320"/>
              <a:chExt cx="1261872" cy="1496616"/>
            </a:xfrm>
          </p:grpSpPr>
          <p:sp>
            <p:nvSpPr>
              <p:cNvPr id="21" name="Rectangle 20">
                <a:extLst>
                  <a:ext uri="{FF2B5EF4-FFF2-40B4-BE49-F238E27FC236}">
                    <a16:creationId xmlns:a16="http://schemas.microsoft.com/office/drawing/2014/main" id="{1625AF89-9F3D-F924-9AEB-C2CF425B3136}"/>
                  </a:ext>
                </a:extLst>
              </p:cNvPr>
              <p:cNvSpPr/>
              <p:nvPr/>
            </p:nvSpPr>
            <p:spPr bwMode="auto">
              <a:xfrm>
                <a:off x="1780524" y="1001320"/>
                <a:ext cx="1261872" cy="1496616"/>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7CE2DB62-A458-4608-9262-6C5148304D39}"/>
                  </a:ext>
                </a:extLst>
              </p:cNvPr>
              <p:cNvGrpSpPr/>
              <p:nvPr/>
            </p:nvGrpSpPr>
            <p:grpSpPr>
              <a:xfrm>
                <a:off x="1839668" y="1178128"/>
                <a:ext cx="1143584" cy="1143000"/>
                <a:chOff x="1839668" y="1142389"/>
                <a:chExt cx="1143584" cy="1143000"/>
              </a:xfrm>
            </p:grpSpPr>
            <p:sp>
              <p:nvSpPr>
                <p:cNvPr id="23" name="Oval 22">
                  <a:extLst>
                    <a:ext uri="{FF2B5EF4-FFF2-40B4-BE49-F238E27FC236}">
                      <a16:creationId xmlns:a16="http://schemas.microsoft.com/office/drawing/2014/main" id="{464677B4-503D-1EC7-A9FA-B3E456F0D1FA}"/>
                    </a:ext>
                  </a:extLst>
                </p:cNvPr>
                <p:cNvSpPr/>
                <p:nvPr/>
              </p:nvSpPr>
              <p:spPr bwMode="auto">
                <a:xfrm>
                  <a:off x="1839668" y="1142389"/>
                  <a:ext cx="1143584"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33" name="Graphic 5" descr="Board Of Directors with solid fill">
                  <a:extLst>
                    <a:ext uri="{FF2B5EF4-FFF2-40B4-BE49-F238E27FC236}">
                      <a16:creationId xmlns:a16="http://schemas.microsoft.com/office/drawing/2014/main" id="{A3C70D54-9D09-3ACF-2323-FA013BBAC3B4}"/>
                    </a:ext>
                  </a:extLst>
                </p:cNvPr>
                <p:cNvSpPr/>
                <p:nvPr/>
              </p:nvSpPr>
              <p:spPr>
                <a:xfrm>
                  <a:off x="2054844" y="1406926"/>
                  <a:ext cx="713232" cy="613927"/>
                </a:xfrm>
                <a:custGeom>
                  <a:avLst/>
                  <a:gdLst>
                    <a:gd name="connsiteX0" fmla="*/ 745496 w 784462"/>
                    <a:gd name="connsiteY0" fmla="*/ 435333 h 613927"/>
                    <a:gd name="connsiteX1" fmla="*/ 764008 w 784462"/>
                    <a:gd name="connsiteY1" fmla="*/ 413769 h 613927"/>
                    <a:gd name="connsiteX2" fmla="*/ 784276 w 784462"/>
                    <a:gd name="connsiteY2" fmla="*/ 244885 h 613927"/>
                    <a:gd name="connsiteX3" fmla="*/ 761982 w 784462"/>
                    <a:gd name="connsiteY3" fmla="*/ 216486 h 613927"/>
                    <a:gd name="connsiteX4" fmla="*/ 760401 w 784462"/>
                    <a:gd name="connsiteY4" fmla="*/ 216345 h 613927"/>
                    <a:gd name="connsiteX5" fmla="*/ 666554 w 784462"/>
                    <a:gd name="connsiteY5" fmla="*/ 210820 h 613927"/>
                    <a:gd name="connsiteX6" fmla="*/ 639720 w 784462"/>
                    <a:gd name="connsiteY6" fmla="*/ 233049 h 613927"/>
                    <a:gd name="connsiteX7" fmla="*/ 633904 w 784462"/>
                    <a:gd name="connsiteY7" fmla="*/ 278140 h 613927"/>
                    <a:gd name="connsiteX8" fmla="*/ 619571 w 784462"/>
                    <a:gd name="connsiteY8" fmla="*/ 256191 h 613927"/>
                    <a:gd name="connsiteX9" fmla="*/ 622836 w 784462"/>
                    <a:gd name="connsiteY9" fmla="*/ 230875 h 613927"/>
                    <a:gd name="connsiteX10" fmla="*/ 665096 w 784462"/>
                    <a:gd name="connsiteY10" fmla="*/ 193757 h 613927"/>
                    <a:gd name="connsiteX11" fmla="*/ 667654 w 784462"/>
                    <a:gd name="connsiteY11" fmla="*/ 193834 h 613927"/>
                    <a:gd name="connsiteX12" fmla="*/ 708191 w 784462"/>
                    <a:gd name="connsiteY12" fmla="*/ 196213 h 613927"/>
                    <a:gd name="connsiteX13" fmla="*/ 714049 w 784462"/>
                    <a:gd name="connsiteY13" fmla="*/ 160255 h 613927"/>
                    <a:gd name="connsiteX14" fmla="*/ 692851 w 784462"/>
                    <a:gd name="connsiteY14" fmla="*/ 130939 h 613927"/>
                    <a:gd name="connsiteX15" fmla="*/ 690540 w 784462"/>
                    <a:gd name="connsiteY15" fmla="*/ 130675 h 613927"/>
                    <a:gd name="connsiteX16" fmla="*/ 614233 w 784462"/>
                    <a:gd name="connsiteY16" fmla="*/ 125559 h 613927"/>
                    <a:gd name="connsiteX17" fmla="*/ 587296 w 784462"/>
                    <a:gd name="connsiteY17" fmla="*/ 147149 h 613927"/>
                    <a:gd name="connsiteX18" fmla="*/ 579827 w 784462"/>
                    <a:gd name="connsiteY18" fmla="*/ 195232 h 613927"/>
                    <a:gd name="connsiteX19" fmla="*/ 565894 w 784462"/>
                    <a:gd name="connsiteY19" fmla="*/ 173915 h 613927"/>
                    <a:gd name="connsiteX20" fmla="*/ 570413 w 784462"/>
                    <a:gd name="connsiteY20" fmla="*/ 144599 h 613927"/>
                    <a:gd name="connsiteX21" fmla="*/ 612468 w 784462"/>
                    <a:gd name="connsiteY21" fmla="*/ 108522 h 613927"/>
                    <a:gd name="connsiteX22" fmla="*/ 615316 w 784462"/>
                    <a:gd name="connsiteY22" fmla="*/ 108624 h 613927"/>
                    <a:gd name="connsiteX23" fmla="*/ 632148 w 784462"/>
                    <a:gd name="connsiteY23" fmla="*/ 109741 h 613927"/>
                    <a:gd name="connsiteX24" fmla="*/ 634800 w 784462"/>
                    <a:gd name="connsiteY24" fmla="*/ 85866 h 613927"/>
                    <a:gd name="connsiteX25" fmla="*/ 612162 w 784462"/>
                    <a:gd name="connsiteY25" fmla="*/ 57648 h 613927"/>
                    <a:gd name="connsiteX26" fmla="*/ 611376 w 784462"/>
                    <a:gd name="connsiteY26" fmla="*/ 57574 h 613927"/>
                    <a:gd name="connsiteX27" fmla="*/ 551807 w 784462"/>
                    <a:gd name="connsiteY27" fmla="*/ 52995 h 613927"/>
                    <a:gd name="connsiteX28" fmla="*/ 524402 w 784462"/>
                    <a:gd name="connsiteY28" fmla="*/ 75787 h 613927"/>
                    <a:gd name="connsiteX29" fmla="*/ 520539 w 784462"/>
                    <a:gd name="connsiteY29" fmla="*/ 112504 h 613927"/>
                    <a:gd name="connsiteX30" fmla="*/ 466342 w 784462"/>
                    <a:gd name="connsiteY30" fmla="*/ 93660 h 613927"/>
                    <a:gd name="connsiteX31" fmla="*/ 458898 w 784462"/>
                    <a:gd name="connsiteY31" fmla="*/ 93660 h 613927"/>
                    <a:gd name="connsiteX32" fmla="*/ 458898 w 784462"/>
                    <a:gd name="connsiteY32" fmla="*/ 33971 h 613927"/>
                    <a:gd name="connsiteX33" fmla="*/ 452076 w 784462"/>
                    <a:gd name="connsiteY33" fmla="*/ 17506 h 613927"/>
                    <a:gd name="connsiteX34" fmla="*/ 441691 w 784462"/>
                    <a:gd name="connsiteY34" fmla="*/ 11102 h 613927"/>
                    <a:gd name="connsiteX35" fmla="*/ 342446 w 784462"/>
                    <a:gd name="connsiteY35" fmla="*/ 10676 h 613927"/>
                    <a:gd name="connsiteX36" fmla="*/ 330124 w 784462"/>
                    <a:gd name="connsiteY36" fmla="*/ 17497 h 613927"/>
                    <a:gd name="connsiteX37" fmla="*/ 323303 w 784462"/>
                    <a:gd name="connsiteY37" fmla="*/ 33963 h 613927"/>
                    <a:gd name="connsiteX38" fmla="*/ 323303 w 784462"/>
                    <a:gd name="connsiteY38" fmla="*/ 93651 h 613927"/>
                    <a:gd name="connsiteX39" fmla="*/ 315100 w 784462"/>
                    <a:gd name="connsiteY39" fmla="*/ 93651 h 613927"/>
                    <a:gd name="connsiteX40" fmla="*/ 263683 w 784462"/>
                    <a:gd name="connsiteY40" fmla="*/ 110355 h 613927"/>
                    <a:gd name="connsiteX41" fmla="*/ 260067 w 784462"/>
                    <a:gd name="connsiteY41" fmla="*/ 75787 h 613927"/>
                    <a:gd name="connsiteX42" fmla="*/ 232713 w 784462"/>
                    <a:gd name="connsiteY42" fmla="*/ 52995 h 613927"/>
                    <a:gd name="connsiteX43" fmla="*/ 173144 w 784462"/>
                    <a:gd name="connsiteY43" fmla="*/ 57574 h 613927"/>
                    <a:gd name="connsiteX44" fmla="*/ 149646 w 784462"/>
                    <a:gd name="connsiteY44" fmla="*/ 85081 h 613927"/>
                    <a:gd name="connsiteX45" fmla="*/ 149720 w 784462"/>
                    <a:gd name="connsiteY45" fmla="*/ 85866 h 613927"/>
                    <a:gd name="connsiteX46" fmla="*/ 152372 w 784462"/>
                    <a:gd name="connsiteY46" fmla="*/ 109741 h 613927"/>
                    <a:gd name="connsiteX47" fmla="*/ 169204 w 784462"/>
                    <a:gd name="connsiteY47" fmla="*/ 108624 h 613927"/>
                    <a:gd name="connsiteX48" fmla="*/ 172052 w 784462"/>
                    <a:gd name="connsiteY48" fmla="*/ 108522 h 613927"/>
                    <a:gd name="connsiteX49" fmla="*/ 214099 w 784462"/>
                    <a:gd name="connsiteY49" fmla="*/ 144599 h 613927"/>
                    <a:gd name="connsiteX50" fmla="*/ 218064 w 784462"/>
                    <a:gd name="connsiteY50" fmla="*/ 170231 h 613927"/>
                    <a:gd name="connsiteX51" fmla="*/ 204131 w 784462"/>
                    <a:gd name="connsiteY51" fmla="*/ 191549 h 613927"/>
                    <a:gd name="connsiteX52" fmla="*/ 197309 w 784462"/>
                    <a:gd name="connsiteY52" fmla="*/ 147158 h 613927"/>
                    <a:gd name="connsiteX53" fmla="*/ 170373 w 784462"/>
                    <a:gd name="connsiteY53" fmla="*/ 125567 h 613927"/>
                    <a:gd name="connsiteX54" fmla="*/ 94065 w 784462"/>
                    <a:gd name="connsiteY54" fmla="*/ 130684 h 613927"/>
                    <a:gd name="connsiteX55" fmla="*/ 70292 w 784462"/>
                    <a:gd name="connsiteY55" fmla="*/ 157953 h 613927"/>
                    <a:gd name="connsiteX56" fmla="*/ 70557 w 784462"/>
                    <a:gd name="connsiteY56" fmla="*/ 160263 h 613927"/>
                    <a:gd name="connsiteX57" fmla="*/ 76415 w 784462"/>
                    <a:gd name="connsiteY57" fmla="*/ 196221 h 613927"/>
                    <a:gd name="connsiteX58" fmla="*/ 116951 w 784462"/>
                    <a:gd name="connsiteY58" fmla="*/ 193842 h 613927"/>
                    <a:gd name="connsiteX59" fmla="*/ 119510 w 784462"/>
                    <a:gd name="connsiteY59" fmla="*/ 193766 h 613927"/>
                    <a:gd name="connsiteX60" fmla="*/ 161701 w 784462"/>
                    <a:gd name="connsiteY60" fmla="*/ 230883 h 613927"/>
                    <a:gd name="connsiteX61" fmla="*/ 164481 w 784462"/>
                    <a:gd name="connsiteY61" fmla="*/ 252465 h 613927"/>
                    <a:gd name="connsiteX62" fmla="*/ 150070 w 784462"/>
                    <a:gd name="connsiteY62" fmla="*/ 274422 h 613927"/>
                    <a:gd name="connsiteX63" fmla="*/ 144732 w 784462"/>
                    <a:gd name="connsiteY63" fmla="*/ 233049 h 613927"/>
                    <a:gd name="connsiteX64" fmla="*/ 117898 w 784462"/>
                    <a:gd name="connsiteY64" fmla="*/ 210820 h 613927"/>
                    <a:gd name="connsiteX65" fmla="*/ 24059 w 784462"/>
                    <a:gd name="connsiteY65" fmla="*/ 216345 h 613927"/>
                    <a:gd name="connsiteX66" fmla="*/ 43 w 784462"/>
                    <a:gd name="connsiteY66" fmla="*/ 243303 h 613927"/>
                    <a:gd name="connsiteX67" fmla="*/ 184 w 784462"/>
                    <a:gd name="connsiteY67" fmla="*/ 244885 h 613927"/>
                    <a:gd name="connsiteX68" fmla="*/ 20461 w 784462"/>
                    <a:gd name="connsiteY68" fmla="*/ 413769 h 613927"/>
                    <a:gd name="connsiteX69" fmla="*/ 38981 w 784462"/>
                    <a:gd name="connsiteY69" fmla="*/ 435333 h 613927"/>
                    <a:gd name="connsiteX70" fmla="*/ 74419 w 784462"/>
                    <a:gd name="connsiteY70" fmla="*/ 445182 h 613927"/>
                    <a:gd name="connsiteX71" fmla="*/ 74419 w 784462"/>
                    <a:gd name="connsiteY71" fmla="*/ 480995 h 613927"/>
                    <a:gd name="connsiteX72" fmla="*/ 44643 w 784462"/>
                    <a:gd name="connsiteY72" fmla="*/ 480995 h 613927"/>
                    <a:gd name="connsiteX73" fmla="*/ 14850 w 784462"/>
                    <a:gd name="connsiteY73" fmla="*/ 510779 h 613927"/>
                    <a:gd name="connsiteX74" fmla="*/ 14850 w 784462"/>
                    <a:gd name="connsiteY74" fmla="*/ 516646 h 613927"/>
                    <a:gd name="connsiteX75" fmla="*/ 16360 w 784462"/>
                    <a:gd name="connsiteY75" fmla="*/ 540717 h 613927"/>
                    <a:gd name="connsiteX76" fmla="*/ 40431 w 784462"/>
                    <a:gd name="connsiteY76" fmla="*/ 539206 h 613927"/>
                    <a:gd name="connsiteX77" fmla="*/ 40431 w 784462"/>
                    <a:gd name="connsiteY77" fmla="*/ 516646 h 613927"/>
                    <a:gd name="connsiteX78" fmla="*/ 40431 w 784462"/>
                    <a:gd name="connsiteY78" fmla="*/ 510779 h 613927"/>
                    <a:gd name="connsiteX79" fmla="*/ 44694 w 784462"/>
                    <a:gd name="connsiteY79" fmla="*/ 506516 h 613927"/>
                    <a:gd name="connsiteX80" fmla="*/ 74436 w 784462"/>
                    <a:gd name="connsiteY80" fmla="*/ 506516 h 613927"/>
                    <a:gd name="connsiteX81" fmla="*/ 74436 w 784462"/>
                    <a:gd name="connsiteY81" fmla="*/ 516637 h 613927"/>
                    <a:gd name="connsiteX82" fmla="*/ 75901 w 784462"/>
                    <a:gd name="connsiteY82" fmla="*/ 540711 h 613927"/>
                    <a:gd name="connsiteX83" fmla="*/ 99974 w 784462"/>
                    <a:gd name="connsiteY83" fmla="*/ 539246 h 613927"/>
                    <a:gd name="connsiteX84" fmla="*/ 99974 w 784462"/>
                    <a:gd name="connsiteY84" fmla="*/ 516637 h 613927"/>
                    <a:gd name="connsiteX85" fmla="*/ 99974 w 784462"/>
                    <a:gd name="connsiteY85" fmla="*/ 506516 h 613927"/>
                    <a:gd name="connsiteX86" fmla="*/ 129767 w 784462"/>
                    <a:gd name="connsiteY86" fmla="*/ 506516 h 613927"/>
                    <a:gd name="connsiteX87" fmla="*/ 134031 w 784462"/>
                    <a:gd name="connsiteY87" fmla="*/ 510779 h 613927"/>
                    <a:gd name="connsiteX88" fmla="*/ 134031 w 784462"/>
                    <a:gd name="connsiteY88" fmla="*/ 516646 h 613927"/>
                    <a:gd name="connsiteX89" fmla="*/ 135541 w 784462"/>
                    <a:gd name="connsiteY89" fmla="*/ 540717 h 613927"/>
                    <a:gd name="connsiteX90" fmla="*/ 159612 w 784462"/>
                    <a:gd name="connsiteY90" fmla="*/ 539206 h 613927"/>
                    <a:gd name="connsiteX91" fmla="*/ 159612 w 784462"/>
                    <a:gd name="connsiteY91" fmla="*/ 516646 h 613927"/>
                    <a:gd name="connsiteX92" fmla="*/ 159612 w 784462"/>
                    <a:gd name="connsiteY92" fmla="*/ 510779 h 613927"/>
                    <a:gd name="connsiteX93" fmla="*/ 129819 w 784462"/>
                    <a:gd name="connsiteY93" fmla="*/ 480986 h 613927"/>
                    <a:gd name="connsiteX94" fmla="*/ 99974 w 784462"/>
                    <a:gd name="connsiteY94" fmla="*/ 480986 h 613927"/>
                    <a:gd name="connsiteX95" fmla="*/ 99974 w 784462"/>
                    <a:gd name="connsiteY95" fmla="*/ 456830 h 613927"/>
                    <a:gd name="connsiteX96" fmla="*/ 117173 w 784462"/>
                    <a:gd name="connsiteY96" fmla="*/ 464564 h 613927"/>
                    <a:gd name="connsiteX97" fmla="*/ 172052 w 784462"/>
                    <a:gd name="connsiteY97" fmla="*/ 479230 h 613927"/>
                    <a:gd name="connsiteX98" fmla="*/ 254627 w 784462"/>
                    <a:gd name="connsiteY98" fmla="*/ 496906 h 613927"/>
                    <a:gd name="connsiteX99" fmla="*/ 254627 w 784462"/>
                    <a:gd name="connsiteY99" fmla="*/ 576104 h 613927"/>
                    <a:gd name="connsiteX100" fmla="*/ 273975 w 784462"/>
                    <a:gd name="connsiteY100" fmla="*/ 600832 h 613927"/>
                    <a:gd name="connsiteX101" fmla="*/ 286808 w 784462"/>
                    <a:gd name="connsiteY101" fmla="*/ 604038 h 613927"/>
                    <a:gd name="connsiteX102" fmla="*/ 494447 w 784462"/>
                    <a:gd name="connsiteY102" fmla="*/ 602418 h 613927"/>
                    <a:gd name="connsiteX103" fmla="*/ 499563 w 784462"/>
                    <a:gd name="connsiteY103" fmla="*/ 601054 h 613927"/>
                    <a:gd name="connsiteX104" fmla="*/ 518527 w 784462"/>
                    <a:gd name="connsiteY104" fmla="*/ 576437 h 613927"/>
                    <a:gd name="connsiteX105" fmla="*/ 518527 w 784462"/>
                    <a:gd name="connsiteY105" fmla="*/ 498117 h 613927"/>
                    <a:gd name="connsiteX106" fmla="*/ 608238 w 784462"/>
                    <a:gd name="connsiteY106" fmla="*/ 479486 h 613927"/>
                    <a:gd name="connsiteX107" fmla="*/ 664388 w 784462"/>
                    <a:gd name="connsiteY107" fmla="*/ 464546 h 613927"/>
                    <a:gd name="connsiteX108" fmla="*/ 684520 w 784462"/>
                    <a:gd name="connsiteY108" fmla="*/ 454860 h 613927"/>
                    <a:gd name="connsiteX109" fmla="*/ 684520 w 784462"/>
                    <a:gd name="connsiteY109" fmla="*/ 480986 h 613927"/>
                    <a:gd name="connsiteX110" fmla="*/ 654727 w 784462"/>
                    <a:gd name="connsiteY110" fmla="*/ 480986 h 613927"/>
                    <a:gd name="connsiteX111" fmla="*/ 624934 w 784462"/>
                    <a:gd name="connsiteY111" fmla="*/ 510779 h 613927"/>
                    <a:gd name="connsiteX112" fmla="*/ 624934 w 784462"/>
                    <a:gd name="connsiteY112" fmla="*/ 516646 h 613927"/>
                    <a:gd name="connsiteX113" fmla="*/ 626399 w 784462"/>
                    <a:gd name="connsiteY113" fmla="*/ 540719 h 613927"/>
                    <a:gd name="connsiteX114" fmla="*/ 650472 w 784462"/>
                    <a:gd name="connsiteY114" fmla="*/ 539254 h 613927"/>
                    <a:gd name="connsiteX115" fmla="*/ 650472 w 784462"/>
                    <a:gd name="connsiteY115" fmla="*/ 516646 h 613927"/>
                    <a:gd name="connsiteX116" fmla="*/ 650472 w 784462"/>
                    <a:gd name="connsiteY116" fmla="*/ 510779 h 613927"/>
                    <a:gd name="connsiteX117" fmla="*/ 654736 w 784462"/>
                    <a:gd name="connsiteY117" fmla="*/ 506516 h 613927"/>
                    <a:gd name="connsiteX118" fmla="*/ 684529 w 784462"/>
                    <a:gd name="connsiteY118" fmla="*/ 506516 h 613927"/>
                    <a:gd name="connsiteX119" fmla="*/ 684529 w 784462"/>
                    <a:gd name="connsiteY119" fmla="*/ 516637 h 613927"/>
                    <a:gd name="connsiteX120" fmla="*/ 685994 w 784462"/>
                    <a:gd name="connsiteY120" fmla="*/ 540711 h 613927"/>
                    <a:gd name="connsiteX121" fmla="*/ 710067 w 784462"/>
                    <a:gd name="connsiteY121" fmla="*/ 539246 h 613927"/>
                    <a:gd name="connsiteX122" fmla="*/ 710067 w 784462"/>
                    <a:gd name="connsiteY122" fmla="*/ 516637 h 613927"/>
                    <a:gd name="connsiteX123" fmla="*/ 710067 w 784462"/>
                    <a:gd name="connsiteY123" fmla="*/ 506516 h 613927"/>
                    <a:gd name="connsiteX124" fmla="*/ 739860 w 784462"/>
                    <a:gd name="connsiteY124" fmla="*/ 506516 h 613927"/>
                    <a:gd name="connsiteX125" fmla="*/ 744123 w 784462"/>
                    <a:gd name="connsiteY125" fmla="*/ 510779 h 613927"/>
                    <a:gd name="connsiteX126" fmla="*/ 744123 w 784462"/>
                    <a:gd name="connsiteY126" fmla="*/ 516646 h 613927"/>
                    <a:gd name="connsiteX127" fmla="*/ 745633 w 784462"/>
                    <a:gd name="connsiteY127" fmla="*/ 540717 h 613927"/>
                    <a:gd name="connsiteX128" fmla="*/ 769704 w 784462"/>
                    <a:gd name="connsiteY128" fmla="*/ 539206 h 613927"/>
                    <a:gd name="connsiteX129" fmla="*/ 769704 w 784462"/>
                    <a:gd name="connsiteY129" fmla="*/ 516646 h 613927"/>
                    <a:gd name="connsiteX130" fmla="*/ 769704 w 784462"/>
                    <a:gd name="connsiteY130" fmla="*/ 510779 h 613927"/>
                    <a:gd name="connsiteX131" fmla="*/ 739860 w 784462"/>
                    <a:gd name="connsiteY131" fmla="*/ 480986 h 613927"/>
                    <a:gd name="connsiteX132" fmla="*/ 710058 w 784462"/>
                    <a:gd name="connsiteY132" fmla="*/ 480986 h 613927"/>
                    <a:gd name="connsiteX133" fmla="*/ 710058 w 784462"/>
                    <a:gd name="connsiteY133" fmla="*/ 445173 h 613927"/>
                    <a:gd name="connsiteX134" fmla="*/ 599481 w 784462"/>
                    <a:gd name="connsiteY134" fmla="*/ 446580 h 613927"/>
                    <a:gd name="connsiteX135" fmla="*/ 390631 w 784462"/>
                    <a:gd name="connsiteY135" fmla="*/ 473866 h 613927"/>
                    <a:gd name="connsiteX136" fmla="*/ 180869 w 784462"/>
                    <a:gd name="connsiteY136" fmla="*/ 446316 h 613927"/>
                    <a:gd name="connsiteX137" fmla="*/ 125990 w 784462"/>
                    <a:gd name="connsiteY137" fmla="*/ 431650 h 613927"/>
                    <a:gd name="connsiteX138" fmla="*/ 108141 w 784462"/>
                    <a:gd name="connsiteY138" fmla="*/ 403859 h 613927"/>
                    <a:gd name="connsiteX139" fmla="*/ 111554 w 784462"/>
                    <a:gd name="connsiteY139" fmla="*/ 395837 h 613927"/>
                    <a:gd name="connsiteX140" fmla="*/ 272193 w 784462"/>
                    <a:gd name="connsiteY140" fmla="*/ 149545 h 613927"/>
                    <a:gd name="connsiteX141" fmla="*/ 315117 w 784462"/>
                    <a:gd name="connsiteY141" fmla="*/ 127708 h 613927"/>
                    <a:gd name="connsiteX142" fmla="*/ 466419 w 784462"/>
                    <a:gd name="connsiteY142" fmla="*/ 127708 h 613927"/>
                    <a:gd name="connsiteX143" fmla="*/ 509343 w 784462"/>
                    <a:gd name="connsiteY143" fmla="*/ 149528 h 613927"/>
                    <a:gd name="connsiteX144" fmla="*/ 670093 w 784462"/>
                    <a:gd name="connsiteY144" fmla="*/ 395802 h 613927"/>
                    <a:gd name="connsiteX145" fmla="*/ 663692 w 784462"/>
                    <a:gd name="connsiteY145" fmla="*/ 428194 h 613927"/>
                    <a:gd name="connsiteX146" fmla="*/ 655639 w 784462"/>
                    <a:gd name="connsiteY146" fmla="*/ 431616 h 61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784462" h="613927">
                      <a:moveTo>
                        <a:pt x="745496" y="435333"/>
                      </a:moveTo>
                      <a:cubicBezTo>
                        <a:pt x="755467" y="432562"/>
                        <a:pt x="762778" y="424044"/>
                        <a:pt x="764008" y="413769"/>
                      </a:cubicBezTo>
                      <a:lnTo>
                        <a:pt x="784276" y="244885"/>
                      </a:lnTo>
                      <a:cubicBezTo>
                        <a:pt x="785962" y="230886"/>
                        <a:pt x="775981" y="218171"/>
                        <a:pt x="761982" y="216486"/>
                      </a:cubicBezTo>
                      <a:cubicBezTo>
                        <a:pt x="761457" y="216423"/>
                        <a:pt x="760930" y="216376"/>
                        <a:pt x="760401" y="216345"/>
                      </a:cubicBezTo>
                      <a:lnTo>
                        <a:pt x="666554" y="210820"/>
                      </a:lnTo>
                      <a:cubicBezTo>
                        <a:pt x="653165" y="210050"/>
                        <a:pt x="641454" y="219751"/>
                        <a:pt x="639720" y="233049"/>
                      </a:cubicBezTo>
                      <a:lnTo>
                        <a:pt x="633904" y="278140"/>
                      </a:lnTo>
                      <a:lnTo>
                        <a:pt x="619571" y="256191"/>
                      </a:lnTo>
                      <a:lnTo>
                        <a:pt x="622836" y="230875"/>
                      </a:lnTo>
                      <a:cubicBezTo>
                        <a:pt x="625607" y="209647"/>
                        <a:pt x="643688" y="193766"/>
                        <a:pt x="665096" y="193757"/>
                      </a:cubicBezTo>
                      <a:cubicBezTo>
                        <a:pt x="665948" y="193757"/>
                        <a:pt x="666801" y="193757"/>
                        <a:pt x="667654" y="193834"/>
                      </a:cubicBezTo>
                      <a:lnTo>
                        <a:pt x="708191" y="196213"/>
                      </a:lnTo>
                      <a:lnTo>
                        <a:pt x="714049" y="160255"/>
                      </a:lnTo>
                      <a:cubicBezTo>
                        <a:pt x="716291" y="146306"/>
                        <a:pt x="706800" y="133181"/>
                        <a:pt x="692851" y="130939"/>
                      </a:cubicBezTo>
                      <a:cubicBezTo>
                        <a:pt x="692085" y="130817"/>
                        <a:pt x="691314" y="130728"/>
                        <a:pt x="690540" y="130675"/>
                      </a:cubicBezTo>
                      <a:lnTo>
                        <a:pt x="614233" y="125559"/>
                      </a:lnTo>
                      <a:cubicBezTo>
                        <a:pt x="601019" y="124699"/>
                        <a:pt x="589334" y="134065"/>
                        <a:pt x="587296" y="147149"/>
                      </a:cubicBezTo>
                      <a:lnTo>
                        <a:pt x="579827" y="195232"/>
                      </a:lnTo>
                      <a:lnTo>
                        <a:pt x="565894" y="173915"/>
                      </a:lnTo>
                      <a:lnTo>
                        <a:pt x="570413" y="144599"/>
                      </a:lnTo>
                      <a:cubicBezTo>
                        <a:pt x="573523" y="123796"/>
                        <a:pt x="591433" y="108431"/>
                        <a:pt x="612468" y="108522"/>
                      </a:cubicBezTo>
                      <a:cubicBezTo>
                        <a:pt x="613406" y="108522"/>
                        <a:pt x="614361" y="108522"/>
                        <a:pt x="615316" y="108624"/>
                      </a:cubicBezTo>
                      <a:lnTo>
                        <a:pt x="632148" y="109741"/>
                      </a:lnTo>
                      <a:lnTo>
                        <a:pt x="634800" y="85866"/>
                      </a:lnTo>
                      <a:cubicBezTo>
                        <a:pt x="636340" y="71822"/>
                        <a:pt x="626205" y="59189"/>
                        <a:pt x="612162" y="57648"/>
                      </a:cubicBezTo>
                      <a:cubicBezTo>
                        <a:pt x="611901" y="57619"/>
                        <a:pt x="611639" y="57594"/>
                        <a:pt x="611376" y="57574"/>
                      </a:cubicBezTo>
                      <a:lnTo>
                        <a:pt x="551807" y="52995"/>
                      </a:lnTo>
                      <a:cubicBezTo>
                        <a:pt x="538011" y="51930"/>
                        <a:pt x="525869" y="62028"/>
                        <a:pt x="524402" y="75787"/>
                      </a:cubicBezTo>
                      <a:lnTo>
                        <a:pt x="520539" y="112504"/>
                      </a:lnTo>
                      <a:cubicBezTo>
                        <a:pt x="505125" y="100272"/>
                        <a:pt x="486019" y="93630"/>
                        <a:pt x="466342" y="93660"/>
                      </a:cubicBezTo>
                      <a:lnTo>
                        <a:pt x="458898" y="93660"/>
                      </a:lnTo>
                      <a:lnTo>
                        <a:pt x="458898" y="33971"/>
                      </a:lnTo>
                      <a:cubicBezTo>
                        <a:pt x="458891" y="27797"/>
                        <a:pt x="456438" y="21877"/>
                        <a:pt x="452076" y="17506"/>
                      </a:cubicBezTo>
                      <a:cubicBezTo>
                        <a:pt x="448944" y="14878"/>
                        <a:pt x="445445" y="12720"/>
                        <a:pt x="441691" y="11102"/>
                      </a:cubicBezTo>
                      <a:cubicBezTo>
                        <a:pt x="410264" y="-3551"/>
                        <a:pt x="373997" y="-3706"/>
                        <a:pt x="342446" y="10676"/>
                      </a:cubicBezTo>
                      <a:cubicBezTo>
                        <a:pt x="338067" y="12421"/>
                        <a:pt x="333927" y="14713"/>
                        <a:pt x="330124" y="17497"/>
                      </a:cubicBezTo>
                      <a:cubicBezTo>
                        <a:pt x="325763" y="21868"/>
                        <a:pt x="323310" y="27788"/>
                        <a:pt x="323303" y="33963"/>
                      </a:cubicBezTo>
                      <a:lnTo>
                        <a:pt x="323303" y="93651"/>
                      </a:lnTo>
                      <a:lnTo>
                        <a:pt x="315100" y="93651"/>
                      </a:lnTo>
                      <a:cubicBezTo>
                        <a:pt x="296624" y="93630"/>
                        <a:pt x="278618" y="99479"/>
                        <a:pt x="263683" y="110355"/>
                      </a:cubicBezTo>
                      <a:lnTo>
                        <a:pt x="260067" y="75787"/>
                      </a:lnTo>
                      <a:cubicBezTo>
                        <a:pt x="258601" y="62050"/>
                        <a:pt x="246490" y="51959"/>
                        <a:pt x="232713" y="52995"/>
                      </a:cubicBezTo>
                      <a:lnTo>
                        <a:pt x="173144" y="57574"/>
                      </a:lnTo>
                      <a:cubicBezTo>
                        <a:pt x="159059" y="58681"/>
                        <a:pt x="148539" y="70996"/>
                        <a:pt x="149646" y="85081"/>
                      </a:cubicBezTo>
                      <a:cubicBezTo>
                        <a:pt x="149667" y="85343"/>
                        <a:pt x="149691" y="85604"/>
                        <a:pt x="149720" y="85866"/>
                      </a:cubicBezTo>
                      <a:lnTo>
                        <a:pt x="152372" y="109741"/>
                      </a:lnTo>
                      <a:lnTo>
                        <a:pt x="169204" y="108624"/>
                      </a:lnTo>
                      <a:cubicBezTo>
                        <a:pt x="170159" y="108556"/>
                        <a:pt x="171114" y="108522"/>
                        <a:pt x="172052" y="108522"/>
                      </a:cubicBezTo>
                      <a:cubicBezTo>
                        <a:pt x="193086" y="108427"/>
                        <a:pt x="210997" y="123796"/>
                        <a:pt x="214099" y="144599"/>
                      </a:cubicBezTo>
                      <a:lnTo>
                        <a:pt x="218064" y="170231"/>
                      </a:lnTo>
                      <a:lnTo>
                        <a:pt x="204131" y="191549"/>
                      </a:lnTo>
                      <a:lnTo>
                        <a:pt x="197309" y="147158"/>
                      </a:lnTo>
                      <a:cubicBezTo>
                        <a:pt x="195271" y="134074"/>
                        <a:pt x="183586" y="124708"/>
                        <a:pt x="170373" y="125567"/>
                      </a:cubicBezTo>
                      <a:lnTo>
                        <a:pt x="94065" y="130684"/>
                      </a:lnTo>
                      <a:cubicBezTo>
                        <a:pt x="79970" y="131649"/>
                        <a:pt x="69327" y="143858"/>
                        <a:pt x="70292" y="157953"/>
                      </a:cubicBezTo>
                      <a:cubicBezTo>
                        <a:pt x="70345" y="158726"/>
                        <a:pt x="70434" y="159498"/>
                        <a:pt x="70557" y="160263"/>
                      </a:cubicBezTo>
                      <a:lnTo>
                        <a:pt x="76415" y="196221"/>
                      </a:lnTo>
                      <a:lnTo>
                        <a:pt x="116951" y="193842"/>
                      </a:lnTo>
                      <a:cubicBezTo>
                        <a:pt x="117804" y="193791"/>
                        <a:pt x="118657" y="193766"/>
                        <a:pt x="119510" y="193766"/>
                      </a:cubicBezTo>
                      <a:cubicBezTo>
                        <a:pt x="140891" y="193808"/>
                        <a:pt x="158934" y="209682"/>
                        <a:pt x="161701" y="230883"/>
                      </a:cubicBezTo>
                      <a:lnTo>
                        <a:pt x="164481" y="252465"/>
                      </a:lnTo>
                      <a:lnTo>
                        <a:pt x="150070" y="274422"/>
                      </a:lnTo>
                      <a:lnTo>
                        <a:pt x="144732" y="233049"/>
                      </a:lnTo>
                      <a:cubicBezTo>
                        <a:pt x="142998" y="219751"/>
                        <a:pt x="131287" y="210050"/>
                        <a:pt x="117898" y="210820"/>
                      </a:cubicBezTo>
                      <a:lnTo>
                        <a:pt x="24059" y="216345"/>
                      </a:lnTo>
                      <a:cubicBezTo>
                        <a:pt x="9983" y="217158"/>
                        <a:pt x="-769" y="229227"/>
                        <a:pt x="43" y="243303"/>
                      </a:cubicBezTo>
                      <a:cubicBezTo>
                        <a:pt x="74" y="243831"/>
                        <a:pt x="121" y="244359"/>
                        <a:pt x="184" y="244885"/>
                      </a:cubicBezTo>
                      <a:lnTo>
                        <a:pt x="20461" y="413769"/>
                      </a:lnTo>
                      <a:cubicBezTo>
                        <a:pt x="21691" y="424047"/>
                        <a:pt x="29007" y="432565"/>
                        <a:pt x="38981" y="435333"/>
                      </a:cubicBezTo>
                      <a:lnTo>
                        <a:pt x="74419" y="445182"/>
                      </a:lnTo>
                      <a:lnTo>
                        <a:pt x="74419" y="480995"/>
                      </a:lnTo>
                      <a:lnTo>
                        <a:pt x="44643" y="480995"/>
                      </a:lnTo>
                      <a:cubicBezTo>
                        <a:pt x="28204" y="481023"/>
                        <a:pt x="14883" y="494340"/>
                        <a:pt x="14850" y="510779"/>
                      </a:cubicBezTo>
                      <a:lnTo>
                        <a:pt x="14850" y="516646"/>
                      </a:lnTo>
                      <a:cubicBezTo>
                        <a:pt x="8620" y="523710"/>
                        <a:pt x="9297" y="534487"/>
                        <a:pt x="16360" y="540717"/>
                      </a:cubicBezTo>
                      <a:cubicBezTo>
                        <a:pt x="23424" y="546946"/>
                        <a:pt x="34201" y="546270"/>
                        <a:pt x="40431" y="539206"/>
                      </a:cubicBezTo>
                      <a:cubicBezTo>
                        <a:pt x="46116" y="532760"/>
                        <a:pt x="46116" y="523091"/>
                        <a:pt x="40431" y="516646"/>
                      </a:cubicBezTo>
                      <a:lnTo>
                        <a:pt x="40431" y="510779"/>
                      </a:lnTo>
                      <a:cubicBezTo>
                        <a:pt x="40431" y="508425"/>
                        <a:pt x="42340" y="506516"/>
                        <a:pt x="44694" y="506516"/>
                      </a:cubicBezTo>
                      <a:lnTo>
                        <a:pt x="74436" y="506516"/>
                      </a:lnTo>
                      <a:lnTo>
                        <a:pt x="74436" y="516637"/>
                      </a:lnTo>
                      <a:cubicBezTo>
                        <a:pt x="68193" y="523689"/>
                        <a:pt x="68849" y="534467"/>
                        <a:pt x="75901" y="540711"/>
                      </a:cubicBezTo>
                      <a:cubicBezTo>
                        <a:pt x="82953" y="546954"/>
                        <a:pt x="93731" y="546298"/>
                        <a:pt x="99974" y="539246"/>
                      </a:cubicBezTo>
                      <a:cubicBezTo>
                        <a:pt x="105687" y="532792"/>
                        <a:pt x="105687" y="523091"/>
                        <a:pt x="99974" y="516637"/>
                      </a:cubicBezTo>
                      <a:lnTo>
                        <a:pt x="99974" y="506516"/>
                      </a:lnTo>
                      <a:lnTo>
                        <a:pt x="129767" y="506516"/>
                      </a:lnTo>
                      <a:cubicBezTo>
                        <a:pt x="132122" y="506516"/>
                        <a:pt x="134031" y="508425"/>
                        <a:pt x="134031" y="510779"/>
                      </a:cubicBezTo>
                      <a:lnTo>
                        <a:pt x="134031" y="516646"/>
                      </a:lnTo>
                      <a:cubicBezTo>
                        <a:pt x="127801" y="523710"/>
                        <a:pt x="128477" y="534487"/>
                        <a:pt x="135541" y="540717"/>
                      </a:cubicBezTo>
                      <a:cubicBezTo>
                        <a:pt x="142606" y="546946"/>
                        <a:pt x="153382" y="546270"/>
                        <a:pt x="159612" y="539206"/>
                      </a:cubicBezTo>
                      <a:cubicBezTo>
                        <a:pt x="165297" y="532760"/>
                        <a:pt x="165297" y="523091"/>
                        <a:pt x="159612" y="516646"/>
                      </a:cubicBezTo>
                      <a:lnTo>
                        <a:pt x="159612" y="510779"/>
                      </a:lnTo>
                      <a:cubicBezTo>
                        <a:pt x="159583" y="494337"/>
                        <a:pt x="146261" y="481015"/>
                        <a:pt x="129819" y="480986"/>
                      </a:cubicBezTo>
                      <a:lnTo>
                        <a:pt x="99974" y="480986"/>
                      </a:lnTo>
                      <a:lnTo>
                        <a:pt x="99974" y="456830"/>
                      </a:lnTo>
                      <a:cubicBezTo>
                        <a:pt x="105266" y="460293"/>
                        <a:pt x="111070" y="462902"/>
                        <a:pt x="117173" y="464564"/>
                      </a:cubicBezTo>
                      <a:lnTo>
                        <a:pt x="172052" y="479230"/>
                      </a:lnTo>
                      <a:cubicBezTo>
                        <a:pt x="199287" y="486501"/>
                        <a:pt x="226812" y="492393"/>
                        <a:pt x="254627" y="496906"/>
                      </a:cubicBezTo>
                      <a:lnTo>
                        <a:pt x="254627" y="576104"/>
                      </a:lnTo>
                      <a:cubicBezTo>
                        <a:pt x="254665" y="587801"/>
                        <a:pt x="262630" y="597982"/>
                        <a:pt x="273975" y="600832"/>
                      </a:cubicBezTo>
                      <a:lnTo>
                        <a:pt x="286808" y="604038"/>
                      </a:lnTo>
                      <a:cubicBezTo>
                        <a:pt x="355399" y="617749"/>
                        <a:pt x="426078" y="617197"/>
                        <a:pt x="494447" y="602418"/>
                      </a:cubicBezTo>
                      <a:lnTo>
                        <a:pt x="499563" y="601054"/>
                      </a:lnTo>
                      <a:cubicBezTo>
                        <a:pt x="510715" y="598068"/>
                        <a:pt x="518485" y="587981"/>
                        <a:pt x="518527" y="576437"/>
                      </a:cubicBezTo>
                      <a:lnTo>
                        <a:pt x="518527" y="498117"/>
                      </a:lnTo>
                      <a:cubicBezTo>
                        <a:pt x="548744" y="493526"/>
                        <a:pt x="578692" y="487307"/>
                        <a:pt x="608238" y="479486"/>
                      </a:cubicBezTo>
                      <a:lnTo>
                        <a:pt x="664388" y="464546"/>
                      </a:lnTo>
                      <a:cubicBezTo>
                        <a:pt x="671646" y="462607"/>
                        <a:pt x="678475" y="459321"/>
                        <a:pt x="684520" y="454860"/>
                      </a:cubicBezTo>
                      <a:lnTo>
                        <a:pt x="684520" y="480986"/>
                      </a:lnTo>
                      <a:lnTo>
                        <a:pt x="654727" y="480986"/>
                      </a:lnTo>
                      <a:cubicBezTo>
                        <a:pt x="638285" y="481015"/>
                        <a:pt x="624962" y="494337"/>
                        <a:pt x="624934" y="510779"/>
                      </a:cubicBezTo>
                      <a:lnTo>
                        <a:pt x="624934" y="516646"/>
                      </a:lnTo>
                      <a:cubicBezTo>
                        <a:pt x="618691" y="523698"/>
                        <a:pt x="619347" y="534476"/>
                        <a:pt x="626399" y="540719"/>
                      </a:cubicBezTo>
                      <a:cubicBezTo>
                        <a:pt x="633451" y="546963"/>
                        <a:pt x="644229" y="546307"/>
                        <a:pt x="650472" y="539254"/>
                      </a:cubicBezTo>
                      <a:cubicBezTo>
                        <a:pt x="656185" y="532801"/>
                        <a:pt x="656185" y="523099"/>
                        <a:pt x="650472" y="516646"/>
                      </a:cubicBezTo>
                      <a:lnTo>
                        <a:pt x="650472" y="510779"/>
                      </a:lnTo>
                      <a:cubicBezTo>
                        <a:pt x="650472" y="508425"/>
                        <a:pt x="652381" y="506516"/>
                        <a:pt x="654736" y="506516"/>
                      </a:cubicBezTo>
                      <a:lnTo>
                        <a:pt x="684529" y="506516"/>
                      </a:lnTo>
                      <a:lnTo>
                        <a:pt x="684529" y="516637"/>
                      </a:lnTo>
                      <a:cubicBezTo>
                        <a:pt x="678285" y="523689"/>
                        <a:pt x="678941" y="534467"/>
                        <a:pt x="685994" y="540711"/>
                      </a:cubicBezTo>
                      <a:cubicBezTo>
                        <a:pt x="693045" y="546954"/>
                        <a:pt x="703823" y="546298"/>
                        <a:pt x="710067" y="539246"/>
                      </a:cubicBezTo>
                      <a:cubicBezTo>
                        <a:pt x="715780" y="532792"/>
                        <a:pt x="715780" y="523091"/>
                        <a:pt x="710067" y="516637"/>
                      </a:cubicBezTo>
                      <a:lnTo>
                        <a:pt x="710067" y="506516"/>
                      </a:lnTo>
                      <a:lnTo>
                        <a:pt x="739860" y="506516"/>
                      </a:lnTo>
                      <a:cubicBezTo>
                        <a:pt x="742214" y="506516"/>
                        <a:pt x="744123" y="508425"/>
                        <a:pt x="744123" y="510779"/>
                      </a:cubicBezTo>
                      <a:lnTo>
                        <a:pt x="744123" y="516646"/>
                      </a:lnTo>
                      <a:cubicBezTo>
                        <a:pt x="737893" y="523710"/>
                        <a:pt x="738570" y="534487"/>
                        <a:pt x="745633" y="540717"/>
                      </a:cubicBezTo>
                      <a:cubicBezTo>
                        <a:pt x="752698" y="546946"/>
                        <a:pt x="763474" y="546270"/>
                        <a:pt x="769704" y="539206"/>
                      </a:cubicBezTo>
                      <a:cubicBezTo>
                        <a:pt x="775389" y="532760"/>
                        <a:pt x="775389" y="523091"/>
                        <a:pt x="769704" y="516646"/>
                      </a:cubicBezTo>
                      <a:lnTo>
                        <a:pt x="769704" y="510779"/>
                      </a:lnTo>
                      <a:cubicBezTo>
                        <a:pt x="769676" y="494316"/>
                        <a:pt x="756323" y="480986"/>
                        <a:pt x="739860" y="480986"/>
                      </a:cubicBezTo>
                      <a:lnTo>
                        <a:pt x="710058" y="480986"/>
                      </a:lnTo>
                      <a:lnTo>
                        <a:pt x="710058" y="445173"/>
                      </a:lnTo>
                      <a:close/>
                      <a:moveTo>
                        <a:pt x="599481" y="446580"/>
                      </a:moveTo>
                      <a:cubicBezTo>
                        <a:pt x="531343" y="464701"/>
                        <a:pt x="461137" y="473873"/>
                        <a:pt x="390631" y="473866"/>
                      </a:cubicBezTo>
                      <a:cubicBezTo>
                        <a:pt x="319809" y="473860"/>
                        <a:pt x="249291" y="464598"/>
                        <a:pt x="180869" y="446316"/>
                      </a:cubicBezTo>
                      <a:lnTo>
                        <a:pt x="125990" y="431650"/>
                      </a:lnTo>
                      <a:cubicBezTo>
                        <a:pt x="113387" y="428904"/>
                        <a:pt x="105396" y="416461"/>
                        <a:pt x="108141" y="403859"/>
                      </a:cubicBezTo>
                      <a:cubicBezTo>
                        <a:pt x="108766" y="400994"/>
                        <a:pt x="109923" y="398273"/>
                        <a:pt x="111554" y="395837"/>
                      </a:cubicBezTo>
                      <a:lnTo>
                        <a:pt x="272193" y="149545"/>
                      </a:lnTo>
                      <a:cubicBezTo>
                        <a:pt x="282073" y="135690"/>
                        <a:pt x="298100" y="127535"/>
                        <a:pt x="315117" y="127708"/>
                      </a:cubicBezTo>
                      <a:lnTo>
                        <a:pt x="466419" y="127708"/>
                      </a:lnTo>
                      <a:cubicBezTo>
                        <a:pt x="483432" y="127536"/>
                        <a:pt x="499456" y="135682"/>
                        <a:pt x="509343" y="149528"/>
                      </a:cubicBezTo>
                      <a:lnTo>
                        <a:pt x="670093" y="395802"/>
                      </a:lnTo>
                      <a:cubicBezTo>
                        <a:pt x="677270" y="406514"/>
                        <a:pt x="674405" y="421017"/>
                        <a:pt x="663692" y="428194"/>
                      </a:cubicBezTo>
                      <a:cubicBezTo>
                        <a:pt x="661248" y="429832"/>
                        <a:pt x="658516" y="430992"/>
                        <a:pt x="655639" y="431616"/>
                      </a:cubicBezTo>
                      <a:close/>
                    </a:path>
                  </a:pathLst>
                </a:custGeom>
                <a:solidFill>
                  <a:srgbClr val="000000"/>
                </a:solidFill>
                <a:ln w="8434" cap="flat">
                  <a:solidFill>
                    <a:srgbClr val="000000"/>
                  </a:solid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44" name="Down Arrow Callout 60">
              <a:extLst>
                <a:ext uri="{FF2B5EF4-FFF2-40B4-BE49-F238E27FC236}">
                  <a16:creationId xmlns:a16="http://schemas.microsoft.com/office/drawing/2014/main" id="{7771516E-A61F-7115-44D4-B2071D763247}"/>
                </a:ext>
              </a:extLst>
            </p:cNvPr>
            <p:cNvSpPr/>
            <p:nvPr/>
          </p:nvSpPr>
          <p:spPr bwMode="auto">
            <a:xfrm>
              <a:off x="3854196" y="2474885"/>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Financial Analysis</a:t>
              </a:r>
            </a:p>
          </p:txBody>
        </p:sp>
        <p:grpSp>
          <p:nvGrpSpPr>
            <p:cNvPr id="73" name="Group 72">
              <a:extLst>
                <a:ext uri="{FF2B5EF4-FFF2-40B4-BE49-F238E27FC236}">
                  <a16:creationId xmlns:a16="http://schemas.microsoft.com/office/drawing/2014/main" id="{BF0485FF-925D-C9D0-14F5-4EECE2999AC7}"/>
                </a:ext>
              </a:extLst>
            </p:cNvPr>
            <p:cNvGrpSpPr/>
            <p:nvPr/>
          </p:nvGrpSpPr>
          <p:grpSpPr>
            <a:xfrm>
              <a:off x="3848853" y="695161"/>
              <a:ext cx="1435608" cy="1645920"/>
              <a:chOff x="4614673" y="998939"/>
              <a:chExt cx="1261872" cy="1497294"/>
            </a:xfrm>
          </p:grpSpPr>
          <p:sp>
            <p:nvSpPr>
              <p:cNvPr id="42" name="Rectangle 41">
                <a:extLst>
                  <a:ext uri="{FF2B5EF4-FFF2-40B4-BE49-F238E27FC236}">
                    <a16:creationId xmlns:a16="http://schemas.microsoft.com/office/drawing/2014/main" id="{7BD25989-A6F4-9557-3379-DC25A5188A9D}"/>
                  </a:ext>
                </a:extLst>
              </p:cNvPr>
              <p:cNvSpPr/>
              <p:nvPr/>
            </p:nvSpPr>
            <p:spPr bwMode="auto">
              <a:xfrm>
                <a:off x="4614673"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4" name="Group 63">
                <a:extLst>
                  <a:ext uri="{FF2B5EF4-FFF2-40B4-BE49-F238E27FC236}">
                    <a16:creationId xmlns:a16="http://schemas.microsoft.com/office/drawing/2014/main" id="{3A7E037D-3D82-01CD-BE5E-25E629FD1610}"/>
                  </a:ext>
                </a:extLst>
              </p:cNvPr>
              <p:cNvGrpSpPr/>
              <p:nvPr/>
            </p:nvGrpSpPr>
            <p:grpSpPr>
              <a:xfrm>
                <a:off x="4674035" y="1176086"/>
                <a:ext cx="1143149" cy="1143000"/>
                <a:chOff x="4674035" y="1142389"/>
                <a:chExt cx="1143149" cy="1143000"/>
              </a:xfrm>
            </p:grpSpPr>
            <p:sp>
              <p:nvSpPr>
                <p:cNvPr id="43" name="Oval 42">
                  <a:extLst>
                    <a:ext uri="{FF2B5EF4-FFF2-40B4-BE49-F238E27FC236}">
                      <a16:creationId xmlns:a16="http://schemas.microsoft.com/office/drawing/2014/main" id="{DB3EC25B-C005-A39D-923C-08AA42E78827}"/>
                    </a:ext>
                  </a:extLst>
                </p:cNvPr>
                <p:cNvSpPr/>
                <p:nvPr/>
              </p:nvSpPr>
              <p:spPr bwMode="auto">
                <a:xfrm>
                  <a:off x="4674035" y="1142389"/>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45" name="Picture 18" descr="Related image">
                  <a:extLst>
                    <a:ext uri="{FF2B5EF4-FFF2-40B4-BE49-F238E27FC236}">
                      <a16:creationId xmlns:a16="http://schemas.microsoft.com/office/drawing/2014/main" id="{F7E36278-C4F8-FE97-F808-D7F7273C8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93" y="1353410"/>
                  <a:ext cx="713232" cy="720959"/>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sp>
          <p:nvSpPr>
            <p:cNvPr id="49" name="Down Arrow Callout 69">
              <a:extLst>
                <a:ext uri="{FF2B5EF4-FFF2-40B4-BE49-F238E27FC236}">
                  <a16:creationId xmlns:a16="http://schemas.microsoft.com/office/drawing/2014/main" id="{CD04F3D6-F5C2-401B-9807-329FF297D22C}"/>
                </a:ext>
              </a:extLst>
            </p:cNvPr>
            <p:cNvSpPr/>
            <p:nvPr/>
          </p:nvSpPr>
          <p:spPr bwMode="auto">
            <a:xfrm>
              <a:off x="5433880"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Valuation</a:t>
              </a:r>
            </a:p>
          </p:txBody>
        </p:sp>
        <p:grpSp>
          <p:nvGrpSpPr>
            <p:cNvPr id="69" name="Group 68">
              <a:extLst>
                <a:ext uri="{FF2B5EF4-FFF2-40B4-BE49-F238E27FC236}">
                  <a16:creationId xmlns:a16="http://schemas.microsoft.com/office/drawing/2014/main" id="{EC452906-001C-10E7-A193-AC564C6210F0}"/>
                </a:ext>
              </a:extLst>
            </p:cNvPr>
            <p:cNvGrpSpPr/>
            <p:nvPr/>
          </p:nvGrpSpPr>
          <p:grpSpPr>
            <a:xfrm>
              <a:off x="5433880" y="695162"/>
              <a:ext cx="1435608" cy="1645920"/>
              <a:chOff x="6031705" y="998939"/>
              <a:chExt cx="1261872" cy="1497294"/>
            </a:xfrm>
          </p:grpSpPr>
          <p:sp>
            <p:nvSpPr>
              <p:cNvPr id="47" name="Rectangle 46">
                <a:extLst>
                  <a:ext uri="{FF2B5EF4-FFF2-40B4-BE49-F238E27FC236}">
                    <a16:creationId xmlns:a16="http://schemas.microsoft.com/office/drawing/2014/main" id="{303522B2-88D9-54D4-B75D-74143DAFD91D}"/>
                  </a:ext>
                </a:extLst>
              </p:cNvPr>
              <p:cNvSpPr/>
              <p:nvPr/>
            </p:nvSpPr>
            <p:spPr bwMode="auto">
              <a:xfrm>
                <a:off x="6031705"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5" name="Group 64">
                <a:extLst>
                  <a:ext uri="{FF2B5EF4-FFF2-40B4-BE49-F238E27FC236}">
                    <a16:creationId xmlns:a16="http://schemas.microsoft.com/office/drawing/2014/main" id="{857AFF55-B240-228C-1CB6-45D25D680DB7}"/>
                  </a:ext>
                </a:extLst>
              </p:cNvPr>
              <p:cNvGrpSpPr/>
              <p:nvPr/>
            </p:nvGrpSpPr>
            <p:grpSpPr>
              <a:xfrm>
                <a:off x="6091067" y="1176086"/>
                <a:ext cx="1143149" cy="1143000"/>
                <a:chOff x="6091067" y="1176086"/>
                <a:chExt cx="1143149" cy="1143000"/>
              </a:xfrm>
            </p:grpSpPr>
            <p:sp>
              <p:nvSpPr>
                <p:cNvPr id="48" name="Oval 47">
                  <a:extLst>
                    <a:ext uri="{FF2B5EF4-FFF2-40B4-BE49-F238E27FC236}">
                      <a16:creationId xmlns:a16="http://schemas.microsoft.com/office/drawing/2014/main" id="{18EEC29B-C28A-1078-5FE6-2989BB78E30B}"/>
                    </a:ext>
                  </a:extLst>
                </p:cNvPr>
                <p:cNvSpPr/>
                <p:nvPr/>
              </p:nvSpPr>
              <p:spPr bwMode="auto">
                <a:xfrm>
                  <a:off x="6091067" y="1176086"/>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2" name="Graphic 11" descr="Dollar with solid fill">
                  <a:extLst>
                    <a:ext uri="{FF2B5EF4-FFF2-40B4-BE49-F238E27FC236}">
                      <a16:creationId xmlns:a16="http://schemas.microsoft.com/office/drawing/2014/main" id="{899CB4BB-91D8-2506-F5B6-691AAF5FCBFB}"/>
                    </a:ext>
                  </a:extLst>
                </p:cNvPr>
                <p:cNvSpPr/>
                <p:nvPr/>
              </p:nvSpPr>
              <p:spPr>
                <a:xfrm>
                  <a:off x="6497831" y="1441262"/>
                  <a:ext cx="329621" cy="612648"/>
                </a:xfrm>
                <a:custGeom>
                  <a:avLst/>
                  <a:gdLst>
                    <a:gd name="connsiteX0" fmla="*/ 284667 w 329621"/>
                    <a:gd name="connsiteY0" fmla="*/ 371951 h 710840"/>
                    <a:gd name="connsiteX1" fmla="*/ 186058 w 329621"/>
                    <a:gd name="connsiteY1" fmla="*/ 326243 h 710840"/>
                    <a:gd name="connsiteX2" fmla="*/ 186058 w 329621"/>
                    <a:gd name="connsiteY2" fmla="*/ 126381 h 710840"/>
                    <a:gd name="connsiteX3" fmla="*/ 274169 w 329621"/>
                    <a:gd name="connsiteY3" fmla="*/ 168287 h 710840"/>
                    <a:gd name="connsiteX4" fmla="*/ 313844 w 329621"/>
                    <a:gd name="connsiteY4" fmla="*/ 130266 h 710840"/>
                    <a:gd name="connsiteX5" fmla="*/ 186058 w 329621"/>
                    <a:gd name="connsiteY5" fmla="*/ 71828 h 710840"/>
                    <a:gd name="connsiteX6" fmla="*/ 186058 w 329621"/>
                    <a:gd name="connsiteY6" fmla="*/ 0 h 710840"/>
                    <a:gd name="connsiteX7" fmla="*/ 136465 w 329621"/>
                    <a:gd name="connsiteY7" fmla="*/ 0 h 710840"/>
                    <a:gd name="connsiteX8" fmla="*/ 136465 w 329621"/>
                    <a:gd name="connsiteY8" fmla="*/ 74969 h 710840"/>
                    <a:gd name="connsiteX9" fmla="*/ 87863 w 329621"/>
                    <a:gd name="connsiteY9" fmla="*/ 92327 h 710840"/>
                    <a:gd name="connsiteX10" fmla="*/ 18928 w 329621"/>
                    <a:gd name="connsiteY10" fmla="*/ 274169 h 710840"/>
                    <a:gd name="connsiteX11" fmla="*/ 136465 w 329621"/>
                    <a:gd name="connsiteY11" fmla="*/ 366909 h 710840"/>
                    <a:gd name="connsiteX12" fmla="*/ 136465 w 329621"/>
                    <a:gd name="connsiteY12" fmla="*/ 583302 h 710840"/>
                    <a:gd name="connsiteX13" fmla="*/ 39675 w 329621"/>
                    <a:gd name="connsiteY13" fmla="*/ 528997 h 710840"/>
                    <a:gd name="connsiteX14" fmla="*/ 0 w 329621"/>
                    <a:gd name="connsiteY14" fmla="*/ 566936 h 710840"/>
                    <a:gd name="connsiteX15" fmla="*/ 66538 w 329621"/>
                    <a:gd name="connsiteY15" fmla="*/ 619919 h 710840"/>
                    <a:gd name="connsiteX16" fmla="*/ 136465 w 329621"/>
                    <a:gd name="connsiteY16" fmla="*/ 638351 h 710840"/>
                    <a:gd name="connsiteX17" fmla="*/ 136465 w 329621"/>
                    <a:gd name="connsiteY17" fmla="*/ 710840 h 710840"/>
                    <a:gd name="connsiteX18" fmla="*/ 186058 w 329621"/>
                    <a:gd name="connsiteY18" fmla="*/ 710840 h 710840"/>
                    <a:gd name="connsiteX19" fmla="*/ 186058 w 329621"/>
                    <a:gd name="connsiteY19" fmla="*/ 636450 h 710840"/>
                    <a:gd name="connsiteX20" fmla="*/ 317646 w 329621"/>
                    <a:gd name="connsiteY20" fmla="*/ 537263 h 710840"/>
                    <a:gd name="connsiteX21" fmla="*/ 284667 w 329621"/>
                    <a:gd name="connsiteY21" fmla="*/ 371951 h 710840"/>
                    <a:gd name="connsiteX22" fmla="*/ 95137 w 329621"/>
                    <a:gd name="connsiteY22" fmla="*/ 287064 h 710840"/>
                    <a:gd name="connsiteX23" fmla="*/ 108940 w 329621"/>
                    <a:gd name="connsiteY23" fmla="*/ 143738 h 710840"/>
                    <a:gd name="connsiteX24" fmla="*/ 136465 w 329621"/>
                    <a:gd name="connsiteY24" fmla="*/ 131092 h 710840"/>
                    <a:gd name="connsiteX25" fmla="*/ 136465 w 329621"/>
                    <a:gd name="connsiteY25" fmla="*/ 310373 h 710840"/>
                    <a:gd name="connsiteX26" fmla="*/ 95137 w 329621"/>
                    <a:gd name="connsiteY26" fmla="*/ 287064 h 710840"/>
                    <a:gd name="connsiteX27" fmla="*/ 244661 w 329621"/>
                    <a:gd name="connsiteY27" fmla="*/ 550075 h 710840"/>
                    <a:gd name="connsiteX28" fmla="*/ 186058 w 329621"/>
                    <a:gd name="connsiteY28" fmla="*/ 581071 h 710840"/>
                    <a:gd name="connsiteX29" fmla="*/ 186058 w 329621"/>
                    <a:gd name="connsiteY29" fmla="*/ 383606 h 710840"/>
                    <a:gd name="connsiteX30" fmla="*/ 270533 w 329621"/>
                    <a:gd name="connsiteY30" fmla="*/ 444523 h 710840"/>
                    <a:gd name="connsiteX31" fmla="*/ 244661 w 329621"/>
                    <a:gd name="connsiteY31" fmla="*/ 550075 h 71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9621" h="710840">
                      <a:moveTo>
                        <a:pt x="284667" y="371951"/>
                      </a:moveTo>
                      <a:cubicBezTo>
                        <a:pt x="256729" y="348146"/>
                        <a:pt x="220443" y="336988"/>
                        <a:pt x="186058" y="326243"/>
                      </a:cubicBezTo>
                      <a:lnTo>
                        <a:pt x="186058" y="126381"/>
                      </a:lnTo>
                      <a:cubicBezTo>
                        <a:pt x="219443" y="129553"/>
                        <a:pt x="250641" y="144391"/>
                        <a:pt x="274169" y="168287"/>
                      </a:cubicBezTo>
                      <a:lnTo>
                        <a:pt x="313844" y="130266"/>
                      </a:lnTo>
                      <a:cubicBezTo>
                        <a:pt x="279891" y="95726"/>
                        <a:pt x="234393" y="74919"/>
                        <a:pt x="186058" y="71828"/>
                      </a:cubicBezTo>
                      <a:lnTo>
                        <a:pt x="186058" y="0"/>
                      </a:lnTo>
                      <a:lnTo>
                        <a:pt x="136465" y="0"/>
                      </a:lnTo>
                      <a:lnTo>
                        <a:pt x="136465" y="74969"/>
                      </a:lnTo>
                      <a:cubicBezTo>
                        <a:pt x="119482" y="78274"/>
                        <a:pt x="103097" y="84126"/>
                        <a:pt x="87863" y="92327"/>
                      </a:cubicBezTo>
                      <a:cubicBezTo>
                        <a:pt x="25210" y="126463"/>
                        <a:pt x="-6778" y="206640"/>
                        <a:pt x="18928" y="274169"/>
                      </a:cubicBezTo>
                      <a:cubicBezTo>
                        <a:pt x="38848" y="326243"/>
                        <a:pt x="86871" y="349469"/>
                        <a:pt x="136465" y="366909"/>
                      </a:cubicBezTo>
                      <a:lnTo>
                        <a:pt x="136465" y="583302"/>
                      </a:lnTo>
                      <a:cubicBezTo>
                        <a:pt x="98030" y="578591"/>
                        <a:pt x="66125" y="556522"/>
                        <a:pt x="39675" y="528997"/>
                      </a:cubicBezTo>
                      <a:lnTo>
                        <a:pt x="0" y="566936"/>
                      </a:lnTo>
                      <a:cubicBezTo>
                        <a:pt x="18891" y="588372"/>
                        <a:pt x="41416" y="606309"/>
                        <a:pt x="66538" y="619919"/>
                      </a:cubicBezTo>
                      <a:cubicBezTo>
                        <a:pt x="88495" y="630364"/>
                        <a:pt x="112211" y="636615"/>
                        <a:pt x="136465" y="638351"/>
                      </a:cubicBezTo>
                      <a:lnTo>
                        <a:pt x="136465" y="710840"/>
                      </a:lnTo>
                      <a:lnTo>
                        <a:pt x="186058" y="710840"/>
                      </a:lnTo>
                      <a:lnTo>
                        <a:pt x="186058" y="636450"/>
                      </a:lnTo>
                      <a:cubicBezTo>
                        <a:pt x="242926" y="626945"/>
                        <a:pt x="295164" y="591981"/>
                        <a:pt x="317646" y="537263"/>
                      </a:cubicBezTo>
                      <a:cubicBezTo>
                        <a:pt x="340129" y="482545"/>
                        <a:pt x="331946" y="412370"/>
                        <a:pt x="284667" y="371951"/>
                      </a:cubicBezTo>
                      <a:close/>
                      <a:moveTo>
                        <a:pt x="95137" y="287064"/>
                      </a:moveTo>
                      <a:cubicBezTo>
                        <a:pt x="49676" y="248711"/>
                        <a:pt x="60752" y="174486"/>
                        <a:pt x="108940" y="143738"/>
                      </a:cubicBezTo>
                      <a:cubicBezTo>
                        <a:pt x="117481" y="138261"/>
                        <a:pt x="126745" y="134004"/>
                        <a:pt x="136465" y="131092"/>
                      </a:cubicBezTo>
                      <a:lnTo>
                        <a:pt x="136465" y="310373"/>
                      </a:lnTo>
                      <a:cubicBezTo>
                        <a:pt x="121500" y="304930"/>
                        <a:pt x="107537" y="297054"/>
                        <a:pt x="95137" y="287064"/>
                      </a:cubicBezTo>
                      <a:close/>
                      <a:moveTo>
                        <a:pt x="244661" y="550075"/>
                      </a:moveTo>
                      <a:cubicBezTo>
                        <a:pt x="228529" y="565846"/>
                        <a:pt x="208175" y="576611"/>
                        <a:pt x="186058" y="581071"/>
                      </a:cubicBezTo>
                      <a:lnTo>
                        <a:pt x="186058" y="383606"/>
                      </a:lnTo>
                      <a:cubicBezTo>
                        <a:pt x="219121" y="394930"/>
                        <a:pt x="257060" y="409312"/>
                        <a:pt x="270533" y="444523"/>
                      </a:cubicBezTo>
                      <a:cubicBezTo>
                        <a:pt x="284005" y="479734"/>
                        <a:pt x="270450" y="523790"/>
                        <a:pt x="244661" y="550075"/>
                      </a:cubicBezTo>
                      <a:close/>
                    </a:path>
                  </a:pathLst>
                </a:custGeom>
                <a:solidFill>
                  <a:srgbClr val="000000"/>
                </a:solidFill>
                <a:ln w="8235"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55" name="Down Arrow Callout 69">
              <a:extLst>
                <a:ext uri="{FF2B5EF4-FFF2-40B4-BE49-F238E27FC236}">
                  <a16:creationId xmlns:a16="http://schemas.microsoft.com/office/drawing/2014/main" id="{762450AB-6914-114A-BC6C-FCA3DCDDA5C5}"/>
                </a:ext>
              </a:extLst>
            </p:cNvPr>
            <p:cNvSpPr/>
            <p:nvPr/>
          </p:nvSpPr>
          <p:spPr bwMode="auto">
            <a:xfrm>
              <a:off x="7013564"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Risks</a:t>
              </a:r>
            </a:p>
          </p:txBody>
        </p:sp>
        <p:grpSp>
          <p:nvGrpSpPr>
            <p:cNvPr id="68" name="Group 67">
              <a:extLst>
                <a:ext uri="{FF2B5EF4-FFF2-40B4-BE49-F238E27FC236}">
                  <a16:creationId xmlns:a16="http://schemas.microsoft.com/office/drawing/2014/main" id="{4BC6EDFD-55BE-02E0-E551-849A5BA6D7FB}"/>
                </a:ext>
              </a:extLst>
            </p:cNvPr>
            <p:cNvGrpSpPr/>
            <p:nvPr/>
          </p:nvGrpSpPr>
          <p:grpSpPr>
            <a:xfrm>
              <a:off x="7013564" y="701514"/>
              <a:ext cx="1435608" cy="1645920"/>
              <a:chOff x="7417254" y="998937"/>
              <a:chExt cx="1264787" cy="1497293"/>
            </a:xfrm>
          </p:grpSpPr>
          <p:sp>
            <p:nvSpPr>
              <p:cNvPr id="54" name="Rectangle 53">
                <a:extLst>
                  <a:ext uri="{FF2B5EF4-FFF2-40B4-BE49-F238E27FC236}">
                    <a16:creationId xmlns:a16="http://schemas.microsoft.com/office/drawing/2014/main" id="{44CA24E7-E668-83FA-6DEF-624B08E3E932}"/>
                  </a:ext>
                </a:extLst>
              </p:cNvPr>
              <p:cNvSpPr/>
              <p:nvPr/>
            </p:nvSpPr>
            <p:spPr bwMode="auto">
              <a:xfrm>
                <a:off x="7417254" y="998937"/>
                <a:ext cx="1264787" cy="1497293"/>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7" name="Group 66">
                <a:extLst>
                  <a:ext uri="{FF2B5EF4-FFF2-40B4-BE49-F238E27FC236}">
                    <a16:creationId xmlns:a16="http://schemas.microsoft.com/office/drawing/2014/main" id="{9D6B6219-3923-B83D-4F65-C36004F47D33}"/>
                  </a:ext>
                </a:extLst>
              </p:cNvPr>
              <p:cNvGrpSpPr/>
              <p:nvPr/>
            </p:nvGrpSpPr>
            <p:grpSpPr>
              <a:xfrm>
                <a:off x="7478147" y="1176083"/>
                <a:ext cx="1143000" cy="1143000"/>
                <a:chOff x="7474569" y="1120998"/>
                <a:chExt cx="1143000" cy="1143000"/>
              </a:xfrm>
            </p:grpSpPr>
            <p:sp>
              <p:nvSpPr>
                <p:cNvPr id="56" name="Oval 55">
                  <a:extLst>
                    <a:ext uri="{FF2B5EF4-FFF2-40B4-BE49-F238E27FC236}">
                      <a16:creationId xmlns:a16="http://schemas.microsoft.com/office/drawing/2014/main" id="{AA114163-ED93-2AD3-FC0C-CC361D5A5C21}"/>
                    </a:ext>
                  </a:extLst>
                </p:cNvPr>
                <p:cNvSpPr/>
                <p:nvPr/>
              </p:nvSpPr>
              <p:spPr bwMode="auto">
                <a:xfrm>
                  <a:off x="7474569" y="1120998"/>
                  <a:ext cx="1143000"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7" name="Graphic 20" descr="Warning with solid fill">
                  <a:extLst>
                    <a:ext uri="{FF2B5EF4-FFF2-40B4-BE49-F238E27FC236}">
                      <a16:creationId xmlns:a16="http://schemas.microsoft.com/office/drawing/2014/main" id="{8F3E18F4-DB24-C6BE-269D-D44397F6640D}"/>
                    </a:ext>
                  </a:extLst>
                </p:cNvPr>
                <p:cNvSpPr/>
                <p:nvPr/>
              </p:nvSpPr>
              <p:spPr>
                <a:xfrm>
                  <a:off x="7689453" y="1355694"/>
                  <a:ext cx="713232" cy="612648"/>
                </a:xfrm>
                <a:custGeom>
                  <a:avLst/>
                  <a:gdLst>
                    <a:gd name="connsiteX0" fmla="*/ 612383 w 616118"/>
                    <a:gd name="connsiteY0" fmla="*/ 500241 h 543103"/>
                    <a:gd name="connsiteX1" fmla="*/ 333062 w 616118"/>
                    <a:gd name="connsiteY1" fmla="*/ 14466 h 543103"/>
                    <a:gd name="connsiteX2" fmla="*/ 283770 w 616118"/>
                    <a:gd name="connsiteY2" fmla="*/ 14466 h 543103"/>
                    <a:gd name="connsiteX3" fmla="*/ 3735 w 616118"/>
                    <a:gd name="connsiteY3" fmla="*/ 500241 h 543103"/>
                    <a:gd name="connsiteX4" fmla="*/ 28739 w 616118"/>
                    <a:gd name="connsiteY4" fmla="*/ 543104 h 543103"/>
                    <a:gd name="connsiteX5" fmla="*/ 308059 w 616118"/>
                    <a:gd name="connsiteY5" fmla="*/ 543104 h 543103"/>
                    <a:gd name="connsiteX6" fmla="*/ 587380 w 616118"/>
                    <a:gd name="connsiteY6" fmla="*/ 543104 h 543103"/>
                    <a:gd name="connsiteX7" fmla="*/ 612383 w 616118"/>
                    <a:gd name="connsiteY7" fmla="*/ 500241 h 543103"/>
                    <a:gd name="connsiteX8" fmla="*/ 286628 w 616118"/>
                    <a:gd name="connsiteY8" fmla="*/ 128766 h 543103"/>
                    <a:gd name="connsiteX9" fmla="*/ 329490 w 616118"/>
                    <a:gd name="connsiteY9" fmla="*/ 128766 h 543103"/>
                    <a:gd name="connsiteX10" fmla="*/ 329490 w 616118"/>
                    <a:gd name="connsiteY10" fmla="*/ 378797 h 543103"/>
                    <a:gd name="connsiteX11" fmla="*/ 286628 w 616118"/>
                    <a:gd name="connsiteY11" fmla="*/ 378797 h 543103"/>
                    <a:gd name="connsiteX12" fmla="*/ 286628 w 616118"/>
                    <a:gd name="connsiteY12" fmla="*/ 128766 h 543103"/>
                    <a:gd name="connsiteX13" fmla="*/ 308059 w 616118"/>
                    <a:gd name="connsiteY13" fmla="*/ 478810 h 543103"/>
                    <a:gd name="connsiteX14" fmla="*/ 272340 w 616118"/>
                    <a:gd name="connsiteY14" fmla="*/ 443091 h 543103"/>
                    <a:gd name="connsiteX15" fmla="*/ 308059 w 616118"/>
                    <a:gd name="connsiteY15" fmla="*/ 407372 h 543103"/>
                    <a:gd name="connsiteX16" fmla="*/ 343778 w 616118"/>
                    <a:gd name="connsiteY16" fmla="*/ 443091 h 543103"/>
                    <a:gd name="connsiteX17" fmla="*/ 308059 w 616118"/>
                    <a:gd name="connsiteY17" fmla="*/ 478810 h 54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6118" h="543103">
                      <a:moveTo>
                        <a:pt x="612383" y="500241"/>
                      </a:moveTo>
                      <a:lnTo>
                        <a:pt x="333062" y="14466"/>
                      </a:lnTo>
                      <a:cubicBezTo>
                        <a:pt x="322347" y="-4822"/>
                        <a:pt x="294486" y="-4822"/>
                        <a:pt x="283770" y="14466"/>
                      </a:cubicBezTo>
                      <a:lnTo>
                        <a:pt x="3735" y="500241"/>
                      </a:lnTo>
                      <a:cubicBezTo>
                        <a:pt x="-6980" y="519529"/>
                        <a:pt x="6593" y="543104"/>
                        <a:pt x="28739" y="543104"/>
                      </a:cubicBezTo>
                      <a:lnTo>
                        <a:pt x="308059" y="543104"/>
                      </a:lnTo>
                      <a:lnTo>
                        <a:pt x="587380" y="543104"/>
                      </a:lnTo>
                      <a:cubicBezTo>
                        <a:pt x="609525" y="543104"/>
                        <a:pt x="623099" y="519529"/>
                        <a:pt x="612383" y="500241"/>
                      </a:cubicBezTo>
                      <a:close/>
                      <a:moveTo>
                        <a:pt x="286628" y="128766"/>
                      </a:moveTo>
                      <a:lnTo>
                        <a:pt x="329490" y="128766"/>
                      </a:lnTo>
                      <a:lnTo>
                        <a:pt x="329490" y="378797"/>
                      </a:lnTo>
                      <a:lnTo>
                        <a:pt x="286628" y="378797"/>
                      </a:lnTo>
                      <a:lnTo>
                        <a:pt x="286628" y="128766"/>
                      </a:lnTo>
                      <a:close/>
                      <a:moveTo>
                        <a:pt x="308059" y="478810"/>
                      </a:moveTo>
                      <a:cubicBezTo>
                        <a:pt x="288057" y="478810"/>
                        <a:pt x="272340" y="463094"/>
                        <a:pt x="272340" y="443091"/>
                      </a:cubicBezTo>
                      <a:cubicBezTo>
                        <a:pt x="272340" y="423089"/>
                        <a:pt x="288057" y="407372"/>
                        <a:pt x="308059" y="407372"/>
                      </a:cubicBezTo>
                      <a:cubicBezTo>
                        <a:pt x="328062" y="407372"/>
                        <a:pt x="343778" y="423089"/>
                        <a:pt x="343778" y="443091"/>
                      </a:cubicBezTo>
                      <a:cubicBezTo>
                        <a:pt x="343778" y="463094"/>
                        <a:pt x="328062" y="478810"/>
                        <a:pt x="308059" y="478810"/>
                      </a:cubicBezTo>
                      <a:close/>
                    </a:path>
                  </a:pathLst>
                </a:custGeom>
                <a:solidFill>
                  <a:srgbClr val="000000"/>
                </a:solidFill>
                <a:ln w="7144"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10" name="Down Arrow Callout 26">
              <a:extLst>
                <a:ext uri="{FF2B5EF4-FFF2-40B4-BE49-F238E27FC236}">
                  <a16:creationId xmlns:a16="http://schemas.microsoft.com/office/drawing/2014/main" id="{0C70C5B7-FC33-5F08-AF84-935401BCE217}"/>
                </a:ext>
              </a:extLst>
            </p:cNvPr>
            <p:cNvSpPr/>
            <p:nvPr/>
          </p:nvSpPr>
          <p:spPr bwMode="auto">
            <a:xfrm>
              <a:off x="704167" y="2474509"/>
              <a:ext cx="1435608" cy="1463040"/>
            </a:xfrm>
            <a:prstGeom prst="downArrowCallou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Business Description</a:t>
              </a:r>
            </a:p>
          </p:txBody>
        </p:sp>
        <p:grpSp>
          <p:nvGrpSpPr>
            <p:cNvPr id="32" name="Group 31">
              <a:extLst>
                <a:ext uri="{FF2B5EF4-FFF2-40B4-BE49-F238E27FC236}">
                  <a16:creationId xmlns:a16="http://schemas.microsoft.com/office/drawing/2014/main" id="{BFD6F976-9557-B0DC-A4F8-1466E77C5EF0}"/>
                </a:ext>
              </a:extLst>
            </p:cNvPr>
            <p:cNvGrpSpPr/>
            <p:nvPr/>
          </p:nvGrpSpPr>
          <p:grpSpPr>
            <a:xfrm>
              <a:off x="695702" y="701514"/>
              <a:ext cx="1435608" cy="1645920"/>
              <a:chOff x="676875" y="701139"/>
              <a:chExt cx="1435608" cy="1645920"/>
            </a:xfrm>
          </p:grpSpPr>
          <p:sp>
            <p:nvSpPr>
              <p:cNvPr id="3" name="Rectangle 2">
                <a:extLst>
                  <a:ext uri="{FF2B5EF4-FFF2-40B4-BE49-F238E27FC236}">
                    <a16:creationId xmlns:a16="http://schemas.microsoft.com/office/drawing/2014/main" id="{AAA40122-2CC6-F07B-95AC-AB8BC534EA56}"/>
                  </a:ext>
                </a:extLst>
              </p:cNvPr>
              <p:cNvSpPr/>
              <p:nvPr/>
            </p:nvSpPr>
            <p:spPr bwMode="auto">
              <a:xfrm>
                <a:off x="676875" y="701139"/>
                <a:ext cx="1435608" cy="164592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4" name="Oval 3">
                <a:extLst>
                  <a:ext uri="{FF2B5EF4-FFF2-40B4-BE49-F238E27FC236}">
                    <a16:creationId xmlns:a16="http://schemas.microsoft.com/office/drawing/2014/main" id="{538BE63C-00A5-3FFE-6CCF-B5EFAE393ECF}"/>
                  </a:ext>
                </a:extLst>
              </p:cNvPr>
              <p:cNvSpPr/>
              <p:nvPr/>
            </p:nvSpPr>
            <p:spPr bwMode="auto">
              <a:xfrm>
                <a:off x="744824" y="895586"/>
                <a:ext cx="1299710" cy="1257027"/>
              </a:xfrm>
              <a:prstGeom prst="ellipse">
                <a:avLst/>
              </a:prstGeom>
              <a:solidFill>
                <a:srgbClr val="F2C755"/>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7" name="Graphic 6" descr="Lights On with solid fill">
                <a:extLst>
                  <a:ext uri="{FF2B5EF4-FFF2-40B4-BE49-F238E27FC236}">
                    <a16:creationId xmlns:a16="http://schemas.microsoft.com/office/drawing/2014/main" id="{E62DE44E-4767-E1D1-17FF-622363099B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5940" y="984359"/>
                <a:ext cx="1117478" cy="1091784"/>
              </a:xfrm>
              <a:prstGeom prst="rect">
                <a:avLst/>
              </a:prstGeom>
            </p:spPr>
          </p:pic>
        </p:grpSp>
      </p:grpSp>
      <p:grpSp>
        <p:nvGrpSpPr>
          <p:cNvPr id="17" name="Group 16">
            <a:extLst>
              <a:ext uri="{FF2B5EF4-FFF2-40B4-BE49-F238E27FC236}">
                <a16:creationId xmlns:a16="http://schemas.microsoft.com/office/drawing/2014/main" id="{832602B2-4732-D746-62D1-D0E6E023BE96}"/>
              </a:ext>
            </a:extLst>
          </p:cNvPr>
          <p:cNvGrpSpPr/>
          <p:nvPr/>
        </p:nvGrpSpPr>
        <p:grpSpPr>
          <a:xfrm>
            <a:off x="715915" y="5163690"/>
            <a:ext cx="7726417" cy="882926"/>
            <a:chOff x="-160039" y="5179526"/>
            <a:chExt cx="7517329" cy="882926"/>
          </a:xfrm>
        </p:grpSpPr>
        <p:grpSp>
          <p:nvGrpSpPr>
            <p:cNvPr id="15" name="Group 14">
              <a:extLst>
                <a:ext uri="{FF2B5EF4-FFF2-40B4-BE49-F238E27FC236}">
                  <a16:creationId xmlns:a16="http://schemas.microsoft.com/office/drawing/2014/main" id="{E1DAABFF-76F0-5061-F63A-26371FD70EF8}"/>
                </a:ext>
              </a:extLst>
            </p:cNvPr>
            <p:cNvGrpSpPr/>
            <p:nvPr/>
          </p:nvGrpSpPr>
          <p:grpSpPr>
            <a:xfrm>
              <a:off x="2489704" y="5179526"/>
              <a:ext cx="4867586" cy="882924"/>
              <a:chOff x="2579522" y="5179526"/>
              <a:chExt cx="4867586" cy="882924"/>
            </a:xfrm>
          </p:grpSpPr>
          <p:sp>
            <p:nvSpPr>
              <p:cNvPr id="121" name="Rectangle 120">
                <a:extLst>
                  <a:ext uri="{FF2B5EF4-FFF2-40B4-BE49-F238E27FC236}">
                    <a16:creationId xmlns:a16="http://schemas.microsoft.com/office/drawing/2014/main" id="{9FE65065-D88A-3CCA-1926-F1D96A7C36CD}"/>
                  </a:ext>
                </a:extLst>
              </p:cNvPr>
              <p:cNvSpPr/>
              <p:nvPr/>
            </p:nvSpPr>
            <p:spPr bwMode="auto">
              <a:xfrm>
                <a:off x="2579522" y="5179526"/>
                <a:ext cx="2217841" cy="88292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Revenue Segments</a:t>
                </a:r>
              </a:p>
            </p:txBody>
          </p:sp>
          <p:sp>
            <p:nvSpPr>
              <p:cNvPr id="14" name="Rectangle 13">
                <a:extLst>
                  <a:ext uri="{FF2B5EF4-FFF2-40B4-BE49-F238E27FC236}">
                    <a16:creationId xmlns:a16="http://schemas.microsoft.com/office/drawing/2014/main" id="{DB8D860A-B719-961F-B8FA-30BC4A35B61F}"/>
                  </a:ext>
                </a:extLst>
              </p:cNvPr>
              <p:cNvSpPr/>
              <p:nvPr/>
            </p:nvSpPr>
            <p:spPr bwMode="auto">
              <a:xfrm>
                <a:off x="5229268" y="5179527"/>
                <a:ext cx="2217840" cy="88292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Cyclicality</a:t>
                </a:r>
              </a:p>
            </p:txBody>
          </p:sp>
        </p:grpSp>
        <p:sp>
          <p:nvSpPr>
            <p:cNvPr id="16" name="Rectangle 15">
              <a:extLst>
                <a:ext uri="{FF2B5EF4-FFF2-40B4-BE49-F238E27FC236}">
                  <a16:creationId xmlns:a16="http://schemas.microsoft.com/office/drawing/2014/main" id="{DF5EC4CB-C523-36F4-CFEC-0881E6DAAA4B}"/>
                </a:ext>
              </a:extLst>
            </p:cNvPr>
            <p:cNvSpPr/>
            <p:nvPr/>
          </p:nvSpPr>
          <p:spPr bwMode="auto">
            <a:xfrm>
              <a:off x="-160039" y="5179529"/>
              <a:ext cx="2217840" cy="88292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Business Description</a:t>
              </a:r>
            </a:p>
          </p:txBody>
        </p:sp>
      </p:grpSp>
    </p:spTree>
    <p:extLst>
      <p:ext uri="{BB962C8B-B14F-4D97-AF65-F5344CB8AC3E}">
        <p14:creationId xmlns:p14="http://schemas.microsoft.com/office/powerpoint/2010/main" val="4083661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34B6F-88CF-473F-B615-DDE156432146}"/>
            </a:ext>
          </a:extLst>
        </p:cNvPr>
        <p:cNvGrpSpPr/>
        <p:nvPr/>
      </p:nvGrpSpPr>
      <p:grpSpPr>
        <a:xfrm>
          <a:off x="0" y="0"/>
          <a:ext cx="0" cy="0"/>
          <a:chOff x="0" y="0"/>
          <a:chExt cx="0" cy="0"/>
        </a:xfrm>
      </p:grpSpPr>
      <p:grpSp>
        <p:nvGrpSpPr>
          <p:cNvPr id="14349" name="Group 77">
            <a:extLst>
              <a:ext uri="{FF2B5EF4-FFF2-40B4-BE49-F238E27FC236}">
                <a16:creationId xmlns:a16="http://schemas.microsoft.com/office/drawing/2014/main" id="{54B0F873-5E73-9A56-8A8E-77E881DC622C}"/>
              </a:ext>
            </a:extLst>
          </p:cNvPr>
          <p:cNvGrpSpPr>
            <a:grpSpLocks/>
          </p:cNvGrpSpPr>
          <p:nvPr/>
        </p:nvGrpSpPr>
        <p:grpSpPr bwMode="auto">
          <a:xfrm>
            <a:off x="0" y="97166"/>
            <a:ext cx="9144000" cy="559595"/>
            <a:chOff x="-2" y="5152"/>
            <a:chExt cx="12192002" cy="746347"/>
          </a:xfrm>
        </p:grpSpPr>
        <p:sp>
          <p:nvSpPr>
            <p:cNvPr id="80" name="Title 1">
              <a:extLst>
                <a:ext uri="{FF2B5EF4-FFF2-40B4-BE49-F238E27FC236}">
                  <a16:creationId xmlns:a16="http://schemas.microsoft.com/office/drawing/2014/main" id="{56F95F65-24F3-339C-D15E-393F58678C8F}"/>
                </a:ext>
              </a:extLst>
            </p:cNvPr>
            <p:cNvSpPr txBox="1">
              <a:spLocks/>
            </p:cNvSpPr>
            <p:nvPr/>
          </p:nvSpPr>
          <p:spPr>
            <a:xfrm>
              <a:off x="-2" y="5152"/>
              <a:ext cx="10309227"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000" b="1">
                  <a:solidFill>
                    <a:srgbClr val="000000"/>
                  </a:solidFill>
                  <a:latin typeface="Aptos Display" panose="020B0004020202020204" pitchFamily="34" charset="0"/>
                </a:rPr>
                <a:t>Business Description</a:t>
              </a:r>
            </a:p>
          </p:txBody>
        </p:sp>
        <p:grpSp>
          <p:nvGrpSpPr>
            <p:cNvPr id="14362" name="Group 80">
              <a:extLst>
                <a:ext uri="{FF2B5EF4-FFF2-40B4-BE49-F238E27FC236}">
                  <a16:creationId xmlns:a16="http://schemas.microsoft.com/office/drawing/2014/main" id="{5F5EF419-C895-FB16-0F2F-B0A232986A88}"/>
                </a:ext>
              </a:extLst>
            </p:cNvPr>
            <p:cNvGrpSpPr>
              <a:grpSpLocks/>
            </p:cNvGrpSpPr>
            <p:nvPr/>
          </p:nvGrpSpPr>
          <p:grpSpPr bwMode="auto">
            <a:xfrm>
              <a:off x="-2" y="645614"/>
              <a:ext cx="12192002" cy="105885"/>
              <a:chOff x="2373524" y="569416"/>
              <a:chExt cx="6496168" cy="87055"/>
            </a:xfrm>
          </p:grpSpPr>
          <p:sp>
            <p:nvSpPr>
              <p:cNvPr id="83" name="Rectangle 82">
                <a:extLst>
                  <a:ext uri="{FF2B5EF4-FFF2-40B4-BE49-F238E27FC236}">
                    <a16:creationId xmlns:a16="http://schemas.microsoft.com/office/drawing/2014/main" id="{842A87E8-F637-D015-1C9C-142084D61C6B}"/>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84" name="Rectangle 83">
                <a:extLst>
                  <a:ext uri="{FF2B5EF4-FFF2-40B4-BE49-F238E27FC236}">
                    <a16:creationId xmlns:a16="http://schemas.microsoft.com/office/drawing/2014/main" id="{0990C694-2C01-587B-29C2-8BA02922AB2D}"/>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61" name="Group 60">
            <a:extLst>
              <a:ext uri="{FF2B5EF4-FFF2-40B4-BE49-F238E27FC236}">
                <a16:creationId xmlns:a16="http://schemas.microsoft.com/office/drawing/2014/main" id="{DE1735E2-356A-C646-D12C-CD733E0680C0}"/>
              </a:ext>
            </a:extLst>
          </p:cNvPr>
          <p:cNvGrpSpPr/>
          <p:nvPr/>
        </p:nvGrpSpPr>
        <p:grpSpPr>
          <a:xfrm>
            <a:off x="0" y="6263508"/>
            <a:ext cx="9144000" cy="457200"/>
            <a:chOff x="0" y="2732884"/>
            <a:chExt cx="9144000" cy="457200"/>
          </a:xfrm>
        </p:grpSpPr>
        <p:sp>
          <p:nvSpPr>
            <p:cNvPr id="62" name="Rectangle 61">
              <a:extLst>
                <a:ext uri="{FF2B5EF4-FFF2-40B4-BE49-F238E27FC236}">
                  <a16:creationId xmlns:a16="http://schemas.microsoft.com/office/drawing/2014/main" id="{C501001A-4B3E-5BF4-121D-14493E7626B6}"/>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63" name="Group 62">
              <a:extLst>
                <a:ext uri="{FF2B5EF4-FFF2-40B4-BE49-F238E27FC236}">
                  <a16:creationId xmlns:a16="http://schemas.microsoft.com/office/drawing/2014/main" id="{B192E3B9-2447-B0C7-DFB4-27A84DEAE466}"/>
                </a:ext>
              </a:extLst>
            </p:cNvPr>
            <p:cNvGrpSpPr/>
            <p:nvPr/>
          </p:nvGrpSpPr>
          <p:grpSpPr>
            <a:xfrm>
              <a:off x="5021579" y="2732884"/>
              <a:ext cx="545306" cy="457200"/>
              <a:chOff x="4981575" y="2712036"/>
              <a:chExt cx="545306" cy="457200"/>
            </a:xfrm>
          </p:grpSpPr>
          <p:sp>
            <p:nvSpPr>
              <p:cNvPr id="14369" name="Oval 14368">
                <a:extLst>
                  <a:ext uri="{FF2B5EF4-FFF2-40B4-BE49-F238E27FC236}">
                    <a16:creationId xmlns:a16="http://schemas.microsoft.com/office/drawing/2014/main" id="{E43AD8C9-5A81-F23C-48C1-48E46A154EC1}"/>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4370" name="Picture 14369" descr="Related image">
                <a:extLst>
                  <a:ext uri="{FF2B5EF4-FFF2-40B4-BE49-F238E27FC236}">
                    <a16:creationId xmlns:a16="http://schemas.microsoft.com/office/drawing/2014/main" id="{E9063B02-AE6D-4DE6-C0B4-58F4845697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4341" name="Group 14340">
              <a:extLst>
                <a:ext uri="{FF2B5EF4-FFF2-40B4-BE49-F238E27FC236}">
                  <a16:creationId xmlns:a16="http://schemas.microsoft.com/office/drawing/2014/main" id="{C33EDC2A-95A5-F73C-2C83-5352F79603B9}"/>
                </a:ext>
              </a:extLst>
            </p:cNvPr>
            <p:cNvGrpSpPr/>
            <p:nvPr/>
          </p:nvGrpSpPr>
          <p:grpSpPr>
            <a:xfrm>
              <a:off x="7910513" y="2732884"/>
              <a:ext cx="545306" cy="457200"/>
              <a:chOff x="7731919" y="2712036"/>
              <a:chExt cx="545306" cy="457200"/>
            </a:xfrm>
          </p:grpSpPr>
          <p:sp>
            <p:nvSpPr>
              <p:cNvPr id="14367" name="Oval 14366">
                <a:extLst>
                  <a:ext uri="{FF2B5EF4-FFF2-40B4-BE49-F238E27FC236}">
                    <a16:creationId xmlns:a16="http://schemas.microsoft.com/office/drawing/2014/main" id="{023CCDD8-25E7-9B89-1C35-568B25E847FA}"/>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4368" name="Picture 14367" descr="Related image">
                <a:extLst>
                  <a:ext uri="{FF2B5EF4-FFF2-40B4-BE49-F238E27FC236}">
                    <a16:creationId xmlns:a16="http://schemas.microsoft.com/office/drawing/2014/main" id="{C41E232F-4B7F-57B5-BE17-2AFEEBD35C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4363" name="Oval 14362">
              <a:extLst>
                <a:ext uri="{FF2B5EF4-FFF2-40B4-BE49-F238E27FC236}">
                  <a16:creationId xmlns:a16="http://schemas.microsoft.com/office/drawing/2014/main" id="{990648CC-392F-5168-D08B-E87F6930FF36}"/>
                </a:ext>
              </a:extLst>
            </p:cNvPr>
            <p:cNvSpPr/>
            <p:nvPr/>
          </p:nvSpPr>
          <p:spPr bwMode="auto">
            <a:xfrm>
              <a:off x="688181"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4347" name="Group 14346">
              <a:extLst>
                <a:ext uri="{FF2B5EF4-FFF2-40B4-BE49-F238E27FC236}">
                  <a16:creationId xmlns:a16="http://schemas.microsoft.com/office/drawing/2014/main" id="{5E3F5EB9-3B01-D7C3-F86D-B438BE7503D6}"/>
                </a:ext>
              </a:extLst>
            </p:cNvPr>
            <p:cNvGrpSpPr/>
            <p:nvPr/>
          </p:nvGrpSpPr>
          <p:grpSpPr>
            <a:xfrm>
              <a:off x="6466045" y="2732884"/>
              <a:ext cx="545306" cy="457200"/>
              <a:chOff x="6353175" y="2712036"/>
              <a:chExt cx="545306" cy="457200"/>
            </a:xfrm>
          </p:grpSpPr>
          <p:sp>
            <p:nvSpPr>
              <p:cNvPr id="14360" name="Oval 14359">
                <a:extLst>
                  <a:ext uri="{FF2B5EF4-FFF2-40B4-BE49-F238E27FC236}">
                    <a16:creationId xmlns:a16="http://schemas.microsoft.com/office/drawing/2014/main" id="{57009DFE-5D7C-1645-9041-C0C8A0E31CF9}"/>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4361" name="Graphic 14379" descr="Dollar with solid fill">
                <a:extLst>
                  <a:ext uri="{FF2B5EF4-FFF2-40B4-BE49-F238E27FC236}">
                    <a16:creationId xmlns:a16="http://schemas.microsoft.com/office/drawing/2014/main" id="{142791D2-2203-919E-446C-240014CD6E36}"/>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14351" name="Group 14350">
              <a:extLst>
                <a:ext uri="{FF2B5EF4-FFF2-40B4-BE49-F238E27FC236}">
                  <a16:creationId xmlns:a16="http://schemas.microsoft.com/office/drawing/2014/main" id="{C5AD63AB-E599-149D-D742-634D2DA925A0}"/>
                </a:ext>
              </a:extLst>
            </p:cNvPr>
            <p:cNvGrpSpPr/>
            <p:nvPr/>
          </p:nvGrpSpPr>
          <p:grpSpPr>
            <a:xfrm>
              <a:off x="3577113" y="2732884"/>
              <a:ext cx="545306" cy="457200"/>
              <a:chOff x="3609974" y="2715607"/>
              <a:chExt cx="545306" cy="457200"/>
            </a:xfrm>
          </p:grpSpPr>
          <p:sp>
            <p:nvSpPr>
              <p:cNvPr id="14355" name="Oval 14354">
                <a:extLst>
                  <a:ext uri="{FF2B5EF4-FFF2-40B4-BE49-F238E27FC236}">
                    <a16:creationId xmlns:a16="http://schemas.microsoft.com/office/drawing/2014/main" id="{DDF4D2C5-EE94-8ED2-9FF7-B46C2CFDB271}"/>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4356" name="Group 14355">
                <a:extLst>
                  <a:ext uri="{FF2B5EF4-FFF2-40B4-BE49-F238E27FC236}">
                    <a16:creationId xmlns:a16="http://schemas.microsoft.com/office/drawing/2014/main" id="{994018D7-7377-194C-6C19-92B2FE81FC8F}"/>
                  </a:ext>
                </a:extLst>
              </p:cNvPr>
              <p:cNvGrpSpPr/>
              <p:nvPr/>
            </p:nvGrpSpPr>
            <p:grpSpPr>
              <a:xfrm>
                <a:off x="3769049" y="2811218"/>
                <a:ext cx="227157" cy="265979"/>
                <a:chOff x="3771206" y="2761936"/>
                <a:chExt cx="227157" cy="265979"/>
              </a:xfrm>
            </p:grpSpPr>
            <p:sp>
              <p:nvSpPr>
                <p:cNvPr id="14357" name="Freeform: Shape 14356">
                  <a:extLst>
                    <a:ext uri="{FF2B5EF4-FFF2-40B4-BE49-F238E27FC236}">
                      <a16:creationId xmlns:a16="http://schemas.microsoft.com/office/drawing/2014/main" id="{08A55B61-ACDE-707A-1CC9-96C08040CB25}"/>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4359" name="Freeform: Shape 14358">
                  <a:extLst>
                    <a:ext uri="{FF2B5EF4-FFF2-40B4-BE49-F238E27FC236}">
                      <a16:creationId xmlns:a16="http://schemas.microsoft.com/office/drawing/2014/main" id="{3616D6ED-AEAE-C8C0-AC06-E3CEEB5B814D}"/>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14352" name="Group 14351">
              <a:extLst>
                <a:ext uri="{FF2B5EF4-FFF2-40B4-BE49-F238E27FC236}">
                  <a16:creationId xmlns:a16="http://schemas.microsoft.com/office/drawing/2014/main" id="{D7701F38-00BA-9F68-1189-5F1C8A6B3B7F}"/>
                </a:ext>
              </a:extLst>
            </p:cNvPr>
            <p:cNvGrpSpPr/>
            <p:nvPr/>
          </p:nvGrpSpPr>
          <p:grpSpPr>
            <a:xfrm>
              <a:off x="2132647" y="2732884"/>
              <a:ext cx="545306" cy="457200"/>
              <a:chOff x="2238375" y="2712635"/>
              <a:chExt cx="545306" cy="457200"/>
            </a:xfrm>
          </p:grpSpPr>
          <p:sp>
            <p:nvSpPr>
              <p:cNvPr id="14353" name="Oval 14352">
                <a:extLst>
                  <a:ext uri="{FF2B5EF4-FFF2-40B4-BE49-F238E27FC236}">
                    <a16:creationId xmlns:a16="http://schemas.microsoft.com/office/drawing/2014/main" id="{1302D7A4-45D0-6B08-9513-F8BFC2C96923}"/>
                  </a:ext>
                </a:extLst>
              </p:cNvPr>
              <p:cNvSpPr/>
              <p:nvPr/>
            </p:nvSpPr>
            <p:spPr bwMode="auto">
              <a:xfrm>
                <a:off x="2238375" y="2712635"/>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4354" name="Graphic 14377" descr="Board Of Directors with solid fill">
                <a:extLst>
                  <a:ext uri="{FF2B5EF4-FFF2-40B4-BE49-F238E27FC236}">
                    <a16:creationId xmlns:a16="http://schemas.microsoft.com/office/drawing/2014/main" id="{B8CB88AE-FAEA-D402-60CA-4EB577E8E313}"/>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4395" name="Graphic 14394" descr="Lights On with solid fill">
            <a:extLst>
              <a:ext uri="{FF2B5EF4-FFF2-40B4-BE49-F238E27FC236}">
                <a16:creationId xmlns:a16="http://schemas.microsoft.com/office/drawing/2014/main" id="{70D3F84E-6E63-27D4-194E-EE9BC552BF9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979" y="6263508"/>
            <a:ext cx="461513" cy="461513"/>
          </a:xfrm>
          <a:prstGeom prst="rect">
            <a:avLst/>
          </a:prstGeom>
        </p:spPr>
      </p:pic>
      <p:sp>
        <p:nvSpPr>
          <p:cNvPr id="8" name="Rectangle 7">
            <a:extLst>
              <a:ext uri="{FF2B5EF4-FFF2-40B4-BE49-F238E27FC236}">
                <a16:creationId xmlns:a16="http://schemas.microsoft.com/office/drawing/2014/main" id="{13F2225D-E1F1-6FB0-9564-34D088B22FE8}"/>
              </a:ext>
            </a:extLst>
          </p:cNvPr>
          <p:cNvSpPr/>
          <p:nvPr/>
        </p:nvSpPr>
        <p:spPr>
          <a:xfrm>
            <a:off x="616055" y="917445"/>
            <a:ext cx="3605065" cy="1077019"/>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950" i="0">
                <a:solidFill>
                  <a:srgbClr val="232629"/>
                </a:solidFill>
                <a:effectLst/>
                <a:latin typeface="Calibri" panose="020F0502020204030204" pitchFamily="34" charset="0"/>
                <a:ea typeface="Calibri" panose="020F0502020204030204" pitchFamily="34" charset="0"/>
                <a:cs typeface="Calibri" panose="020F0502020204030204" pitchFamily="34" charset="0"/>
              </a:rPr>
              <a:t>GATX Corporation (GATX), founded 1898 and headquartered in Chicago, IL, is a railcar lessor. It owns and manages about 278,000 railcars worldwide: 206,000 in North America after the January 2026 Wells Fargo deal doubled that fleet, 36,600 in Europe, 12,500 in India, plus aircraft engines through the RRPF joint venture with Rolls-Royce. Rail North America is about 77% of revenue.</a:t>
            </a:r>
          </a:p>
        </p:txBody>
      </p:sp>
      <p:sp>
        <p:nvSpPr>
          <p:cNvPr id="9" name="Rectangle 8">
            <a:extLst>
              <a:ext uri="{FF2B5EF4-FFF2-40B4-BE49-F238E27FC236}">
                <a16:creationId xmlns:a16="http://schemas.microsoft.com/office/drawing/2014/main" id="{D89739D7-909D-62C5-2A4B-23D47A129EF3}"/>
              </a:ext>
            </a:extLst>
          </p:cNvPr>
          <p:cNvSpPr/>
          <p:nvPr/>
        </p:nvSpPr>
        <p:spPr>
          <a:xfrm>
            <a:off x="611390" y="2113325"/>
            <a:ext cx="3609730" cy="1200521"/>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i="0">
                <a:solidFill>
                  <a:srgbClr val="232629"/>
                </a:solidFill>
                <a:effectLst/>
                <a:latin typeface="Calibri" panose="020F0502020204030204" pitchFamily="34" charset="0"/>
                <a:ea typeface="Calibri" panose="020F0502020204030204" pitchFamily="34" charset="0"/>
                <a:cs typeface="Calibri" panose="020F0502020204030204" pitchFamily="34" charset="0"/>
              </a:rPr>
              <a:t>Business model: buy railcars, lease them to shippers on multi-year full-service contracts with GATX handling maintenance, sell older cars for gains, then redeploy the capital. Revenue is cars times rate, and the rate resets at renewal.</a:t>
            </a:r>
          </a:p>
        </p:txBody>
      </p:sp>
      <p:sp>
        <p:nvSpPr>
          <p:cNvPr id="10" name="Rectangle 9">
            <a:extLst>
              <a:ext uri="{FF2B5EF4-FFF2-40B4-BE49-F238E27FC236}">
                <a16:creationId xmlns:a16="http://schemas.microsoft.com/office/drawing/2014/main" id="{5F88EE82-A7A6-0D90-5BE9-81AD86F15376}"/>
              </a:ext>
            </a:extLst>
          </p:cNvPr>
          <p:cNvSpPr/>
          <p:nvPr/>
        </p:nvSpPr>
        <p:spPr>
          <a:xfrm>
            <a:off x="611390" y="3426091"/>
            <a:ext cx="3609730" cy="172021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i="0">
                <a:solidFill>
                  <a:srgbClr val="232629"/>
                </a:solidFill>
                <a:effectLst/>
                <a:latin typeface="Calibri" panose="020F0502020204030204" pitchFamily="34" charset="0"/>
                <a:ea typeface="Calibri" panose="020F0502020204030204" pitchFamily="34" charset="0"/>
                <a:cs typeface="Calibri" panose="020F0502020204030204" pitchFamily="34" charset="0"/>
              </a:rPr>
              <a:t>Four reporting segments: Rail North America (dominant), Rail International (Europe via GATX Rail Europe, plus India), Engine Leasing (the RRPF joint venture with Rolls-Royce, leasing aircraft engines), and Other (Trifleet tank containers). Leases typically run four to five years.</a:t>
            </a:r>
          </a:p>
        </p:txBody>
      </p:sp>
      <p:sp>
        <p:nvSpPr>
          <p:cNvPr id="3" name="TextBox 2">
            <a:extLst>
              <a:ext uri="{FF2B5EF4-FFF2-40B4-BE49-F238E27FC236}">
                <a16:creationId xmlns:a16="http://schemas.microsoft.com/office/drawing/2014/main" id="{B9847F38-9A7B-E8CF-1615-66F796B1322A}"/>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3</a:t>
            </a:fld>
            <a:endParaRPr lang="en-US" sz="1400">
              <a:latin typeface="Calibri" panose="020F0502020204030204" pitchFamily="34" charset="0"/>
              <a:cs typeface="Calibri" panose="020F0502020204030204" pitchFamily="34" charset="0"/>
            </a:endParaRPr>
          </a:p>
        </p:txBody>
      </p:sp>
      <p:pic>
        <p:nvPicPr>
          <p:cNvPr id="4" name="Picture 3" descr="A black background with blue text&#10;&#10;Description automatically generated">
            <a:extLst>
              <a:ext uri="{FF2B5EF4-FFF2-40B4-BE49-F238E27FC236}">
                <a16:creationId xmlns:a16="http://schemas.microsoft.com/office/drawing/2014/main" id="{1EB81963-F9E3-086B-7815-2175CA55CB0E}"/>
              </a:ext>
            </a:extLst>
          </p:cNvPr>
          <p:cNvPicPr>
            <a:picLocks noChangeAspect="1"/>
          </p:cNvPicPr>
          <p:nvPr/>
        </p:nvPicPr>
        <p:blipFill>
          <a:blip r:embed="rId6">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13" name="Text Box 2">
            <a:extLst>
              <a:ext uri="{FF2B5EF4-FFF2-40B4-BE49-F238E27FC236}">
                <a16:creationId xmlns:a16="http://schemas.microsoft.com/office/drawing/2014/main" id="{FD8E3876-63CE-4EF7-BDB4-754B34CEC12B}"/>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BD27344F-4C58-6B14-58C8-37891EFE3162}"/>
              </a:ext>
            </a:extLst>
          </p:cNvPr>
          <p:cNvSpPr/>
          <p:nvPr/>
        </p:nvSpPr>
        <p:spPr>
          <a:xfrm>
            <a:off x="611390" y="5254357"/>
            <a:ext cx="3609730" cy="748467"/>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i="0">
                <a:solidFill>
                  <a:srgbClr val="232629"/>
                </a:solidFill>
                <a:effectLst/>
                <a:latin typeface="Calibri" panose="020F0502020204030204" pitchFamily="34" charset="0"/>
                <a:ea typeface="Calibri" panose="020F0502020204030204" pitchFamily="34" charset="0"/>
                <a:cs typeface="Calibri" panose="020F0502020204030204" pitchFamily="34" charset="0"/>
              </a:rPr>
              <a:t>The GABX joint venture with Brookfield, 30% GATX and 70% Brookfield, closed on 2026-01-01 and doubled the consolidated fleet.</a:t>
            </a:r>
          </a:p>
        </p:txBody>
      </p:sp>
      <p:sp>
        <p:nvSpPr>
          <p:cNvPr id="2" name="Text Box 2">
            <a:extLst>
              <a:ext uri="{FF2B5EF4-FFF2-40B4-BE49-F238E27FC236}">
                <a16:creationId xmlns:a16="http://schemas.microsoft.com/office/drawing/2014/main" id="{DA12DC25-E07F-AA4F-6CED-BDD931665279}"/>
              </a:ext>
            </a:extLst>
          </p:cNvPr>
          <p:cNvSpPr txBox="1">
            <a:spLocks noChangeArrowheads="1"/>
          </p:cNvSpPr>
          <p:nvPr/>
        </p:nvSpPr>
        <p:spPr bwMode="auto">
          <a:xfrm>
            <a:off x="4398065" y="855177"/>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panose="020F0502020204030204" pitchFamily="34" charset="0"/>
                <a:ea typeface="Calibri" panose="020F0502020204030204" pitchFamily="34" charset="0"/>
                <a:cs typeface="Calibri" panose="020F0502020204030204" pitchFamily="34" charset="0"/>
              </a:rPr>
              <a:t>Figure 1:  Lease revenue by segment, Q2 2026 ($M)</a:t>
            </a:r>
          </a:p>
        </p:txBody>
      </p:sp>
      <p:sp>
        <p:nvSpPr>
          <p:cNvPr id="5" name="Text Box 2">
            <a:extLst>
              <a:ext uri="{FF2B5EF4-FFF2-40B4-BE49-F238E27FC236}">
                <a16:creationId xmlns:a16="http://schemas.microsoft.com/office/drawing/2014/main" id="{E383EE2F-AC2A-9DF7-47DC-7FDF4DB55F47}"/>
              </a:ext>
            </a:extLst>
          </p:cNvPr>
          <p:cNvSpPr txBox="1">
            <a:spLocks noChangeArrowheads="1"/>
          </p:cNvSpPr>
          <p:nvPr/>
        </p:nvSpPr>
        <p:spPr bwMode="auto">
          <a:xfrm>
            <a:off x="4398065" y="3321255"/>
            <a:ext cx="3682741" cy="21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panose="020F0502020204030204" pitchFamily="34" charset="0"/>
                <a:ea typeface="Calibri" panose="020F0502020204030204" pitchFamily="34" charset="0"/>
                <a:cs typeface="Calibri" panose="020F0502020204030204" pitchFamily="34" charset="0"/>
              </a:rPr>
              <a:t>Figure 2:  Revenue and YoY growth, 2021 to 2027E</a:t>
            </a:r>
          </a:p>
        </p:txBody>
      </p:sp>
      <p:graphicFrame>
        <p:nvGraphicFramePr>
          <p:cNvPr id="11" name="Chart 10">
            <a:extLst>
              <a:ext uri="{FF2B5EF4-FFF2-40B4-BE49-F238E27FC236}">
                <a16:creationId xmlns:a16="http://schemas.microsoft.com/office/drawing/2014/main" id="{8107C453-AC4B-6476-9A5B-B7D2B551FA80}"/>
              </a:ext>
            </a:extLst>
          </p:cNvPr>
          <p:cNvGraphicFramePr>
            <a:graphicFrameLocks/>
          </p:cNvGraphicFramePr>
          <p:nvPr/>
        </p:nvGraphicFramePr>
        <p:xfrm>
          <a:off x="4438131" y="1159051"/>
          <a:ext cx="4009302" cy="2156123"/>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4" name="Chart 13">
            <a:extLst>
              <a:ext uri="{FF2B5EF4-FFF2-40B4-BE49-F238E27FC236}">
                <a16:creationId xmlns:a16="http://schemas.microsoft.com/office/drawing/2014/main" id="{7FB3CE8F-8ED0-1160-41D4-88F36B2E4C21}"/>
              </a:ext>
            </a:extLst>
          </p:cNvPr>
          <p:cNvGraphicFramePr>
            <a:graphicFrameLocks/>
          </p:cNvGraphicFramePr>
          <p:nvPr/>
        </p:nvGraphicFramePr>
        <p:xfrm>
          <a:off x="4398065" y="3585036"/>
          <a:ext cx="4089436" cy="2417788"/>
        </p:xfrm>
        <a:graphic>
          <a:graphicData uri="http://schemas.openxmlformats.org/drawingml/2006/chart">
            <c:chart xmlns:c="http://schemas.openxmlformats.org/drawingml/2006/chart" xmlns:r="http://schemas.openxmlformats.org/officeDocument/2006/relationships" r:id="rId8"/>
          </a:graphicData>
        </a:graphic>
      </p:graphicFrame>
      <p:sp>
        <p:nvSpPr>
          <p:cNvPr id="960" name="Figure 2 callout"/>
          <p:cNvSpPr txBox="1"/>
          <p:nvPr/>
        </p:nvSpPr>
        <p:spPr>
          <a:xfrm>
            <a:off x="4394200" y="5740400"/>
            <a:ext cx="4089400" cy="381000"/>
          </a:xfrm>
          <a:prstGeom prst="rect">
            <a:avLst/>
          </a:prstGeom>
          <a:solidFill>
            <a:srgbClr val="F2C755"/>
          </a:solidFill>
          <a:ln w="9525">
            <a:solidFill>
              <a:srgbClr val="292934"/>
            </a:solidFill>
          </a:ln>
        </p:spPr>
        <p:txBody>
          <a:bodyPr wrap="square" lIns="45720" tIns="27432" rIns="45720" bIns="27432" anchor="ctr"/>
          <a:lstStyle/>
          <a:p>
            <a:pPr algn="l">
              <a:buNone/>
            </a:pPr>
            <a:r>
              <a:rPr lang="en-US" sz="800">
                <a:solidFill>
                  <a:srgbClr val="292934"/>
                </a:solidFill>
                <a:latin typeface="Calibri"/>
              </a:rPr>
              <a:t>2026 revenue steps up 37% on the January GABX close. BMG models 2027 revenue growth of 3.7% and EPS of $10.47, against consensus $11.27.</a:t>
            </a:r>
          </a:p>
        </p:txBody>
      </p:sp>
    </p:spTree>
    <p:extLst>
      <p:ext uri="{BB962C8B-B14F-4D97-AF65-F5344CB8AC3E}">
        <p14:creationId xmlns:p14="http://schemas.microsoft.com/office/powerpoint/2010/main" val="3789203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0CCDA-2006-28F6-1EB7-A55F93CED269}"/>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084BFECD-8EC4-E1FB-0F17-2ECA2133649C}"/>
              </a:ext>
            </a:extLst>
          </p:cNvPr>
          <p:cNvGrpSpPr>
            <a:grpSpLocks/>
          </p:cNvGrpSpPr>
          <p:nvPr/>
        </p:nvGrpSpPr>
        <p:grpSpPr bwMode="auto">
          <a:xfrm>
            <a:off x="0" y="82151"/>
            <a:ext cx="9144000" cy="576857"/>
            <a:chOff x="-2" y="-17873"/>
            <a:chExt cx="12192002" cy="769372"/>
          </a:xfrm>
        </p:grpSpPr>
        <p:sp>
          <p:nvSpPr>
            <p:cNvPr id="39" name="Title 1">
              <a:extLst>
                <a:ext uri="{FF2B5EF4-FFF2-40B4-BE49-F238E27FC236}">
                  <a16:creationId xmlns:a16="http://schemas.microsoft.com/office/drawing/2014/main" id="{A401EAA8-605A-4E16-5A1A-4877A8A162C4}"/>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000" b="1">
                  <a:solidFill>
                    <a:srgbClr val="000000"/>
                  </a:solidFill>
                  <a:latin typeface="Calibri" panose="020F0502020204030204" pitchFamily="34" charset="0"/>
                </a:rPr>
                <a:t>Revenue Segments</a:t>
              </a:r>
            </a:p>
          </p:txBody>
        </p:sp>
        <p:grpSp>
          <p:nvGrpSpPr>
            <p:cNvPr id="16397" name="Group 39">
              <a:extLst>
                <a:ext uri="{FF2B5EF4-FFF2-40B4-BE49-F238E27FC236}">
                  <a16:creationId xmlns:a16="http://schemas.microsoft.com/office/drawing/2014/main" id="{50E8D51C-89A5-D099-6A5C-43489F8D69E7}"/>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24B61CC1-C77C-BF04-C668-CAD34D4696DE}"/>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5BB10AC8-5C2D-4189-266F-F7061C00C0DB}"/>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16418" name="Group 16417">
            <a:extLst>
              <a:ext uri="{FF2B5EF4-FFF2-40B4-BE49-F238E27FC236}">
                <a16:creationId xmlns:a16="http://schemas.microsoft.com/office/drawing/2014/main" id="{F58C3366-F67D-B0E0-453E-98E7B53DF570}"/>
              </a:ext>
            </a:extLst>
          </p:cNvPr>
          <p:cNvGrpSpPr/>
          <p:nvPr/>
        </p:nvGrpSpPr>
        <p:grpSpPr>
          <a:xfrm>
            <a:off x="0" y="6263508"/>
            <a:ext cx="9144000" cy="457200"/>
            <a:chOff x="0" y="2732884"/>
            <a:chExt cx="9144000" cy="457200"/>
          </a:xfrm>
        </p:grpSpPr>
        <p:sp>
          <p:nvSpPr>
            <p:cNvPr id="16419" name="Rectangle 16418">
              <a:extLst>
                <a:ext uri="{FF2B5EF4-FFF2-40B4-BE49-F238E27FC236}">
                  <a16:creationId xmlns:a16="http://schemas.microsoft.com/office/drawing/2014/main" id="{44BEF93F-FBCE-E32C-E66A-9E36EECD0D98}"/>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16420" name="Group 16419">
              <a:extLst>
                <a:ext uri="{FF2B5EF4-FFF2-40B4-BE49-F238E27FC236}">
                  <a16:creationId xmlns:a16="http://schemas.microsoft.com/office/drawing/2014/main" id="{BE0EEBF4-E87F-E337-250A-A2AAA03E2F37}"/>
                </a:ext>
              </a:extLst>
            </p:cNvPr>
            <p:cNvGrpSpPr/>
            <p:nvPr/>
          </p:nvGrpSpPr>
          <p:grpSpPr>
            <a:xfrm>
              <a:off x="5021579" y="2732884"/>
              <a:ext cx="545306" cy="457200"/>
              <a:chOff x="4981575" y="2712036"/>
              <a:chExt cx="545306" cy="457200"/>
            </a:xfrm>
          </p:grpSpPr>
          <p:sp>
            <p:nvSpPr>
              <p:cNvPr id="16436" name="Oval 16435">
                <a:extLst>
                  <a:ext uri="{FF2B5EF4-FFF2-40B4-BE49-F238E27FC236}">
                    <a16:creationId xmlns:a16="http://schemas.microsoft.com/office/drawing/2014/main" id="{91398BD5-31F8-4F0D-05B6-D9F86C0C369D}"/>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37" name="Picture 16436" descr="Related image">
                <a:extLst>
                  <a:ext uri="{FF2B5EF4-FFF2-40B4-BE49-F238E27FC236}">
                    <a16:creationId xmlns:a16="http://schemas.microsoft.com/office/drawing/2014/main" id="{1453C660-AFAA-5278-3214-485BC8F019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6421" name="Group 16420">
              <a:extLst>
                <a:ext uri="{FF2B5EF4-FFF2-40B4-BE49-F238E27FC236}">
                  <a16:creationId xmlns:a16="http://schemas.microsoft.com/office/drawing/2014/main" id="{089D0FD1-6DCB-DE90-FABB-4A6C1F631C69}"/>
                </a:ext>
              </a:extLst>
            </p:cNvPr>
            <p:cNvGrpSpPr/>
            <p:nvPr/>
          </p:nvGrpSpPr>
          <p:grpSpPr>
            <a:xfrm>
              <a:off x="7910513" y="2732884"/>
              <a:ext cx="545306" cy="457200"/>
              <a:chOff x="7731919" y="2712036"/>
              <a:chExt cx="545306" cy="457200"/>
            </a:xfrm>
          </p:grpSpPr>
          <p:sp>
            <p:nvSpPr>
              <p:cNvPr id="16434" name="Oval 16433">
                <a:extLst>
                  <a:ext uri="{FF2B5EF4-FFF2-40B4-BE49-F238E27FC236}">
                    <a16:creationId xmlns:a16="http://schemas.microsoft.com/office/drawing/2014/main" id="{F34C1D3F-F2B6-4EF3-957F-8974B87EDE33}"/>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35" name="Picture 16434" descr="Related image">
                <a:extLst>
                  <a:ext uri="{FF2B5EF4-FFF2-40B4-BE49-F238E27FC236}">
                    <a16:creationId xmlns:a16="http://schemas.microsoft.com/office/drawing/2014/main" id="{B4959D99-9D2C-8264-228C-F908EC3031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6422" name="Oval 16421">
              <a:extLst>
                <a:ext uri="{FF2B5EF4-FFF2-40B4-BE49-F238E27FC236}">
                  <a16:creationId xmlns:a16="http://schemas.microsoft.com/office/drawing/2014/main" id="{069B92E7-84BA-3873-9BC0-4C640F9C36DB}"/>
                </a:ext>
              </a:extLst>
            </p:cNvPr>
            <p:cNvSpPr/>
            <p:nvPr/>
          </p:nvSpPr>
          <p:spPr bwMode="auto">
            <a:xfrm>
              <a:off x="688181"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423" name="Group 16422">
              <a:extLst>
                <a:ext uri="{FF2B5EF4-FFF2-40B4-BE49-F238E27FC236}">
                  <a16:creationId xmlns:a16="http://schemas.microsoft.com/office/drawing/2014/main" id="{72FA3F31-EDCE-8104-D945-22D8A10A8DD2}"/>
                </a:ext>
              </a:extLst>
            </p:cNvPr>
            <p:cNvGrpSpPr/>
            <p:nvPr/>
          </p:nvGrpSpPr>
          <p:grpSpPr>
            <a:xfrm>
              <a:off x="6466045" y="2732884"/>
              <a:ext cx="545306" cy="457200"/>
              <a:chOff x="6353175" y="2712036"/>
              <a:chExt cx="545306" cy="457200"/>
            </a:xfrm>
          </p:grpSpPr>
          <p:sp>
            <p:nvSpPr>
              <p:cNvPr id="16432" name="Oval 16431">
                <a:extLst>
                  <a:ext uri="{FF2B5EF4-FFF2-40B4-BE49-F238E27FC236}">
                    <a16:creationId xmlns:a16="http://schemas.microsoft.com/office/drawing/2014/main" id="{75A1BB7E-DC95-7C18-7E55-30B454803041}"/>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433" name="Graphic 14379" descr="Dollar with solid fill">
                <a:extLst>
                  <a:ext uri="{FF2B5EF4-FFF2-40B4-BE49-F238E27FC236}">
                    <a16:creationId xmlns:a16="http://schemas.microsoft.com/office/drawing/2014/main" id="{47C24EFE-325D-6331-D314-7A33D17EA6EB}"/>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16424" name="Group 16423">
              <a:extLst>
                <a:ext uri="{FF2B5EF4-FFF2-40B4-BE49-F238E27FC236}">
                  <a16:creationId xmlns:a16="http://schemas.microsoft.com/office/drawing/2014/main" id="{45920620-2C47-41D3-A713-316106D837C1}"/>
                </a:ext>
              </a:extLst>
            </p:cNvPr>
            <p:cNvGrpSpPr/>
            <p:nvPr/>
          </p:nvGrpSpPr>
          <p:grpSpPr>
            <a:xfrm>
              <a:off x="3577113" y="2732884"/>
              <a:ext cx="545306" cy="457200"/>
              <a:chOff x="3609974" y="2715607"/>
              <a:chExt cx="545306" cy="457200"/>
            </a:xfrm>
          </p:grpSpPr>
          <p:sp>
            <p:nvSpPr>
              <p:cNvPr id="16428" name="Oval 16427">
                <a:extLst>
                  <a:ext uri="{FF2B5EF4-FFF2-40B4-BE49-F238E27FC236}">
                    <a16:creationId xmlns:a16="http://schemas.microsoft.com/office/drawing/2014/main" id="{1D3F960E-8B31-25A4-6A46-256455273696}"/>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429" name="Group 16428">
                <a:extLst>
                  <a:ext uri="{FF2B5EF4-FFF2-40B4-BE49-F238E27FC236}">
                    <a16:creationId xmlns:a16="http://schemas.microsoft.com/office/drawing/2014/main" id="{12815669-2DBB-D4B4-CBBC-17AD0C392D2E}"/>
                  </a:ext>
                </a:extLst>
              </p:cNvPr>
              <p:cNvGrpSpPr/>
              <p:nvPr/>
            </p:nvGrpSpPr>
            <p:grpSpPr>
              <a:xfrm>
                <a:off x="3769049" y="2811218"/>
                <a:ext cx="227157" cy="265979"/>
                <a:chOff x="3771206" y="2761936"/>
                <a:chExt cx="227157" cy="265979"/>
              </a:xfrm>
            </p:grpSpPr>
            <p:sp>
              <p:nvSpPr>
                <p:cNvPr id="16430" name="Freeform: Shape 16429">
                  <a:extLst>
                    <a:ext uri="{FF2B5EF4-FFF2-40B4-BE49-F238E27FC236}">
                      <a16:creationId xmlns:a16="http://schemas.microsoft.com/office/drawing/2014/main" id="{AE27DB1E-F326-DA3C-5B12-02A726849CC3}"/>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431" name="Freeform: Shape 16430">
                  <a:extLst>
                    <a:ext uri="{FF2B5EF4-FFF2-40B4-BE49-F238E27FC236}">
                      <a16:creationId xmlns:a16="http://schemas.microsoft.com/office/drawing/2014/main" id="{B887416D-E330-D3B1-F129-9E20AC2C61E5}"/>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16425" name="Group 16424">
              <a:extLst>
                <a:ext uri="{FF2B5EF4-FFF2-40B4-BE49-F238E27FC236}">
                  <a16:creationId xmlns:a16="http://schemas.microsoft.com/office/drawing/2014/main" id="{A892CEC2-E62C-35DB-BE1A-C453F2B5CC46}"/>
                </a:ext>
              </a:extLst>
            </p:cNvPr>
            <p:cNvGrpSpPr/>
            <p:nvPr/>
          </p:nvGrpSpPr>
          <p:grpSpPr>
            <a:xfrm>
              <a:off x="2132647" y="2732884"/>
              <a:ext cx="545306" cy="457200"/>
              <a:chOff x="2238375" y="2712635"/>
              <a:chExt cx="545306" cy="457200"/>
            </a:xfrm>
          </p:grpSpPr>
          <p:sp>
            <p:nvSpPr>
              <p:cNvPr id="16426" name="Oval 16425">
                <a:extLst>
                  <a:ext uri="{FF2B5EF4-FFF2-40B4-BE49-F238E27FC236}">
                    <a16:creationId xmlns:a16="http://schemas.microsoft.com/office/drawing/2014/main" id="{8FFF3BE6-2061-9F4C-2943-14BC23F6A108}"/>
                  </a:ext>
                </a:extLst>
              </p:cNvPr>
              <p:cNvSpPr/>
              <p:nvPr/>
            </p:nvSpPr>
            <p:spPr bwMode="auto">
              <a:xfrm>
                <a:off x="2238375" y="2712635"/>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427" name="Graphic 14377" descr="Board Of Directors with solid fill">
                <a:extLst>
                  <a:ext uri="{FF2B5EF4-FFF2-40B4-BE49-F238E27FC236}">
                    <a16:creationId xmlns:a16="http://schemas.microsoft.com/office/drawing/2014/main" id="{6B891CED-C189-48FC-D84E-4A95F1ED3739}"/>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38" name="Graphic 16437" descr="Lights On with solid fill">
            <a:extLst>
              <a:ext uri="{FF2B5EF4-FFF2-40B4-BE49-F238E27FC236}">
                <a16:creationId xmlns:a16="http://schemas.microsoft.com/office/drawing/2014/main" id="{039B3336-06B5-ADBB-AF6B-2B633954BBA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979" y="6263508"/>
            <a:ext cx="461513" cy="461513"/>
          </a:xfrm>
          <a:prstGeom prst="rect">
            <a:avLst/>
          </a:prstGeom>
        </p:spPr>
      </p:pic>
      <p:pic>
        <p:nvPicPr>
          <p:cNvPr id="3" name="Picture 2" descr="A black background with blue text&#10;&#10;Description automatically generated">
            <a:extLst>
              <a:ext uri="{FF2B5EF4-FFF2-40B4-BE49-F238E27FC236}">
                <a16:creationId xmlns:a16="http://schemas.microsoft.com/office/drawing/2014/main" id="{CD5BD2B9-74CF-7BBF-BBB5-55DFF078B599}"/>
              </a:ext>
            </a:extLst>
          </p:cNvPr>
          <p:cNvPicPr>
            <a:picLocks noChangeAspect="1"/>
          </p:cNvPicPr>
          <p:nvPr/>
        </p:nvPicPr>
        <p:blipFill>
          <a:blip r:embed="rId6">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19" name="Rectangle 18">
            <a:extLst>
              <a:ext uri="{FF2B5EF4-FFF2-40B4-BE49-F238E27FC236}">
                <a16:creationId xmlns:a16="http://schemas.microsoft.com/office/drawing/2014/main" id="{43884FC5-E4BC-179C-BA93-2E583F857E26}"/>
              </a:ext>
            </a:extLst>
          </p:cNvPr>
          <p:cNvSpPr/>
          <p:nvPr/>
        </p:nvSpPr>
        <p:spPr bwMode="auto">
          <a:xfrm>
            <a:off x="3174515" y="756999"/>
            <a:ext cx="2788920" cy="282031"/>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a:solidFill>
                  <a:srgbClr val="000000"/>
                </a:solidFill>
                <a:latin typeface="Calibri" panose="020F0502020204030204" pitchFamily="34" charset="0"/>
                <a:cs typeface="Calibri" panose="020F0502020204030204" pitchFamily="34" charset="0"/>
              </a:rPr>
              <a:t>Rail International</a:t>
            </a:r>
          </a:p>
        </p:txBody>
      </p:sp>
      <p:sp>
        <p:nvSpPr>
          <p:cNvPr id="20" name="Rectangle 19">
            <a:extLst>
              <a:ext uri="{FF2B5EF4-FFF2-40B4-BE49-F238E27FC236}">
                <a16:creationId xmlns:a16="http://schemas.microsoft.com/office/drawing/2014/main" id="{500837DD-3B6A-139C-7D8A-8E27321FEBFF}"/>
              </a:ext>
            </a:extLst>
          </p:cNvPr>
          <p:cNvSpPr/>
          <p:nvPr/>
        </p:nvSpPr>
        <p:spPr bwMode="auto">
          <a:xfrm>
            <a:off x="6239417" y="755269"/>
            <a:ext cx="2788920" cy="282031"/>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a:solidFill>
                  <a:srgbClr val="000000"/>
                </a:solidFill>
                <a:latin typeface="Calibri" panose="020F0502020204030204" pitchFamily="34" charset="0"/>
                <a:cs typeface="Calibri" panose="020F0502020204030204" pitchFamily="34" charset="0"/>
              </a:rPr>
              <a:t>Engine Leasing</a:t>
            </a:r>
          </a:p>
        </p:txBody>
      </p:sp>
      <p:sp>
        <p:nvSpPr>
          <p:cNvPr id="16" name="Rectangle 15">
            <a:extLst>
              <a:ext uri="{FF2B5EF4-FFF2-40B4-BE49-F238E27FC236}">
                <a16:creationId xmlns:a16="http://schemas.microsoft.com/office/drawing/2014/main" id="{A166E40A-B382-24E6-1761-322E33094BB5}"/>
              </a:ext>
            </a:extLst>
          </p:cNvPr>
          <p:cNvSpPr/>
          <p:nvPr/>
        </p:nvSpPr>
        <p:spPr bwMode="auto">
          <a:xfrm>
            <a:off x="115336" y="758324"/>
            <a:ext cx="2788920" cy="282031"/>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a:solidFill>
                  <a:srgbClr val="000000"/>
                </a:solidFill>
                <a:latin typeface="Calibri" panose="020F0502020204030204" pitchFamily="34" charset="0"/>
                <a:cs typeface="Calibri" panose="020F0502020204030204" pitchFamily="34" charset="0"/>
              </a:rPr>
              <a:t>Rail North America</a:t>
            </a:r>
          </a:p>
        </p:txBody>
      </p:sp>
      <p:sp>
        <p:nvSpPr>
          <p:cNvPr id="23" name="Rectangle 22">
            <a:extLst>
              <a:ext uri="{FF2B5EF4-FFF2-40B4-BE49-F238E27FC236}">
                <a16:creationId xmlns:a16="http://schemas.microsoft.com/office/drawing/2014/main" id="{E9E47C58-B146-028C-F1C8-17907D7A02FA}"/>
              </a:ext>
            </a:extLst>
          </p:cNvPr>
          <p:cNvSpPr/>
          <p:nvPr/>
        </p:nvSpPr>
        <p:spPr bwMode="auto">
          <a:xfrm>
            <a:off x="117956" y="3164387"/>
            <a:ext cx="2789076" cy="110745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100" b="0" i="0">
                <a:solidFill>
                  <a:srgbClr val="000000"/>
                </a:solidFill>
                <a:effectLst/>
                <a:latin typeface="Calibri" panose="020F0502020204030204" pitchFamily="34" charset="0"/>
                <a:cs typeface="Calibri" panose="020F0502020204030204" pitchFamily="34" charset="0"/>
              </a:rPr>
              <a:t>Rail North America is the dominant segment: $391.0M of lease revenue in Q2 2026 across 192,638 railcars at 98.0% utilization, plus $67.7M of net disposition gains.</a:t>
            </a:r>
          </a:p>
        </p:txBody>
      </p:sp>
      <p:sp>
        <p:nvSpPr>
          <p:cNvPr id="30" name="Rectangle 29">
            <a:extLst>
              <a:ext uri="{FF2B5EF4-FFF2-40B4-BE49-F238E27FC236}">
                <a16:creationId xmlns:a16="http://schemas.microsoft.com/office/drawing/2014/main" id="{7DA66398-C9B6-58C6-15D2-4955773336B2}"/>
              </a:ext>
            </a:extLst>
          </p:cNvPr>
          <p:cNvSpPr/>
          <p:nvPr/>
        </p:nvSpPr>
        <p:spPr bwMode="auto">
          <a:xfrm>
            <a:off x="3174515" y="3164387"/>
            <a:ext cx="2788920" cy="110745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100" b="0" i="0">
                <a:solidFill>
                  <a:srgbClr val="000000"/>
                </a:solidFill>
                <a:effectLst/>
                <a:latin typeface="Calibri" panose="020F0502020204030204" pitchFamily="34" charset="0"/>
                <a:cs typeface="Calibri" panose="020F0502020204030204" pitchFamily="34" charset="0"/>
              </a:rPr>
              <a:t>Rail International, Europe via GATX Rail Europe plus India, produced $100.3M of lease revenue in Q2 2026, with $27.9M of depreciation and $23.9M of interest expense.</a:t>
            </a:r>
          </a:p>
        </p:txBody>
      </p:sp>
      <p:sp>
        <p:nvSpPr>
          <p:cNvPr id="31" name="Rectangle 30">
            <a:extLst>
              <a:ext uri="{FF2B5EF4-FFF2-40B4-BE49-F238E27FC236}">
                <a16:creationId xmlns:a16="http://schemas.microsoft.com/office/drawing/2014/main" id="{B8733A72-146B-A67D-DA20-21CEDA502807}"/>
              </a:ext>
            </a:extLst>
          </p:cNvPr>
          <p:cNvSpPr/>
          <p:nvPr/>
        </p:nvSpPr>
        <p:spPr bwMode="auto">
          <a:xfrm>
            <a:off x="6244201" y="3164387"/>
            <a:ext cx="2788919" cy="110745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100" b="0" i="0">
                <a:solidFill>
                  <a:srgbClr val="000000"/>
                </a:solidFill>
                <a:effectLst/>
                <a:latin typeface="Calibri" panose="020F0502020204030204" pitchFamily="34" charset="0"/>
                <a:cs typeface="Calibri" panose="020F0502020204030204" pitchFamily="34" charset="0"/>
              </a:rPr>
              <a:t>Engine Leasing holds the RRPF joint venture with Rolls-Royce: $8.8M of lease revenue, $20.6M of non-dedicated engine revenue, and $49.6M share of affiliates pretax earnings.</a:t>
            </a:r>
          </a:p>
        </p:txBody>
      </p:sp>
      <p:sp>
        <p:nvSpPr>
          <p:cNvPr id="22" name="Text Box 2">
            <a:extLst>
              <a:ext uri="{FF2B5EF4-FFF2-40B4-BE49-F238E27FC236}">
                <a16:creationId xmlns:a16="http://schemas.microsoft.com/office/drawing/2014/main" id="{B0FDD766-1CA1-5A7D-AEFD-9CD270E8B305}"/>
              </a:ext>
            </a:extLst>
          </p:cNvPr>
          <p:cNvSpPr txBox="1">
            <a:spLocks noChangeArrowheads="1"/>
          </p:cNvSpPr>
          <p:nvPr/>
        </p:nvSpPr>
        <p:spPr bwMode="auto">
          <a:xfrm>
            <a:off x="57282" y="4340008"/>
            <a:ext cx="4118074"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100">
                <a:solidFill>
                  <a:srgbClr val="292934"/>
                </a:solidFill>
                <a:latin typeface="Calibri" panose="020F0502020204030204" pitchFamily="34" charset="0"/>
                <a:cs typeface="Calibri" panose="020F0502020204030204" pitchFamily="34" charset="0"/>
              </a:rPr>
              <a:t>Figure 4:  Segment P&amp;L, Q2 2026 ($M)</a:t>
            </a:r>
          </a:p>
        </p:txBody>
      </p:sp>
      <p:sp>
        <p:nvSpPr>
          <p:cNvPr id="37" name="TextBox 36">
            <a:extLst>
              <a:ext uri="{FF2B5EF4-FFF2-40B4-BE49-F238E27FC236}">
                <a16:creationId xmlns:a16="http://schemas.microsoft.com/office/drawing/2014/main" id="{83F4EE91-229E-0EBB-AE62-6B623670A30B}"/>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4</a:t>
            </a:fld>
            <a:endParaRPr lang="en-US" sz="1400">
              <a:latin typeface="Calibri" panose="020F0502020204030204" pitchFamily="34" charset="0"/>
              <a:cs typeface="Calibri" panose="020F0502020204030204" pitchFamily="34" charset="0"/>
            </a:endParaRPr>
          </a:p>
        </p:txBody>
      </p:sp>
      <p:sp>
        <p:nvSpPr>
          <p:cNvPr id="38" name="Text Box 2">
            <a:extLst>
              <a:ext uri="{FF2B5EF4-FFF2-40B4-BE49-F238E27FC236}">
                <a16:creationId xmlns:a16="http://schemas.microsoft.com/office/drawing/2014/main" id="{A07FF91B-42B0-A6EC-494D-A05F4E97967F}"/>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1B3FC847-7EF5-FC21-A365-D570DD1242AE}"/>
              </a:ext>
            </a:extLst>
          </p:cNvPr>
          <p:cNvGraphicFramePr>
            <a:graphicFrameLocks noGrp="1"/>
          </p:cNvGraphicFramePr>
          <p:nvPr/>
        </p:nvGraphicFramePr>
        <p:xfrm>
          <a:off x="127390" y="4596761"/>
          <a:ext cx="8890154" cy="1463040"/>
        </p:xfrm>
        <a:graphic>
          <a:graphicData uri="http://schemas.openxmlformats.org/drawingml/2006/table">
            <a:tbl>
              <a:tblPr/>
              <a:tblGrid>
                <a:gridCol w="3042146">
                  <a:extLst>
                    <a:ext uri="{9D8B030D-6E8A-4147-A177-3AD203B41FA5}">
                      <a16:colId xmlns:a16="http://schemas.microsoft.com/office/drawing/2014/main" val="516259970"/>
                    </a:ext>
                  </a:extLst>
                </a:gridCol>
                <a:gridCol w="1462002">
                  <a:extLst>
                    <a:ext uri="{9D8B030D-6E8A-4147-A177-3AD203B41FA5}">
                      <a16:colId xmlns:a16="http://schemas.microsoft.com/office/drawing/2014/main" val="1033009239"/>
                    </a:ext>
                  </a:extLst>
                </a:gridCol>
                <a:gridCol w="1462002">
                  <a:extLst>
                    <a:ext uri="{9D8B030D-6E8A-4147-A177-3AD203B41FA5}">
                      <a16:colId xmlns:a16="http://schemas.microsoft.com/office/drawing/2014/main" val="2867684348"/>
                    </a:ext>
                  </a:extLst>
                </a:gridCol>
                <a:gridCol w="1462002">
                  <a:extLst>
                    <a:ext uri="{9D8B030D-6E8A-4147-A177-3AD203B41FA5}">
                      <a16:colId xmlns:a16="http://schemas.microsoft.com/office/drawing/2014/main" val="2945263109"/>
                    </a:ext>
                  </a:extLst>
                </a:gridCol>
                <a:gridCol w="1462002">
                  <a:extLst>
                    <a:ext uri="{9D8B030D-6E8A-4147-A177-3AD203B41FA5}">
                      <a16:colId xmlns:a16="http://schemas.microsoft.com/office/drawing/2014/main" val="3708056345"/>
                    </a:ext>
                  </a:extLst>
                </a:gridCol>
              </a:tblGrid>
              <a:tr h="123406">
                <a:tc>
                  <a:txBody>
                    <a:bodyPr/>
                    <a:lstStyle/>
                    <a:p>
                      <a:pPr algn="l" fontAlgn="b"/>
                      <a:endParaRPr lang="en-US" sz="12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F2C755"/>
                    </a:solidFill>
                  </a:tcPr>
                </a:tc>
                <a:tc>
                  <a:txBody>
                    <a:bodyPr/>
                    <a:lstStyle/>
                    <a:p>
                      <a:pPr algn="ctr" fontAlgn="b"/>
                      <a:r>
                        <a:rPr lang="en-US" sz="1200" b="1" i="0" u="none" strike="noStrike">
                          <a:solidFill>
                            <a:srgbClr val="000000"/>
                          </a:solidFill>
                          <a:effectLst/>
                          <a:latin typeface="Calibri" panose="020F0502020204030204" pitchFamily="34" charset="0"/>
                        </a:rPr>
                        <a:t>Rail North America</a:t>
                      </a:r>
                    </a:p>
                  </a:txBody>
                  <a:tcPr marL="0" marR="0" marT="0" marB="0" anchor="b">
                    <a:lnL>
                      <a:noFill/>
                    </a:lnL>
                    <a:lnR>
                      <a:noFill/>
                    </a:lnR>
                    <a:lnT>
                      <a:noFill/>
                    </a:lnT>
                    <a:lnB>
                      <a:noFill/>
                    </a:lnB>
                    <a:solidFill>
                      <a:srgbClr val="F2C755"/>
                    </a:solidFill>
                  </a:tcPr>
                </a:tc>
                <a:tc>
                  <a:txBody>
                    <a:bodyPr/>
                    <a:lstStyle/>
                    <a:p>
                      <a:pPr algn="ctr" fontAlgn="b"/>
                      <a:r>
                        <a:rPr lang="en-US" sz="1200" b="1" i="0" u="none" strike="noStrike">
                          <a:solidFill>
                            <a:srgbClr val="000000"/>
                          </a:solidFill>
                          <a:effectLst/>
                          <a:latin typeface="Calibri" panose="020F0502020204030204" pitchFamily="34" charset="0"/>
                        </a:rPr>
                        <a:t>Rail International</a:t>
                      </a:r>
                    </a:p>
                  </a:txBody>
                  <a:tcPr marL="0" marR="0" marT="0" marB="0" anchor="b">
                    <a:lnL>
                      <a:noFill/>
                    </a:lnL>
                    <a:lnR>
                      <a:noFill/>
                    </a:lnR>
                    <a:lnT>
                      <a:noFill/>
                    </a:lnT>
                    <a:lnB>
                      <a:noFill/>
                    </a:lnB>
                    <a:solidFill>
                      <a:srgbClr val="F2C755"/>
                    </a:solidFill>
                  </a:tcPr>
                </a:tc>
                <a:tc>
                  <a:txBody>
                    <a:bodyPr/>
                    <a:lstStyle/>
                    <a:p>
                      <a:pPr algn="ctr" fontAlgn="b"/>
                      <a:r>
                        <a:rPr lang="en-US" sz="1200" b="1" i="0" u="none" strike="noStrike">
                          <a:solidFill>
                            <a:srgbClr val="000000"/>
                          </a:solidFill>
                          <a:effectLst/>
                          <a:latin typeface="Calibri" panose="020F0502020204030204" pitchFamily="34" charset="0"/>
                        </a:rPr>
                        <a:t>Engine Leasing</a:t>
                      </a:r>
                    </a:p>
                  </a:txBody>
                  <a:tcPr marL="0" marR="0" marT="0" marB="0" anchor="b">
                    <a:lnL>
                      <a:noFill/>
                    </a:lnL>
                    <a:lnR>
                      <a:noFill/>
                    </a:lnR>
                    <a:lnT>
                      <a:noFill/>
                    </a:lnT>
                    <a:lnB>
                      <a:noFill/>
                    </a:lnB>
                    <a:solidFill>
                      <a:srgbClr val="F2C755"/>
                    </a:solidFill>
                  </a:tcPr>
                </a:tc>
                <a:tc>
                  <a:txBody>
                    <a:bodyPr/>
                    <a:lstStyle/>
                    <a:p>
                      <a:pPr algn="ctr" fontAlgn="b"/>
                      <a:r>
                        <a:rPr lang="en-US" sz="1200" b="1" i="0" u="none" strike="noStrike">
                          <a:solidFill>
                            <a:srgbClr val="000000"/>
                          </a:solidFill>
                          <a:effectLst/>
                          <a:latin typeface="Calibri" panose="020F0502020204030204" pitchFamily="34" charset="0"/>
                        </a:rPr>
                        <a:t>Other</a:t>
                      </a:r>
                    </a:p>
                  </a:txBody>
                  <a:tcPr marL="0" marR="0" marT="0" marB="0" anchor="b">
                    <a:lnL>
                      <a:noFill/>
                    </a:lnL>
                    <a:lnR>
                      <a:noFill/>
                    </a:lnR>
                    <a:lnT>
                      <a:noFill/>
                    </a:lnT>
                    <a:lnB>
                      <a:noFill/>
                    </a:lnB>
                    <a:solidFill>
                      <a:srgbClr val="F2C755"/>
                    </a:solidFill>
                  </a:tcPr>
                </a:tc>
                <a:extLst>
                  <a:ext uri="{0D108BD9-81ED-4DB2-BD59-A6C34878D82A}">
                    <a16:rowId xmlns:a16="http://schemas.microsoft.com/office/drawing/2014/main" val="3368513025"/>
                  </a:ext>
                </a:extLst>
              </a:tr>
              <a:tr h="123406">
                <a:tc>
                  <a:txBody>
                    <a:bodyPr/>
                    <a:lstStyle/>
                    <a:p>
                      <a:pPr algn="l" fontAlgn="b"/>
                      <a:r>
                        <a:rPr lang="en-US" sz="1200" b="0" i="0" u="none" strike="noStrike">
                          <a:solidFill>
                            <a:srgbClr val="000000"/>
                          </a:solidFill>
                          <a:effectLst/>
                          <a:latin typeface="Calibri" panose="020F0502020204030204" pitchFamily="34" charset="0"/>
                        </a:rPr>
                        <a:t>Lease revenue</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391.0</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100.3</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8.8</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8.3</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090607135"/>
                  </a:ext>
                </a:extLst>
              </a:tr>
              <a:tr h="123406">
                <a:tc>
                  <a:txBody>
                    <a:bodyPr/>
                    <a:lstStyle/>
                    <a:p>
                      <a:pPr algn="l" fontAlgn="b"/>
                      <a:r>
                        <a:rPr lang="en-US" sz="1200" b="0" i="0" u="none" strike="noStrike">
                          <a:solidFill>
                            <a:srgbClr val="000000"/>
                          </a:solidFill>
                          <a:effectLst/>
                          <a:latin typeface="Calibri" panose="020F0502020204030204" pitchFamily="34" charset="0"/>
                        </a:rPr>
                        <a:t>Other revenue</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44.0</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5.3</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20.6</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n/a</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1231020932"/>
                  </a:ext>
                </a:extLst>
              </a:tr>
              <a:tr h="123406">
                <a:tc>
                  <a:txBody>
                    <a:bodyPr/>
                    <a:lstStyle/>
                    <a:p>
                      <a:pPr algn="l" fontAlgn="b"/>
                      <a:r>
                        <a:rPr lang="en-US" sz="1200" b="1" i="0" u="none" strike="noStrike">
                          <a:solidFill>
                            <a:srgbClr val="000000"/>
                          </a:solidFill>
                          <a:effectLst/>
                          <a:latin typeface="Calibri" panose="020F0502020204030204" pitchFamily="34" charset="0"/>
                        </a:rPr>
                        <a:t>Maintenance expense</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(131.8)</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(19.2)</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n/a</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n/a</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628519390"/>
                  </a:ext>
                </a:extLst>
              </a:tr>
              <a:tr h="123406">
                <a:tc>
                  <a:txBody>
                    <a:bodyPr/>
                    <a:lstStyle/>
                    <a:p>
                      <a:pPr algn="l" fontAlgn="b"/>
                      <a:r>
                        <a:rPr lang="en-US" sz="1200" b="0" i="0" u="none" strike="noStrike">
                          <a:solidFill>
                            <a:srgbClr val="000000"/>
                          </a:solidFill>
                          <a:effectLst/>
                          <a:latin typeface="Calibri" panose="020F0502020204030204" pitchFamily="34" charset="0"/>
                        </a:rPr>
                        <a:t>Depreciation</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(124.0)</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(27.9)</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(10.6)</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n/a</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384864630"/>
                  </a:ext>
                </a:extLst>
              </a:tr>
              <a:tr h="123406">
                <a:tc>
                  <a:txBody>
                    <a:bodyPr/>
                    <a:lstStyle/>
                    <a:p>
                      <a:pPr algn="l" fontAlgn="b"/>
                      <a:r>
                        <a:rPr lang="en-US" sz="1200" b="1" i="0" u="none" strike="noStrike">
                          <a:solidFill>
                            <a:srgbClr val="000000"/>
                          </a:solidFill>
                          <a:effectLst/>
                          <a:latin typeface="Calibri" panose="020F0502020204030204" pitchFamily="34" charset="0"/>
                        </a:rPr>
                        <a:t>Other operating expense, incl. operating lease</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(23.2)</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(4.9)</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(3.0)</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n/a</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962546079"/>
                  </a:ext>
                </a:extLst>
              </a:tr>
              <a:tr h="123406">
                <a:tc>
                  <a:txBody>
                    <a:bodyPr/>
                    <a:lstStyle/>
                    <a:p>
                      <a:pPr algn="l" fontAlgn="b"/>
                      <a:r>
                        <a:rPr lang="en-US" sz="1200" b="0" i="0" u="none" strike="noStrike">
                          <a:solidFill>
                            <a:srgbClr val="000000"/>
                          </a:solidFill>
                          <a:effectLst/>
                          <a:latin typeface="Calibri" panose="020F0502020204030204" pitchFamily="34" charset="0"/>
                        </a:rPr>
                        <a:t>Net gain on asset dispositions</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67.7</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2.0</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n/a</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n/a</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257033092"/>
                  </a:ext>
                </a:extLst>
              </a:tr>
              <a:tr h="123406">
                <a:tc>
                  <a:txBody>
                    <a:bodyPr/>
                    <a:lstStyle/>
                    <a:p>
                      <a:pPr algn="l" fontAlgn="b"/>
                      <a:r>
                        <a:rPr lang="en-US" sz="1200" b="1" i="0" u="none" strike="noStrike">
                          <a:solidFill>
                            <a:srgbClr val="000000"/>
                          </a:solidFill>
                          <a:effectLst/>
                          <a:latin typeface="Calibri" panose="020F0502020204030204" pitchFamily="34" charset="0"/>
                        </a:rPr>
                        <a:t>Interest expense, net</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(103.7)</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(23.9)</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(12.7)</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n/a</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710874765"/>
                  </a:ext>
                </a:extLst>
              </a:tr>
            </a:tbl>
          </a:graphicData>
        </a:graphic>
      </p:graphicFrame>
      <p:sp>
        <p:nvSpPr>
          <p:cNvPr id="801" name="FigCap3"/>
          <p:cNvSpPr txBox="1"/>
          <p:nvPr/>
        </p:nvSpPr>
        <p:spPr>
          <a:xfrm>
            <a:off x="76200" y="2438400"/>
            <a:ext cx="5080000" cy="203200"/>
          </a:xfrm>
          <a:prstGeom prst="rect">
            <a:avLst/>
          </a:prstGeom>
          <a:noFill/>
        </p:spPr>
        <p:txBody>
          <a:bodyPr wrap="square" lIns="0" tIns="0" rIns="0" bIns="0" rtlCol="0">
            <a:spAutoFit/>
          </a:bodyPr>
          <a:lstStyle/>
          <a:p>
            <a:pPr eaLnBrk="1" hangingPunct="1">
              <a:lnSpc>
                <a:spcPct val="115000"/>
              </a:lnSpc>
              <a:spcAft>
                <a:spcPts val="751"/>
              </a:spcAft>
            </a:pPr>
            <a:r>
              <a:rPr lang="en-US" altLang="en-US" sz="1100">
                <a:solidFill>
                  <a:srgbClr val="292934"/>
                </a:solidFill>
                <a:latin typeface="Calibri" panose="020F0502020204030204" pitchFamily="34" charset="0"/>
                <a:cs typeface="Calibri" panose="020F0502020204030204" pitchFamily="34" charset="0"/>
              </a:rPr>
              <a:t>Figure 3:  Segment revenue, Q2 2026</a:t>
            </a:r>
          </a:p>
        </p:txBody>
      </p:sp>
      <p:sp>
        <p:nvSpPr>
          <p:cNvPr id="802" name="ConsolFoot"/>
          <p:cNvSpPr txBox="1"/>
          <p:nvPr/>
        </p:nvSpPr>
        <p:spPr>
          <a:xfrm>
            <a:off x="127000" y="6083300"/>
            <a:ext cx="8890000" cy="165100"/>
          </a:xfrm>
          <a:prstGeom prst="rect">
            <a:avLst/>
          </a:prstGeom>
          <a:noFill/>
        </p:spPr>
        <p:txBody>
          <a:bodyPr wrap="square" lIns="0" tIns="0" rIns="0" bIns="0" rtlCol="0"/>
          <a:lstStyle/>
          <a:p>
            <a:r>
              <a:rPr lang="en-US" sz="900">
                <a:solidFill>
                  <a:srgbClr val="292934"/>
                </a:solidFill>
                <a:latin typeface="Calibri" panose="020F0502020204030204" pitchFamily="34" charset="0"/>
                <a:cs typeface="Calibri" panose="020F0502020204030204" pitchFamily="34" charset="0"/>
              </a:rPr>
              <a:t>Below segment, Q2 2026: SG&amp;A $69.2M; taxes $38.4M; NCI $7.6M; net income to GATX $103.4M; 35.8M diluted shares.</a:t>
            </a:r>
          </a:p>
        </p:txBody>
      </p:sp>
      <p:sp>
        <p:nvSpPr>
          <p:cNvPr id="2" name="SegStat $391.0M">
            <a:extLst>
              <a:ext uri="{FF2B5EF4-FFF2-40B4-BE49-F238E27FC236}">
                <a16:creationId xmlns:a16="http://schemas.microsoft.com/office/drawing/2014/main" id="{ADDA7E0A-BA47-4D45-898F-85ED50172842}"/>
              </a:ext>
            </a:extLst>
          </p:cNvPr>
          <p:cNvSpPr txBox="1"/>
          <p:nvPr/>
        </p:nvSpPr>
        <p:spPr>
          <a:xfrm>
            <a:off x="114300" y="1498600"/>
            <a:ext cx="2794000" cy="787400"/>
          </a:xfrm>
          <a:prstGeom prst="rect">
            <a:avLst/>
          </a:prstGeom>
          <a:noFill/>
        </p:spPr>
        <p:txBody>
          <a:bodyPr vertOverflow="overflow" vert="horz" wrap="none" rtlCol="0" anchor="ctr" anchorCtr="0">
            <a:noAutofit/>
          </a:bodyPr>
          <a:lstStyle/>
          <a:p>
            <a:pPr algn="l"/>
            <a:r>
              <a:rPr lang="en-US" sz="4000" b="1">
                <a:solidFill>
                  <a:srgbClr val="292934"/>
                </a:solidFill>
                <a:latin typeface="Calibri"/>
                <a:ea typeface="Calibri"/>
                <a:cs typeface="Calibri"/>
              </a:rPr>
              <a:t>$391.0M</a:t>
            </a:r>
          </a:p>
        </p:txBody>
      </p:sp>
      <p:sp>
        <p:nvSpPr>
          <p:cNvPr id="5" name="SegStat $100.3M">
            <a:extLst>
              <a:ext uri="{FF2B5EF4-FFF2-40B4-BE49-F238E27FC236}">
                <a16:creationId xmlns:a16="http://schemas.microsoft.com/office/drawing/2014/main" id="{8122FD63-8928-4062-896F-11AF383299CA}"/>
              </a:ext>
            </a:extLst>
          </p:cNvPr>
          <p:cNvSpPr txBox="1"/>
          <p:nvPr/>
        </p:nvSpPr>
        <p:spPr>
          <a:xfrm>
            <a:off x="3175000" y="1498600"/>
            <a:ext cx="2794000" cy="787400"/>
          </a:xfrm>
          <a:prstGeom prst="rect">
            <a:avLst/>
          </a:prstGeom>
          <a:noFill/>
        </p:spPr>
        <p:txBody>
          <a:bodyPr vertOverflow="overflow" vert="horz" wrap="none" rtlCol="0" anchor="ctr" anchorCtr="0">
            <a:noAutofit/>
          </a:bodyPr>
          <a:lstStyle/>
          <a:p>
            <a:pPr algn="l"/>
            <a:r>
              <a:rPr lang="en-US" sz="4000" b="1">
                <a:solidFill>
                  <a:srgbClr val="292934"/>
                </a:solidFill>
                <a:latin typeface="Calibri"/>
                <a:ea typeface="Calibri"/>
                <a:cs typeface="Calibri"/>
              </a:rPr>
              <a:t>$100.3M</a:t>
            </a:r>
          </a:p>
        </p:txBody>
      </p:sp>
      <p:sp>
        <p:nvSpPr>
          <p:cNvPr id="6" name="SegStat $29.4M">
            <a:extLst>
              <a:ext uri="{FF2B5EF4-FFF2-40B4-BE49-F238E27FC236}">
                <a16:creationId xmlns:a16="http://schemas.microsoft.com/office/drawing/2014/main" id="{8EE55DB7-0B16-4ABB-901A-530335AF7019}"/>
              </a:ext>
            </a:extLst>
          </p:cNvPr>
          <p:cNvSpPr txBox="1"/>
          <p:nvPr/>
        </p:nvSpPr>
        <p:spPr>
          <a:xfrm>
            <a:off x="6235700" y="1498600"/>
            <a:ext cx="2794000" cy="787400"/>
          </a:xfrm>
          <a:prstGeom prst="rect">
            <a:avLst/>
          </a:prstGeom>
          <a:noFill/>
        </p:spPr>
        <p:txBody>
          <a:bodyPr vertOverflow="overflow" vert="horz" wrap="none" rtlCol="0" anchor="ctr" anchorCtr="0">
            <a:noAutofit/>
          </a:bodyPr>
          <a:lstStyle/>
          <a:p>
            <a:pPr algn="l"/>
            <a:r>
              <a:rPr lang="en-US" sz="4000" b="1">
                <a:solidFill>
                  <a:srgbClr val="292934"/>
                </a:solidFill>
                <a:latin typeface="Calibri"/>
                <a:ea typeface="Calibri"/>
                <a:cs typeface="Calibri"/>
              </a:rPr>
              <a:t>$29.4M</a:t>
            </a:r>
          </a:p>
        </p:txBody>
      </p:sp>
    </p:spTree>
    <p:extLst>
      <p:ext uri="{BB962C8B-B14F-4D97-AF65-F5344CB8AC3E}">
        <p14:creationId xmlns:p14="http://schemas.microsoft.com/office/powerpoint/2010/main" val="381617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B62A4-A711-AF72-3878-51AFF05E96AD}"/>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33080B1E-4510-0790-86EE-B9E9DCEF3894}"/>
              </a:ext>
            </a:extLst>
          </p:cNvPr>
          <p:cNvGrpSpPr>
            <a:grpSpLocks/>
          </p:cNvGrpSpPr>
          <p:nvPr/>
        </p:nvGrpSpPr>
        <p:grpSpPr bwMode="auto">
          <a:xfrm>
            <a:off x="0" y="82151"/>
            <a:ext cx="9144000" cy="576857"/>
            <a:chOff x="-2" y="-17873"/>
            <a:chExt cx="12192002" cy="769372"/>
          </a:xfrm>
        </p:grpSpPr>
        <p:sp>
          <p:nvSpPr>
            <p:cNvPr id="39" name="Title 1">
              <a:extLst>
                <a:ext uri="{FF2B5EF4-FFF2-40B4-BE49-F238E27FC236}">
                  <a16:creationId xmlns:a16="http://schemas.microsoft.com/office/drawing/2014/main" id="{93B9265E-42E4-92E7-1E33-B346CC112BE7}"/>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000" b="1">
                  <a:solidFill>
                    <a:srgbClr val="000000"/>
                  </a:solidFill>
                  <a:latin typeface="Calibri" panose="020F0502020204030204" pitchFamily="34" charset="0"/>
                </a:rPr>
                <a:t>Cyclicality</a:t>
              </a:r>
            </a:p>
          </p:txBody>
        </p:sp>
        <p:grpSp>
          <p:nvGrpSpPr>
            <p:cNvPr id="16397" name="Group 39">
              <a:extLst>
                <a:ext uri="{FF2B5EF4-FFF2-40B4-BE49-F238E27FC236}">
                  <a16:creationId xmlns:a16="http://schemas.microsoft.com/office/drawing/2014/main" id="{A213E9F1-2BFA-B53F-EF0D-E61005FD12C2}"/>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8A9A7F66-8FAB-5641-BDCA-DFAD2112A908}"/>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2695ECAA-2CBA-4933-C651-CC2A6A2B0A53}"/>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16418" name="Group 16417">
            <a:extLst>
              <a:ext uri="{FF2B5EF4-FFF2-40B4-BE49-F238E27FC236}">
                <a16:creationId xmlns:a16="http://schemas.microsoft.com/office/drawing/2014/main" id="{B69A6D0B-6336-3C53-1F81-50EF72BF04B4}"/>
              </a:ext>
            </a:extLst>
          </p:cNvPr>
          <p:cNvGrpSpPr/>
          <p:nvPr/>
        </p:nvGrpSpPr>
        <p:grpSpPr>
          <a:xfrm>
            <a:off x="0" y="6263508"/>
            <a:ext cx="9144000" cy="457200"/>
            <a:chOff x="0" y="2732884"/>
            <a:chExt cx="9144000" cy="457200"/>
          </a:xfrm>
        </p:grpSpPr>
        <p:sp>
          <p:nvSpPr>
            <p:cNvPr id="16419" name="Rectangle 16418">
              <a:extLst>
                <a:ext uri="{FF2B5EF4-FFF2-40B4-BE49-F238E27FC236}">
                  <a16:creationId xmlns:a16="http://schemas.microsoft.com/office/drawing/2014/main" id="{9704C9F6-9184-4B4A-DAC4-5BC7DA93AAD3}"/>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16420" name="Group 16419">
              <a:extLst>
                <a:ext uri="{FF2B5EF4-FFF2-40B4-BE49-F238E27FC236}">
                  <a16:creationId xmlns:a16="http://schemas.microsoft.com/office/drawing/2014/main" id="{A6138CB5-DA05-0D30-B4A5-202E33D6D7F0}"/>
                </a:ext>
              </a:extLst>
            </p:cNvPr>
            <p:cNvGrpSpPr/>
            <p:nvPr/>
          </p:nvGrpSpPr>
          <p:grpSpPr>
            <a:xfrm>
              <a:off x="5021579" y="2732884"/>
              <a:ext cx="545306" cy="457200"/>
              <a:chOff x="4981575" y="2712036"/>
              <a:chExt cx="545306" cy="457200"/>
            </a:xfrm>
          </p:grpSpPr>
          <p:sp>
            <p:nvSpPr>
              <p:cNvPr id="16436" name="Oval 16435">
                <a:extLst>
                  <a:ext uri="{FF2B5EF4-FFF2-40B4-BE49-F238E27FC236}">
                    <a16:creationId xmlns:a16="http://schemas.microsoft.com/office/drawing/2014/main" id="{29CB54E7-855E-DB4B-A950-35382D420D8D}"/>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37" name="Picture 16436" descr="Related image">
                <a:extLst>
                  <a:ext uri="{FF2B5EF4-FFF2-40B4-BE49-F238E27FC236}">
                    <a16:creationId xmlns:a16="http://schemas.microsoft.com/office/drawing/2014/main" id="{90A1325C-BD6C-9B8B-57F1-E21AB646CA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6421" name="Group 16420">
              <a:extLst>
                <a:ext uri="{FF2B5EF4-FFF2-40B4-BE49-F238E27FC236}">
                  <a16:creationId xmlns:a16="http://schemas.microsoft.com/office/drawing/2014/main" id="{22083182-5722-5E4D-BB4D-E7EFA04B0123}"/>
                </a:ext>
              </a:extLst>
            </p:cNvPr>
            <p:cNvGrpSpPr/>
            <p:nvPr/>
          </p:nvGrpSpPr>
          <p:grpSpPr>
            <a:xfrm>
              <a:off x="7910513" y="2732884"/>
              <a:ext cx="545306" cy="457200"/>
              <a:chOff x="7731919" y="2712036"/>
              <a:chExt cx="545306" cy="457200"/>
            </a:xfrm>
          </p:grpSpPr>
          <p:sp>
            <p:nvSpPr>
              <p:cNvPr id="16434" name="Oval 16433">
                <a:extLst>
                  <a:ext uri="{FF2B5EF4-FFF2-40B4-BE49-F238E27FC236}">
                    <a16:creationId xmlns:a16="http://schemas.microsoft.com/office/drawing/2014/main" id="{2F8D2BDF-C5B1-8A18-8D45-52987171278F}"/>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35" name="Picture 16434" descr="Related image">
                <a:extLst>
                  <a:ext uri="{FF2B5EF4-FFF2-40B4-BE49-F238E27FC236}">
                    <a16:creationId xmlns:a16="http://schemas.microsoft.com/office/drawing/2014/main" id="{CF85B16F-55EC-A12C-D411-8B07187C21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6422" name="Oval 16421">
              <a:extLst>
                <a:ext uri="{FF2B5EF4-FFF2-40B4-BE49-F238E27FC236}">
                  <a16:creationId xmlns:a16="http://schemas.microsoft.com/office/drawing/2014/main" id="{DD60ABA0-8C19-D240-0A1F-FFFCCC6DE213}"/>
                </a:ext>
              </a:extLst>
            </p:cNvPr>
            <p:cNvSpPr/>
            <p:nvPr/>
          </p:nvSpPr>
          <p:spPr bwMode="auto">
            <a:xfrm>
              <a:off x="688181"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423" name="Group 16422">
              <a:extLst>
                <a:ext uri="{FF2B5EF4-FFF2-40B4-BE49-F238E27FC236}">
                  <a16:creationId xmlns:a16="http://schemas.microsoft.com/office/drawing/2014/main" id="{A582F7F2-9386-39CA-4609-2D4CECC5B0A3}"/>
                </a:ext>
              </a:extLst>
            </p:cNvPr>
            <p:cNvGrpSpPr/>
            <p:nvPr/>
          </p:nvGrpSpPr>
          <p:grpSpPr>
            <a:xfrm>
              <a:off x="6466045" y="2732884"/>
              <a:ext cx="545306" cy="457200"/>
              <a:chOff x="6353175" y="2712036"/>
              <a:chExt cx="545306" cy="457200"/>
            </a:xfrm>
          </p:grpSpPr>
          <p:sp>
            <p:nvSpPr>
              <p:cNvPr id="16432" name="Oval 16431">
                <a:extLst>
                  <a:ext uri="{FF2B5EF4-FFF2-40B4-BE49-F238E27FC236}">
                    <a16:creationId xmlns:a16="http://schemas.microsoft.com/office/drawing/2014/main" id="{013B217C-8996-E6F8-EF21-56F22005DEE5}"/>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433" name="Graphic 14379" descr="Dollar with solid fill">
                <a:extLst>
                  <a:ext uri="{FF2B5EF4-FFF2-40B4-BE49-F238E27FC236}">
                    <a16:creationId xmlns:a16="http://schemas.microsoft.com/office/drawing/2014/main" id="{6331876F-D1D2-DD03-EFCF-D61E05F725DF}"/>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16424" name="Group 16423">
              <a:extLst>
                <a:ext uri="{FF2B5EF4-FFF2-40B4-BE49-F238E27FC236}">
                  <a16:creationId xmlns:a16="http://schemas.microsoft.com/office/drawing/2014/main" id="{A393E11B-56D8-413C-E935-E131CB5C3764}"/>
                </a:ext>
              </a:extLst>
            </p:cNvPr>
            <p:cNvGrpSpPr/>
            <p:nvPr/>
          </p:nvGrpSpPr>
          <p:grpSpPr>
            <a:xfrm>
              <a:off x="3577113" y="2732884"/>
              <a:ext cx="545306" cy="457200"/>
              <a:chOff x="3609974" y="2715607"/>
              <a:chExt cx="545306" cy="457200"/>
            </a:xfrm>
          </p:grpSpPr>
          <p:sp>
            <p:nvSpPr>
              <p:cNvPr id="16428" name="Oval 16427">
                <a:extLst>
                  <a:ext uri="{FF2B5EF4-FFF2-40B4-BE49-F238E27FC236}">
                    <a16:creationId xmlns:a16="http://schemas.microsoft.com/office/drawing/2014/main" id="{5B24798C-6536-EF63-FCE9-C61F418FC6B1}"/>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429" name="Group 16428">
                <a:extLst>
                  <a:ext uri="{FF2B5EF4-FFF2-40B4-BE49-F238E27FC236}">
                    <a16:creationId xmlns:a16="http://schemas.microsoft.com/office/drawing/2014/main" id="{6D488348-D21E-6B4A-9D1A-1D6EC4595452}"/>
                  </a:ext>
                </a:extLst>
              </p:cNvPr>
              <p:cNvGrpSpPr/>
              <p:nvPr/>
            </p:nvGrpSpPr>
            <p:grpSpPr>
              <a:xfrm>
                <a:off x="3769049" y="2811218"/>
                <a:ext cx="227157" cy="265979"/>
                <a:chOff x="3771206" y="2761936"/>
                <a:chExt cx="227157" cy="265979"/>
              </a:xfrm>
            </p:grpSpPr>
            <p:sp>
              <p:nvSpPr>
                <p:cNvPr id="16430" name="Freeform: Shape 16429">
                  <a:extLst>
                    <a:ext uri="{FF2B5EF4-FFF2-40B4-BE49-F238E27FC236}">
                      <a16:creationId xmlns:a16="http://schemas.microsoft.com/office/drawing/2014/main" id="{BDB6FBC1-A23E-C82E-8915-76864BEC7B4E}"/>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431" name="Freeform: Shape 16430">
                  <a:extLst>
                    <a:ext uri="{FF2B5EF4-FFF2-40B4-BE49-F238E27FC236}">
                      <a16:creationId xmlns:a16="http://schemas.microsoft.com/office/drawing/2014/main" id="{FFB83966-F1E3-6811-0A75-584532AE9716}"/>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16425" name="Group 16424">
              <a:extLst>
                <a:ext uri="{FF2B5EF4-FFF2-40B4-BE49-F238E27FC236}">
                  <a16:creationId xmlns:a16="http://schemas.microsoft.com/office/drawing/2014/main" id="{7F1BFB77-CE24-0786-9F6F-6A172B3F3F45}"/>
                </a:ext>
              </a:extLst>
            </p:cNvPr>
            <p:cNvGrpSpPr/>
            <p:nvPr/>
          </p:nvGrpSpPr>
          <p:grpSpPr>
            <a:xfrm>
              <a:off x="2132647" y="2732884"/>
              <a:ext cx="545306" cy="457200"/>
              <a:chOff x="2238375" y="2712635"/>
              <a:chExt cx="545306" cy="457200"/>
            </a:xfrm>
          </p:grpSpPr>
          <p:sp>
            <p:nvSpPr>
              <p:cNvPr id="16426" name="Oval 16425">
                <a:extLst>
                  <a:ext uri="{FF2B5EF4-FFF2-40B4-BE49-F238E27FC236}">
                    <a16:creationId xmlns:a16="http://schemas.microsoft.com/office/drawing/2014/main" id="{CE0D0D9C-4E61-0E2F-F75E-494683867ACF}"/>
                  </a:ext>
                </a:extLst>
              </p:cNvPr>
              <p:cNvSpPr/>
              <p:nvPr/>
            </p:nvSpPr>
            <p:spPr bwMode="auto">
              <a:xfrm>
                <a:off x="2238375" y="2712635"/>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427" name="Graphic 14377" descr="Board Of Directors with solid fill">
                <a:extLst>
                  <a:ext uri="{FF2B5EF4-FFF2-40B4-BE49-F238E27FC236}">
                    <a16:creationId xmlns:a16="http://schemas.microsoft.com/office/drawing/2014/main" id="{8EE8E173-B50C-001A-7DE6-FDD191623273}"/>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38" name="Graphic 16437" descr="Lights On with solid fill">
            <a:extLst>
              <a:ext uri="{FF2B5EF4-FFF2-40B4-BE49-F238E27FC236}">
                <a16:creationId xmlns:a16="http://schemas.microsoft.com/office/drawing/2014/main" id="{3A7FD63E-EF5E-7F2E-DFFA-4F127E051FD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979" y="6263508"/>
            <a:ext cx="461513" cy="461513"/>
          </a:xfrm>
          <a:prstGeom prst="rect">
            <a:avLst/>
          </a:prstGeom>
        </p:spPr>
      </p:pic>
      <p:sp>
        <p:nvSpPr>
          <p:cNvPr id="2" name="Rectangle 1">
            <a:extLst>
              <a:ext uri="{FF2B5EF4-FFF2-40B4-BE49-F238E27FC236}">
                <a16:creationId xmlns:a16="http://schemas.microsoft.com/office/drawing/2014/main" id="{B0C1319A-854C-4807-B926-4140429F1CCA}"/>
              </a:ext>
            </a:extLst>
          </p:cNvPr>
          <p:cNvSpPr/>
          <p:nvPr/>
        </p:nvSpPr>
        <p:spPr>
          <a:xfrm>
            <a:off x="4846268" y="1597561"/>
            <a:ext cx="4173777" cy="135000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wrap="square"/>
          <a:lstStyle/>
          <a:p>
            <a:pPr>
              <a:spcBef>
                <a:spcPts val="0"/>
              </a:spcBef>
              <a:spcAft>
                <a:spcPts val="0"/>
              </a:spcAft>
              <a:defRPr/>
            </a:pPr>
            <a:r>
              <a:rPr lang="en-US" sz="1050">
                <a:solidFill>
                  <a:srgbClr val="000000"/>
                </a:solidFill>
                <a:latin typeface="Calibri" panose="020F0502020204030204" pitchFamily="34" charset="0"/>
                <a:ea typeface="Calibri" panose="020F0502020204030204" pitchFamily="34" charset="0"/>
                <a:cs typeface="Calibri" panose="020F0502020204030204" pitchFamily="34" charset="0"/>
              </a:rPr>
              <a:t>What the chart shows. Two full cycles. LPI peaked at +35% in 2014 and +34% in 2023; the trough was -24% in 2017, at the end of six straight negative years. Q2 2026 is +16.8%: strong, and past the peak of the up-leg.</a:t>
            </a:r>
          </a:p>
        </p:txBody>
      </p:sp>
      <p:pic>
        <p:nvPicPr>
          <p:cNvPr id="3" name="Picture 2" descr="A black background with blue text&#10;&#10;Description automatically generated">
            <a:extLst>
              <a:ext uri="{FF2B5EF4-FFF2-40B4-BE49-F238E27FC236}">
                <a16:creationId xmlns:a16="http://schemas.microsoft.com/office/drawing/2014/main" id="{BBA59BA6-FB85-1F21-1AF0-20ABDC60A18B}"/>
              </a:ext>
            </a:extLst>
          </p:cNvPr>
          <p:cNvPicPr>
            <a:picLocks noChangeAspect="1"/>
          </p:cNvPicPr>
          <p:nvPr/>
        </p:nvPicPr>
        <p:blipFill>
          <a:blip r:embed="rId6">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8" name="Rectangle 7">
            <a:extLst>
              <a:ext uri="{FF2B5EF4-FFF2-40B4-BE49-F238E27FC236}">
                <a16:creationId xmlns:a16="http://schemas.microsoft.com/office/drawing/2014/main" id="{F2F144A0-96FB-3BDD-F997-A5E323B74258}"/>
              </a:ext>
            </a:extLst>
          </p:cNvPr>
          <p:cNvSpPr/>
          <p:nvPr/>
        </p:nvSpPr>
        <p:spPr>
          <a:xfrm>
            <a:off x="4851400" y="4517561"/>
            <a:ext cx="4178300" cy="150000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wrap="square"/>
          <a:lstStyle/>
          <a:p>
            <a:pPr marL="0" indent="0">
              <a:spcBef>
                <a:spcPts val="0"/>
              </a:spcBef>
              <a:spcAft>
                <a:spcPts val="0"/>
              </a:spcAft>
              <a:defRPr/>
              <a:buNone/>
            </a:pPr>
            <a:r>
              <a:rPr lang="en-US" sz="1050">
                <a:solidFill>
                  <a:srgbClr val="000000"/>
                </a:solidFill>
                <a:latin typeface="Calibri" panose="020F0502020204030204" pitchFamily="34" charset="0"/>
                <a:ea typeface="Calibri" panose="020F0502020204030204" pitchFamily="34" charset="0"/>
                <a:cs typeface="Calibri" panose="020F0502020204030204" pitchFamily="34" charset="0"/>
              </a:rPr>
              <a:t>Read the line against the bars. GATX signs 65 to 73 month leases at the peaks and 38 to 43 at the troughs: it locks in the highs. The average term is 54 months now, down from 60, while renewal success fell from 87% to 79 to 83%. Customers are starting to push back on price. Those two are the leading indicators; LPI is the lagging one.</a:t>
            </a:r>
          </a:p>
        </p:txBody>
      </p:sp>
      <p:grpSp>
        <p:nvGrpSpPr>
          <p:cNvPr id="9" name="Group 8">
            <a:extLst>
              <a:ext uri="{FF2B5EF4-FFF2-40B4-BE49-F238E27FC236}">
                <a16:creationId xmlns:a16="http://schemas.microsoft.com/office/drawing/2014/main" id="{AC2A68AB-18EB-4A08-D270-B9F9395C640E}"/>
              </a:ext>
            </a:extLst>
          </p:cNvPr>
          <p:cNvGrpSpPr/>
          <p:nvPr/>
        </p:nvGrpSpPr>
        <p:grpSpPr>
          <a:xfrm>
            <a:off x="132018" y="744973"/>
            <a:ext cx="8885527" cy="630792"/>
            <a:chOff x="328436" y="4805305"/>
            <a:chExt cx="8422480" cy="830574"/>
          </a:xfrm>
        </p:grpSpPr>
        <p:sp>
          <p:nvSpPr>
            <p:cNvPr id="10" name="Rectangle 9">
              <a:extLst>
                <a:ext uri="{FF2B5EF4-FFF2-40B4-BE49-F238E27FC236}">
                  <a16:creationId xmlns:a16="http://schemas.microsoft.com/office/drawing/2014/main" id="{4B7F2DE7-ADE3-E458-FD38-45F02255C4F7}"/>
                </a:ext>
              </a:extLst>
            </p:cNvPr>
            <p:cNvSpPr/>
            <p:nvPr/>
          </p:nvSpPr>
          <p:spPr>
            <a:xfrm>
              <a:off x="328436" y="4805306"/>
              <a:ext cx="2533651" cy="83057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Renewal pricing (LPI) sets the rate on about 12% of the fleet each year</a:t>
              </a: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714F4E6E-0F38-690D-AA69-D26177DD5560}"/>
                </a:ext>
              </a:extLst>
            </p:cNvPr>
            <p:cNvSpPr/>
            <p:nvPr/>
          </p:nvSpPr>
          <p:spPr>
            <a:xfrm>
              <a:off x="3272851" y="4805306"/>
              <a:ext cx="2533651" cy="83057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Rate times cars on lease drives lease revenue</a:t>
              </a:r>
            </a:p>
          </p:txBody>
        </p:sp>
        <p:sp>
          <p:nvSpPr>
            <p:cNvPr id="12" name="Rectangle 11">
              <a:extLst>
                <a:ext uri="{FF2B5EF4-FFF2-40B4-BE49-F238E27FC236}">
                  <a16:creationId xmlns:a16="http://schemas.microsoft.com/office/drawing/2014/main" id="{65D86E6C-A745-050C-6E9A-4EB581E2C298}"/>
                </a:ext>
              </a:extLst>
            </p:cNvPr>
            <p:cNvSpPr/>
            <p:nvPr/>
          </p:nvSpPr>
          <p:spPr>
            <a:xfrm>
              <a:off x="6217265" y="4805305"/>
              <a:ext cx="2533651" cy="83057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LPI is the cycle gauge: it decelerated to +16.8% in Q2 2026 from +22% in FY2025</a:t>
              </a:r>
            </a:p>
          </p:txBody>
        </p:sp>
        <p:sp>
          <p:nvSpPr>
            <p:cNvPr id="13" name="Arrow: Right 12">
              <a:extLst>
                <a:ext uri="{FF2B5EF4-FFF2-40B4-BE49-F238E27FC236}">
                  <a16:creationId xmlns:a16="http://schemas.microsoft.com/office/drawing/2014/main" id="{AA7B1E72-4585-20F0-331B-4E6B1FDECF51}"/>
                </a:ext>
              </a:extLst>
            </p:cNvPr>
            <p:cNvSpPr/>
            <p:nvPr/>
          </p:nvSpPr>
          <p:spPr>
            <a:xfrm>
              <a:off x="2856815" y="4957997"/>
              <a:ext cx="410765" cy="554717"/>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grpSp>
      <p:sp>
        <p:nvSpPr>
          <p:cNvPr id="7" name="Arrow: Right 6">
            <a:extLst>
              <a:ext uri="{FF2B5EF4-FFF2-40B4-BE49-F238E27FC236}">
                <a16:creationId xmlns:a16="http://schemas.microsoft.com/office/drawing/2014/main" id="{1430281F-C8E8-6AA8-EDF4-CDEBB98D5380}"/>
              </a:ext>
            </a:extLst>
          </p:cNvPr>
          <p:cNvSpPr/>
          <p:nvPr/>
        </p:nvSpPr>
        <p:spPr>
          <a:xfrm>
            <a:off x="5911254" y="855230"/>
            <a:ext cx="433348" cy="421288"/>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75000"/>
                </a:schemeClr>
              </a:solidFill>
            </a:endParaRPr>
          </a:p>
        </p:txBody>
      </p:sp>
      <p:sp>
        <p:nvSpPr>
          <p:cNvPr id="25" name="Text Box 2">
            <a:extLst>
              <a:ext uri="{FF2B5EF4-FFF2-40B4-BE49-F238E27FC236}">
                <a16:creationId xmlns:a16="http://schemas.microsoft.com/office/drawing/2014/main" id="{2A7BF1C5-D5E0-E298-EEBC-761317AC5B98}"/>
              </a:ext>
            </a:extLst>
          </p:cNvPr>
          <p:cNvSpPr txBox="1">
            <a:spLocks noChangeArrowheads="1"/>
          </p:cNvSpPr>
          <p:nvPr/>
        </p:nvSpPr>
        <p:spPr bwMode="auto">
          <a:xfrm>
            <a:off x="103903" y="1360153"/>
            <a:ext cx="50800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5:  LPI (bars, %) and average renewal term (line, months), 2007 to Q2 26</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2C27075D-EB74-1793-1C20-CB73582AF7A0}"/>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5</a:t>
            </a:fld>
            <a:endParaRPr lang="en-US" sz="1400">
              <a:latin typeface="Calibri" panose="020F0502020204030204" pitchFamily="34" charset="0"/>
              <a:cs typeface="Calibri" panose="020F0502020204030204" pitchFamily="34" charset="0"/>
            </a:endParaRPr>
          </a:p>
        </p:txBody>
      </p:sp>
      <p:sp>
        <p:nvSpPr>
          <p:cNvPr id="6" name="Text Box 2">
            <a:extLst>
              <a:ext uri="{FF2B5EF4-FFF2-40B4-BE49-F238E27FC236}">
                <a16:creationId xmlns:a16="http://schemas.microsoft.com/office/drawing/2014/main" id="{39E6FAD3-ADD6-F9A7-57C3-7E2480ACCF81}"/>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0BA41FDB-BF8F-8A18-A6AC-8DBBDFFAAE2B}"/>
              </a:ext>
            </a:extLst>
          </p:cNvPr>
          <p:cNvSpPr/>
          <p:nvPr/>
        </p:nvSpPr>
        <p:spPr>
          <a:xfrm>
            <a:off x="4846268" y="3057561"/>
            <a:ext cx="4173777" cy="135000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wrap="square"/>
          <a:lstStyle/>
          <a:p>
            <a:pPr>
              <a:spcBef>
                <a:spcPts val="0"/>
              </a:spcBef>
              <a:spcAft>
                <a:spcPts val="0"/>
              </a:spcAft>
              <a:defRPr/>
            </a:pPr>
            <a:r>
              <a:rPr lang="en-US" sz="1050">
                <a:solidFill>
                  <a:srgbClr val="000000"/>
                </a:solidFill>
                <a:latin typeface="Calibri" panose="020F0502020204030204" pitchFamily="34" charset="0"/>
                <a:ea typeface="Calibri" panose="020F0502020204030204" pitchFamily="34" charset="0"/>
                <a:cs typeface="Calibri" panose="020F0502020204030204" pitchFamily="34" charset="0"/>
              </a:rPr>
              <a:t>Why it matters for the call. Only about 12% of the fleet renews in a year, so even a strong LPI is worth about $1 of EPS. The model's break-even LPI for 2027 is -29%, below the last trough. Repricing is not what makes or breaks this stock.</a:t>
            </a:r>
          </a:p>
        </p:txBody>
      </p:sp>
      <p:pic>
        <p:nvPicPr>
          <p:cNvPr id="16439" name="Picture 16438" descr="lpi_chart_5.png"/>
          <p:cNvPicPr>
            <a:picLocks noChangeAspect="1"/>
          </p:cNvPicPr>
          <p:nvPr/>
        </p:nvPicPr>
        <p:blipFill>
          <a:blip r:embed="rId8"/>
          <a:stretch>
            <a:fillRect/>
          </a:stretch>
        </p:blipFill>
        <p:spPr>
          <a:xfrm>
            <a:off x="114300" y="1727200"/>
            <a:ext cx="4470400" cy="4200000"/>
          </a:xfrm>
          <a:prstGeom prst="rect">
            <a:avLst/>
          </a:prstGeom>
          <a:ln w="9525">
            <a:solidFill>
              <a:srgbClr val="292934"/>
            </a:solidFill>
          </a:ln>
        </p:spPr>
      </p:pic>
    </p:spTree>
    <p:extLst>
      <p:ext uri="{BB962C8B-B14F-4D97-AF65-F5344CB8AC3E}">
        <p14:creationId xmlns:p14="http://schemas.microsoft.com/office/powerpoint/2010/main" val="329514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61935-90ED-5E9B-E978-6CBD58F7E21A}"/>
            </a:ext>
          </a:extLst>
        </p:cNvPr>
        <p:cNvGrpSpPr/>
        <p:nvPr/>
      </p:nvGrpSpPr>
      <p:grpSpPr>
        <a:xfrm>
          <a:off x="0" y="0"/>
          <a:ext cx="0" cy="0"/>
          <a:chOff x="0" y="0"/>
          <a:chExt cx="0" cy="0"/>
        </a:xfrm>
      </p:grpSpPr>
      <p:sp>
        <p:nvSpPr>
          <p:cNvPr id="12292" name="AutoShape 22" descr="Image result for risk black clip art">
            <a:extLst>
              <a:ext uri="{FF2B5EF4-FFF2-40B4-BE49-F238E27FC236}">
                <a16:creationId xmlns:a16="http://schemas.microsoft.com/office/drawing/2014/main" id="{F708BFC9-E78D-4E1E-F0C6-CA18C0AE96CF}"/>
              </a:ext>
            </a:extLst>
          </p:cNvPr>
          <p:cNvSpPr>
            <a:spLocks noChangeAspect="1" noChangeArrowheads="1"/>
          </p:cNvSpPr>
          <p:nvPr/>
        </p:nvSpPr>
        <p:spPr bwMode="auto">
          <a:xfrm>
            <a:off x="116681" y="748906"/>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400">
              <a:solidFill>
                <a:srgbClr val="292934"/>
              </a:solidFill>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B178D255-51A3-EFE8-C616-D3DB4312291D}"/>
              </a:ext>
            </a:extLst>
          </p:cNvPr>
          <p:cNvSpPr>
            <a:spLocks noGrp="1"/>
          </p:cNvSpPr>
          <p:nvPr>
            <p:ph type="sldNum" sz="quarter" idx="12"/>
          </p:nvPr>
        </p:nvSpPr>
        <p:spPr/>
        <p:txBody>
          <a:bodyPr/>
          <a:lstStyle/>
          <a:p>
            <a:fld id="{763E63E3-3972-446C-8D4C-DDC4F18578E9}" type="slidenum">
              <a:rPr lang="en-US" altLang="en-US" sz="1400" smtClean="0">
                <a:latin typeface="Calibri" panose="020F0502020204030204" pitchFamily="34" charset="0"/>
                <a:cs typeface="Calibri" panose="020F0502020204030204" pitchFamily="34" charset="0"/>
              </a:rPr>
              <a:pPr/>
              <a:t>6</a:t>
            </a:fld>
            <a:endParaRPr lang="en-US" altLang="en-US" sz="1400">
              <a:latin typeface="Calibri" panose="020F0502020204030204" pitchFamily="34" charset="0"/>
              <a:cs typeface="Calibri" panose="020F0502020204030204" pitchFamily="34" charset="0"/>
            </a:endParaRPr>
          </a:p>
        </p:txBody>
      </p:sp>
      <p:sp>
        <p:nvSpPr>
          <p:cNvPr id="83" name="Left-Right Arrow 2063">
            <a:extLst>
              <a:ext uri="{FF2B5EF4-FFF2-40B4-BE49-F238E27FC236}">
                <a16:creationId xmlns:a16="http://schemas.microsoft.com/office/drawing/2014/main" id="{D8ECB18E-3CD7-443F-7104-C518E52BB155}"/>
              </a:ext>
            </a:extLst>
          </p:cNvPr>
          <p:cNvSpPr/>
          <p:nvPr/>
        </p:nvSpPr>
        <p:spPr bwMode="auto">
          <a:xfrm>
            <a:off x="688861" y="4220820"/>
            <a:ext cx="7753471" cy="677315"/>
          </a:xfrm>
          <a:prstGeom prst="leftRight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Key Highlights</a:t>
            </a:r>
          </a:p>
        </p:txBody>
      </p:sp>
      <p:grpSp>
        <p:nvGrpSpPr>
          <p:cNvPr id="34" name="Group 33">
            <a:extLst>
              <a:ext uri="{FF2B5EF4-FFF2-40B4-BE49-F238E27FC236}">
                <a16:creationId xmlns:a16="http://schemas.microsoft.com/office/drawing/2014/main" id="{F9D36D42-3526-F0AD-8362-C3B4052FB075}"/>
              </a:ext>
            </a:extLst>
          </p:cNvPr>
          <p:cNvGrpSpPr/>
          <p:nvPr/>
        </p:nvGrpSpPr>
        <p:grpSpPr>
          <a:xfrm>
            <a:off x="694642" y="739926"/>
            <a:ext cx="7753470" cy="3242764"/>
            <a:chOff x="695702" y="695161"/>
            <a:chExt cx="7753470" cy="3242764"/>
          </a:xfrm>
        </p:grpSpPr>
        <p:sp>
          <p:nvSpPr>
            <p:cNvPr id="29" name="Down Arrow Callout 49">
              <a:extLst>
                <a:ext uri="{FF2B5EF4-FFF2-40B4-BE49-F238E27FC236}">
                  <a16:creationId xmlns:a16="http://schemas.microsoft.com/office/drawing/2014/main" id="{1A4F5711-6498-0222-B1A8-6A66AE592319}"/>
                </a:ext>
              </a:extLst>
            </p:cNvPr>
            <p:cNvSpPr/>
            <p:nvPr/>
          </p:nvSpPr>
          <p:spPr bwMode="auto">
            <a:xfrm>
              <a:off x="2280317" y="2474509"/>
              <a:ext cx="1435608" cy="1463040"/>
            </a:xfrm>
            <a:prstGeom prst="downArrowCallou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Drivers</a:t>
              </a:r>
            </a:p>
          </p:txBody>
        </p:sp>
        <p:grpSp>
          <p:nvGrpSpPr>
            <p:cNvPr id="75" name="Group 74">
              <a:extLst>
                <a:ext uri="{FF2B5EF4-FFF2-40B4-BE49-F238E27FC236}">
                  <a16:creationId xmlns:a16="http://schemas.microsoft.com/office/drawing/2014/main" id="{BD541A12-EEB9-7C1F-33E4-00D746D2242F}"/>
                </a:ext>
              </a:extLst>
            </p:cNvPr>
            <p:cNvGrpSpPr/>
            <p:nvPr/>
          </p:nvGrpSpPr>
          <p:grpSpPr>
            <a:xfrm>
              <a:off x="2281074" y="701514"/>
              <a:ext cx="1435608" cy="1645920"/>
              <a:chOff x="1780524" y="1001320"/>
              <a:chExt cx="1261872" cy="1496616"/>
            </a:xfrm>
          </p:grpSpPr>
          <p:sp>
            <p:nvSpPr>
              <p:cNvPr id="21" name="Rectangle 20">
                <a:extLst>
                  <a:ext uri="{FF2B5EF4-FFF2-40B4-BE49-F238E27FC236}">
                    <a16:creationId xmlns:a16="http://schemas.microsoft.com/office/drawing/2014/main" id="{843BF9FA-56DD-2707-9130-AD25C786A4FD}"/>
                  </a:ext>
                </a:extLst>
              </p:cNvPr>
              <p:cNvSpPr/>
              <p:nvPr/>
            </p:nvSpPr>
            <p:spPr bwMode="auto">
              <a:xfrm>
                <a:off x="1780524" y="1001320"/>
                <a:ext cx="1261872" cy="149661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66E54976-9A6B-D918-9B66-3A6D3565CD95}"/>
                  </a:ext>
                </a:extLst>
              </p:cNvPr>
              <p:cNvGrpSpPr/>
              <p:nvPr/>
            </p:nvGrpSpPr>
            <p:grpSpPr>
              <a:xfrm>
                <a:off x="1839668" y="1178128"/>
                <a:ext cx="1143584" cy="1143000"/>
                <a:chOff x="1839668" y="1142389"/>
                <a:chExt cx="1143584" cy="1143000"/>
              </a:xfrm>
            </p:grpSpPr>
            <p:sp>
              <p:nvSpPr>
                <p:cNvPr id="23" name="Oval 22">
                  <a:extLst>
                    <a:ext uri="{FF2B5EF4-FFF2-40B4-BE49-F238E27FC236}">
                      <a16:creationId xmlns:a16="http://schemas.microsoft.com/office/drawing/2014/main" id="{7E1986BE-B095-0067-0FA8-9C09C43A2E9C}"/>
                    </a:ext>
                  </a:extLst>
                </p:cNvPr>
                <p:cNvSpPr/>
                <p:nvPr/>
              </p:nvSpPr>
              <p:spPr bwMode="auto">
                <a:xfrm>
                  <a:off x="1839668" y="1142389"/>
                  <a:ext cx="1143584" cy="1143000"/>
                </a:xfrm>
                <a:prstGeom prst="ellipse">
                  <a:avLst/>
                </a:prstGeom>
                <a:solidFill>
                  <a:srgbClr val="F2C755"/>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sp>
              <p:nvSpPr>
                <p:cNvPr id="33" name="Graphic 5" descr="Board Of Directors with solid fill">
                  <a:extLst>
                    <a:ext uri="{FF2B5EF4-FFF2-40B4-BE49-F238E27FC236}">
                      <a16:creationId xmlns:a16="http://schemas.microsoft.com/office/drawing/2014/main" id="{B8157159-A1BA-C4F6-4D8A-537CFFF35900}"/>
                    </a:ext>
                  </a:extLst>
                </p:cNvPr>
                <p:cNvSpPr/>
                <p:nvPr/>
              </p:nvSpPr>
              <p:spPr>
                <a:xfrm>
                  <a:off x="2054844" y="1406926"/>
                  <a:ext cx="713232" cy="613927"/>
                </a:xfrm>
                <a:custGeom>
                  <a:avLst/>
                  <a:gdLst>
                    <a:gd name="connsiteX0" fmla="*/ 745496 w 784462"/>
                    <a:gd name="connsiteY0" fmla="*/ 435333 h 613927"/>
                    <a:gd name="connsiteX1" fmla="*/ 764008 w 784462"/>
                    <a:gd name="connsiteY1" fmla="*/ 413769 h 613927"/>
                    <a:gd name="connsiteX2" fmla="*/ 784276 w 784462"/>
                    <a:gd name="connsiteY2" fmla="*/ 244885 h 613927"/>
                    <a:gd name="connsiteX3" fmla="*/ 761982 w 784462"/>
                    <a:gd name="connsiteY3" fmla="*/ 216486 h 613927"/>
                    <a:gd name="connsiteX4" fmla="*/ 760401 w 784462"/>
                    <a:gd name="connsiteY4" fmla="*/ 216345 h 613927"/>
                    <a:gd name="connsiteX5" fmla="*/ 666554 w 784462"/>
                    <a:gd name="connsiteY5" fmla="*/ 210820 h 613927"/>
                    <a:gd name="connsiteX6" fmla="*/ 639720 w 784462"/>
                    <a:gd name="connsiteY6" fmla="*/ 233049 h 613927"/>
                    <a:gd name="connsiteX7" fmla="*/ 633904 w 784462"/>
                    <a:gd name="connsiteY7" fmla="*/ 278140 h 613927"/>
                    <a:gd name="connsiteX8" fmla="*/ 619571 w 784462"/>
                    <a:gd name="connsiteY8" fmla="*/ 256191 h 613927"/>
                    <a:gd name="connsiteX9" fmla="*/ 622836 w 784462"/>
                    <a:gd name="connsiteY9" fmla="*/ 230875 h 613927"/>
                    <a:gd name="connsiteX10" fmla="*/ 665096 w 784462"/>
                    <a:gd name="connsiteY10" fmla="*/ 193757 h 613927"/>
                    <a:gd name="connsiteX11" fmla="*/ 667654 w 784462"/>
                    <a:gd name="connsiteY11" fmla="*/ 193834 h 613927"/>
                    <a:gd name="connsiteX12" fmla="*/ 708191 w 784462"/>
                    <a:gd name="connsiteY12" fmla="*/ 196213 h 613927"/>
                    <a:gd name="connsiteX13" fmla="*/ 714049 w 784462"/>
                    <a:gd name="connsiteY13" fmla="*/ 160255 h 613927"/>
                    <a:gd name="connsiteX14" fmla="*/ 692851 w 784462"/>
                    <a:gd name="connsiteY14" fmla="*/ 130939 h 613927"/>
                    <a:gd name="connsiteX15" fmla="*/ 690540 w 784462"/>
                    <a:gd name="connsiteY15" fmla="*/ 130675 h 613927"/>
                    <a:gd name="connsiteX16" fmla="*/ 614233 w 784462"/>
                    <a:gd name="connsiteY16" fmla="*/ 125559 h 613927"/>
                    <a:gd name="connsiteX17" fmla="*/ 587296 w 784462"/>
                    <a:gd name="connsiteY17" fmla="*/ 147149 h 613927"/>
                    <a:gd name="connsiteX18" fmla="*/ 579827 w 784462"/>
                    <a:gd name="connsiteY18" fmla="*/ 195232 h 613927"/>
                    <a:gd name="connsiteX19" fmla="*/ 565894 w 784462"/>
                    <a:gd name="connsiteY19" fmla="*/ 173915 h 613927"/>
                    <a:gd name="connsiteX20" fmla="*/ 570413 w 784462"/>
                    <a:gd name="connsiteY20" fmla="*/ 144599 h 613927"/>
                    <a:gd name="connsiteX21" fmla="*/ 612468 w 784462"/>
                    <a:gd name="connsiteY21" fmla="*/ 108522 h 613927"/>
                    <a:gd name="connsiteX22" fmla="*/ 615316 w 784462"/>
                    <a:gd name="connsiteY22" fmla="*/ 108624 h 613927"/>
                    <a:gd name="connsiteX23" fmla="*/ 632148 w 784462"/>
                    <a:gd name="connsiteY23" fmla="*/ 109741 h 613927"/>
                    <a:gd name="connsiteX24" fmla="*/ 634800 w 784462"/>
                    <a:gd name="connsiteY24" fmla="*/ 85866 h 613927"/>
                    <a:gd name="connsiteX25" fmla="*/ 612162 w 784462"/>
                    <a:gd name="connsiteY25" fmla="*/ 57648 h 613927"/>
                    <a:gd name="connsiteX26" fmla="*/ 611376 w 784462"/>
                    <a:gd name="connsiteY26" fmla="*/ 57574 h 613927"/>
                    <a:gd name="connsiteX27" fmla="*/ 551807 w 784462"/>
                    <a:gd name="connsiteY27" fmla="*/ 52995 h 613927"/>
                    <a:gd name="connsiteX28" fmla="*/ 524402 w 784462"/>
                    <a:gd name="connsiteY28" fmla="*/ 75787 h 613927"/>
                    <a:gd name="connsiteX29" fmla="*/ 520539 w 784462"/>
                    <a:gd name="connsiteY29" fmla="*/ 112504 h 613927"/>
                    <a:gd name="connsiteX30" fmla="*/ 466342 w 784462"/>
                    <a:gd name="connsiteY30" fmla="*/ 93660 h 613927"/>
                    <a:gd name="connsiteX31" fmla="*/ 458898 w 784462"/>
                    <a:gd name="connsiteY31" fmla="*/ 93660 h 613927"/>
                    <a:gd name="connsiteX32" fmla="*/ 458898 w 784462"/>
                    <a:gd name="connsiteY32" fmla="*/ 33971 h 613927"/>
                    <a:gd name="connsiteX33" fmla="*/ 452076 w 784462"/>
                    <a:gd name="connsiteY33" fmla="*/ 17506 h 613927"/>
                    <a:gd name="connsiteX34" fmla="*/ 441691 w 784462"/>
                    <a:gd name="connsiteY34" fmla="*/ 11102 h 613927"/>
                    <a:gd name="connsiteX35" fmla="*/ 342446 w 784462"/>
                    <a:gd name="connsiteY35" fmla="*/ 10676 h 613927"/>
                    <a:gd name="connsiteX36" fmla="*/ 330124 w 784462"/>
                    <a:gd name="connsiteY36" fmla="*/ 17497 h 613927"/>
                    <a:gd name="connsiteX37" fmla="*/ 323303 w 784462"/>
                    <a:gd name="connsiteY37" fmla="*/ 33963 h 613927"/>
                    <a:gd name="connsiteX38" fmla="*/ 323303 w 784462"/>
                    <a:gd name="connsiteY38" fmla="*/ 93651 h 613927"/>
                    <a:gd name="connsiteX39" fmla="*/ 315100 w 784462"/>
                    <a:gd name="connsiteY39" fmla="*/ 93651 h 613927"/>
                    <a:gd name="connsiteX40" fmla="*/ 263683 w 784462"/>
                    <a:gd name="connsiteY40" fmla="*/ 110355 h 613927"/>
                    <a:gd name="connsiteX41" fmla="*/ 260067 w 784462"/>
                    <a:gd name="connsiteY41" fmla="*/ 75787 h 613927"/>
                    <a:gd name="connsiteX42" fmla="*/ 232713 w 784462"/>
                    <a:gd name="connsiteY42" fmla="*/ 52995 h 613927"/>
                    <a:gd name="connsiteX43" fmla="*/ 173144 w 784462"/>
                    <a:gd name="connsiteY43" fmla="*/ 57574 h 613927"/>
                    <a:gd name="connsiteX44" fmla="*/ 149646 w 784462"/>
                    <a:gd name="connsiteY44" fmla="*/ 85081 h 613927"/>
                    <a:gd name="connsiteX45" fmla="*/ 149720 w 784462"/>
                    <a:gd name="connsiteY45" fmla="*/ 85866 h 613927"/>
                    <a:gd name="connsiteX46" fmla="*/ 152372 w 784462"/>
                    <a:gd name="connsiteY46" fmla="*/ 109741 h 613927"/>
                    <a:gd name="connsiteX47" fmla="*/ 169204 w 784462"/>
                    <a:gd name="connsiteY47" fmla="*/ 108624 h 613927"/>
                    <a:gd name="connsiteX48" fmla="*/ 172052 w 784462"/>
                    <a:gd name="connsiteY48" fmla="*/ 108522 h 613927"/>
                    <a:gd name="connsiteX49" fmla="*/ 214099 w 784462"/>
                    <a:gd name="connsiteY49" fmla="*/ 144599 h 613927"/>
                    <a:gd name="connsiteX50" fmla="*/ 218064 w 784462"/>
                    <a:gd name="connsiteY50" fmla="*/ 170231 h 613927"/>
                    <a:gd name="connsiteX51" fmla="*/ 204131 w 784462"/>
                    <a:gd name="connsiteY51" fmla="*/ 191549 h 613927"/>
                    <a:gd name="connsiteX52" fmla="*/ 197309 w 784462"/>
                    <a:gd name="connsiteY52" fmla="*/ 147158 h 613927"/>
                    <a:gd name="connsiteX53" fmla="*/ 170373 w 784462"/>
                    <a:gd name="connsiteY53" fmla="*/ 125567 h 613927"/>
                    <a:gd name="connsiteX54" fmla="*/ 94065 w 784462"/>
                    <a:gd name="connsiteY54" fmla="*/ 130684 h 613927"/>
                    <a:gd name="connsiteX55" fmla="*/ 70292 w 784462"/>
                    <a:gd name="connsiteY55" fmla="*/ 157953 h 613927"/>
                    <a:gd name="connsiteX56" fmla="*/ 70557 w 784462"/>
                    <a:gd name="connsiteY56" fmla="*/ 160263 h 613927"/>
                    <a:gd name="connsiteX57" fmla="*/ 76415 w 784462"/>
                    <a:gd name="connsiteY57" fmla="*/ 196221 h 613927"/>
                    <a:gd name="connsiteX58" fmla="*/ 116951 w 784462"/>
                    <a:gd name="connsiteY58" fmla="*/ 193842 h 613927"/>
                    <a:gd name="connsiteX59" fmla="*/ 119510 w 784462"/>
                    <a:gd name="connsiteY59" fmla="*/ 193766 h 613927"/>
                    <a:gd name="connsiteX60" fmla="*/ 161701 w 784462"/>
                    <a:gd name="connsiteY60" fmla="*/ 230883 h 613927"/>
                    <a:gd name="connsiteX61" fmla="*/ 164481 w 784462"/>
                    <a:gd name="connsiteY61" fmla="*/ 252465 h 613927"/>
                    <a:gd name="connsiteX62" fmla="*/ 150070 w 784462"/>
                    <a:gd name="connsiteY62" fmla="*/ 274422 h 613927"/>
                    <a:gd name="connsiteX63" fmla="*/ 144732 w 784462"/>
                    <a:gd name="connsiteY63" fmla="*/ 233049 h 613927"/>
                    <a:gd name="connsiteX64" fmla="*/ 117898 w 784462"/>
                    <a:gd name="connsiteY64" fmla="*/ 210820 h 613927"/>
                    <a:gd name="connsiteX65" fmla="*/ 24059 w 784462"/>
                    <a:gd name="connsiteY65" fmla="*/ 216345 h 613927"/>
                    <a:gd name="connsiteX66" fmla="*/ 43 w 784462"/>
                    <a:gd name="connsiteY66" fmla="*/ 243303 h 613927"/>
                    <a:gd name="connsiteX67" fmla="*/ 184 w 784462"/>
                    <a:gd name="connsiteY67" fmla="*/ 244885 h 613927"/>
                    <a:gd name="connsiteX68" fmla="*/ 20461 w 784462"/>
                    <a:gd name="connsiteY68" fmla="*/ 413769 h 613927"/>
                    <a:gd name="connsiteX69" fmla="*/ 38981 w 784462"/>
                    <a:gd name="connsiteY69" fmla="*/ 435333 h 613927"/>
                    <a:gd name="connsiteX70" fmla="*/ 74419 w 784462"/>
                    <a:gd name="connsiteY70" fmla="*/ 445182 h 613927"/>
                    <a:gd name="connsiteX71" fmla="*/ 74419 w 784462"/>
                    <a:gd name="connsiteY71" fmla="*/ 480995 h 613927"/>
                    <a:gd name="connsiteX72" fmla="*/ 44643 w 784462"/>
                    <a:gd name="connsiteY72" fmla="*/ 480995 h 613927"/>
                    <a:gd name="connsiteX73" fmla="*/ 14850 w 784462"/>
                    <a:gd name="connsiteY73" fmla="*/ 510779 h 613927"/>
                    <a:gd name="connsiteX74" fmla="*/ 14850 w 784462"/>
                    <a:gd name="connsiteY74" fmla="*/ 516646 h 613927"/>
                    <a:gd name="connsiteX75" fmla="*/ 16360 w 784462"/>
                    <a:gd name="connsiteY75" fmla="*/ 540717 h 613927"/>
                    <a:gd name="connsiteX76" fmla="*/ 40431 w 784462"/>
                    <a:gd name="connsiteY76" fmla="*/ 539206 h 613927"/>
                    <a:gd name="connsiteX77" fmla="*/ 40431 w 784462"/>
                    <a:gd name="connsiteY77" fmla="*/ 516646 h 613927"/>
                    <a:gd name="connsiteX78" fmla="*/ 40431 w 784462"/>
                    <a:gd name="connsiteY78" fmla="*/ 510779 h 613927"/>
                    <a:gd name="connsiteX79" fmla="*/ 44694 w 784462"/>
                    <a:gd name="connsiteY79" fmla="*/ 506516 h 613927"/>
                    <a:gd name="connsiteX80" fmla="*/ 74436 w 784462"/>
                    <a:gd name="connsiteY80" fmla="*/ 506516 h 613927"/>
                    <a:gd name="connsiteX81" fmla="*/ 74436 w 784462"/>
                    <a:gd name="connsiteY81" fmla="*/ 516637 h 613927"/>
                    <a:gd name="connsiteX82" fmla="*/ 75901 w 784462"/>
                    <a:gd name="connsiteY82" fmla="*/ 540711 h 613927"/>
                    <a:gd name="connsiteX83" fmla="*/ 99974 w 784462"/>
                    <a:gd name="connsiteY83" fmla="*/ 539246 h 613927"/>
                    <a:gd name="connsiteX84" fmla="*/ 99974 w 784462"/>
                    <a:gd name="connsiteY84" fmla="*/ 516637 h 613927"/>
                    <a:gd name="connsiteX85" fmla="*/ 99974 w 784462"/>
                    <a:gd name="connsiteY85" fmla="*/ 506516 h 613927"/>
                    <a:gd name="connsiteX86" fmla="*/ 129767 w 784462"/>
                    <a:gd name="connsiteY86" fmla="*/ 506516 h 613927"/>
                    <a:gd name="connsiteX87" fmla="*/ 134031 w 784462"/>
                    <a:gd name="connsiteY87" fmla="*/ 510779 h 613927"/>
                    <a:gd name="connsiteX88" fmla="*/ 134031 w 784462"/>
                    <a:gd name="connsiteY88" fmla="*/ 516646 h 613927"/>
                    <a:gd name="connsiteX89" fmla="*/ 135541 w 784462"/>
                    <a:gd name="connsiteY89" fmla="*/ 540717 h 613927"/>
                    <a:gd name="connsiteX90" fmla="*/ 159612 w 784462"/>
                    <a:gd name="connsiteY90" fmla="*/ 539206 h 613927"/>
                    <a:gd name="connsiteX91" fmla="*/ 159612 w 784462"/>
                    <a:gd name="connsiteY91" fmla="*/ 516646 h 613927"/>
                    <a:gd name="connsiteX92" fmla="*/ 159612 w 784462"/>
                    <a:gd name="connsiteY92" fmla="*/ 510779 h 613927"/>
                    <a:gd name="connsiteX93" fmla="*/ 129819 w 784462"/>
                    <a:gd name="connsiteY93" fmla="*/ 480986 h 613927"/>
                    <a:gd name="connsiteX94" fmla="*/ 99974 w 784462"/>
                    <a:gd name="connsiteY94" fmla="*/ 480986 h 613927"/>
                    <a:gd name="connsiteX95" fmla="*/ 99974 w 784462"/>
                    <a:gd name="connsiteY95" fmla="*/ 456830 h 613927"/>
                    <a:gd name="connsiteX96" fmla="*/ 117173 w 784462"/>
                    <a:gd name="connsiteY96" fmla="*/ 464564 h 613927"/>
                    <a:gd name="connsiteX97" fmla="*/ 172052 w 784462"/>
                    <a:gd name="connsiteY97" fmla="*/ 479230 h 613927"/>
                    <a:gd name="connsiteX98" fmla="*/ 254627 w 784462"/>
                    <a:gd name="connsiteY98" fmla="*/ 496906 h 613927"/>
                    <a:gd name="connsiteX99" fmla="*/ 254627 w 784462"/>
                    <a:gd name="connsiteY99" fmla="*/ 576104 h 613927"/>
                    <a:gd name="connsiteX100" fmla="*/ 273975 w 784462"/>
                    <a:gd name="connsiteY100" fmla="*/ 600832 h 613927"/>
                    <a:gd name="connsiteX101" fmla="*/ 286808 w 784462"/>
                    <a:gd name="connsiteY101" fmla="*/ 604038 h 613927"/>
                    <a:gd name="connsiteX102" fmla="*/ 494447 w 784462"/>
                    <a:gd name="connsiteY102" fmla="*/ 602418 h 613927"/>
                    <a:gd name="connsiteX103" fmla="*/ 499563 w 784462"/>
                    <a:gd name="connsiteY103" fmla="*/ 601054 h 613927"/>
                    <a:gd name="connsiteX104" fmla="*/ 518527 w 784462"/>
                    <a:gd name="connsiteY104" fmla="*/ 576437 h 613927"/>
                    <a:gd name="connsiteX105" fmla="*/ 518527 w 784462"/>
                    <a:gd name="connsiteY105" fmla="*/ 498117 h 613927"/>
                    <a:gd name="connsiteX106" fmla="*/ 608238 w 784462"/>
                    <a:gd name="connsiteY106" fmla="*/ 479486 h 613927"/>
                    <a:gd name="connsiteX107" fmla="*/ 664388 w 784462"/>
                    <a:gd name="connsiteY107" fmla="*/ 464546 h 613927"/>
                    <a:gd name="connsiteX108" fmla="*/ 684520 w 784462"/>
                    <a:gd name="connsiteY108" fmla="*/ 454860 h 613927"/>
                    <a:gd name="connsiteX109" fmla="*/ 684520 w 784462"/>
                    <a:gd name="connsiteY109" fmla="*/ 480986 h 613927"/>
                    <a:gd name="connsiteX110" fmla="*/ 654727 w 784462"/>
                    <a:gd name="connsiteY110" fmla="*/ 480986 h 613927"/>
                    <a:gd name="connsiteX111" fmla="*/ 624934 w 784462"/>
                    <a:gd name="connsiteY111" fmla="*/ 510779 h 613927"/>
                    <a:gd name="connsiteX112" fmla="*/ 624934 w 784462"/>
                    <a:gd name="connsiteY112" fmla="*/ 516646 h 613927"/>
                    <a:gd name="connsiteX113" fmla="*/ 626399 w 784462"/>
                    <a:gd name="connsiteY113" fmla="*/ 540719 h 613927"/>
                    <a:gd name="connsiteX114" fmla="*/ 650472 w 784462"/>
                    <a:gd name="connsiteY114" fmla="*/ 539254 h 613927"/>
                    <a:gd name="connsiteX115" fmla="*/ 650472 w 784462"/>
                    <a:gd name="connsiteY115" fmla="*/ 516646 h 613927"/>
                    <a:gd name="connsiteX116" fmla="*/ 650472 w 784462"/>
                    <a:gd name="connsiteY116" fmla="*/ 510779 h 613927"/>
                    <a:gd name="connsiteX117" fmla="*/ 654736 w 784462"/>
                    <a:gd name="connsiteY117" fmla="*/ 506516 h 613927"/>
                    <a:gd name="connsiteX118" fmla="*/ 684529 w 784462"/>
                    <a:gd name="connsiteY118" fmla="*/ 506516 h 613927"/>
                    <a:gd name="connsiteX119" fmla="*/ 684529 w 784462"/>
                    <a:gd name="connsiteY119" fmla="*/ 516637 h 613927"/>
                    <a:gd name="connsiteX120" fmla="*/ 685994 w 784462"/>
                    <a:gd name="connsiteY120" fmla="*/ 540711 h 613927"/>
                    <a:gd name="connsiteX121" fmla="*/ 710067 w 784462"/>
                    <a:gd name="connsiteY121" fmla="*/ 539246 h 613927"/>
                    <a:gd name="connsiteX122" fmla="*/ 710067 w 784462"/>
                    <a:gd name="connsiteY122" fmla="*/ 516637 h 613927"/>
                    <a:gd name="connsiteX123" fmla="*/ 710067 w 784462"/>
                    <a:gd name="connsiteY123" fmla="*/ 506516 h 613927"/>
                    <a:gd name="connsiteX124" fmla="*/ 739860 w 784462"/>
                    <a:gd name="connsiteY124" fmla="*/ 506516 h 613927"/>
                    <a:gd name="connsiteX125" fmla="*/ 744123 w 784462"/>
                    <a:gd name="connsiteY125" fmla="*/ 510779 h 613927"/>
                    <a:gd name="connsiteX126" fmla="*/ 744123 w 784462"/>
                    <a:gd name="connsiteY126" fmla="*/ 516646 h 613927"/>
                    <a:gd name="connsiteX127" fmla="*/ 745633 w 784462"/>
                    <a:gd name="connsiteY127" fmla="*/ 540717 h 613927"/>
                    <a:gd name="connsiteX128" fmla="*/ 769704 w 784462"/>
                    <a:gd name="connsiteY128" fmla="*/ 539206 h 613927"/>
                    <a:gd name="connsiteX129" fmla="*/ 769704 w 784462"/>
                    <a:gd name="connsiteY129" fmla="*/ 516646 h 613927"/>
                    <a:gd name="connsiteX130" fmla="*/ 769704 w 784462"/>
                    <a:gd name="connsiteY130" fmla="*/ 510779 h 613927"/>
                    <a:gd name="connsiteX131" fmla="*/ 739860 w 784462"/>
                    <a:gd name="connsiteY131" fmla="*/ 480986 h 613927"/>
                    <a:gd name="connsiteX132" fmla="*/ 710058 w 784462"/>
                    <a:gd name="connsiteY132" fmla="*/ 480986 h 613927"/>
                    <a:gd name="connsiteX133" fmla="*/ 710058 w 784462"/>
                    <a:gd name="connsiteY133" fmla="*/ 445173 h 613927"/>
                    <a:gd name="connsiteX134" fmla="*/ 599481 w 784462"/>
                    <a:gd name="connsiteY134" fmla="*/ 446580 h 613927"/>
                    <a:gd name="connsiteX135" fmla="*/ 390631 w 784462"/>
                    <a:gd name="connsiteY135" fmla="*/ 473866 h 613927"/>
                    <a:gd name="connsiteX136" fmla="*/ 180869 w 784462"/>
                    <a:gd name="connsiteY136" fmla="*/ 446316 h 613927"/>
                    <a:gd name="connsiteX137" fmla="*/ 125990 w 784462"/>
                    <a:gd name="connsiteY137" fmla="*/ 431650 h 613927"/>
                    <a:gd name="connsiteX138" fmla="*/ 108141 w 784462"/>
                    <a:gd name="connsiteY138" fmla="*/ 403859 h 613927"/>
                    <a:gd name="connsiteX139" fmla="*/ 111554 w 784462"/>
                    <a:gd name="connsiteY139" fmla="*/ 395837 h 613927"/>
                    <a:gd name="connsiteX140" fmla="*/ 272193 w 784462"/>
                    <a:gd name="connsiteY140" fmla="*/ 149545 h 613927"/>
                    <a:gd name="connsiteX141" fmla="*/ 315117 w 784462"/>
                    <a:gd name="connsiteY141" fmla="*/ 127708 h 613927"/>
                    <a:gd name="connsiteX142" fmla="*/ 466419 w 784462"/>
                    <a:gd name="connsiteY142" fmla="*/ 127708 h 613927"/>
                    <a:gd name="connsiteX143" fmla="*/ 509343 w 784462"/>
                    <a:gd name="connsiteY143" fmla="*/ 149528 h 613927"/>
                    <a:gd name="connsiteX144" fmla="*/ 670093 w 784462"/>
                    <a:gd name="connsiteY144" fmla="*/ 395802 h 613927"/>
                    <a:gd name="connsiteX145" fmla="*/ 663692 w 784462"/>
                    <a:gd name="connsiteY145" fmla="*/ 428194 h 613927"/>
                    <a:gd name="connsiteX146" fmla="*/ 655639 w 784462"/>
                    <a:gd name="connsiteY146" fmla="*/ 431616 h 61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784462" h="613927">
                      <a:moveTo>
                        <a:pt x="745496" y="435333"/>
                      </a:moveTo>
                      <a:cubicBezTo>
                        <a:pt x="755467" y="432562"/>
                        <a:pt x="762778" y="424044"/>
                        <a:pt x="764008" y="413769"/>
                      </a:cubicBezTo>
                      <a:lnTo>
                        <a:pt x="784276" y="244885"/>
                      </a:lnTo>
                      <a:cubicBezTo>
                        <a:pt x="785962" y="230886"/>
                        <a:pt x="775981" y="218171"/>
                        <a:pt x="761982" y="216486"/>
                      </a:cubicBezTo>
                      <a:cubicBezTo>
                        <a:pt x="761457" y="216423"/>
                        <a:pt x="760930" y="216376"/>
                        <a:pt x="760401" y="216345"/>
                      </a:cubicBezTo>
                      <a:lnTo>
                        <a:pt x="666554" y="210820"/>
                      </a:lnTo>
                      <a:cubicBezTo>
                        <a:pt x="653165" y="210050"/>
                        <a:pt x="641454" y="219751"/>
                        <a:pt x="639720" y="233049"/>
                      </a:cubicBezTo>
                      <a:lnTo>
                        <a:pt x="633904" y="278140"/>
                      </a:lnTo>
                      <a:lnTo>
                        <a:pt x="619571" y="256191"/>
                      </a:lnTo>
                      <a:lnTo>
                        <a:pt x="622836" y="230875"/>
                      </a:lnTo>
                      <a:cubicBezTo>
                        <a:pt x="625607" y="209647"/>
                        <a:pt x="643688" y="193766"/>
                        <a:pt x="665096" y="193757"/>
                      </a:cubicBezTo>
                      <a:cubicBezTo>
                        <a:pt x="665948" y="193757"/>
                        <a:pt x="666801" y="193757"/>
                        <a:pt x="667654" y="193834"/>
                      </a:cubicBezTo>
                      <a:lnTo>
                        <a:pt x="708191" y="196213"/>
                      </a:lnTo>
                      <a:lnTo>
                        <a:pt x="714049" y="160255"/>
                      </a:lnTo>
                      <a:cubicBezTo>
                        <a:pt x="716291" y="146306"/>
                        <a:pt x="706800" y="133181"/>
                        <a:pt x="692851" y="130939"/>
                      </a:cubicBezTo>
                      <a:cubicBezTo>
                        <a:pt x="692085" y="130817"/>
                        <a:pt x="691314" y="130728"/>
                        <a:pt x="690540" y="130675"/>
                      </a:cubicBezTo>
                      <a:lnTo>
                        <a:pt x="614233" y="125559"/>
                      </a:lnTo>
                      <a:cubicBezTo>
                        <a:pt x="601019" y="124699"/>
                        <a:pt x="589334" y="134065"/>
                        <a:pt x="587296" y="147149"/>
                      </a:cubicBezTo>
                      <a:lnTo>
                        <a:pt x="579827" y="195232"/>
                      </a:lnTo>
                      <a:lnTo>
                        <a:pt x="565894" y="173915"/>
                      </a:lnTo>
                      <a:lnTo>
                        <a:pt x="570413" y="144599"/>
                      </a:lnTo>
                      <a:cubicBezTo>
                        <a:pt x="573523" y="123796"/>
                        <a:pt x="591433" y="108431"/>
                        <a:pt x="612468" y="108522"/>
                      </a:cubicBezTo>
                      <a:cubicBezTo>
                        <a:pt x="613406" y="108522"/>
                        <a:pt x="614361" y="108522"/>
                        <a:pt x="615316" y="108624"/>
                      </a:cubicBezTo>
                      <a:lnTo>
                        <a:pt x="632148" y="109741"/>
                      </a:lnTo>
                      <a:lnTo>
                        <a:pt x="634800" y="85866"/>
                      </a:lnTo>
                      <a:cubicBezTo>
                        <a:pt x="636340" y="71822"/>
                        <a:pt x="626205" y="59189"/>
                        <a:pt x="612162" y="57648"/>
                      </a:cubicBezTo>
                      <a:cubicBezTo>
                        <a:pt x="611901" y="57619"/>
                        <a:pt x="611639" y="57594"/>
                        <a:pt x="611376" y="57574"/>
                      </a:cubicBezTo>
                      <a:lnTo>
                        <a:pt x="551807" y="52995"/>
                      </a:lnTo>
                      <a:cubicBezTo>
                        <a:pt x="538011" y="51930"/>
                        <a:pt x="525869" y="62028"/>
                        <a:pt x="524402" y="75787"/>
                      </a:cubicBezTo>
                      <a:lnTo>
                        <a:pt x="520539" y="112504"/>
                      </a:lnTo>
                      <a:cubicBezTo>
                        <a:pt x="505125" y="100272"/>
                        <a:pt x="486019" y="93630"/>
                        <a:pt x="466342" y="93660"/>
                      </a:cubicBezTo>
                      <a:lnTo>
                        <a:pt x="458898" y="93660"/>
                      </a:lnTo>
                      <a:lnTo>
                        <a:pt x="458898" y="33971"/>
                      </a:lnTo>
                      <a:cubicBezTo>
                        <a:pt x="458891" y="27797"/>
                        <a:pt x="456438" y="21877"/>
                        <a:pt x="452076" y="17506"/>
                      </a:cubicBezTo>
                      <a:cubicBezTo>
                        <a:pt x="448944" y="14878"/>
                        <a:pt x="445445" y="12720"/>
                        <a:pt x="441691" y="11102"/>
                      </a:cubicBezTo>
                      <a:cubicBezTo>
                        <a:pt x="410264" y="-3551"/>
                        <a:pt x="373997" y="-3706"/>
                        <a:pt x="342446" y="10676"/>
                      </a:cubicBezTo>
                      <a:cubicBezTo>
                        <a:pt x="338067" y="12421"/>
                        <a:pt x="333927" y="14713"/>
                        <a:pt x="330124" y="17497"/>
                      </a:cubicBezTo>
                      <a:cubicBezTo>
                        <a:pt x="325763" y="21868"/>
                        <a:pt x="323310" y="27788"/>
                        <a:pt x="323303" y="33963"/>
                      </a:cubicBezTo>
                      <a:lnTo>
                        <a:pt x="323303" y="93651"/>
                      </a:lnTo>
                      <a:lnTo>
                        <a:pt x="315100" y="93651"/>
                      </a:lnTo>
                      <a:cubicBezTo>
                        <a:pt x="296624" y="93630"/>
                        <a:pt x="278618" y="99479"/>
                        <a:pt x="263683" y="110355"/>
                      </a:cubicBezTo>
                      <a:lnTo>
                        <a:pt x="260067" y="75787"/>
                      </a:lnTo>
                      <a:cubicBezTo>
                        <a:pt x="258601" y="62050"/>
                        <a:pt x="246490" y="51959"/>
                        <a:pt x="232713" y="52995"/>
                      </a:cubicBezTo>
                      <a:lnTo>
                        <a:pt x="173144" y="57574"/>
                      </a:lnTo>
                      <a:cubicBezTo>
                        <a:pt x="159059" y="58681"/>
                        <a:pt x="148539" y="70996"/>
                        <a:pt x="149646" y="85081"/>
                      </a:cubicBezTo>
                      <a:cubicBezTo>
                        <a:pt x="149667" y="85343"/>
                        <a:pt x="149691" y="85604"/>
                        <a:pt x="149720" y="85866"/>
                      </a:cubicBezTo>
                      <a:lnTo>
                        <a:pt x="152372" y="109741"/>
                      </a:lnTo>
                      <a:lnTo>
                        <a:pt x="169204" y="108624"/>
                      </a:lnTo>
                      <a:cubicBezTo>
                        <a:pt x="170159" y="108556"/>
                        <a:pt x="171114" y="108522"/>
                        <a:pt x="172052" y="108522"/>
                      </a:cubicBezTo>
                      <a:cubicBezTo>
                        <a:pt x="193086" y="108427"/>
                        <a:pt x="210997" y="123796"/>
                        <a:pt x="214099" y="144599"/>
                      </a:cubicBezTo>
                      <a:lnTo>
                        <a:pt x="218064" y="170231"/>
                      </a:lnTo>
                      <a:lnTo>
                        <a:pt x="204131" y="191549"/>
                      </a:lnTo>
                      <a:lnTo>
                        <a:pt x="197309" y="147158"/>
                      </a:lnTo>
                      <a:cubicBezTo>
                        <a:pt x="195271" y="134074"/>
                        <a:pt x="183586" y="124708"/>
                        <a:pt x="170373" y="125567"/>
                      </a:cubicBezTo>
                      <a:lnTo>
                        <a:pt x="94065" y="130684"/>
                      </a:lnTo>
                      <a:cubicBezTo>
                        <a:pt x="79970" y="131649"/>
                        <a:pt x="69327" y="143858"/>
                        <a:pt x="70292" y="157953"/>
                      </a:cubicBezTo>
                      <a:cubicBezTo>
                        <a:pt x="70345" y="158726"/>
                        <a:pt x="70434" y="159498"/>
                        <a:pt x="70557" y="160263"/>
                      </a:cubicBezTo>
                      <a:lnTo>
                        <a:pt x="76415" y="196221"/>
                      </a:lnTo>
                      <a:lnTo>
                        <a:pt x="116951" y="193842"/>
                      </a:lnTo>
                      <a:cubicBezTo>
                        <a:pt x="117804" y="193791"/>
                        <a:pt x="118657" y="193766"/>
                        <a:pt x="119510" y="193766"/>
                      </a:cubicBezTo>
                      <a:cubicBezTo>
                        <a:pt x="140891" y="193808"/>
                        <a:pt x="158934" y="209682"/>
                        <a:pt x="161701" y="230883"/>
                      </a:cubicBezTo>
                      <a:lnTo>
                        <a:pt x="164481" y="252465"/>
                      </a:lnTo>
                      <a:lnTo>
                        <a:pt x="150070" y="274422"/>
                      </a:lnTo>
                      <a:lnTo>
                        <a:pt x="144732" y="233049"/>
                      </a:lnTo>
                      <a:cubicBezTo>
                        <a:pt x="142998" y="219751"/>
                        <a:pt x="131287" y="210050"/>
                        <a:pt x="117898" y="210820"/>
                      </a:cubicBezTo>
                      <a:lnTo>
                        <a:pt x="24059" y="216345"/>
                      </a:lnTo>
                      <a:cubicBezTo>
                        <a:pt x="9983" y="217158"/>
                        <a:pt x="-769" y="229227"/>
                        <a:pt x="43" y="243303"/>
                      </a:cubicBezTo>
                      <a:cubicBezTo>
                        <a:pt x="74" y="243831"/>
                        <a:pt x="121" y="244359"/>
                        <a:pt x="184" y="244885"/>
                      </a:cubicBezTo>
                      <a:lnTo>
                        <a:pt x="20461" y="413769"/>
                      </a:lnTo>
                      <a:cubicBezTo>
                        <a:pt x="21691" y="424047"/>
                        <a:pt x="29007" y="432565"/>
                        <a:pt x="38981" y="435333"/>
                      </a:cubicBezTo>
                      <a:lnTo>
                        <a:pt x="74419" y="445182"/>
                      </a:lnTo>
                      <a:lnTo>
                        <a:pt x="74419" y="480995"/>
                      </a:lnTo>
                      <a:lnTo>
                        <a:pt x="44643" y="480995"/>
                      </a:lnTo>
                      <a:cubicBezTo>
                        <a:pt x="28204" y="481023"/>
                        <a:pt x="14883" y="494340"/>
                        <a:pt x="14850" y="510779"/>
                      </a:cubicBezTo>
                      <a:lnTo>
                        <a:pt x="14850" y="516646"/>
                      </a:lnTo>
                      <a:cubicBezTo>
                        <a:pt x="8620" y="523710"/>
                        <a:pt x="9297" y="534487"/>
                        <a:pt x="16360" y="540717"/>
                      </a:cubicBezTo>
                      <a:cubicBezTo>
                        <a:pt x="23424" y="546946"/>
                        <a:pt x="34201" y="546270"/>
                        <a:pt x="40431" y="539206"/>
                      </a:cubicBezTo>
                      <a:cubicBezTo>
                        <a:pt x="46116" y="532760"/>
                        <a:pt x="46116" y="523091"/>
                        <a:pt x="40431" y="516646"/>
                      </a:cubicBezTo>
                      <a:lnTo>
                        <a:pt x="40431" y="510779"/>
                      </a:lnTo>
                      <a:cubicBezTo>
                        <a:pt x="40431" y="508425"/>
                        <a:pt x="42340" y="506516"/>
                        <a:pt x="44694" y="506516"/>
                      </a:cubicBezTo>
                      <a:lnTo>
                        <a:pt x="74436" y="506516"/>
                      </a:lnTo>
                      <a:lnTo>
                        <a:pt x="74436" y="516637"/>
                      </a:lnTo>
                      <a:cubicBezTo>
                        <a:pt x="68193" y="523689"/>
                        <a:pt x="68849" y="534467"/>
                        <a:pt x="75901" y="540711"/>
                      </a:cubicBezTo>
                      <a:cubicBezTo>
                        <a:pt x="82953" y="546954"/>
                        <a:pt x="93731" y="546298"/>
                        <a:pt x="99974" y="539246"/>
                      </a:cubicBezTo>
                      <a:cubicBezTo>
                        <a:pt x="105687" y="532792"/>
                        <a:pt x="105687" y="523091"/>
                        <a:pt x="99974" y="516637"/>
                      </a:cubicBezTo>
                      <a:lnTo>
                        <a:pt x="99974" y="506516"/>
                      </a:lnTo>
                      <a:lnTo>
                        <a:pt x="129767" y="506516"/>
                      </a:lnTo>
                      <a:cubicBezTo>
                        <a:pt x="132122" y="506516"/>
                        <a:pt x="134031" y="508425"/>
                        <a:pt x="134031" y="510779"/>
                      </a:cubicBezTo>
                      <a:lnTo>
                        <a:pt x="134031" y="516646"/>
                      </a:lnTo>
                      <a:cubicBezTo>
                        <a:pt x="127801" y="523710"/>
                        <a:pt x="128477" y="534487"/>
                        <a:pt x="135541" y="540717"/>
                      </a:cubicBezTo>
                      <a:cubicBezTo>
                        <a:pt x="142606" y="546946"/>
                        <a:pt x="153382" y="546270"/>
                        <a:pt x="159612" y="539206"/>
                      </a:cubicBezTo>
                      <a:cubicBezTo>
                        <a:pt x="165297" y="532760"/>
                        <a:pt x="165297" y="523091"/>
                        <a:pt x="159612" y="516646"/>
                      </a:cubicBezTo>
                      <a:lnTo>
                        <a:pt x="159612" y="510779"/>
                      </a:lnTo>
                      <a:cubicBezTo>
                        <a:pt x="159583" y="494337"/>
                        <a:pt x="146261" y="481015"/>
                        <a:pt x="129819" y="480986"/>
                      </a:cubicBezTo>
                      <a:lnTo>
                        <a:pt x="99974" y="480986"/>
                      </a:lnTo>
                      <a:lnTo>
                        <a:pt x="99974" y="456830"/>
                      </a:lnTo>
                      <a:cubicBezTo>
                        <a:pt x="105266" y="460293"/>
                        <a:pt x="111070" y="462902"/>
                        <a:pt x="117173" y="464564"/>
                      </a:cubicBezTo>
                      <a:lnTo>
                        <a:pt x="172052" y="479230"/>
                      </a:lnTo>
                      <a:cubicBezTo>
                        <a:pt x="199287" y="486501"/>
                        <a:pt x="226812" y="492393"/>
                        <a:pt x="254627" y="496906"/>
                      </a:cubicBezTo>
                      <a:lnTo>
                        <a:pt x="254627" y="576104"/>
                      </a:lnTo>
                      <a:cubicBezTo>
                        <a:pt x="254665" y="587801"/>
                        <a:pt x="262630" y="597982"/>
                        <a:pt x="273975" y="600832"/>
                      </a:cubicBezTo>
                      <a:lnTo>
                        <a:pt x="286808" y="604038"/>
                      </a:lnTo>
                      <a:cubicBezTo>
                        <a:pt x="355399" y="617749"/>
                        <a:pt x="426078" y="617197"/>
                        <a:pt x="494447" y="602418"/>
                      </a:cubicBezTo>
                      <a:lnTo>
                        <a:pt x="499563" y="601054"/>
                      </a:lnTo>
                      <a:cubicBezTo>
                        <a:pt x="510715" y="598068"/>
                        <a:pt x="518485" y="587981"/>
                        <a:pt x="518527" y="576437"/>
                      </a:cubicBezTo>
                      <a:lnTo>
                        <a:pt x="518527" y="498117"/>
                      </a:lnTo>
                      <a:cubicBezTo>
                        <a:pt x="548744" y="493526"/>
                        <a:pt x="578692" y="487307"/>
                        <a:pt x="608238" y="479486"/>
                      </a:cubicBezTo>
                      <a:lnTo>
                        <a:pt x="664388" y="464546"/>
                      </a:lnTo>
                      <a:cubicBezTo>
                        <a:pt x="671646" y="462607"/>
                        <a:pt x="678475" y="459321"/>
                        <a:pt x="684520" y="454860"/>
                      </a:cubicBezTo>
                      <a:lnTo>
                        <a:pt x="684520" y="480986"/>
                      </a:lnTo>
                      <a:lnTo>
                        <a:pt x="654727" y="480986"/>
                      </a:lnTo>
                      <a:cubicBezTo>
                        <a:pt x="638285" y="481015"/>
                        <a:pt x="624962" y="494337"/>
                        <a:pt x="624934" y="510779"/>
                      </a:cubicBezTo>
                      <a:lnTo>
                        <a:pt x="624934" y="516646"/>
                      </a:lnTo>
                      <a:cubicBezTo>
                        <a:pt x="618691" y="523698"/>
                        <a:pt x="619347" y="534476"/>
                        <a:pt x="626399" y="540719"/>
                      </a:cubicBezTo>
                      <a:cubicBezTo>
                        <a:pt x="633451" y="546963"/>
                        <a:pt x="644229" y="546307"/>
                        <a:pt x="650472" y="539254"/>
                      </a:cubicBezTo>
                      <a:cubicBezTo>
                        <a:pt x="656185" y="532801"/>
                        <a:pt x="656185" y="523099"/>
                        <a:pt x="650472" y="516646"/>
                      </a:cubicBezTo>
                      <a:lnTo>
                        <a:pt x="650472" y="510779"/>
                      </a:lnTo>
                      <a:cubicBezTo>
                        <a:pt x="650472" y="508425"/>
                        <a:pt x="652381" y="506516"/>
                        <a:pt x="654736" y="506516"/>
                      </a:cubicBezTo>
                      <a:lnTo>
                        <a:pt x="684529" y="506516"/>
                      </a:lnTo>
                      <a:lnTo>
                        <a:pt x="684529" y="516637"/>
                      </a:lnTo>
                      <a:cubicBezTo>
                        <a:pt x="678285" y="523689"/>
                        <a:pt x="678941" y="534467"/>
                        <a:pt x="685994" y="540711"/>
                      </a:cubicBezTo>
                      <a:cubicBezTo>
                        <a:pt x="693045" y="546954"/>
                        <a:pt x="703823" y="546298"/>
                        <a:pt x="710067" y="539246"/>
                      </a:cubicBezTo>
                      <a:cubicBezTo>
                        <a:pt x="715780" y="532792"/>
                        <a:pt x="715780" y="523091"/>
                        <a:pt x="710067" y="516637"/>
                      </a:cubicBezTo>
                      <a:lnTo>
                        <a:pt x="710067" y="506516"/>
                      </a:lnTo>
                      <a:lnTo>
                        <a:pt x="739860" y="506516"/>
                      </a:lnTo>
                      <a:cubicBezTo>
                        <a:pt x="742214" y="506516"/>
                        <a:pt x="744123" y="508425"/>
                        <a:pt x="744123" y="510779"/>
                      </a:cubicBezTo>
                      <a:lnTo>
                        <a:pt x="744123" y="516646"/>
                      </a:lnTo>
                      <a:cubicBezTo>
                        <a:pt x="737893" y="523710"/>
                        <a:pt x="738570" y="534487"/>
                        <a:pt x="745633" y="540717"/>
                      </a:cubicBezTo>
                      <a:cubicBezTo>
                        <a:pt x="752698" y="546946"/>
                        <a:pt x="763474" y="546270"/>
                        <a:pt x="769704" y="539206"/>
                      </a:cubicBezTo>
                      <a:cubicBezTo>
                        <a:pt x="775389" y="532760"/>
                        <a:pt x="775389" y="523091"/>
                        <a:pt x="769704" y="516646"/>
                      </a:cubicBezTo>
                      <a:lnTo>
                        <a:pt x="769704" y="510779"/>
                      </a:lnTo>
                      <a:cubicBezTo>
                        <a:pt x="769676" y="494316"/>
                        <a:pt x="756323" y="480986"/>
                        <a:pt x="739860" y="480986"/>
                      </a:cubicBezTo>
                      <a:lnTo>
                        <a:pt x="710058" y="480986"/>
                      </a:lnTo>
                      <a:lnTo>
                        <a:pt x="710058" y="445173"/>
                      </a:lnTo>
                      <a:close/>
                      <a:moveTo>
                        <a:pt x="599481" y="446580"/>
                      </a:moveTo>
                      <a:cubicBezTo>
                        <a:pt x="531343" y="464701"/>
                        <a:pt x="461137" y="473873"/>
                        <a:pt x="390631" y="473866"/>
                      </a:cubicBezTo>
                      <a:cubicBezTo>
                        <a:pt x="319809" y="473860"/>
                        <a:pt x="249291" y="464598"/>
                        <a:pt x="180869" y="446316"/>
                      </a:cubicBezTo>
                      <a:lnTo>
                        <a:pt x="125990" y="431650"/>
                      </a:lnTo>
                      <a:cubicBezTo>
                        <a:pt x="113387" y="428904"/>
                        <a:pt x="105396" y="416461"/>
                        <a:pt x="108141" y="403859"/>
                      </a:cubicBezTo>
                      <a:cubicBezTo>
                        <a:pt x="108766" y="400994"/>
                        <a:pt x="109923" y="398273"/>
                        <a:pt x="111554" y="395837"/>
                      </a:cubicBezTo>
                      <a:lnTo>
                        <a:pt x="272193" y="149545"/>
                      </a:lnTo>
                      <a:cubicBezTo>
                        <a:pt x="282073" y="135690"/>
                        <a:pt x="298100" y="127535"/>
                        <a:pt x="315117" y="127708"/>
                      </a:cubicBezTo>
                      <a:lnTo>
                        <a:pt x="466419" y="127708"/>
                      </a:lnTo>
                      <a:cubicBezTo>
                        <a:pt x="483432" y="127536"/>
                        <a:pt x="499456" y="135682"/>
                        <a:pt x="509343" y="149528"/>
                      </a:cubicBezTo>
                      <a:lnTo>
                        <a:pt x="670093" y="395802"/>
                      </a:lnTo>
                      <a:cubicBezTo>
                        <a:pt x="677270" y="406514"/>
                        <a:pt x="674405" y="421017"/>
                        <a:pt x="663692" y="428194"/>
                      </a:cubicBezTo>
                      <a:cubicBezTo>
                        <a:pt x="661248" y="429832"/>
                        <a:pt x="658516" y="430992"/>
                        <a:pt x="655639" y="431616"/>
                      </a:cubicBezTo>
                      <a:close/>
                    </a:path>
                  </a:pathLst>
                </a:custGeom>
                <a:solidFill>
                  <a:srgbClr val="000000"/>
                </a:solidFill>
                <a:ln w="8434" cap="flat">
                  <a:solidFill>
                    <a:srgbClr val="000000"/>
                  </a:solidFill>
                  <a:prstDash val="solid"/>
                  <a:miter/>
                </a:ln>
              </p:spPr>
              <p:txBody>
                <a:bodyPr rtlCol="0" anchor="ctr"/>
                <a:lstStyle/>
                <a:p>
                  <a:endParaRPr lang="en-US" sz="1400" b="1">
                    <a:latin typeface="Calibri" panose="020F0502020204030204" pitchFamily="34" charset="0"/>
                    <a:cs typeface="Calibri" panose="020F0502020204030204" pitchFamily="34" charset="0"/>
                  </a:endParaRPr>
                </a:p>
              </p:txBody>
            </p:sp>
          </p:grpSp>
        </p:grpSp>
        <p:sp>
          <p:nvSpPr>
            <p:cNvPr id="44" name="Down Arrow Callout 60">
              <a:extLst>
                <a:ext uri="{FF2B5EF4-FFF2-40B4-BE49-F238E27FC236}">
                  <a16:creationId xmlns:a16="http://schemas.microsoft.com/office/drawing/2014/main" id="{D8B4FAAF-6D92-DC29-9F3A-9E0164DFC291}"/>
                </a:ext>
              </a:extLst>
            </p:cNvPr>
            <p:cNvSpPr/>
            <p:nvPr/>
          </p:nvSpPr>
          <p:spPr bwMode="auto">
            <a:xfrm>
              <a:off x="3854196" y="2474885"/>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Financial Analysis</a:t>
              </a:r>
            </a:p>
          </p:txBody>
        </p:sp>
        <p:grpSp>
          <p:nvGrpSpPr>
            <p:cNvPr id="73" name="Group 72">
              <a:extLst>
                <a:ext uri="{FF2B5EF4-FFF2-40B4-BE49-F238E27FC236}">
                  <a16:creationId xmlns:a16="http://schemas.microsoft.com/office/drawing/2014/main" id="{0D18500C-562B-706A-18EC-941CE23E8835}"/>
                </a:ext>
              </a:extLst>
            </p:cNvPr>
            <p:cNvGrpSpPr/>
            <p:nvPr/>
          </p:nvGrpSpPr>
          <p:grpSpPr>
            <a:xfrm>
              <a:off x="3848853" y="695161"/>
              <a:ext cx="1435608" cy="1645920"/>
              <a:chOff x="4614673" y="998939"/>
              <a:chExt cx="1261872" cy="1497294"/>
            </a:xfrm>
          </p:grpSpPr>
          <p:sp>
            <p:nvSpPr>
              <p:cNvPr id="42" name="Rectangle 41">
                <a:extLst>
                  <a:ext uri="{FF2B5EF4-FFF2-40B4-BE49-F238E27FC236}">
                    <a16:creationId xmlns:a16="http://schemas.microsoft.com/office/drawing/2014/main" id="{524D0064-F1A8-BB83-3EC3-960E96CBEBCF}"/>
                  </a:ext>
                </a:extLst>
              </p:cNvPr>
              <p:cNvSpPr/>
              <p:nvPr/>
            </p:nvSpPr>
            <p:spPr bwMode="auto">
              <a:xfrm>
                <a:off x="4614673"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grpSp>
            <p:nvGrpSpPr>
              <p:cNvPr id="64" name="Group 63">
                <a:extLst>
                  <a:ext uri="{FF2B5EF4-FFF2-40B4-BE49-F238E27FC236}">
                    <a16:creationId xmlns:a16="http://schemas.microsoft.com/office/drawing/2014/main" id="{DAB81A6E-D3C7-7085-16BF-D63C6AE3A4D9}"/>
                  </a:ext>
                </a:extLst>
              </p:cNvPr>
              <p:cNvGrpSpPr/>
              <p:nvPr/>
            </p:nvGrpSpPr>
            <p:grpSpPr>
              <a:xfrm>
                <a:off x="4674035" y="1176086"/>
                <a:ext cx="1143149" cy="1143000"/>
                <a:chOff x="4674035" y="1142389"/>
                <a:chExt cx="1143149" cy="1143000"/>
              </a:xfrm>
            </p:grpSpPr>
            <p:sp>
              <p:nvSpPr>
                <p:cNvPr id="43" name="Oval 42">
                  <a:extLst>
                    <a:ext uri="{FF2B5EF4-FFF2-40B4-BE49-F238E27FC236}">
                      <a16:creationId xmlns:a16="http://schemas.microsoft.com/office/drawing/2014/main" id="{4BB22598-6A68-9CB7-12E1-97D1CDA95EBD}"/>
                    </a:ext>
                  </a:extLst>
                </p:cNvPr>
                <p:cNvSpPr/>
                <p:nvPr/>
              </p:nvSpPr>
              <p:spPr bwMode="auto">
                <a:xfrm>
                  <a:off x="4674035" y="1142389"/>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pic>
              <p:nvPicPr>
                <p:cNvPr id="45" name="Picture 18" descr="Related image">
                  <a:extLst>
                    <a:ext uri="{FF2B5EF4-FFF2-40B4-BE49-F238E27FC236}">
                      <a16:creationId xmlns:a16="http://schemas.microsoft.com/office/drawing/2014/main" id="{C63EE5BB-B745-88AA-91D8-1020F85A7B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93" y="1353410"/>
                  <a:ext cx="713232" cy="720959"/>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sp>
          <p:nvSpPr>
            <p:cNvPr id="49" name="Down Arrow Callout 69">
              <a:extLst>
                <a:ext uri="{FF2B5EF4-FFF2-40B4-BE49-F238E27FC236}">
                  <a16:creationId xmlns:a16="http://schemas.microsoft.com/office/drawing/2014/main" id="{48E0EEE1-4144-A08B-B7EB-3DFB7D943B3D}"/>
                </a:ext>
              </a:extLst>
            </p:cNvPr>
            <p:cNvSpPr/>
            <p:nvPr/>
          </p:nvSpPr>
          <p:spPr bwMode="auto">
            <a:xfrm>
              <a:off x="5433880"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Valuation</a:t>
              </a:r>
            </a:p>
          </p:txBody>
        </p:sp>
        <p:grpSp>
          <p:nvGrpSpPr>
            <p:cNvPr id="69" name="Group 68">
              <a:extLst>
                <a:ext uri="{FF2B5EF4-FFF2-40B4-BE49-F238E27FC236}">
                  <a16:creationId xmlns:a16="http://schemas.microsoft.com/office/drawing/2014/main" id="{4396D4D6-8C5D-DC13-8F6E-69DDC4C08D80}"/>
                </a:ext>
              </a:extLst>
            </p:cNvPr>
            <p:cNvGrpSpPr/>
            <p:nvPr/>
          </p:nvGrpSpPr>
          <p:grpSpPr>
            <a:xfrm>
              <a:off x="5433880" y="695162"/>
              <a:ext cx="1435608" cy="1645920"/>
              <a:chOff x="6031705" y="998939"/>
              <a:chExt cx="1261872" cy="1497294"/>
            </a:xfrm>
          </p:grpSpPr>
          <p:sp>
            <p:nvSpPr>
              <p:cNvPr id="47" name="Rectangle 46">
                <a:extLst>
                  <a:ext uri="{FF2B5EF4-FFF2-40B4-BE49-F238E27FC236}">
                    <a16:creationId xmlns:a16="http://schemas.microsoft.com/office/drawing/2014/main" id="{629248BE-D80A-3B10-A378-BA94AF4307D2}"/>
                  </a:ext>
                </a:extLst>
              </p:cNvPr>
              <p:cNvSpPr/>
              <p:nvPr/>
            </p:nvSpPr>
            <p:spPr bwMode="auto">
              <a:xfrm>
                <a:off x="6031705"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grpSp>
            <p:nvGrpSpPr>
              <p:cNvPr id="65" name="Group 64">
                <a:extLst>
                  <a:ext uri="{FF2B5EF4-FFF2-40B4-BE49-F238E27FC236}">
                    <a16:creationId xmlns:a16="http://schemas.microsoft.com/office/drawing/2014/main" id="{6FF901A3-B255-5C25-2EF6-D189FF00F5C9}"/>
                  </a:ext>
                </a:extLst>
              </p:cNvPr>
              <p:cNvGrpSpPr/>
              <p:nvPr/>
            </p:nvGrpSpPr>
            <p:grpSpPr>
              <a:xfrm>
                <a:off x="6091067" y="1176086"/>
                <a:ext cx="1143149" cy="1143000"/>
                <a:chOff x="6091067" y="1176086"/>
                <a:chExt cx="1143149" cy="1143000"/>
              </a:xfrm>
            </p:grpSpPr>
            <p:sp>
              <p:nvSpPr>
                <p:cNvPr id="48" name="Oval 47">
                  <a:extLst>
                    <a:ext uri="{FF2B5EF4-FFF2-40B4-BE49-F238E27FC236}">
                      <a16:creationId xmlns:a16="http://schemas.microsoft.com/office/drawing/2014/main" id="{A99D1A02-4F28-E454-FDB9-DC405A1EFD90}"/>
                    </a:ext>
                  </a:extLst>
                </p:cNvPr>
                <p:cNvSpPr/>
                <p:nvPr/>
              </p:nvSpPr>
              <p:spPr bwMode="auto">
                <a:xfrm>
                  <a:off x="6091067" y="1176086"/>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sp>
              <p:nvSpPr>
                <p:cNvPr id="52" name="Graphic 11" descr="Dollar with solid fill">
                  <a:extLst>
                    <a:ext uri="{FF2B5EF4-FFF2-40B4-BE49-F238E27FC236}">
                      <a16:creationId xmlns:a16="http://schemas.microsoft.com/office/drawing/2014/main" id="{3AD9FF26-0D04-3B98-7FEA-86B794BE010B}"/>
                    </a:ext>
                  </a:extLst>
                </p:cNvPr>
                <p:cNvSpPr/>
                <p:nvPr/>
              </p:nvSpPr>
              <p:spPr>
                <a:xfrm>
                  <a:off x="6497831" y="1441262"/>
                  <a:ext cx="329621" cy="612648"/>
                </a:xfrm>
                <a:custGeom>
                  <a:avLst/>
                  <a:gdLst>
                    <a:gd name="connsiteX0" fmla="*/ 284667 w 329621"/>
                    <a:gd name="connsiteY0" fmla="*/ 371951 h 710840"/>
                    <a:gd name="connsiteX1" fmla="*/ 186058 w 329621"/>
                    <a:gd name="connsiteY1" fmla="*/ 326243 h 710840"/>
                    <a:gd name="connsiteX2" fmla="*/ 186058 w 329621"/>
                    <a:gd name="connsiteY2" fmla="*/ 126381 h 710840"/>
                    <a:gd name="connsiteX3" fmla="*/ 274169 w 329621"/>
                    <a:gd name="connsiteY3" fmla="*/ 168287 h 710840"/>
                    <a:gd name="connsiteX4" fmla="*/ 313844 w 329621"/>
                    <a:gd name="connsiteY4" fmla="*/ 130266 h 710840"/>
                    <a:gd name="connsiteX5" fmla="*/ 186058 w 329621"/>
                    <a:gd name="connsiteY5" fmla="*/ 71828 h 710840"/>
                    <a:gd name="connsiteX6" fmla="*/ 186058 w 329621"/>
                    <a:gd name="connsiteY6" fmla="*/ 0 h 710840"/>
                    <a:gd name="connsiteX7" fmla="*/ 136465 w 329621"/>
                    <a:gd name="connsiteY7" fmla="*/ 0 h 710840"/>
                    <a:gd name="connsiteX8" fmla="*/ 136465 w 329621"/>
                    <a:gd name="connsiteY8" fmla="*/ 74969 h 710840"/>
                    <a:gd name="connsiteX9" fmla="*/ 87863 w 329621"/>
                    <a:gd name="connsiteY9" fmla="*/ 92327 h 710840"/>
                    <a:gd name="connsiteX10" fmla="*/ 18928 w 329621"/>
                    <a:gd name="connsiteY10" fmla="*/ 274169 h 710840"/>
                    <a:gd name="connsiteX11" fmla="*/ 136465 w 329621"/>
                    <a:gd name="connsiteY11" fmla="*/ 366909 h 710840"/>
                    <a:gd name="connsiteX12" fmla="*/ 136465 w 329621"/>
                    <a:gd name="connsiteY12" fmla="*/ 583302 h 710840"/>
                    <a:gd name="connsiteX13" fmla="*/ 39675 w 329621"/>
                    <a:gd name="connsiteY13" fmla="*/ 528997 h 710840"/>
                    <a:gd name="connsiteX14" fmla="*/ 0 w 329621"/>
                    <a:gd name="connsiteY14" fmla="*/ 566936 h 710840"/>
                    <a:gd name="connsiteX15" fmla="*/ 66538 w 329621"/>
                    <a:gd name="connsiteY15" fmla="*/ 619919 h 710840"/>
                    <a:gd name="connsiteX16" fmla="*/ 136465 w 329621"/>
                    <a:gd name="connsiteY16" fmla="*/ 638351 h 710840"/>
                    <a:gd name="connsiteX17" fmla="*/ 136465 w 329621"/>
                    <a:gd name="connsiteY17" fmla="*/ 710840 h 710840"/>
                    <a:gd name="connsiteX18" fmla="*/ 186058 w 329621"/>
                    <a:gd name="connsiteY18" fmla="*/ 710840 h 710840"/>
                    <a:gd name="connsiteX19" fmla="*/ 186058 w 329621"/>
                    <a:gd name="connsiteY19" fmla="*/ 636450 h 710840"/>
                    <a:gd name="connsiteX20" fmla="*/ 317646 w 329621"/>
                    <a:gd name="connsiteY20" fmla="*/ 537263 h 710840"/>
                    <a:gd name="connsiteX21" fmla="*/ 284667 w 329621"/>
                    <a:gd name="connsiteY21" fmla="*/ 371951 h 710840"/>
                    <a:gd name="connsiteX22" fmla="*/ 95137 w 329621"/>
                    <a:gd name="connsiteY22" fmla="*/ 287064 h 710840"/>
                    <a:gd name="connsiteX23" fmla="*/ 108940 w 329621"/>
                    <a:gd name="connsiteY23" fmla="*/ 143738 h 710840"/>
                    <a:gd name="connsiteX24" fmla="*/ 136465 w 329621"/>
                    <a:gd name="connsiteY24" fmla="*/ 131092 h 710840"/>
                    <a:gd name="connsiteX25" fmla="*/ 136465 w 329621"/>
                    <a:gd name="connsiteY25" fmla="*/ 310373 h 710840"/>
                    <a:gd name="connsiteX26" fmla="*/ 95137 w 329621"/>
                    <a:gd name="connsiteY26" fmla="*/ 287064 h 710840"/>
                    <a:gd name="connsiteX27" fmla="*/ 244661 w 329621"/>
                    <a:gd name="connsiteY27" fmla="*/ 550075 h 710840"/>
                    <a:gd name="connsiteX28" fmla="*/ 186058 w 329621"/>
                    <a:gd name="connsiteY28" fmla="*/ 581071 h 710840"/>
                    <a:gd name="connsiteX29" fmla="*/ 186058 w 329621"/>
                    <a:gd name="connsiteY29" fmla="*/ 383606 h 710840"/>
                    <a:gd name="connsiteX30" fmla="*/ 270533 w 329621"/>
                    <a:gd name="connsiteY30" fmla="*/ 444523 h 710840"/>
                    <a:gd name="connsiteX31" fmla="*/ 244661 w 329621"/>
                    <a:gd name="connsiteY31" fmla="*/ 550075 h 71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9621" h="710840">
                      <a:moveTo>
                        <a:pt x="284667" y="371951"/>
                      </a:moveTo>
                      <a:cubicBezTo>
                        <a:pt x="256729" y="348146"/>
                        <a:pt x="220443" y="336988"/>
                        <a:pt x="186058" y="326243"/>
                      </a:cubicBezTo>
                      <a:lnTo>
                        <a:pt x="186058" y="126381"/>
                      </a:lnTo>
                      <a:cubicBezTo>
                        <a:pt x="219443" y="129553"/>
                        <a:pt x="250641" y="144391"/>
                        <a:pt x="274169" y="168287"/>
                      </a:cubicBezTo>
                      <a:lnTo>
                        <a:pt x="313844" y="130266"/>
                      </a:lnTo>
                      <a:cubicBezTo>
                        <a:pt x="279891" y="95726"/>
                        <a:pt x="234393" y="74919"/>
                        <a:pt x="186058" y="71828"/>
                      </a:cubicBezTo>
                      <a:lnTo>
                        <a:pt x="186058" y="0"/>
                      </a:lnTo>
                      <a:lnTo>
                        <a:pt x="136465" y="0"/>
                      </a:lnTo>
                      <a:lnTo>
                        <a:pt x="136465" y="74969"/>
                      </a:lnTo>
                      <a:cubicBezTo>
                        <a:pt x="119482" y="78274"/>
                        <a:pt x="103097" y="84126"/>
                        <a:pt x="87863" y="92327"/>
                      </a:cubicBezTo>
                      <a:cubicBezTo>
                        <a:pt x="25210" y="126463"/>
                        <a:pt x="-6778" y="206640"/>
                        <a:pt x="18928" y="274169"/>
                      </a:cubicBezTo>
                      <a:cubicBezTo>
                        <a:pt x="38848" y="326243"/>
                        <a:pt x="86871" y="349469"/>
                        <a:pt x="136465" y="366909"/>
                      </a:cubicBezTo>
                      <a:lnTo>
                        <a:pt x="136465" y="583302"/>
                      </a:lnTo>
                      <a:cubicBezTo>
                        <a:pt x="98030" y="578591"/>
                        <a:pt x="66125" y="556522"/>
                        <a:pt x="39675" y="528997"/>
                      </a:cubicBezTo>
                      <a:lnTo>
                        <a:pt x="0" y="566936"/>
                      </a:lnTo>
                      <a:cubicBezTo>
                        <a:pt x="18891" y="588372"/>
                        <a:pt x="41416" y="606309"/>
                        <a:pt x="66538" y="619919"/>
                      </a:cubicBezTo>
                      <a:cubicBezTo>
                        <a:pt x="88495" y="630364"/>
                        <a:pt x="112211" y="636615"/>
                        <a:pt x="136465" y="638351"/>
                      </a:cubicBezTo>
                      <a:lnTo>
                        <a:pt x="136465" y="710840"/>
                      </a:lnTo>
                      <a:lnTo>
                        <a:pt x="186058" y="710840"/>
                      </a:lnTo>
                      <a:lnTo>
                        <a:pt x="186058" y="636450"/>
                      </a:lnTo>
                      <a:cubicBezTo>
                        <a:pt x="242926" y="626945"/>
                        <a:pt x="295164" y="591981"/>
                        <a:pt x="317646" y="537263"/>
                      </a:cubicBezTo>
                      <a:cubicBezTo>
                        <a:pt x="340129" y="482545"/>
                        <a:pt x="331946" y="412370"/>
                        <a:pt x="284667" y="371951"/>
                      </a:cubicBezTo>
                      <a:close/>
                      <a:moveTo>
                        <a:pt x="95137" y="287064"/>
                      </a:moveTo>
                      <a:cubicBezTo>
                        <a:pt x="49676" y="248711"/>
                        <a:pt x="60752" y="174486"/>
                        <a:pt x="108940" y="143738"/>
                      </a:cubicBezTo>
                      <a:cubicBezTo>
                        <a:pt x="117481" y="138261"/>
                        <a:pt x="126745" y="134004"/>
                        <a:pt x="136465" y="131092"/>
                      </a:cubicBezTo>
                      <a:lnTo>
                        <a:pt x="136465" y="310373"/>
                      </a:lnTo>
                      <a:cubicBezTo>
                        <a:pt x="121500" y="304930"/>
                        <a:pt x="107537" y="297054"/>
                        <a:pt x="95137" y="287064"/>
                      </a:cubicBezTo>
                      <a:close/>
                      <a:moveTo>
                        <a:pt x="244661" y="550075"/>
                      </a:moveTo>
                      <a:cubicBezTo>
                        <a:pt x="228529" y="565846"/>
                        <a:pt x="208175" y="576611"/>
                        <a:pt x="186058" y="581071"/>
                      </a:cubicBezTo>
                      <a:lnTo>
                        <a:pt x="186058" y="383606"/>
                      </a:lnTo>
                      <a:cubicBezTo>
                        <a:pt x="219121" y="394930"/>
                        <a:pt x="257060" y="409312"/>
                        <a:pt x="270533" y="444523"/>
                      </a:cubicBezTo>
                      <a:cubicBezTo>
                        <a:pt x="284005" y="479734"/>
                        <a:pt x="270450" y="523790"/>
                        <a:pt x="244661" y="550075"/>
                      </a:cubicBezTo>
                      <a:close/>
                    </a:path>
                  </a:pathLst>
                </a:custGeom>
                <a:solidFill>
                  <a:srgbClr val="000000"/>
                </a:solidFill>
                <a:ln w="8235" cap="flat">
                  <a:noFill/>
                  <a:prstDash val="solid"/>
                  <a:miter/>
                </a:ln>
              </p:spPr>
              <p:txBody>
                <a:bodyPr rtlCol="0" anchor="ctr"/>
                <a:lstStyle/>
                <a:p>
                  <a:endParaRPr lang="en-US" sz="1400" b="1">
                    <a:latin typeface="Calibri" panose="020F0502020204030204" pitchFamily="34" charset="0"/>
                    <a:cs typeface="Calibri" panose="020F0502020204030204" pitchFamily="34" charset="0"/>
                  </a:endParaRPr>
                </a:p>
              </p:txBody>
            </p:sp>
          </p:grpSp>
        </p:grpSp>
        <p:sp>
          <p:nvSpPr>
            <p:cNvPr id="55" name="Down Arrow Callout 69">
              <a:extLst>
                <a:ext uri="{FF2B5EF4-FFF2-40B4-BE49-F238E27FC236}">
                  <a16:creationId xmlns:a16="http://schemas.microsoft.com/office/drawing/2014/main" id="{7AAA3AD1-ABDB-9C2E-F348-662A946A451F}"/>
                </a:ext>
              </a:extLst>
            </p:cNvPr>
            <p:cNvSpPr/>
            <p:nvPr/>
          </p:nvSpPr>
          <p:spPr bwMode="auto">
            <a:xfrm>
              <a:off x="7013564"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Risks</a:t>
              </a:r>
            </a:p>
          </p:txBody>
        </p:sp>
        <p:grpSp>
          <p:nvGrpSpPr>
            <p:cNvPr id="68" name="Group 67">
              <a:extLst>
                <a:ext uri="{FF2B5EF4-FFF2-40B4-BE49-F238E27FC236}">
                  <a16:creationId xmlns:a16="http://schemas.microsoft.com/office/drawing/2014/main" id="{128D1461-817E-CCEE-8C62-4B9372791E75}"/>
                </a:ext>
              </a:extLst>
            </p:cNvPr>
            <p:cNvGrpSpPr/>
            <p:nvPr/>
          </p:nvGrpSpPr>
          <p:grpSpPr>
            <a:xfrm>
              <a:off x="7013564" y="701514"/>
              <a:ext cx="1435608" cy="1645920"/>
              <a:chOff x="7417254" y="998937"/>
              <a:chExt cx="1264787" cy="1497293"/>
            </a:xfrm>
          </p:grpSpPr>
          <p:sp>
            <p:nvSpPr>
              <p:cNvPr id="54" name="Rectangle 53">
                <a:extLst>
                  <a:ext uri="{FF2B5EF4-FFF2-40B4-BE49-F238E27FC236}">
                    <a16:creationId xmlns:a16="http://schemas.microsoft.com/office/drawing/2014/main" id="{AC5C47E9-0884-EEF6-E181-33095BB8DA60}"/>
                  </a:ext>
                </a:extLst>
              </p:cNvPr>
              <p:cNvSpPr/>
              <p:nvPr/>
            </p:nvSpPr>
            <p:spPr bwMode="auto">
              <a:xfrm>
                <a:off x="7417254" y="998937"/>
                <a:ext cx="1264787" cy="1497293"/>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grpSp>
            <p:nvGrpSpPr>
              <p:cNvPr id="67" name="Group 66">
                <a:extLst>
                  <a:ext uri="{FF2B5EF4-FFF2-40B4-BE49-F238E27FC236}">
                    <a16:creationId xmlns:a16="http://schemas.microsoft.com/office/drawing/2014/main" id="{7E3B7F82-F878-C4C3-1880-B65630C89473}"/>
                  </a:ext>
                </a:extLst>
              </p:cNvPr>
              <p:cNvGrpSpPr/>
              <p:nvPr/>
            </p:nvGrpSpPr>
            <p:grpSpPr>
              <a:xfrm>
                <a:off x="7478147" y="1176083"/>
                <a:ext cx="1143000" cy="1143000"/>
                <a:chOff x="7474569" y="1120998"/>
                <a:chExt cx="1143000" cy="1143000"/>
              </a:xfrm>
            </p:grpSpPr>
            <p:sp>
              <p:nvSpPr>
                <p:cNvPr id="56" name="Oval 55">
                  <a:extLst>
                    <a:ext uri="{FF2B5EF4-FFF2-40B4-BE49-F238E27FC236}">
                      <a16:creationId xmlns:a16="http://schemas.microsoft.com/office/drawing/2014/main" id="{0ED2E7AC-3DBD-9A52-8FDC-A63E99E0892E}"/>
                    </a:ext>
                  </a:extLst>
                </p:cNvPr>
                <p:cNvSpPr/>
                <p:nvPr/>
              </p:nvSpPr>
              <p:spPr bwMode="auto">
                <a:xfrm>
                  <a:off x="7474569" y="1120998"/>
                  <a:ext cx="1143000"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sp>
              <p:nvSpPr>
                <p:cNvPr id="57" name="Graphic 20" descr="Warning with solid fill">
                  <a:extLst>
                    <a:ext uri="{FF2B5EF4-FFF2-40B4-BE49-F238E27FC236}">
                      <a16:creationId xmlns:a16="http://schemas.microsoft.com/office/drawing/2014/main" id="{5BFC74A4-B736-CFF4-33C9-4277CA19EC5F}"/>
                    </a:ext>
                  </a:extLst>
                </p:cNvPr>
                <p:cNvSpPr/>
                <p:nvPr/>
              </p:nvSpPr>
              <p:spPr>
                <a:xfrm>
                  <a:off x="7689453" y="1355694"/>
                  <a:ext cx="713232" cy="612648"/>
                </a:xfrm>
                <a:custGeom>
                  <a:avLst/>
                  <a:gdLst>
                    <a:gd name="connsiteX0" fmla="*/ 612383 w 616118"/>
                    <a:gd name="connsiteY0" fmla="*/ 500241 h 543103"/>
                    <a:gd name="connsiteX1" fmla="*/ 333062 w 616118"/>
                    <a:gd name="connsiteY1" fmla="*/ 14466 h 543103"/>
                    <a:gd name="connsiteX2" fmla="*/ 283770 w 616118"/>
                    <a:gd name="connsiteY2" fmla="*/ 14466 h 543103"/>
                    <a:gd name="connsiteX3" fmla="*/ 3735 w 616118"/>
                    <a:gd name="connsiteY3" fmla="*/ 500241 h 543103"/>
                    <a:gd name="connsiteX4" fmla="*/ 28739 w 616118"/>
                    <a:gd name="connsiteY4" fmla="*/ 543104 h 543103"/>
                    <a:gd name="connsiteX5" fmla="*/ 308059 w 616118"/>
                    <a:gd name="connsiteY5" fmla="*/ 543104 h 543103"/>
                    <a:gd name="connsiteX6" fmla="*/ 587380 w 616118"/>
                    <a:gd name="connsiteY6" fmla="*/ 543104 h 543103"/>
                    <a:gd name="connsiteX7" fmla="*/ 612383 w 616118"/>
                    <a:gd name="connsiteY7" fmla="*/ 500241 h 543103"/>
                    <a:gd name="connsiteX8" fmla="*/ 286628 w 616118"/>
                    <a:gd name="connsiteY8" fmla="*/ 128766 h 543103"/>
                    <a:gd name="connsiteX9" fmla="*/ 329490 w 616118"/>
                    <a:gd name="connsiteY9" fmla="*/ 128766 h 543103"/>
                    <a:gd name="connsiteX10" fmla="*/ 329490 w 616118"/>
                    <a:gd name="connsiteY10" fmla="*/ 378797 h 543103"/>
                    <a:gd name="connsiteX11" fmla="*/ 286628 w 616118"/>
                    <a:gd name="connsiteY11" fmla="*/ 378797 h 543103"/>
                    <a:gd name="connsiteX12" fmla="*/ 286628 w 616118"/>
                    <a:gd name="connsiteY12" fmla="*/ 128766 h 543103"/>
                    <a:gd name="connsiteX13" fmla="*/ 308059 w 616118"/>
                    <a:gd name="connsiteY13" fmla="*/ 478810 h 543103"/>
                    <a:gd name="connsiteX14" fmla="*/ 272340 w 616118"/>
                    <a:gd name="connsiteY14" fmla="*/ 443091 h 543103"/>
                    <a:gd name="connsiteX15" fmla="*/ 308059 w 616118"/>
                    <a:gd name="connsiteY15" fmla="*/ 407372 h 543103"/>
                    <a:gd name="connsiteX16" fmla="*/ 343778 w 616118"/>
                    <a:gd name="connsiteY16" fmla="*/ 443091 h 543103"/>
                    <a:gd name="connsiteX17" fmla="*/ 308059 w 616118"/>
                    <a:gd name="connsiteY17" fmla="*/ 478810 h 54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6118" h="543103">
                      <a:moveTo>
                        <a:pt x="612383" y="500241"/>
                      </a:moveTo>
                      <a:lnTo>
                        <a:pt x="333062" y="14466"/>
                      </a:lnTo>
                      <a:cubicBezTo>
                        <a:pt x="322347" y="-4822"/>
                        <a:pt x="294486" y="-4822"/>
                        <a:pt x="283770" y="14466"/>
                      </a:cubicBezTo>
                      <a:lnTo>
                        <a:pt x="3735" y="500241"/>
                      </a:lnTo>
                      <a:cubicBezTo>
                        <a:pt x="-6980" y="519529"/>
                        <a:pt x="6593" y="543104"/>
                        <a:pt x="28739" y="543104"/>
                      </a:cubicBezTo>
                      <a:lnTo>
                        <a:pt x="308059" y="543104"/>
                      </a:lnTo>
                      <a:lnTo>
                        <a:pt x="587380" y="543104"/>
                      </a:lnTo>
                      <a:cubicBezTo>
                        <a:pt x="609525" y="543104"/>
                        <a:pt x="623099" y="519529"/>
                        <a:pt x="612383" y="500241"/>
                      </a:cubicBezTo>
                      <a:close/>
                      <a:moveTo>
                        <a:pt x="286628" y="128766"/>
                      </a:moveTo>
                      <a:lnTo>
                        <a:pt x="329490" y="128766"/>
                      </a:lnTo>
                      <a:lnTo>
                        <a:pt x="329490" y="378797"/>
                      </a:lnTo>
                      <a:lnTo>
                        <a:pt x="286628" y="378797"/>
                      </a:lnTo>
                      <a:lnTo>
                        <a:pt x="286628" y="128766"/>
                      </a:lnTo>
                      <a:close/>
                      <a:moveTo>
                        <a:pt x="308059" y="478810"/>
                      </a:moveTo>
                      <a:cubicBezTo>
                        <a:pt x="288057" y="478810"/>
                        <a:pt x="272340" y="463094"/>
                        <a:pt x="272340" y="443091"/>
                      </a:cubicBezTo>
                      <a:cubicBezTo>
                        <a:pt x="272340" y="423089"/>
                        <a:pt x="288057" y="407372"/>
                        <a:pt x="308059" y="407372"/>
                      </a:cubicBezTo>
                      <a:cubicBezTo>
                        <a:pt x="328062" y="407372"/>
                        <a:pt x="343778" y="423089"/>
                        <a:pt x="343778" y="443091"/>
                      </a:cubicBezTo>
                      <a:cubicBezTo>
                        <a:pt x="343778" y="463094"/>
                        <a:pt x="328062" y="478810"/>
                        <a:pt x="308059" y="478810"/>
                      </a:cubicBezTo>
                      <a:close/>
                    </a:path>
                  </a:pathLst>
                </a:custGeom>
                <a:solidFill>
                  <a:srgbClr val="000000"/>
                </a:solidFill>
                <a:ln w="7144" cap="flat">
                  <a:noFill/>
                  <a:prstDash val="solid"/>
                  <a:miter/>
                </a:ln>
              </p:spPr>
              <p:txBody>
                <a:bodyPr rtlCol="0" anchor="ctr"/>
                <a:lstStyle/>
                <a:p>
                  <a:endParaRPr lang="en-US" sz="1400" b="1">
                    <a:latin typeface="Calibri" panose="020F0502020204030204" pitchFamily="34" charset="0"/>
                    <a:cs typeface="Calibri" panose="020F0502020204030204" pitchFamily="34" charset="0"/>
                  </a:endParaRPr>
                </a:p>
              </p:txBody>
            </p:sp>
          </p:grpSp>
        </p:grpSp>
        <p:sp>
          <p:nvSpPr>
            <p:cNvPr id="10" name="Down Arrow Callout 26">
              <a:extLst>
                <a:ext uri="{FF2B5EF4-FFF2-40B4-BE49-F238E27FC236}">
                  <a16:creationId xmlns:a16="http://schemas.microsoft.com/office/drawing/2014/main" id="{71A9F01F-E3E2-23DE-D9C0-2AC25217E407}"/>
                </a:ext>
              </a:extLst>
            </p:cNvPr>
            <p:cNvSpPr/>
            <p:nvPr/>
          </p:nvSpPr>
          <p:spPr bwMode="auto">
            <a:xfrm>
              <a:off x="704167" y="2474509"/>
              <a:ext cx="1435608" cy="1463040"/>
            </a:xfrm>
            <a:prstGeom prst="downArrowCallou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Business Description</a:t>
              </a:r>
            </a:p>
          </p:txBody>
        </p:sp>
        <p:grpSp>
          <p:nvGrpSpPr>
            <p:cNvPr id="32" name="Group 31">
              <a:extLst>
                <a:ext uri="{FF2B5EF4-FFF2-40B4-BE49-F238E27FC236}">
                  <a16:creationId xmlns:a16="http://schemas.microsoft.com/office/drawing/2014/main" id="{CF71CD38-EC46-D61D-9885-43B0B00219A7}"/>
                </a:ext>
              </a:extLst>
            </p:cNvPr>
            <p:cNvGrpSpPr/>
            <p:nvPr/>
          </p:nvGrpSpPr>
          <p:grpSpPr>
            <a:xfrm>
              <a:off x="695702" y="701514"/>
              <a:ext cx="1435608" cy="1645920"/>
              <a:chOff x="676875" y="701139"/>
              <a:chExt cx="1435608" cy="1645920"/>
            </a:xfrm>
          </p:grpSpPr>
          <p:sp>
            <p:nvSpPr>
              <p:cNvPr id="3" name="Rectangle 2">
                <a:extLst>
                  <a:ext uri="{FF2B5EF4-FFF2-40B4-BE49-F238E27FC236}">
                    <a16:creationId xmlns:a16="http://schemas.microsoft.com/office/drawing/2014/main" id="{E49183A4-7C53-062F-BF18-A7FAFA78FB59}"/>
                  </a:ext>
                </a:extLst>
              </p:cNvPr>
              <p:cNvSpPr/>
              <p:nvPr/>
            </p:nvSpPr>
            <p:spPr bwMode="auto">
              <a:xfrm>
                <a:off x="676875" y="701139"/>
                <a:ext cx="1435608" cy="1645920"/>
              </a:xfrm>
              <a:prstGeom prst="rec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sp>
            <p:nvSpPr>
              <p:cNvPr id="4" name="Oval 3">
                <a:extLst>
                  <a:ext uri="{FF2B5EF4-FFF2-40B4-BE49-F238E27FC236}">
                    <a16:creationId xmlns:a16="http://schemas.microsoft.com/office/drawing/2014/main" id="{31731CB2-1AC2-15AB-B6EA-04158ABA59EA}"/>
                  </a:ext>
                </a:extLst>
              </p:cNvPr>
              <p:cNvSpPr/>
              <p:nvPr/>
            </p:nvSpPr>
            <p:spPr bwMode="auto">
              <a:xfrm>
                <a:off x="744824" y="895586"/>
                <a:ext cx="1299710" cy="1257027"/>
              </a:xfrm>
              <a:prstGeom prst="ellipse">
                <a:avLst/>
              </a:prstGeom>
              <a:solidFill>
                <a:srgbClr val="BFBFBF"/>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pic>
            <p:nvPicPr>
              <p:cNvPr id="7" name="Graphic 6" descr="Lights On with solid fill">
                <a:extLst>
                  <a:ext uri="{FF2B5EF4-FFF2-40B4-BE49-F238E27FC236}">
                    <a16:creationId xmlns:a16="http://schemas.microsoft.com/office/drawing/2014/main" id="{174722EB-8846-FDB6-C5A1-20E03A8027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5940" y="984359"/>
                <a:ext cx="1117478" cy="1091784"/>
              </a:xfrm>
              <a:prstGeom prst="rect">
                <a:avLst/>
              </a:prstGeom>
            </p:spPr>
          </p:pic>
        </p:grpSp>
      </p:grpSp>
      <p:grpSp>
        <p:nvGrpSpPr>
          <p:cNvPr id="8" name="Group 7">
            <a:extLst>
              <a:ext uri="{FF2B5EF4-FFF2-40B4-BE49-F238E27FC236}">
                <a16:creationId xmlns:a16="http://schemas.microsoft.com/office/drawing/2014/main" id="{A453F30F-6164-15B6-C4E1-52AC146E3FF2}"/>
              </a:ext>
            </a:extLst>
          </p:cNvPr>
          <p:cNvGrpSpPr/>
          <p:nvPr/>
        </p:nvGrpSpPr>
        <p:grpSpPr>
          <a:xfrm>
            <a:off x="688861" y="5169051"/>
            <a:ext cx="7753470" cy="882922"/>
            <a:chOff x="696467" y="4599865"/>
            <a:chExt cx="8317968" cy="1072146"/>
          </a:xfrm>
        </p:grpSpPr>
        <p:grpSp>
          <p:nvGrpSpPr>
            <p:cNvPr id="123" name="Group 122">
              <a:extLst>
                <a:ext uri="{FF2B5EF4-FFF2-40B4-BE49-F238E27FC236}">
                  <a16:creationId xmlns:a16="http://schemas.microsoft.com/office/drawing/2014/main" id="{BAD3955A-D240-4CDD-930A-D659A4981032}"/>
                </a:ext>
              </a:extLst>
            </p:cNvPr>
            <p:cNvGrpSpPr/>
            <p:nvPr/>
          </p:nvGrpSpPr>
          <p:grpSpPr>
            <a:xfrm>
              <a:off x="696467" y="4599865"/>
              <a:ext cx="6624880" cy="1072146"/>
              <a:chOff x="-309716" y="4599864"/>
              <a:chExt cx="8353604" cy="1072146"/>
            </a:xfrm>
          </p:grpSpPr>
          <p:grpSp>
            <p:nvGrpSpPr>
              <p:cNvPr id="2" name="Group 1">
                <a:extLst>
                  <a:ext uri="{FF2B5EF4-FFF2-40B4-BE49-F238E27FC236}">
                    <a16:creationId xmlns:a16="http://schemas.microsoft.com/office/drawing/2014/main" id="{505EFCD4-6547-2519-08A9-1800A17A5E34}"/>
                  </a:ext>
                </a:extLst>
              </p:cNvPr>
              <p:cNvGrpSpPr/>
              <p:nvPr/>
            </p:nvGrpSpPr>
            <p:grpSpPr>
              <a:xfrm>
                <a:off x="1822303" y="4599864"/>
                <a:ext cx="6221585" cy="1072146"/>
                <a:chOff x="1811487" y="4599864"/>
                <a:chExt cx="6221585" cy="1072146"/>
              </a:xfrm>
            </p:grpSpPr>
            <p:sp>
              <p:nvSpPr>
                <p:cNvPr id="84" name="Rectangle 83">
                  <a:extLst>
                    <a:ext uri="{FF2B5EF4-FFF2-40B4-BE49-F238E27FC236}">
                      <a16:creationId xmlns:a16="http://schemas.microsoft.com/office/drawing/2014/main" id="{45CED9AC-885A-04D0-F204-78C0840D3E44}"/>
                    </a:ext>
                  </a:extLst>
                </p:cNvPr>
                <p:cNvSpPr/>
                <p:nvPr/>
              </p:nvSpPr>
              <p:spPr bwMode="auto">
                <a:xfrm>
                  <a:off x="1811487" y="4599864"/>
                  <a:ext cx="1957548"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Fleet Growth</a:t>
                  </a:r>
                </a:p>
              </p:txBody>
            </p:sp>
            <p:sp>
              <p:nvSpPr>
                <p:cNvPr id="85" name="Rectangle 84">
                  <a:extLst>
                    <a:ext uri="{FF2B5EF4-FFF2-40B4-BE49-F238E27FC236}">
                      <a16:creationId xmlns:a16="http://schemas.microsoft.com/office/drawing/2014/main" id="{E97D1124-BC08-1EF6-7569-193FC0531A1E}"/>
                    </a:ext>
                  </a:extLst>
                </p:cNvPr>
                <p:cNvSpPr/>
                <p:nvPr/>
              </p:nvSpPr>
              <p:spPr bwMode="auto">
                <a:xfrm>
                  <a:off x="6075524" y="4599864"/>
                  <a:ext cx="1957548"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Disposition Gains</a:t>
                  </a:r>
                </a:p>
              </p:txBody>
            </p:sp>
          </p:grpSp>
          <p:sp>
            <p:nvSpPr>
              <p:cNvPr id="121" name="Rectangle 120">
                <a:extLst>
                  <a:ext uri="{FF2B5EF4-FFF2-40B4-BE49-F238E27FC236}">
                    <a16:creationId xmlns:a16="http://schemas.microsoft.com/office/drawing/2014/main" id="{271C1863-18F7-2B97-3705-E2BD9A47A51E}"/>
                  </a:ext>
                </a:extLst>
              </p:cNvPr>
              <p:cNvSpPr/>
              <p:nvPr/>
            </p:nvSpPr>
            <p:spPr bwMode="auto">
              <a:xfrm>
                <a:off x="-309716" y="4599864"/>
                <a:ext cx="1957548"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Railcar Supply</a:t>
                </a:r>
              </a:p>
            </p:txBody>
          </p:sp>
          <p:sp>
            <p:nvSpPr>
              <p:cNvPr id="122" name="Rectangle 121">
                <a:extLst>
                  <a:ext uri="{FF2B5EF4-FFF2-40B4-BE49-F238E27FC236}">
                    <a16:creationId xmlns:a16="http://schemas.microsoft.com/office/drawing/2014/main" id="{784E1F9E-D1B4-1C49-9860-5625225BC7B0}"/>
                  </a:ext>
                </a:extLst>
              </p:cNvPr>
              <p:cNvSpPr/>
              <p:nvPr/>
            </p:nvSpPr>
            <p:spPr bwMode="auto">
              <a:xfrm>
                <a:off x="3954323" y="4599864"/>
                <a:ext cx="1957548"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Renewal Pricing</a:t>
                </a:r>
              </a:p>
            </p:txBody>
          </p:sp>
        </p:grpSp>
        <p:sp>
          <p:nvSpPr>
            <p:cNvPr id="6" name="Rectangle 5">
              <a:extLst>
                <a:ext uri="{FF2B5EF4-FFF2-40B4-BE49-F238E27FC236}">
                  <a16:creationId xmlns:a16="http://schemas.microsoft.com/office/drawing/2014/main" id="{2255DB35-6333-A21C-F40C-1E2CFD20D9F8}"/>
                </a:ext>
              </a:extLst>
            </p:cNvPr>
            <p:cNvSpPr/>
            <p:nvPr/>
          </p:nvSpPr>
          <p:spPr bwMode="auto">
            <a:xfrm>
              <a:off x="7461989" y="4599865"/>
              <a:ext cx="1552446"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Intl &amp; Engines</a:t>
              </a:r>
            </a:p>
          </p:txBody>
        </p:sp>
      </p:grpSp>
      <p:sp>
        <p:nvSpPr>
          <p:cNvPr id="9" name="TextBox 8">
            <a:extLst>
              <a:ext uri="{FF2B5EF4-FFF2-40B4-BE49-F238E27FC236}">
                <a16:creationId xmlns:a16="http://schemas.microsoft.com/office/drawing/2014/main" id="{A0D11993-10C3-F340-EB63-A9D0C5B050BA}"/>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6</a:t>
            </a:fld>
            <a:endParaRPr 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33524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461DF-4463-A9AA-A5B1-9F46E83AF763}"/>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C04B33D3-F8F4-3C12-FE17-D473909C64B3}"/>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173ED337-FA26-5DC8-B5F8-4B25ABB0945C}"/>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chemeClr val="tx1"/>
                  </a:solidFill>
                  <a:latin typeface="Calibri" panose="020F0502020204030204" pitchFamily="34" charset="0"/>
                </a:rPr>
                <a:t>Driver: Railcar Supply Tightness</a:t>
              </a:r>
              <a:endParaRPr lang="en-US" sz="3000" b="1">
                <a:solidFill>
                  <a:schemeClr val="tx1"/>
                </a:solidFill>
                <a:latin typeface="Calibri" panose="020F0502020204030204" pitchFamily="34" charset="0"/>
              </a:endParaRPr>
            </a:p>
          </p:txBody>
        </p:sp>
        <p:grpSp>
          <p:nvGrpSpPr>
            <p:cNvPr id="16397" name="Group 39">
              <a:extLst>
                <a:ext uri="{FF2B5EF4-FFF2-40B4-BE49-F238E27FC236}">
                  <a16:creationId xmlns:a16="http://schemas.microsoft.com/office/drawing/2014/main" id="{1F2DC2D5-4449-6B81-A39B-1C14D828DC34}"/>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22C6BAA8-77A4-0D49-6404-3CA0F8F1B971}"/>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197DEA92-DE19-0DC5-B697-6558CCDEF806}"/>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D51671D1-38B0-0FE3-B4FE-5CAA44BA8D0B}"/>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1473F3A1-0141-C862-A31B-FB1A08161ED7}"/>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198381EC-3648-7539-7F46-2A89E76575C3}"/>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0E461373-6E03-C497-14CF-6B52C4C59AB6}"/>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4630CAE2-DB1A-55C4-3DAB-D22EA84E3B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EDE9AA9A-F43A-CB7E-4844-F03B8414808C}"/>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F95A93F4-56A2-69D2-2DD2-C2624C920C24}"/>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A35EA052-91C3-76A6-7282-D65AD30E22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8498C91F-87BC-9A92-202E-0E744CE16A4F}"/>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4C59F308-3A99-1882-65A3-12F72A5D65C4}"/>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11F264C0-A4BC-47DA-0AEE-74603460B846}"/>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0F42C7CE-CB4C-4840-10AB-455AE7900258}"/>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1ADCCFE1-DE4C-CEA4-6A55-777CD1617D7A}"/>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9E4C52EB-9A3A-C6F2-0830-BAB475E573C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B279246C-D0FF-7DA9-9A6D-D62185C787D2}"/>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9342B7BD-3410-5EFF-D3A5-40B00B46253D}"/>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2B717248-6A02-5A92-CE4D-8ACCD8A59D76}"/>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F469DA7F-A520-C286-58C9-61C46386CD0A}"/>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DB45D139-4609-8D56-B805-AB8118676C42}"/>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E41CFB76-60E9-4FA2-33B3-DF0B2DB9921D}"/>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C3AF3965-6CED-2928-250A-DA3CD5B727E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979" y="6263507"/>
            <a:ext cx="461513" cy="461513"/>
          </a:xfrm>
          <a:prstGeom prst="rect">
            <a:avLst/>
          </a:prstGeom>
        </p:spPr>
      </p:pic>
      <p:sp>
        <p:nvSpPr>
          <p:cNvPr id="10" name="Text Box 2">
            <a:extLst>
              <a:ext uri="{FF2B5EF4-FFF2-40B4-BE49-F238E27FC236}">
                <a16:creationId xmlns:a16="http://schemas.microsoft.com/office/drawing/2014/main" id="{9FBF1FC8-0D53-C7B9-02C6-7058BB3571B8}"/>
              </a:ext>
            </a:extLst>
          </p:cNvPr>
          <p:cNvSpPr txBox="1">
            <a:spLocks noChangeArrowheads="1"/>
          </p:cNvSpPr>
          <p:nvPr/>
        </p:nvSpPr>
        <p:spPr bwMode="auto">
          <a:xfrm>
            <a:off x="152400" y="673100"/>
            <a:ext cx="52832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defRPr/>
            </a:pPr>
            <a:r>
              <a:rPr lang="en-US" altLang="en-US" sz="1200">
                <a:solidFill>
                  <a:srgbClr val="000000"/>
                </a:solidFill>
                <a:latin typeface="Calibri"/>
                <a:ea typeface="Calibri" panose="020F0502020204030204" pitchFamily="34" charset="0"/>
                <a:cs typeface="Times New Roman"/>
              </a:rPr>
              <a:t>Figure 6: LPI (bars, %) and renewal term (line, months), 2007 to Q2 2026</a:t>
            </a:r>
          </a:p>
        </p:txBody>
      </p:sp>
      <p:sp>
        <p:nvSpPr>
          <p:cNvPr id="19" name="Text Box 2">
            <a:extLst>
              <a:ext uri="{FF2B5EF4-FFF2-40B4-BE49-F238E27FC236}">
                <a16:creationId xmlns:a16="http://schemas.microsoft.com/office/drawing/2014/main" id="{E4093050-50A8-53CD-4E1A-D88D63C5CB71}"/>
              </a:ext>
            </a:extLst>
          </p:cNvPr>
          <p:cNvSpPr txBox="1">
            <a:spLocks noChangeArrowheads="1"/>
          </p:cNvSpPr>
          <p:nvPr/>
        </p:nvSpPr>
        <p:spPr bwMode="auto">
          <a:xfrm>
            <a:off x="152400" y="3403600"/>
            <a:ext cx="52832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pPr>
            <a:r>
              <a:rPr lang="en-US" altLang="en-US" sz="1200">
                <a:solidFill>
                  <a:srgbClr val="000000"/>
                </a:solidFill>
                <a:latin typeface="Calibri"/>
                <a:ea typeface="Calibri" panose="020F0502020204030204" pitchFamily="34" charset="0"/>
                <a:cs typeface="Times New Roman"/>
              </a:rPr>
              <a:t>Figure 7: North American railcar production, industry (RSI)</a:t>
            </a:r>
          </a:p>
        </p:txBody>
      </p:sp>
      <p:sp>
        <p:nvSpPr>
          <p:cNvPr id="20" name="Rectangle 19">
            <a:extLst>
              <a:ext uri="{FF2B5EF4-FFF2-40B4-BE49-F238E27FC236}">
                <a16:creationId xmlns:a16="http://schemas.microsoft.com/office/drawing/2014/main" id="{D69D10C8-552E-CF07-0FBD-09D970D0FB0F}"/>
              </a:ext>
            </a:extLst>
          </p:cNvPr>
          <p:cNvSpPr/>
          <p:nvPr/>
        </p:nvSpPr>
        <p:spPr>
          <a:xfrm>
            <a:off x="5524500" y="762000"/>
            <a:ext cx="3492500" cy="13970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Four consecutive years of renewal pricing above +20% means shippers are competing for railcars. Pricing power like this does not exist in a fleet with slack.</a:t>
            </a:r>
          </a:p>
        </p:txBody>
      </p:sp>
      <p:sp>
        <p:nvSpPr>
          <p:cNvPr id="22" name="Rectangle 21">
            <a:extLst>
              <a:ext uri="{FF2B5EF4-FFF2-40B4-BE49-F238E27FC236}">
                <a16:creationId xmlns:a16="http://schemas.microsoft.com/office/drawing/2014/main" id="{E309471D-74E9-8BC6-1579-2A0FF75363FA}"/>
              </a:ext>
            </a:extLst>
          </p:cNvPr>
          <p:cNvSpPr/>
          <p:nvPr/>
        </p:nvSpPr>
        <p:spPr>
          <a:xfrm>
            <a:off x="5524500" y="2260600"/>
            <a:ext cx="3492500" cy="8890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Fleet utilization 98.0% at Q2 2026. The North American fleet is effectively full.</a:t>
            </a:r>
          </a:p>
        </p:txBody>
      </p:sp>
      <p:pic>
        <p:nvPicPr>
          <p:cNvPr id="2" name="Picture 1" descr="A black background with blue text&#10;&#10;Description automatically generated">
            <a:extLst>
              <a:ext uri="{FF2B5EF4-FFF2-40B4-BE49-F238E27FC236}">
                <a16:creationId xmlns:a16="http://schemas.microsoft.com/office/drawing/2014/main" id="{F18F8B55-9A63-75F6-27CB-757D39583335}"/>
              </a:ext>
            </a:extLst>
          </p:cNvPr>
          <p:cNvPicPr>
            <a:picLocks noChangeAspect="1"/>
          </p:cNvPicPr>
          <p:nvPr/>
        </p:nvPicPr>
        <p:blipFill>
          <a:blip r:embed="rId6">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3" name="TextBox 2">
            <a:extLst>
              <a:ext uri="{FF2B5EF4-FFF2-40B4-BE49-F238E27FC236}">
                <a16:creationId xmlns:a16="http://schemas.microsoft.com/office/drawing/2014/main" id="{89C5FEF4-F8AF-FB1B-B23F-003C6EE4B948}"/>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7</a:t>
            </a:fld>
            <a:endParaRPr lang="en-US" sz="1400">
              <a:latin typeface="Calibri" panose="020F0502020204030204" pitchFamily="34" charset="0"/>
              <a:cs typeface="Calibri" panose="020F0502020204030204" pitchFamily="34" charset="0"/>
            </a:endParaRPr>
          </a:p>
        </p:txBody>
      </p:sp>
      <p:sp>
        <p:nvSpPr>
          <p:cNvPr id="5" name="Text Box 2">
            <a:extLst>
              <a:ext uri="{FF2B5EF4-FFF2-40B4-BE49-F238E27FC236}">
                <a16:creationId xmlns:a16="http://schemas.microsoft.com/office/drawing/2014/main" id="{B4B62734-7A30-C589-AFFF-92901E557E35}"/>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940" name="Callout 3">
            <a:extLst>
              <a:ext uri="{FF2B5EF4-FFF2-40B4-BE49-F238E27FC236}">
                <a16:creationId xmlns:a16="http://schemas.microsoft.com/office/drawing/2014/main" id="{D69D10C8-552E-CF07-0FBD-09D970D0FB0F}"/>
              </a:ext>
            </a:extLst>
          </p:cNvPr>
          <p:cNvSpPr/>
          <p:nvPr/>
        </p:nvSpPr>
        <p:spPr>
          <a:xfrm>
            <a:off x="5524500" y="3251200"/>
            <a:ext cx="3492500" cy="16764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GATX's own read, presented to the STB in March 2026: scrapping continues to outpace new builds, the North American fleet is shrinking despite 98% utilization, and builders are cutting production. Industry backlog is at a fifteen-year low. GATX describes the market as a supply-led recovery.</a:t>
            </a:r>
          </a:p>
        </p:txBody>
      </p:sp>
      <p:sp>
        <p:nvSpPr>
          <p:cNvPr id="942" name="RSI footnote">
            <a:extLst>
              <a:ext uri="{FF2B5EF4-FFF2-40B4-BE49-F238E27FC236}">
                <a16:creationId xmlns:a16="http://schemas.microsoft.com/office/drawing/2014/main" id="{E4093050-50A8-53CD-4E1A-D88D63C5CB71}"/>
              </a:ext>
            </a:extLst>
          </p:cNvPr>
          <p:cNvSpPr txBox="1">
            <a:spLocks noChangeArrowheads="1"/>
          </p:cNvSpPr>
          <p:nvPr/>
        </p:nvSpPr>
        <p:spPr bwMode="auto">
          <a:xfrm>
            <a:off x="152400" y="5461000"/>
            <a:ext cx="52832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pPr>
            <a:r>
              <a:rPr lang="en-US" sz="800">
                <a:solidFill>
                  <a:srgbClr val="726056"/>
                </a:solidFill>
                <a:latin typeface="Calibri" panose="020F0502020204030204" pitchFamily="34" charset="0"/>
              </a:rPr>
              <a:t>Q4 2025 industry backlog at its lowest level since Q4 2010. Q2 2026 deliveries annualize to about 22,000 cars, below the 2025 pace. Source: RSI via GATX STB presentation, March 2026.</a:t>
            </a:r>
          </a:p>
        </p:txBody>
      </p:sp>
      <p:sp>
        <p:nvSpPr>
          <p:cNvPr id="941" name="Callout 4">
            <a:extLst>
              <a:ext uri="{FF2B5EF4-FFF2-40B4-BE49-F238E27FC236}">
                <a16:creationId xmlns:a16="http://schemas.microsoft.com/office/drawing/2014/main" id="{D69D10C8-552E-CF07-0FBD-09D970D0FB0F}"/>
              </a:ext>
            </a:extLst>
          </p:cNvPr>
          <p:cNvSpPr/>
          <p:nvPr/>
        </p:nvSpPr>
        <p:spPr>
          <a:xfrm>
            <a:off x="5524500" y="5029200"/>
            <a:ext cx="3492500" cy="11684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pPr>
            <a:r>
              <a:rPr lang="en-US" sz="1100" i="1">
                <a:solidFill>
                  <a:srgbClr val="000000"/>
                </a:solidFill>
                <a:latin typeface="Calibri" panose="020F0502020204030204" pitchFamily="34" charset="0"/>
                <a:ea typeface="Calibri" panose="020F0502020204030204" pitchFamily="34" charset="0"/>
                <a:cs typeface="Calibri" panose="020F0502020204030204" pitchFamily="34" charset="0"/>
              </a:rPr>
              <a:t>Orders below deliveries in both 2025 and Q2 2026 means the backlog keeps falling. Fewer new cars entering the fleet while old ones are scrapped is the structural reason renewal pricing has held above +20% for four years.</a:t>
            </a:r>
          </a:p>
        </p:txBody>
      </p:sp>
      <p:graphicFrame>
        <p:nvGraphicFramePr>
          <p:cNvPr id="6" name="Table 5">
            <a:extLst>
              <a:ext uri="{FF2B5EF4-FFF2-40B4-BE49-F238E27FC236}">
                <a16:creationId xmlns:a16="http://schemas.microsoft.com/office/drawing/2014/main" id="{DE9EC8C2-270F-4683-9CF6-08CC179728A1}"/>
              </a:ext>
            </a:extLst>
          </p:cNvPr>
          <p:cNvGraphicFramePr>
            <a:graphicFrameLocks noGrp="1"/>
          </p:cNvGraphicFramePr>
          <p:nvPr/>
        </p:nvGraphicFramePr>
        <p:xfrm>
          <a:off x="152400" y="3683000"/>
          <a:ext cx="5283200" cy="1676400"/>
        </p:xfrm>
        <a:graphic>
          <a:graphicData uri="http://schemas.openxmlformats.org/drawingml/2006/table">
            <a:tbl>
              <a:tblPr/>
              <a:tblGrid>
                <a:gridCol w="1905000">
                  <a:extLst>
                    <a:ext uri="{9D8B030D-6E8A-4147-A177-3AD203B41FA5}">
                      <a16:colId xmlns:a16="http://schemas.microsoft.com/office/drawing/2014/main" val="4171622632"/>
                    </a:ext>
                  </a:extLst>
                </a:gridCol>
                <a:gridCol w="1397000">
                  <a:extLst>
                    <a:ext uri="{9D8B030D-6E8A-4147-A177-3AD203B41FA5}">
                      <a16:colId xmlns:a16="http://schemas.microsoft.com/office/drawing/2014/main" val="3386918345"/>
                    </a:ext>
                  </a:extLst>
                </a:gridCol>
                <a:gridCol w="1981200">
                  <a:extLst>
                    <a:ext uri="{9D8B030D-6E8A-4147-A177-3AD203B41FA5}">
                      <a16:colId xmlns:a16="http://schemas.microsoft.com/office/drawing/2014/main" val="898217453"/>
                    </a:ext>
                  </a:extLst>
                </a:gridCol>
              </a:tblGrid>
              <a:tr h="279400">
                <a:tc>
                  <a:txBody>
                    <a:bodyPr/>
                    <a:lstStyle/>
                    <a:p>
                      <a:pPr algn="l"/>
                      <a:r>
                        <a:rPr lang="en-US" sz="1000" b="1">
                          <a:solidFill>
                            <a:srgbClr val="292934"/>
                          </a:solidFill>
                          <a:latin typeface="Calibri"/>
                        </a:rPr>
                        <a:t>Metric</a:t>
                      </a:r>
                    </a:p>
                  </a:txBody>
                  <a:tcPr marL="45720" marR="45720" marT="9144" marB="9144" anchor="ctr">
                    <a:lnL w="12700">
                      <a:noFill/>
                    </a:lnL>
                    <a:lnR w="12700">
                      <a:noFill/>
                    </a:lnR>
                    <a:lnT w="12700">
                      <a:noFill/>
                    </a:lnT>
                    <a:lnB w="15875">
                      <a:solidFill>
                        <a:srgbClr val="292934"/>
                      </a:solidFill>
                      <a:prstDash val="solid"/>
                    </a:lnB>
                    <a:noFill/>
                  </a:tcPr>
                </a:tc>
                <a:tc>
                  <a:txBody>
                    <a:bodyPr/>
                    <a:lstStyle/>
                    <a:p>
                      <a:pPr algn="r"/>
                      <a:r>
                        <a:rPr lang="en-US" sz="1000" b="1">
                          <a:solidFill>
                            <a:srgbClr val="292934"/>
                          </a:solidFill>
                          <a:latin typeface="Calibri"/>
                        </a:rPr>
                        <a:t>Value</a:t>
                      </a:r>
                    </a:p>
                  </a:txBody>
                  <a:tcPr marL="45720" marR="45720" marT="9144" marB="9144" anchor="ctr">
                    <a:lnL w="12700">
                      <a:noFill/>
                    </a:lnL>
                    <a:lnR w="12700">
                      <a:noFill/>
                    </a:lnR>
                    <a:lnT w="12700">
                      <a:noFill/>
                    </a:lnT>
                    <a:lnB w="15875">
                      <a:solidFill>
                        <a:srgbClr val="292934"/>
                      </a:solidFill>
                      <a:prstDash val="solid"/>
                    </a:lnB>
                    <a:noFill/>
                  </a:tcPr>
                </a:tc>
                <a:tc>
                  <a:txBody>
                    <a:bodyPr/>
                    <a:lstStyle/>
                    <a:p>
                      <a:pPr algn="l"/>
                      <a:r>
                        <a:rPr lang="en-US" sz="1000" b="1">
                          <a:solidFill>
                            <a:srgbClr val="292934"/>
                          </a:solidFill>
                          <a:latin typeface="Calibri"/>
                        </a:rPr>
                        <a:t>Period</a:t>
                      </a:r>
                    </a:p>
                  </a:txBody>
                  <a:tcPr marL="45720" marR="45720" marT="9144" marB="9144" anchor="ctr">
                    <a:lnL w="12700">
                      <a:noFill/>
                    </a:lnL>
                    <a:lnR w="12700">
                      <a:noFill/>
                    </a:lnR>
                    <a:lnT w="12700">
                      <a:noFill/>
                    </a:lnT>
                    <a:lnB w="15875">
                      <a:solidFill>
                        <a:srgbClr val="292934"/>
                      </a:solidFill>
                      <a:prstDash val="solid"/>
                    </a:lnB>
                    <a:noFill/>
                  </a:tcPr>
                </a:tc>
                <a:extLst>
                  <a:ext uri="{0D108BD9-81ED-4DB2-BD59-A6C34878D82A}">
                    <a16:rowId xmlns:a16="http://schemas.microsoft.com/office/drawing/2014/main" val="13406457"/>
                  </a:ext>
                </a:extLst>
              </a:tr>
              <a:tr h="279400">
                <a:tc>
                  <a:txBody>
                    <a:bodyPr/>
                    <a:lstStyle/>
                    <a:p>
                      <a:pPr algn="l"/>
                      <a:r>
                        <a:rPr lang="en-US" sz="1000" b="1">
                          <a:solidFill>
                            <a:srgbClr val="292934"/>
                          </a:solidFill>
                          <a:latin typeface="Calibri"/>
                        </a:rPr>
                        <a:t>Deliveries</a:t>
                      </a:r>
                    </a:p>
                  </a:txBody>
                  <a:tcPr marL="45720" marR="45720" marT="9144" marB="9144"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1000">
                          <a:solidFill>
                            <a:srgbClr val="292934"/>
                          </a:solidFill>
                          <a:latin typeface="Calibri"/>
                        </a:rPr>
                        <a:t>31,205</a:t>
                      </a:r>
                    </a:p>
                  </a:txBody>
                  <a:tcPr marL="45720" marR="45720" marT="9144" marB="9144"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l"/>
                      <a:r>
                        <a:rPr lang="en-US" sz="1000">
                          <a:solidFill>
                            <a:srgbClr val="292934"/>
                          </a:solidFill>
                          <a:latin typeface="Calibri"/>
                        </a:rPr>
                        <a:t>Full year 2025</a:t>
                      </a:r>
                    </a:p>
                  </a:txBody>
                  <a:tcPr marL="45720" marR="45720" marT="9144" marB="9144"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1995336888"/>
                  </a:ext>
                </a:extLst>
              </a:tr>
              <a:tr h="279400">
                <a:tc>
                  <a:txBody>
                    <a:bodyPr/>
                    <a:lstStyle/>
                    <a:p>
                      <a:pPr algn="l"/>
                      <a:r>
                        <a:rPr lang="en-US" sz="1000" b="1">
                          <a:solidFill>
                            <a:srgbClr val="292934"/>
                          </a:solidFill>
                          <a:latin typeface="Calibri"/>
                        </a:rPr>
                        <a:t>Orders</a:t>
                      </a:r>
                    </a:p>
                  </a:txBody>
                  <a:tcPr marL="45720" marR="45720" marT="9144" marB="9144"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1000">
                          <a:solidFill>
                            <a:srgbClr val="292934"/>
                          </a:solidFill>
                          <a:latin typeface="Calibri"/>
                        </a:rPr>
                        <a:t>20,361</a:t>
                      </a:r>
                    </a:p>
                  </a:txBody>
                  <a:tcPr marL="45720" marR="45720" marT="9144" marB="9144"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l"/>
                      <a:r>
                        <a:rPr lang="en-US" sz="1000">
                          <a:solidFill>
                            <a:srgbClr val="292934"/>
                          </a:solidFill>
                          <a:latin typeface="Calibri"/>
                        </a:rPr>
                        <a:t>Full year 2025</a:t>
                      </a:r>
                    </a:p>
                  </a:txBody>
                  <a:tcPr marL="45720" marR="45720" marT="9144" marB="9144"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4115121245"/>
                  </a:ext>
                </a:extLst>
              </a:tr>
              <a:tr h="279400">
                <a:tc>
                  <a:txBody>
                    <a:bodyPr/>
                    <a:lstStyle/>
                    <a:p>
                      <a:pPr algn="l"/>
                      <a:r>
                        <a:rPr lang="en-US" sz="1000" b="1">
                          <a:solidFill>
                            <a:srgbClr val="292934"/>
                          </a:solidFill>
                          <a:latin typeface="Calibri"/>
                        </a:rPr>
                        <a:t>Backlog</a:t>
                      </a:r>
                    </a:p>
                  </a:txBody>
                  <a:tcPr marL="45720" marR="45720" marT="9144" marB="9144"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1000">
                          <a:solidFill>
                            <a:srgbClr val="292934"/>
                          </a:solidFill>
                          <a:latin typeface="Calibri"/>
                        </a:rPr>
                        <a:t>23,431</a:t>
                      </a:r>
                    </a:p>
                  </a:txBody>
                  <a:tcPr marL="45720" marR="45720" marT="9144" marB="9144"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l"/>
                      <a:r>
                        <a:rPr lang="en-US" sz="1000">
                          <a:solidFill>
                            <a:srgbClr val="292934"/>
                          </a:solidFill>
                          <a:latin typeface="Calibri"/>
                        </a:rPr>
                        <a:t>12/31/2025</a:t>
                      </a:r>
                    </a:p>
                  </a:txBody>
                  <a:tcPr marL="45720" marR="45720" marT="9144" marB="9144"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extLst>
                  <a:ext uri="{0D108BD9-81ED-4DB2-BD59-A6C34878D82A}">
                    <a16:rowId xmlns:a16="http://schemas.microsoft.com/office/drawing/2014/main" val="3178243969"/>
                  </a:ext>
                </a:extLst>
              </a:tr>
              <a:tr h="279400">
                <a:tc>
                  <a:txBody>
                    <a:bodyPr/>
                    <a:lstStyle/>
                    <a:p>
                      <a:pPr algn="l"/>
                      <a:r>
                        <a:rPr lang="en-US" sz="1000" b="1">
                          <a:solidFill>
                            <a:srgbClr val="292934"/>
                          </a:solidFill>
                          <a:latin typeface="Calibri"/>
                        </a:rPr>
                        <a:t>Deliveries</a:t>
                      </a:r>
                    </a:p>
                  </a:txBody>
                  <a:tcPr marL="45720" marR="45720" marT="9144" marB="9144"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1000">
                          <a:solidFill>
                            <a:srgbClr val="292934"/>
                          </a:solidFill>
                          <a:latin typeface="Calibri"/>
                        </a:rPr>
                        <a:t>5,527</a:t>
                      </a:r>
                    </a:p>
                  </a:txBody>
                  <a:tcPr marL="45720" marR="45720" marT="9144" marB="9144"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l"/>
                      <a:r>
                        <a:rPr lang="en-US" sz="1000">
                          <a:solidFill>
                            <a:srgbClr val="292934"/>
                          </a:solidFill>
                          <a:latin typeface="Calibri"/>
                        </a:rPr>
                        <a:t>Q2 2026</a:t>
                      </a:r>
                    </a:p>
                  </a:txBody>
                  <a:tcPr marL="45720" marR="45720" marT="9144" marB="9144"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127433209"/>
                  </a:ext>
                </a:extLst>
              </a:tr>
              <a:tr h="279400">
                <a:tc>
                  <a:txBody>
                    <a:bodyPr/>
                    <a:lstStyle/>
                    <a:p>
                      <a:pPr algn="l"/>
                      <a:r>
                        <a:rPr lang="en-US" sz="1000" b="1">
                          <a:solidFill>
                            <a:srgbClr val="292934"/>
                          </a:solidFill>
                          <a:latin typeface="Calibri"/>
                        </a:rPr>
                        <a:t>Orders</a:t>
                      </a:r>
                    </a:p>
                  </a:txBody>
                  <a:tcPr marL="45720" marR="45720" marT="9144" marB="9144"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1000">
                          <a:solidFill>
                            <a:srgbClr val="292934"/>
                          </a:solidFill>
                          <a:latin typeface="Calibri"/>
                        </a:rPr>
                        <a:t>5,826</a:t>
                      </a:r>
                    </a:p>
                  </a:txBody>
                  <a:tcPr marL="45720" marR="45720" marT="9144" marB="9144"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l"/>
                      <a:r>
                        <a:rPr lang="en-US" sz="1000">
                          <a:solidFill>
                            <a:srgbClr val="292934"/>
                          </a:solidFill>
                          <a:latin typeface="Calibri"/>
                        </a:rPr>
                        <a:t>Q2 2026</a:t>
                      </a:r>
                    </a:p>
                  </a:txBody>
                  <a:tcPr marL="45720" marR="45720" marT="9144" marB="9144"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617646049"/>
                  </a:ext>
                </a:extLst>
              </a:tr>
            </a:tbl>
          </a:graphicData>
        </a:graphic>
      </p:graphicFrame>
      <p:pic>
        <p:nvPicPr>
          <p:cNvPr id="16405" name="Picture 16404" descr="lpi_chart_7.png"/>
          <p:cNvPicPr>
            <a:picLocks noChangeAspect="1"/>
          </p:cNvPicPr>
          <p:nvPr/>
        </p:nvPicPr>
        <p:blipFill>
          <a:blip r:embed="rId8"/>
          <a:stretch>
            <a:fillRect/>
          </a:stretch>
        </p:blipFill>
        <p:spPr>
          <a:xfrm>
            <a:off x="152400" y="914400"/>
            <a:ext cx="5283200" cy="2413000"/>
          </a:xfrm>
          <a:prstGeom prst="rect">
            <a:avLst/>
          </a:prstGeom>
          <a:ln w="9525">
            <a:solidFill>
              <a:srgbClr val="292934"/>
            </a:solidFill>
          </a:ln>
        </p:spPr>
      </p:pic>
    </p:spTree>
    <p:extLst>
      <p:ext uri="{BB962C8B-B14F-4D97-AF65-F5344CB8AC3E}">
        <p14:creationId xmlns:p14="http://schemas.microsoft.com/office/powerpoint/2010/main" val="480744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461DF-4463-A9AA-A5B1-9F46E83AF763}"/>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C04B33D3-F8F4-3C12-FE17-D473909C64B3}"/>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173ED337-FA26-5DC8-B5F8-4B25ABB0945C}"/>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chemeClr val="tx1"/>
                  </a:solidFill>
                  <a:latin typeface="Calibri" panose="020F0502020204030204" pitchFamily="34" charset="0"/>
                </a:rPr>
                <a:t>Driver: Fleet Growth, GABX</a:t>
              </a:r>
              <a:endParaRPr lang="en-US" sz="3000" b="1">
                <a:solidFill>
                  <a:schemeClr val="tx1"/>
                </a:solidFill>
                <a:latin typeface="Calibri" panose="020F0502020204030204" pitchFamily="34" charset="0"/>
              </a:endParaRPr>
            </a:p>
          </p:txBody>
        </p:sp>
        <p:grpSp>
          <p:nvGrpSpPr>
            <p:cNvPr id="16397" name="Group 39">
              <a:extLst>
                <a:ext uri="{FF2B5EF4-FFF2-40B4-BE49-F238E27FC236}">
                  <a16:creationId xmlns:a16="http://schemas.microsoft.com/office/drawing/2014/main" id="{1F2DC2D5-4449-6B81-A39B-1C14D828DC34}"/>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22C6BAA8-77A4-0D49-6404-3CA0F8F1B971}"/>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197DEA92-DE19-0DC5-B697-6558CCDEF806}"/>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D51671D1-38B0-0FE3-B4FE-5CAA44BA8D0B}"/>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1473F3A1-0141-C862-A31B-FB1A08161ED7}"/>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198381EC-3648-7539-7F46-2A89E76575C3}"/>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0E461373-6E03-C497-14CF-6B52C4C59AB6}"/>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4630CAE2-DB1A-55C4-3DAB-D22EA84E3B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EDE9AA9A-F43A-CB7E-4844-F03B8414808C}"/>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F95A93F4-56A2-69D2-2DD2-C2624C920C24}"/>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A35EA052-91C3-76A6-7282-D65AD30E22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8498C91F-87BC-9A92-202E-0E744CE16A4F}"/>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4C59F308-3A99-1882-65A3-12F72A5D65C4}"/>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11F264C0-A4BC-47DA-0AEE-74603460B846}"/>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0F42C7CE-CB4C-4840-10AB-455AE7900258}"/>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1ADCCFE1-DE4C-CEA4-6A55-777CD1617D7A}"/>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9E4C52EB-9A3A-C6F2-0830-BAB475E573C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B279246C-D0FF-7DA9-9A6D-D62185C787D2}"/>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9342B7BD-3410-5EFF-D3A5-40B00B46253D}"/>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2B717248-6A02-5A92-CE4D-8ACCD8A59D76}"/>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F469DA7F-A520-C286-58C9-61C46386CD0A}"/>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DB45D139-4609-8D56-B805-AB8118676C42}"/>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E41CFB76-60E9-4FA2-33B3-DF0B2DB9921D}"/>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C3AF3965-6CED-2928-250A-DA3CD5B727E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979" y="6263507"/>
            <a:ext cx="461513" cy="461513"/>
          </a:xfrm>
          <a:prstGeom prst="rect">
            <a:avLst/>
          </a:prstGeom>
        </p:spPr>
      </p:pic>
      <p:sp>
        <p:nvSpPr>
          <p:cNvPr id="10" name="Text Box 2">
            <a:extLst>
              <a:ext uri="{FF2B5EF4-FFF2-40B4-BE49-F238E27FC236}">
                <a16:creationId xmlns:a16="http://schemas.microsoft.com/office/drawing/2014/main" id="{9FBF1FC8-0D53-C7B9-02C6-7058BB3571B8}"/>
              </a:ext>
            </a:extLst>
          </p:cNvPr>
          <p:cNvSpPr txBox="1">
            <a:spLocks noChangeArrowheads="1"/>
          </p:cNvSpPr>
          <p:nvPr/>
        </p:nvSpPr>
        <p:spPr bwMode="auto">
          <a:xfrm>
            <a:off x="76680" y="648179"/>
            <a:ext cx="5286340" cy="237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8:  Consolidated active railcars, before and after GABX</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grpSp>
        <p:nvGrpSpPr>
          <p:cNvPr id="7" name="Group 6">
            <a:extLst>
              <a:ext uri="{FF2B5EF4-FFF2-40B4-BE49-F238E27FC236}">
                <a16:creationId xmlns:a16="http://schemas.microsoft.com/office/drawing/2014/main" id="{62B000BB-C912-8E83-2FB2-E4E717FF8BBF}"/>
              </a:ext>
            </a:extLst>
          </p:cNvPr>
          <p:cNvGrpSpPr/>
          <p:nvPr/>
        </p:nvGrpSpPr>
        <p:grpSpPr>
          <a:xfrm>
            <a:off x="5521856" y="673203"/>
            <a:ext cx="3632226" cy="2646966"/>
            <a:chOff x="5692471" y="3036953"/>
            <a:chExt cx="3463189" cy="3026415"/>
          </a:xfrm>
        </p:grpSpPr>
        <p:sp>
          <p:nvSpPr>
            <p:cNvPr id="11" name="Text Box 2">
              <a:extLst>
                <a:ext uri="{FF2B5EF4-FFF2-40B4-BE49-F238E27FC236}">
                  <a16:creationId xmlns:a16="http://schemas.microsoft.com/office/drawing/2014/main" id="{45FD821D-D3ED-62A8-684F-9CA30EC311AB}"/>
                </a:ext>
              </a:extLst>
            </p:cNvPr>
            <p:cNvSpPr txBox="1">
              <a:spLocks noChangeArrowheads="1"/>
            </p:cNvSpPr>
            <p:nvPr/>
          </p:nvSpPr>
          <p:spPr bwMode="auto">
            <a:xfrm>
              <a:off x="5692471" y="3036953"/>
              <a:ext cx="3463189" cy="237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24:  Fleet utilization (%)</a:t>
              </a:r>
            </a:p>
          </p:txBody>
        </p:sp>
      </p:grpSp>
      <p:sp>
        <p:nvSpPr>
          <p:cNvPr id="19" name="Text Box 2">
            <a:extLst>
              <a:ext uri="{FF2B5EF4-FFF2-40B4-BE49-F238E27FC236}">
                <a16:creationId xmlns:a16="http://schemas.microsoft.com/office/drawing/2014/main" id="{E4093050-50A8-53CD-4E1A-D88D63C5CB71}"/>
              </a:ext>
            </a:extLst>
          </p:cNvPr>
          <p:cNvSpPr txBox="1">
            <a:spLocks noChangeArrowheads="1"/>
          </p:cNvSpPr>
          <p:nvPr/>
        </p:nvSpPr>
        <p:spPr bwMode="auto">
          <a:xfrm>
            <a:off x="76680" y="3393569"/>
            <a:ext cx="5286340" cy="26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9:  GABX ownership split (%)</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0" name="Rectangle 19">
            <a:extLst>
              <a:ext uri="{FF2B5EF4-FFF2-40B4-BE49-F238E27FC236}">
                <a16:creationId xmlns:a16="http://schemas.microsoft.com/office/drawing/2014/main" id="{D69D10C8-552E-CF07-0FBD-09D970D0FB0F}"/>
              </a:ext>
            </a:extLst>
          </p:cNvPr>
          <p:cNvSpPr/>
          <p:nvPr/>
        </p:nvSpPr>
        <p:spPr>
          <a:xfrm>
            <a:off x="4885062" y="3530600"/>
            <a:ext cx="4090341" cy="7366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The Wells Fargo acquisition doubled the consolidated fleet on 2026-01-01. GATX owns 30%, manages 100%, and earns fees on the whole fleet.</a:t>
            </a:r>
          </a:p>
        </p:txBody>
      </p:sp>
      <p:sp>
        <p:nvSpPr>
          <p:cNvPr id="22" name="Rectangle 21">
            <a:extLst>
              <a:ext uri="{FF2B5EF4-FFF2-40B4-BE49-F238E27FC236}">
                <a16:creationId xmlns:a16="http://schemas.microsoft.com/office/drawing/2014/main" id="{E309471D-74E9-8BC6-1579-2A0FF75363FA}"/>
              </a:ext>
            </a:extLst>
          </p:cNvPr>
          <p:cNvSpPr/>
          <p:nvPr/>
        </p:nvSpPr>
        <p:spPr>
          <a:xfrm>
            <a:off x="4887595" y="4343400"/>
            <a:ext cx="4090341" cy="18288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GATX manages the fleet and earns fees on top of its 30% economic share.</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The acquired fleet closed at 97% utilization against 99% for the GATX legacy fleet, a gap of roughly 2,000 to 2,500 cars to fill.</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Acquired cars sat on lower average lease rates, so there is re-lease upside as those contracts roll.</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the blended fleet rate of about $8,200 per car, filling 2,500 idle cars is roughly $20M of annual revenue on assets already paid for.</a:t>
            </a:r>
          </a:p>
        </p:txBody>
      </p:sp>
      <p:pic>
        <p:nvPicPr>
          <p:cNvPr id="2" name="Picture 1" descr="A black background with blue text&#10;&#10;Description automatically generated">
            <a:extLst>
              <a:ext uri="{FF2B5EF4-FFF2-40B4-BE49-F238E27FC236}">
                <a16:creationId xmlns:a16="http://schemas.microsoft.com/office/drawing/2014/main" id="{F18F8B55-9A63-75F6-27CB-757D39583335}"/>
              </a:ext>
            </a:extLst>
          </p:cNvPr>
          <p:cNvPicPr>
            <a:picLocks noChangeAspect="1"/>
          </p:cNvPicPr>
          <p:nvPr/>
        </p:nvPicPr>
        <p:blipFill>
          <a:blip r:embed="rId6">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3" name="TextBox 2">
            <a:extLst>
              <a:ext uri="{FF2B5EF4-FFF2-40B4-BE49-F238E27FC236}">
                <a16:creationId xmlns:a16="http://schemas.microsoft.com/office/drawing/2014/main" id="{89C5FEF4-F8AF-FB1B-B23F-003C6EE4B948}"/>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8</a:t>
            </a:fld>
            <a:endParaRPr lang="en-US" sz="1400">
              <a:latin typeface="Calibri" panose="020F0502020204030204" pitchFamily="34" charset="0"/>
              <a:cs typeface="Calibri" panose="020F0502020204030204" pitchFamily="34" charset="0"/>
            </a:endParaRPr>
          </a:p>
        </p:txBody>
      </p:sp>
      <p:sp>
        <p:nvSpPr>
          <p:cNvPr id="5" name="Text Box 2">
            <a:extLst>
              <a:ext uri="{FF2B5EF4-FFF2-40B4-BE49-F238E27FC236}">
                <a16:creationId xmlns:a16="http://schemas.microsoft.com/office/drawing/2014/main" id="{B4B62734-7A30-C589-AFFF-92901E557E35}"/>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6405" name="Chart"/>
          <p:cNvGraphicFramePr/>
          <p:nvPr/>
        </p:nvGraphicFramePr>
        <p:xfrm>
          <a:off x="152400" y="914400"/>
          <a:ext cx="5283200" cy="24003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6406" name="Chart"/>
          <p:cNvGraphicFramePr/>
          <p:nvPr/>
        </p:nvGraphicFramePr>
        <p:xfrm>
          <a:off x="152400" y="3657600"/>
          <a:ext cx="4572000" cy="240030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6407" name="Chart"/>
          <p:cNvGraphicFramePr/>
          <p:nvPr/>
        </p:nvGraphicFramePr>
        <p:xfrm>
          <a:off x="5524500" y="952500"/>
          <a:ext cx="3606800" cy="2260600"/>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3680878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4E2C0-2EC1-BCC3-F09E-E8AEC5F6235B}"/>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79979C67-CEC3-AB42-3584-7787AE3FF081}"/>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E51FBAC0-FFEB-D9CE-4042-138277FCD94C}"/>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chemeClr val="tx1"/>
                  </a:solidFill>
                  <a:latin typeface="Calibri" panose="020F0502020204030204" pitchFamily="34" charset="0"/>
                </a:rPr>
                <a:t>Driver: Fleet Growth, Capex and Re-lease</a:t>
              </a:r>
              <a:endParaRPr lang="en-US" sz="3000" b="1">
                <a:solidFill>
                  <a:schemeClr val="tx1"/>
                </a:solidFill>
                <a:latin typeface="Calibri" panose="020F0502020204030204" pitchFamily="34" charset="0"/>
              </a:endParaRPr>
            </a:p>
          </p:txBody>
        </p:sp>
        <p:grpSp>
          <p:nvGrpSpPr>
            <p:cNvPr id="16397" name="Group 39">
              <a:extLst>
                <a:ext uri="{FF2B5EF4-FFF2-40B4-BE49-F238E27FC236}">
                  <a16:creationId xmlns:a16="http://schemas.microsoft.com/office/drawing/2014/main" id="{49F108D0-25C6-4A14-3C69-B21CD1EDA35B}"/>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643EC267-9DB1-CA91-8521-964E096FE28C}"/>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7586F532-05E9-BD3F-0DFA-6F30BE72D6CD}"/>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17E5BAF3-C99E-00A9-F4A2-8F0D9BE557F0}"/>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8B431012-444A-94B3-F4A7-446448EAF4A5}"/>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0BEE1332-C3FC-B23E-4AAF-A7489247EA7D}"/>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105B6D71-9A09-7367-E2E8-B2454E827426}"/>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B448C213-3A29-B141-1469-68807A56FC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EEEEA93F-8C1F-FE06-8610-F9D8FEA90A77}"/>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051765D5-46FE-B15E-3D11-AC0E1E902C39}"/>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C088B79F-B5FC-8E47-CF2D-1E30E2873A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26BCF2FA-C74E-7B2C-BCDD-CB8B71AADA94}"/>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5593D654-9777-87CA-1368-B1377E77AE8E}"/>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BDD87ECB-539F-F513-17D7-C3A47AA07934}"/>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D268B01A-011C-FF1B-B0D2-55C3D9E5BB95}"/>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AA6BC7E3-B538-3EA8-13D0-665A5C3102AB}"/>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91AC1C9D-D334-8A51-6E4E-81E6F7A44B89}"/>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E5563100-0F8B-C8DD-6B63-E79F7A053285}"/>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3CC99E4D-7BCA-9616-32F5-17A5FA6821D8}"/>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7C4380FB-AADA-6B13-1486-334ADE008CDA}"/>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2983EF63-24A5-3EBB-6C4E-64BADA409D16}"/>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B0B2CF87-C2BA-0F55-9376-7C633AFD277D}"/>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C6D6EC52-C649-00FD-A4BF-75F3D4D0A4D3}"/>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9FCDD1D9-AFBD-6119-4820-D501ED3B80E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graphicFrame>
        <p:nvGraphicFramePr>
          <p:cNvPr id="5" name="Table 4">
            <a:extLst>
              <a:ext uri="{FF2B5EF4-FFF2-40B4-BE49-F238E27FC236}">
                <a16:creationId xmlns:a16="http://schemas.microsoft.com/office/drawing/2014/main" id="{7E34FF63-7D73-C0CD-2427-79DC82DFE05C}"/>
              </a:ext>
            </a:extLst>
          </p:cNvPr>
          <p:cNvGraphicFramePr>
            <a:graphicFrameLocks noGrp="1"/>
          </p:cNvGraphicFramePr>
          <p:nvPr>
            <p:custDataLst>
              <p:tags r:id="rId1"/>
            </p:custDataLst>
          </p:nvPr>
        </p:nvGraphicFramePr>
        <p:xfrm>
          <a:off x="138280" y="3975100"/>
          <a:ext cx="8877300" cy="1566710"/>
        </p:xfrm>
        <a:graphic>
          <a:graphicData uri="http://schemas.openxmlformats.org/drawingml/2006/table">
            <a:tbl>
              <a:tblPr/>
              <a:tblGrid>
                <a:gridCol w="1651000">
                  <a:extLst>
                    <a:ext uri="{9D8B030D-6E8A-4147-A177-3AD203B41FA5}">
                      <a16:colId xmlns:a16="http://schemas.microsoft.com/office/drawing/2014/main" val="3543708617"/>
                    </a:ext>
                  </a:extLst>
                </a:gridCol>
                <a:gridCol w="1397000">
                  <a:extLst>
                    <a:ext uri="{9D8B030D-6E8A-4147-A177-3AD203B41FA5}">
                      <a16:colId xmlns:a16="http://schemas.microsoft.com/office/drawing/2014/main" val="644628367"/>
                    </a:ext>
                  </a:extLst>
                </a:gridCol>
                <a:gridCol w="1397000">
                  <a:extLst>
                    <a:ext uri="{9D8B030D-6E8A-4147-A177-3AD203B41FA5}">
                      <a16:colId xmlns:a16="http://schemas.microsoft.com/office/drawing/2014/main" val="3570846876"/>
                    </a:ext>
                  </a:extLst>
                </a:gridCol>
                <a:gridCol w="1714500">
                  <a:extLst>
                    <a:ext uri="{9D8B030D-6E8A-4147-A177-3AD203B41FA5}">
                      <a16:colId xmlns:a16="http://schemas.microsoft.com/office/drawing/2014/main" val="3064816090"/>
                    </a:ext>
                  </a:extLst>
                </a:gridCol>
                <a:gridCol w="1270000">
                  <a:extLst>
                    <a:ext uri="{9D8B030D-6E8A-4147-A177-3AD203B41FA5}">
                      <a16:colId xmlns:a16="http://schemas.microsoft.com/office/drawing/2014/main" val="1903625330"/>
                    </a:ext>
                  </a:extLst>
                </a:gridCol>
                <a:gridCol w="1447800">
                  <a:extLst>
                    <a:ext uri="{9D8B030D-6E8A-4147-A177-3AD203B41FA5}">
                      <a16:colId xmlns:a16="http://schemas.microsoft.com/office/drawing/2014/main" val="3188178013"/>
                    </a:ext>
                  </a:extLst>
                </a:gridCol>
              </a:tblGrid>
              <a:tr h="111648">
                <a:tc>
                  <a:txBody>
                    <a:bodyPr/>
                    <a:lstStyle/>
                    <a:p>
                      <a:pPr algn="ctr" fontAlgn="b"/>
                      <a:r>
                        <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Item</a:t>
                      </a:r>
                    </a:p>
                  </a:txBody>
                  <a:tcPr marL="5795" marR="5795" marT="5795" marB="0" anchor="b">
                    <a:lnL>
                      <a:noFill/>
                    </a:lnL>
                    <a:lnR>
                      <a:noFill/>
                    </a:lnR>
                    <a:lnT>
                      <a:noFill/>
                    </a:lnT>
                    <a:lnB>
                      <a:noFill/>
                    </a:lnB>
                    <a:solidFill>
                      <a:srgbClr val="F2C755"/>
                    </a:solidFill>
                  </a:tcPr>
                </a:tc>
                <a:tc>
                  <a:txBody>
                    <a:bodyPr/>
                    <a:lstStyle/>
                    <a:p>
                      <a:pPr algn="ctr" fontAlgn="b"/>
                      <a:r>
                        <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Value</a:t>
                      </a:r>
                    </a:p>
                  </a:txBody>
                  <a:tcPr marL="5795" marR="5795" marT="5795" marB="0" anchor="b">
                    <a:lnL>
                      <a:noFill/>
                    </a:lnL>
                    <a:lnR>
                      <a:noFill/>
                    </a:lnR>
                    <a:lnT>
                      <a:noFill/>
                    </a:lnT>
                    <a:lnB>
                      <a:noFill/>
                    </a:lnB>
                    <a:solidFill>
                      <a:srgbClr val="F2C755"/>
                    </a:solidFill>
                  </a:tcPr>
                </a:tc>
                <a:tc>
                  <a:txBody>
                    <a:bodyPr/>
                    <a:lstStyle/>
                    <a:p>
                      <a:pPr algn="ctr" fontAlgn="b"/>
                      <a:r>
                        <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Basis</a:t>
                      </a:r>
                    </a:p>
                  </a:txBody>
                  <a:tcPr marL="5795" marR="5795" marT="5795" marB="0" anchor="b">
                    <a:lnL>
                      <a:noFill/>
                    </a:lnL>
                    <a:lnR>
                      <a:noFill/>
                    </a:lnR>
                    <a:lnT>
                      <a:noFill/>
                    </a:lnT>
                    <a:lnB>
                      <a:noFill/>
                    </a:lnB>
                    <a:solidFill>
                      <a:srgbClr val="F2C755"/>
                    </a:solidFill>
                  </a:tcPr>
                </a:tc>
                <a:tc>
                  <a:txBody>
                    <a:bodyPr/>
                    <a:lstStyle/>
                    <a:p>
                      <a:pPr algn="ctr" fontAlgn="b"/>
                      <a:r>
                        <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Comparison</a:t>
                      </a:r>
                    </a:p>
                  </a:txBody>
                  <a:tcPr marL="5795" marR="5795" marT="5795" marB="0" anchor="b">
                    <a:lnL>
                      <a:noFill/>
                    </a:lnL>
                    <a:lnR>
                      <a:noFill/>
                    </a:lnR>
                    <a:lnT>
                      <a:noFill/>
                    </a:lnT>
                    <a:lnB>
                      <a:noFill/>
                    </a:lnB>
                    <a:solidFill>
                      <a:srgbClr val="F2C755"/>
                    </a:solidFill>
                  </a:tcPr>
                </a:tc>
                <a:tc>
                  <a:txBody>
                    <a:bodyPr/>
                    <a:lstStyle/>
                    <a:p>
                      <a:pPr algn="ctr" fontAlgn="b"/>
                      <a:r>
                        <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Source</a:t>
                      </a:r>
                    </a:p>
                  </a:txBody>
                  <a:tcPr marL="5795" marR="5795" marT="5795" marB="0" anchor="b">
                    <a:lnL>
                      <a:noFill/>
                    </a:lnL>
                    <a:lnR>
                      <a:noFill/>
                    </a:lnR>
                    <a:lnT>
                      <a:noFill/>
                    </a:lnT>
                    <a:lnB>
                      <a:noFill/>
                    </a:lnB>
                    <a:solidFill>
                      <a:srgbClr val="F2C755"/>
                    </a:solidFill>
                  </a:tcPr>
                </a:tc>
                <a:tc>
                  <a:txBody>
                    <a:bodyPr/>
                    <a:lstStyle/>
                    <a:p>
                      <a:pPr algn="ctr" fontAlgn="b"/>
                      <a:r>
                        <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Comment</a:t>
                      </a:r>
                    </a:p>
                  </a:txBody>
                  <a:tcPr marL="5795" marR="5795" marT="5795" marB="0" anchor="b">
                    <a:lnL>
                      <a:noFill/>
                    </a:lnL>
                    <a:lnR>
                      <a:noFill/>
                    </a:lnR>
                    <a:lnT>
                      <a:noFill/>
                    </a:lnT>
                    <a:lnB>
                      <a:noFill/>
                    </a:lnB>
                    <a:solidFill>
                      <a:srgbClr val="F2C755"/>
                    </a:solidFill>
                  </a:tcPr>
                </a:tc>
                <a:extLst>
                  <a:ext uri="{0D108BD9-81ED-4DB2-BD59-A6C34878D82A}">
                    <a16:rowId xmlns:a16="http://schemas.microsoft.com/office/drawing/2014/main" val="3269936548"/>
                  </a:ext>
                </a:extLst>
              </a:tr>
              <a:tr h="71586">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Consolidated ROIC</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3.0%</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FactSet FY2025, after-tax</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Cost of debt 4.8%</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FactSet</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Below cost of debt</a:t>
                      </a:r>
                    </a:p>
                  </a:txBody>
                  <a:tcPr marL="5795" marR="5795" marT="5795" marB="0" anchor="b">
                    <a:lnL>
                      <a:noFill/>
                    </a:lnL>
                    <a:lnR>
                      <a:noFill/>
                    </a:lnR>
                    <a:lnT>
                      <a:noFill/>
                    </a:lnT>
                    <a:lnB>
                      <a:noFill/>
                    </a:lnB>
                    <a:solidFill>
                      <a:srgbClr val="FFFFFF"/>
                    </a:solidFill>
                  </a:tcPr>
                </a:tc>
                <a:extLst>
                  <a:ext uri="{0D108BD9-81ED-4DB2-BD59-A6C34878D82A}">
                    <a16:rowId xmlns:a16="http://schemas.microsoft.com/office/drawing/2014/main" val="2475478107"/>
                  </a:ext>
                </a:extLst>
              </a:tr>
              <a:tr h="74339">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GABX fleet economics at close</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Below-market lease rates, 97% utilization</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Acquired portfolio</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GATX legacy 99%</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Company disclosure</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Re-lease and fill upside; segment ROIC not disclosed</a:t>
                      </a:r>
                    </a:p>
                  </a:txBody>
                  <a:tcPr marL="5795" marR="5795" marT="5795" marB="0" anchor="b">
                    <a:lnL>
                      <a:noFill/>
                    </a:lnL>
                    <a:lnR>
                      <a:noFill/>
                    </a:lnR>
                    <a:lnT>
                      <a:noFill/>
                    </a:lnT>
                    <a:lnB>
                      <a:noFill/>
                    </a:lnB>
                    <a:solidFill>
                      <a:srgbClr val="F2F2F2"/>
                    </a:solidFill>
                  </a:tcPr>
                </a:tc>
                <a:extLst>
                  <a:ext uri="{0D108BD9-81ED-4DB2-BD59-A6C34878D82A}">
                    <a16:rowId xmlns:a16="http://schemas.microsoft.com/office/drawing/2014/main" val="3851748262"/>
                  </a:ext>
                </a:extLst>
              </a:tr>
              <a:tr h="71586">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Ownership</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30% GATX</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JV with Brookfield</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70% Brookfield</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8-K, 2026-01-01</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GATX manages fleet</a:t>
                      </a:r>
                    </a:p>
                  </a:txBody>
                  <a:tcPr marL="5795" marR="5795" marT="5795" marB="0" anchor="b">
                    <a:lnL>
                      <a:noFill/>
                    </a:lnL>
                    <a:lnR>
                      <a:noFill/>
                    </a:lnR>
                    <a:lnT>
                      <a:noFill/>
                    </a:lnT>
                    <a:lnB>
                      <a:noFill/>
                    </a:lnB>
                    <a:solidFill>
                      <a:srgbClr val="FFFFFF"/>
                    </a:solidFill>
                  </a:tcPr>
                </a:tc>
                <a:extLst>
                  <a:ext uri="{0D108BD9-81ED-4DB2-BD59-A6C34878D82A}">
                    <a16:rowId xmlns:a16="http://schemas.microsoft.com/office/drawing/2014/main" val="2060936024"/>
                  </a:ext>
                </a:extLst>
              </a:tr>
              <a:tr h="71586">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First call tranche</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1.56x book</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Brookfield stake</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Call rights over time</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Company disclosure</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Price paid</a:t>
                      </a:r>
                    </a:p>
                  </a:txBody>
                  <a:tcPr marL="5795" marR="5795" marT="5795" marB="0" anchor="b">
                    <a:lnL>
                      <a:noFill/>
                    </a:lnL>
                    <a:lnR>
                      <a:noFill/>
                    </a:lnR>
                    <a:lnT>
                      <a:noFill/>
                    </a:lnT>
                    <a:lnB>
                      <a:noFill/>
                    </a:lnB>
                    <a:solidFill>
                      <a:srgbClr val="F2F2F2"/>
                    </a:solidFill>
                  </a:tcPr>
                </a:tc>
                <a:extLst>
                  <a:ext uri="{0D108BD9-81ED-4DB2-BD59-A6C34878D82A}">
                    <a16:rowId xmlns:a16="http://schemas.microsoft.com/office/drawing/2014/main" val="664777215"/>
                  </a:ext>
                </a:extLst>
              </a:tr>
              <a:tr h="71586">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Acquired fleet</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About 101,000 cars</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From Wells Fargo</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GATX legacy 99,560</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8-K, 2026-01-01</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Fleet doubled</a:t>
                      </a:r>
                    </a:p>
                  </a:txBody>
                  <a:tcPr marL="5795" marR="5795" marT="5795" marB="0" anchor="b">
                    <a:lnL>
                      <a:noFill/>
                    </a:lnL>
                    <a:lnR>
                      <a:noFill/>
                    </a:lnR>
                    <a:lnT>
                      <a:noFill/>
                    </a:lnT>
                    <a:lnB>
                      <a:noFill/>
                    </a:lnB>
                    <a:solidFill>
                      <a:srgbClr val="FFFFFF"/>
                    </a:solidFill>
                  </a:tcPr>
                </a:tc>
                <a:extLst>
                  <a:ext uri="{0D108BD9-81ED-4DB2-BD59-A6C34878D82A}">
                    <a16:rowId xmlns:a16="http://schemas.microsoft.com/office/drawing/2014/main" val="543241253"/>
                  </a:ext>
                </a:extLst>
              </a:tr>
              <a:tr h="71586">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Acquired utilization</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97%</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close</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GATX legacy 99%</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Company disclosure</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2,000 to 2,500 cars to fill</a:t>
                      </a:r>
                    </a:p>
                  </a:txBody>
                  <a:tcPr marL="5795" marR="5795" marT="5795" marB="0" anchor="b">
                    <a:lnL>
                      <a:noFill/>
                    </a:lnL>
                    <a:lnR>
                      <a:noFill/>
                    </a:lnR>
                    <a:lnT>
                      <a:noFill/>
                    </a:lnT>
                    <a:lnB>
                      <a:noFill/>
                    </a:lnB>
                    <a:solidFill>
                      <a:srgbClr val="F2F2F2"/>
                    </a:solidFill>
                  </a:tcPr>
                </a:tc>
                <a:extLst>
                  <a:ext uri="{0D108BD9-81ED-4DB2-BD59-A6C34878D82A}">
                    <a16:rowId xmlns:a16="http://schemas.microsoft.com/office/drawing/2014/main" val="3869825853"/>
                  </a:ext>
                </a:extLst>
              </a:tr>
              <a:tr h="71586">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Acquired lease rates</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Below legacy</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close</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Re-lease upside as rolls</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Company disclosure</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Upside driver</a:t>
                      </a:r>
                    </a:p>
                  </a:txBody>
                  <a:tcPr marL="5795" marR="5795" marT="5795" marB="0" anchor="b">
                    <a:lnL>
                      <a:noFill/>
                    </a:lnL>
                    <a:lnR>
                      <a:noFill/>
                    </a:lnR>
                    <a:lnT>
                      <a:noFill/>
                    </a:lnT>
                    <a:lnB>
                      <a:noFill/>
                    </a:lnB>
                    <a:solidFill>
                      <a:srgbClr val="FFFFFF"/>
                    </a:solidFill>
                  </a:tcPr>
                </a:tc>
                <a:extLst>
                  <a:ext uri="{0D108BD9-81ED-4DB2-BD59-A6C34878D82A}">
                    <a16:rowId xmlns:a16="http://schemas.microsoft.com/office/drawing/2014/main" val="2459204876"/>
                  </a:ext>
                </a:extLst>
              </a:tr>
              <a:tr h="71586">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GABX term loan</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$2,959M at 5.02%</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Floating, due Dec 2030</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Guaranteed by GATX Corp</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FY2025 10-K</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Funds the deal</a:t>
                      </a:r>
                    </a:p>
                  </a:txBody>
                  <a:tcPr marL="5795" marR="5795" marT="5795" marB="0" anchor="b">
                    <a:lnL>
                      <a:noFill/>
                    </a:lnL>
                    <a:lnR>
                      <a:noFill/>
                    </a:lnR>
                    <a:lnT>
                      <a:noFill/>
                    </a:lnT>
                    <a:lnB>
                      <a:noFill/>
                    </a:lnB>
                    <a:solidFill>
                      <a:srgbClr val="F2F2F2"/>
                    </a:solidFill>
                  </a:tcPr>
                </a:tc>
                <a:extLst>
                  <a:ext uri="{0D108BD9-81ED-4DB2-BD59-A6C34878D82A}">
                    <a16:rowId xmlns:a16="http://schemas.microsoft.com/office/drawing/2014/main" val="3443837047"/>
                  </a:ext>
                </a:extLst>
              </a:tr>
              <a:tr h="71586">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Renewal bridge, GABX share</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About $9M pretax</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2027E</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30% economic share</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BMG Capital</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Part of +$45M bridge</a:t>
                      </a:r>
                    </a:p>
                  </a:txBody>
                  <a:tcPr marL="5795" marR="5795" marT="5795" marB="0" anchor="b">
                    <a:lnL>
                      <a:noFill/>
                    </a:lnL>
                    <a:lnR>
                      <a:noFill/>
                    </a:lnR>
                    <a:lnT>
                      <a:noFill/>
                    </a:lnT>
                    <a:lnB>
                      <a:noFill/>
                    </a:lnB>
                    <a:solidFill>
                      <a:srgbClr val="FFFFFF"/>
                    </a:solidFill>
                  </a:tcPr>
                </a:tc>
                <a:extLst>
                  <a:ext uri="{0D108BD9-81ED-4DB2-BD59-A6C34878D82A}">
                    <a16:rowId xmlns:a16="http://schemas.microsoft.com/office/drawing/2014/main" val="583685661"/>
                  </a:ext>
                </a:extLst>
              </a:tr>
            </a:tbl>
          </a:graphicData>
        </a:graphic>
      </p:graphicFrame>
      <p:sp>
        <p:nvSpPr>
          <p:cNvPr id="12" name="Text Box 2">
            <a:extLst>
              <a:ext uri="{FF2B5EF4-FFF2-40B4-BE49-F238E27FC236}">
                <a16:creationId xmlns:a16="http://schemas.microsoft.com/office/drawing/2014/main" id="{825D4B55-BD0E-ADE4-ACE5-B1D0FDAC0A78}"/>
              </a:ext>
            </a:extLst>
          </p:cNvPr>
          <p:cNvSpPr txBox="1">
            <a:spLocks noChangeArrowheads="1"/>
          </p:cNvSpPr>
          <p:nvPr/>
        </p:nvSpPr>
        <p:spPr bwMode="auto">
          <a:xfrm>
            <a:off x="125780" y="3733800"/>
            <a:ext cx="5286340" cy="237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panose="020F0502020204030204" pitchFamily="34" charset="0"/>
                <a:ea typeface="Calibri" panose="020F0502020204030204" pitchFamily="34" charset="0"/>
                <a:cs typeface="Calibri" panose="020F0502020204030204" pitchFamily="34" charset="0"/>
              </a:rPr>
              <a:t>Figure 12:  GABX economics and the re-lease opportunity</a:t>
            </a:r>
          </a:p>
        </p:txBody>
      </p:sp>
      <p:pic>
        <p:nvPicPr>
          <p:cNvPr id="2" name="Picture 1" descr="A black background with blue text&#10;&#10;Description automatically generated">
            <a:extLst>
              <a:ext uri="{FF2B5EF4-FFF2-40B4-BE49-F238E27FC236}">
                <a16:creationId xmlns:a16="http://schemas.microsoft.com/office/drawing/2014/main" id="{4F692809-689B-8C08-0895-A850F2655BD8}"/>
              </a:ext>
            </a:extLst>
          </p:cNvPr>
          <p:cNvPicPr>
            <a:picLocks noChangeAspect="1"/>
          </p:cNvPicPr>
          <p:nvPr/>
        </p:nvPicPr>
        <p:blipFill>
          <a:blip r:embed="rId7">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6" name="Text Box 2">
            <a:extLst>
              <a:ext uri="{FF2B5EF4-FFF2-40B4-BE49-F238E27FC236}">
                <a16:creationId xmlns:a16="http://schemas.microsoft.com/office/drawing/2014/main" id="{DEE34829-B69A-B9D2-6542-E452C449DD90}"/>
              </a:ext>
            </a:extLst>
          </p:cNvPr>
          <p:cNvSpPr txBox="1">
            <a:spLocks noChangeArrowheads="1"/>
          </p:cNvSpPr>
          <p:nvPr/>
        </p:nvSpPr>
        <p:spPr bwMode="auto">
          <a:xfrm>
            <a:off x="4013200" y="711200"/>
            <a:ext cx="22352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10: ROIC and return on total capital versus cost of debt (%)</a:t>
            </a:r>
          </a:p>
        </p:txBody>
      </p:sp>
      <p:sp>
        <p:nvSpPr>
          <p:cNvPr id="10" name="Arrow: Right 9">
            <a:extLst>
              <a:ext uri="{FF2B5EF4-FFF2-40B4-BE49-F238E27FC236}">
                <a16:creationId xmlns:a16="http://schemas.microsoft.com/office/drawing/2014/main" id="{9DBDB2EF-600B-8E36-92BB-DF33A638300D}"/>
              </a:ext>
            </a:extLst>
          </p:cNvPr>
          <p:cNvSpPr/>
          <p:nvPr/>
        </p:nvSpPr>
        <p:spPr>
          <a:xfrm rot="5400000">
            <a:off x="1638300" y="1955800"/>
            <a:ext cx="711200" cy="431800"/>
          </a:xfrm>
          <a:prstGeom prst="rightArrow">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75000"/>
                </a:schemeClr>
              </a:solidFill>
            </a:endParaRPr>
          </a:p>
        </p:txBody>
      </p:sp>
      <p:sp>
        <p:nvSpPr>
          <p:cNvPr id="11" name="Rectangle 10">
            <a:extLst>
              <a:ext uri="{FF2B5EF4-FFF2-40B4-BE49-F238E27FC236}">
                <a16:creationId xmlns:a16="http://schemas.microsoft.com/office/drawing/2014/main" id="{133E5517-7686-A8DD-4AE7-57F2FE7B3540}"/>
              </a:ext>
            </a:extLst>
          </p:cNvPr>
          <p:cNvSpPr/>
          <p:nvPr/>
        </p:nvSpPr>
        <p:spPr>
          <a:xfrm>
            <a:off x="127000" y="800100"/>
            <a:ext cx="3746500" cy="11176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GATX spends about $1.3B to $1.7B a year buying railcars. Fleet growth is the rate-base equivalent for a lessor: more cars, more lease revenue. GABX added 101,000 cars in a single transaction.</a:t>
            </a:r>
          </a:p>
        </p:txBody>
      </p:sp>
      <p:sp>
        <p:nvSpPr>
          <p:cNvPr id="13" name="Rectangle 12">
            <a:extLst>
              <a:ext uri="{FF2B5EF4-FFF2-40B4-BE49-F238E27FC236}">
                <a16:creationId xmlns:a16="http://schemas.microsoft.com/office/drawing/2014/main" id="{D30E094F-172F-0D25-4DCB-C165F7127CFB}"/>
              </a:ext>
            </a:extLst>
          </p:cNvPr>
          <p:cNvSpPr/>
          <p:nvPr/>
        </p:nvSpPr>
        <p:spPr>
          <a:xfrm>
            <a:off x="165100" y="2438400"/>
            <a:ext cx="3708400" cy="13208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ROIC 3.0% (FactSet, FY2025, after-tax) and return on total capital 3.9%.</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On a standard after-tax basis, GATX earns below its cost of debt on assets; the return to equity comes through a 5.95x equity multiplier.</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GATX paid 1.56x book value for the first Brookfield call tranche.</a:t>
            </a:r>
          </a:p>
        </p:txBody>
      </p:sp>
      <p:sp>
        <p:nvSpPr>
          <p:cNvPr id="14" name="TextBox 13">
            <a:extLst>
              <a:ext uri="{FF2B5EF4-FFF2-40B4-BE49-F238E27FC236}">
                <a16:creationId xmlns:a16="http://schemas.microsoft.com/office/drawing/2014/main" id="{C2361574-CAC6-077E-3E68-8DD836F0C59C}"/>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9</a:t>
            </a:fld>
            <a:endParaRPr lang="en-US" sz="1400">
              <a:latin typeface="Calibri" panose="020F0502020204030204" pitchFamily="34" charset="0"/>
              <a:cs typeface="Calibri" panose="020F0502020204030204" pitchFamily="34" charset="0"/>
            </a:endParaRPr>
          </a:p>
        </p:txBody>
      </p:sp>
      <p:sp>
        <p:nvSpPr>
          <p:cNvPr id="15" name="Text Box 2">
            <a:extLst>
              <a:ext uri="{FF2B5EF4-FFF2-40B4-BE49-F238E27FC236}">
                <a16:creationId xmlns:a16="http://schemas.microsoft.com/office/drawing/2014/main" id="{26FE04FC-1A1D-6278-F1A2-434CB2CB8C0A}"/>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6405" name="Chart"/>
          <p:cNvGraphicFramePr/>
          <p:nvPr/>
        </p:nvGraphicFramePr>
        <p:xfrm>
          <a:off x="4013200" y="1168400"/>
          <a:ext cx="2235200" cy="2324100"/>
        </p:xfrm>
        <a:graphic>
          <a:graphicData uri="http://schemas.openxmlformats.org/drawingml/2006/chart">
            <c:chart xmlns:c="http://schemas.openxmlformats.org/drawingml/2006/chart" xmlns:r="http://schemas.openxmlformats.org/officeDocument/2006/relationships" r:id="rId8"/>
          </a:graphicData>
        </a:graphic>
      </p:graphicFrame>
      <p:sp>
        <p:nvSpPr>
          <p:cNvPr id="3" name="Capex caption">
            <a:extLst>
              <a:ext uri="{FF2B5EF4-FFF2-40B4-BE49-F238E27FC236}">
                <a16:creationId xmlns:a16="http://schemas.microsoft.com/office/drawing/2014/main" id="{136019E8-1CD7-4FFF-91EC-D7EE6A0A1915}"/>
              </a:ext>
            </a:extLst>
          </p:cNvPr>
          <p:cNvSpPr txBox="1"/>
          <p:nvPr/>
        </p:nvSpPr>
        <p:spPr>
          <a:xfrm>
            <a:off x="6324600" y="711200"/>
            <a:ext cx="2692400" cy="431800"/>
          </a:xfrm>
          <a:prstGeom prst="rect">
            <a:avLst/>
          </a:prstGeom>
          <a:noFill/>
        </p:spPr>
        <p:txBody>
          <a:bodyPr vertOverflow="overflow" vert="horz" wrap="square" rtlCol="0" anchor="t">
            <a:noAutofit/>
          </a:bodyPr>
          <a:lstStyle/>
          <a:p>
            <a:pPr algn="l"/>
            <a:r>
              <a:rPr lang="en-US" sz="1200">
                <a:solidFill>
                  <a:srgbClr val="000000"/>
                </a:solidFill>
                <a:latin typeface="Calibri"/>
                <a:ea typeface="Calibri"/>
                <a:cs typeface="Calibri"/>
              </a:rPr>
              <a:t>Figure 11: Annual capital expenditure, the fleet-growth engine.</a:t>
            </a:r>
          </a:p>
        </p:txBody>
      </p:sp>
      <p:graphicFrame>
        <p:nvGraphicFramePr>
          <p:cNvPr id="16406" name="Chart"/>
          <p:cNvGraphicFramePr/>
          <p:nvPr/>
        </p:nvGraphicFramePr>
        <p:xfrm>
          <a:off x="6324600" y="1168400"/>
          <a:ext cx="2692400" cy="2324100"/>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1618941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92" name="Group 37">
            <a:extLst>
              <a:ext uri="{FF2B5EF4-FFF2-40B4-BE49-F238E27FC236}">
                <a16:creationId xmlns:a16="http://schemas.microsoft.com/office/drawing/2014/main" id="{FF033111-B951-9636-AD00-C84B010055C9}"/>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1ECAC96A-76BB-8A19-9051-5D645F1B6778}"/>
                </a:ext>
              </a:extLst>
            </p:cNvPr>
            <p:cNvSpPr txBox="1">
              <a:spLocks/>
            </p:cNvSpPr>
            <p:nvPr/>
          </p:nvSpPr>
          <p:spPr>
            <a:xfrm>
              <a:off x="-2" y="-17873"/>
              <a:ext cx="11270514" cy="733643"/>
            </a:xfrm>
            <a:prstGeom prst="rect">
              <a:avLst/>
            </a:prstGeom>
            <a:noFill/>
            <a:ln>
              <a:noFill/>
            </a:ln>
          </p:spPr>
          <p:txBody>
            <a:bodyPr lIns="91440" tIns="45720" rIns="91440" bIns="45720"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000" b="1">
                  <a:solidFill>
                    <a:srgbClr val="000000"/>
                  </a:solidFill>
                  <a:latin typeface="Calibri" panose="020F0502020204030204" pitchFamily="34" charset="0"/>
                  <a:ea typeface="Calibri" panose="020F0502020204030204" pitchFamily="34" charset="0"/>
                  <a:cs typeface="Calibri" panose="020F0502020204030204" pitchFamily="34" charset="0"/>
                </a:rPr>
                <a:t>Driver: Renewal Pricing</a:t>
              </a:r>
            </a:p>
          </p:txBody>
        </p:sp>
        <p:grpSp>
          <p:nvGrpSpPr>
            <p:cNvPr id="16397" name="Group 39">
              <a:extLst>
                <a:ext uri="{FF2B5EF4-FFF2-40B4-BE49-F238E27FC236}">
                  <a16:creationId xmlns:a16="http://schemas.microsoft.com/office/drawing/2014/main" id="{3BF8580A-A543-0E63-34A9-091F097A2082}"/>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D2767999-E6BF-BB3C-3732-4C3A13656584}"/>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sp>
            <p:nvSpPr>
              <p:cNvPr id="43" name="Rectangle 42">
                <a:extLst>
                  <a:ext uri="{FF2B5EF4-FFF2-40B4-BE49-F238E27FC236}">
                    <a16:creationId xmlns:a16="http://schemas.microsoft.com/office/drawing/2014/main" id="{8E5136B2-2A48-2B9B-8790-6490A8181776}"/>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56" name="Group 55">
            <a:extLst>
              <a:ext uri="{FF2B5EF4-FFF2-40B4-BE49-F238E27FC236}">
                <a16:creationId xmlns:a16="http://schemas.microsoft.com/office/drawing/2014/main" id="{2F9C5554-F9AE-1678-237F-486865E87AAF}"/>
              </a:ext>
            </a:extLst>
          </p:cNvPr>
          <p:cNvGrpSpPr/>
          <p:nvPr/>
        </p:nvGrpSpPr>
        <p:grpSpPr>
          <a:xfrm>
            <a:off x="0" y="6265664"/>
            <a:ext cx="9144000" cy="457200"/>
            <a:chOff x="0" y="2732884"/>
            <a:chExt cx="9144000" cy="457200"/>
          </a:xfrm>
        </p:grpSpPr>
        <p:sp>
          <p:nvSpPr>
            <p:cNvPr id="57" name="Rectangle 56">
              <a:extLst>
                <a:ext uri="{FF2B5EF4-FFF2-40B4-BE49-F238E27FC236}">
                  <a16:creationId xmlns:a16="http://schemas.microsoft.com/office/drawing/2014/main" id="{9951403A-D085-D6B5-D8A7-C329CBED88A5}"/>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8" name="Group 57">
              <a:extLst>
                <a:ext uri="{FF2B5EF4-FFF2-40B4-BE49-F238E27FC236}">
                  <a16:creationId xmlns:a16="http://schemas.microsoft.com/office/drawing/2014/main" id="{4BB0C336-01C3-A1D0-CEDD-FCA94541EC64}"/>
                </a:ext>
              </a:extLst>
            </p:cNvPr>
            <p:cNvGrpSpPr/>
            <p:nvPr/>
          </p:nvGrpSpPr>
          <p:grpSpPr>
            <a:xfrm>
              <a:off x="5021579" y="2732884"/>
              <a:ext cx="545306" cy="457200"/>
              <a:chOff x="4981575" y="2712036"/>
              <a:chExt cx="545306" cy="457200"/>
            </a:xfrm>
          </p:grpSpPr>
          <p:sp>
            <p:nvSpPr>
              <p:cNvPr id="16395" name="Oval 16394">
                <a:extLst>
                  <a:ext uri="{FF2B5EF4-FFF2-40B4-BE49-F238E27FC236}">
                    <a16:creationId xmlns:a16="http://schemas.microsoft.com/office/drawing/2014/main" id="{5224BE24-7911-5B40-9D67-19DCC743B09F}"/>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396" name="Picture 16395" descr="Related image">
                <a:extLst>
                  <a:ext uri="{FF2B5EF4-FFF2-40B4-BE49-F238E27FC236}">
                    <a16:creationId xmlns:a16="http://schemas.microsoft.com/office/drawing/2014/main" id="{FB181001-1BE7-E847-AD0D-1F5278D7D1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9" name="Group 58">
              <a:extLst>
                <a:ext uri="{FF2B5EF4-FFF2-40B4-BE49-F238E27FC236}">
                  <a16:creationId xmlns:a16="http://schemas.microsoft.com/office/drawing/2014/main" id="{CC7B6F4C-B5E0-A8D6-B055-44BEA7882AB2}"/>
                </a:ext>
              </a:extLst>
            </p:cNvPr>
            <p:cNvGrpSpPr/>
            <p:nvPr/>
          </p:nvGrpSpPr>
          <p:grpSpPr>
            <a:xfrm>
              <a:off x="7910513" y="2732884"/>
              <a:ext cx="545306" cy="457200"/>
              <a:chOff x="7731919" y="2712036"/>
              <a:chExt cx="545306" cy="457200"/>
            </a:xfrm>
          </p:grpSpPr>
          <p:sp>
            <p:nvSpPr>
              <p:cNvPr id="16393" name="Oval 16392">
                <a:extLst>
                  <a:ext uri="{FF2B5EF4-FFF2-40B4-BE49-F238E27FC236}">
                    <a16:creationId xmlns:a16="http://schemas.microsoft.com/office/drawing/2014/main" id="{3AEED9A6-DEDC-8CB6-BCCF-4794E1CC3F3A}"/>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394" name="Picture 16393" descr="Related image">
                <a:extLst>
                  <a:ext uri="{FF2B5EF4-FFF2-40B4-BE49-F238E27FC236}">
                    <a16:creationId xmlns:a16="http://schemas.microsoft.com/office/drawing/2014/main" id="{AE666A33-6111-9E69-F657-5ED6917808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60" name="Oval 59">
              <a:extLst>
                <a:ext uri="{FF2B5EF4-FFF2-40B4-BE49-F238E27FC236}">
                  <a16:creationId xmlns:a16="http://schemas.microsoft.com/office/drawing/2014/main" id="{01F758B0-4C50-2BF2-DEA7-865BCF012291}"/>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1" name="Group 60">
              <a:extLst>
                <a:ext uri="{FF2B5EF4-FFF2-40B4-BE49-F238E27FC236}">
                  <a16:creationId xmlns:a16="http://schemas.microsoft.com/office/drawing/2014/main" id="{EE3837CD-2203-51AE-2F8F-B02B0BCF83EF}"/>
                </a:ext>
              </a:extLst>
            </p:cNvPr>
            <p:cNvGrpSpPr/>
            <p:nvPr/>
          </p:nvGrpSpPr>
          <p:grpSpPr>
            <a:xfrm>
              <a:off x="6466045" y="2732884"/>
              <a:ext cx="545306" cy="457200"/>
              <a:chOff x="6353175" y="2712036"/>
              <a:chExt cx="545306" cy="457200"/>
            </a:xfrm>
          </p:grpSpPr>
          <p:sp>
            <p:nvSpPr>
              <p:cNvPr id="16390" name="Oval 16389">
                <a:extLst>
                  <a:ext uri="{FF2B5EF4-FFF2-40B4-BE49-F238E27FC236}">
                    <a16:creationId xmlns:a16="http://schemas.microsoft.com/office/drawing/2014/main" id="{88D02F1B-D494-B137-9165-2B472997566E}"/>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1" name="Graphic 14379" descr="Dollar with solid fill">
                <a:extLst>
                  <a:ext uri="{FF2B5EF4-FFF2-40B4-BE49-F238E27FC236}">
                    <a16:creationId xmlns:a16="http://schemas.microsoft.com/office/drawing/2014/main" id="{C375225B-0B75-97A5-1EC4-6FEE077D0E15}"/>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2" name="Group 61">
              <a:extLst>
                <a:ext uri="{FF2B5EF4-FFF2-40B4-BE49-F238E27FC236}">
                  <a16:creationId xmlns:a16="http://schemas.microsoft.com/office/drawing/2014/main" id="{4D12AD03-AC46-382F-A3C5-2F32ECFF64AA}"/>
                </a:ext>
              </a:extLst>
            </p:cNvPr>
            <p:cNvGrpSpPr/>
            <p:nvPr/>
          </p:nvGrpSpPr>
          <p:grpSpPr>
            <a:xfrm>
              <a:off x="3577113" y="2732884"/>
              <a:ext cx="545306" cy="457200"/>
              <a:chOff x="3609974" y="2715607"/>
              <a:chExt cx="545306" cy="457200"/>
            </a:xfrm>
          </p:grpSpPr>
          <p:sp>
            <p:nvSpPr>
              <p:cNvPr id="16386" name="Oval 16385">
                <a:extLst>
                  <a:ext uri="{FF2B5EF4-FFF2-40B4-BE49-F238E27FC236}">
                    <a16:creationId xmlns:a16="http://schemas.microsoft.com/office/drawing/2014/main" id="{C90894E1-A9C3-2293-7358-7201A76BE5F9}"/>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87" name="Group 16386">
                <a:extLst>
                  <a:ext uri="{FF2B5EF4-FFF2-40B4-BE49-F238E27FC236}">
                    <a16:creationId xmlns:a16="http://schemas.microsoft.com/office/drawing/2014/main" id="{F5B85EEA-C73C-D33B-AAA6-EA2579C97B59}"/>
                  </a:ext>
                </a:extLst>
              </p:cNvPr>
              <p:cNvGrpSpPr/>
              <p:nvPr/>
            </p:nvGrpSpPr>
            <p:grpSpPr>
              <a:xfrm>
                <a:off x="3769049" y="2811218"/>
                <a:ext cx="227157" cy="265979"/>
                <a:chOff x="3771206" y="2761936"/>
                <a:chExt cx="227157" cy="265979"/>
              </a:xfrm>
            </p:grpSpPr>
            <p:sp>
              <p:nvSpPr>
                <p:cNvPr id="16388" name="Freeform: Shape 16387">
                  <a:extLst>
                    <a:ext uri="{FF2B5EF4-FFF2-40B4-BE49-F238E27FC236}">
                      <a16:creationId xmlns:a16="http://schemas.microsoft.com/office/drawing/2014/main" id="{9A5A8C50-1ACA-E3D9-EBF0-95C62B1B9307}"/>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89" name="Freeform: Shape 16388">
                  <a:extLst>
                    <a:ext uri="{FF2B5EF4-FFF2-40B4-BE49-F238E27FC236}">
                      <a16:creationId xmlns:a16="http://schemas.microsoft.com/office/drawing/2014/main" id="{3980B5D2-7AAB-A99A-5F25-6CD6C5236D5F}"/>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3" name="Group 62">
              <a:extLst>
                <a:ext uri="{FF2B5EF4-FFF2-40B4-BE49-F238E27FC236}">
                  <a16:creationId xmlns:a16="http://schemas.microsoft.com/office/drawing/2014/main" id="{4A0DF618-8457-89E2-555B-34E6E40AA939}"/>
                </a:ext>
              </a:extLst>
            </p:cNvPr>
            <p:cNvGrpSpPr/>
            <p:nvPr/>
          </p:nvGrpSpPr>
          <p:grpSpPr>
            <a:xfrm>
              <a:off x="2132647" y="2732884"/>
              <a:ext cx="545306" cy="457200"/>
              <a:chOff x="2238375" y="2712635"/>
              <a:chExt cx="545306" cy="457200"/>
            </a:xfrm>
          </p:grpSpPr>
          <p:sp>
            <p:nvSpPr>
              <p:cNvPr id="16384" name="Oval 16383">
                <a:extLst>
                  <a:ext uri="{FF2B5EF4-FFF2-40B4-BE49-F238E27FC236}">
                    <a16:creationId xmlns:a16="http://schemas.microsoft.com/office/drawing/2014/main" id="{92EE2F15-64E0-86FF-8CF1-3CC0DBCA89D4}"/>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85" name="Graphic 14377" descr="Board Of Directors with solid fill">
                <a:extLst>
                  <a:ext uri="{FF2B5EF4-FFF2-40B4-BE49-F238E27FC236}">
                    <a16:creationId xmlns:a16="http://schemas.microsoft.com/office/drawing/2014/main" id="{73B58C55-71AE-59D5-9A3D-5ACD2C4817AF}"/>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398" name="Graphic 16397" descr="Lights On with solid fill">
            <a:extLst>
              <a:ext uri="{FF2B5EF4-FFF2-40B4-BE49-F238E27FC236}">
                <a16:creationId xmlns:a16="http://schemas.microsoft.com/office/drawing/2014/main" id="{182B67F7-A8D1-AF6F-C291-9AA668081D4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sp>
        <p:nvSpPr>
          <p:cNvPr id="17" name="Rectangle 16">
            <a:extLst>
              <a:ext uri="{FF2B5EF4-FFF2-40B4-BE49-F238E27FC236}">
                <a16:creationId xmlns:a16="http://schemas.microsoft.com/office/drawing/2014/main" id="{D27762B6-8E1C-446A-735B-184D7BF9B788}"/>
              </a:ext>
            </a:extLst>
          </p:cNvPr>
          <p:cNvSpPr/>
          <p:nvPr/>
        </p:nvSpPr>
        <p:spPr>
          <a:xfrm>
            <a:off x="126452" y="743027"/>
            <a:ext cx="2075899" cy="708031"/>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Renewal pricing is the rate reset on about 12% of the fleet each year.</a:t>
            </a:r>
          </a:p>
        </p:txBody>
      </p:sp>
      <p:sp>
        <p:nvSpPr>
          <p:cNvPr id="21" name="Rectangle 20">
            <a:extLst>
              <a:ext uri="{FF2B5EF4-FFF2-40B4-BE49-F238E27FC236}">
                <a16:creationId xmlns:a16="http://schemas.microsoft.com/office/drawing/2014/main" id="{92B7D91B-6392-00D8-093D-4A485114C61C}"/>
              </a:ext>
            </a:extLst>
          </p:cNvPr>
          <p:cNvSpPr/>
          <p:nvPr/>
        </p:nvSpPr>
        <p:spPr>
          <a:xfrm>
            <a:off x="126452" y="3274752"/>
            <a:ext cx="2075900" cy="2815889"/>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Sensitivity: halving the LPI from 16.8% to roughly 8% costs about 4% of EPS in year one, because only about 12% of the fleet renews in any year.</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The reverse also holds: for repricing alone to make GATX a BUY under the rating rule, LPI would need to reach about +80%. Repricing cannot carry the call.</a:t>
            </a:r>
          </a:p>
          <a:p>
            <a:pPr>
              <a:spcBef>
                <a:spcPts val="0"/>
              </a:spcBef>
              <a:spcAft>
                <a:spcPts val="0"/>
              </a:spcAft>
              <a:defRPr/>
            </a:pPr>
            <a:r>
              <a:rPr sz="1200">
                <a:solidFill>
                  <a:srgbClr val="000000"/>
                </a:solidFill>
                <a:latin typeface="Calibri"/>
              </a:rPr>
              <a:t>Kill criterion: an LPI print below +10% triggers an exit review.</a:t>
            </a:r>
          </a:p>
        </p:txBody>
      </p:sp>
      <p:sp>
        <p:nvSpPr>
          <p:cNvPr id="2" name="Rectangle 1">
            <a:extLst>
              <a:ext uri="{FF2B5EF4-FFF2-40B4-BE49-F238E27FC236}">
                <a16:creationId xmlns:a16="http://schemas.microsoft.com/office/drawing/2014/main" id="{AC71A7C8-4F99-C58B-6953-6F13DB96FCF8}"/>
              </a:ext>
            </a:extLst>
          </p:cNvPr>
          <p:cNvSpPr/>
          <p:nvPr/>
        </p:nvSpPr>
        <p:spPr>
          <a:xfrm>
            <a:off x="2379306" y="5247564"/>
            <a:ext cx="6638242" cy="834886"/>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The 2026 to 2027 renewal bridge is about +$45M pretax: roughly $32M from Rail North America renewals, $9M from GABX joint-venture renewals at GATX's 30% share, and $4M from filling idle acquired cars.</a:t>
            </a:r>
          </a:p>
        </p:txBody>
      </p:sp>
      <p:sp>
        <p:nvSpPr>
          <p:cNvPr id="5" name="Text Box 2">
            <a:extLst>
              <a:ext uri="{FF2B5EF4-FFF2-40B4-BE49-F238E27FC236}">
                <a16:creationId xmlns:a16="http://schemas.microsoft.com/office/drawing/2014/main" id="{68D66104-813C-D2A1-13CB-229E89B71D1D}"/>
              </a:ext>
            </a:extLst>
          </p:cNvPr>
          <p:cNvSpPr txBox="1">
            <a:spLocks noChangeArrowheads="1"/>
          </p:cNvSpPr>
          <p:nvPr/>
        </p:nvSpPr>
        <p:spPr bwMode="auto">
          <a:xfrm>
            <a:off x="2379306" y="634951"/>
            <a:ext cx="6782333"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13:  Renewal pricing inputs and the 2026 to 2027 bridge</a:t>
            </a:r>
          </a:p>
        </p:txBody>
      </p:sp>
      <p:pic>
        <p:nvPicPr>
          <p:cNvPr id="6" name="Picture 5" descr="A black background with blue text&#10;&#10;Description automatically generated">
            <a:extLst>
              <a:ext uri="{FF2B5EF4-FFF2-40B4-BE49-F238E27FC236}">
                <a16:creationId xmlns:a16="http://schemas.microsoft.com/office/drawing/2014/main" id="{1FA49012-E34A-CFB6-1223-10CE10ABD912}"/>
              </a:ext>
            </a:extLst>
          </p:cNvPr>
          <p:cNvPicPr>
            <a:picLocks noChangeAspect="1"/>
          </p:cNvPicPr>
          <p:nvPr/>
        </p:nvPicPr>
        <p:blipFill>
          <a:blip r:embed="rId7">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graphicFrame>
        <p:nvGraphicFramePr>
          <p:cNvPr id="10" name="Table 9">
            <a:extLst>
              <a:ext uri="{FF2B5EF4-FFF2-40B4-BE49-F238E27FC236}">
                <a16:creationId xmlns:a16="http://schemas.microsoft.com/office/drawing/2014/main" id="{CD2716AC-6494-C4A8-D0AB-BA022F7AD8D5}"/>
              </a:ext>
            </a:extLst>
          </p:cNvPr>
          <p:cNvGraphicFramePr>
            <a:graphicFrameLocks noGrp="1"/>
          </p:cNvGraphicFramePr>
          <p:nvPr>
            <p:custDataLst>
              <p:tags r:id="rId1"/>
            </p:custDataLst>
          </p:nvPr>
        </p:nvGraphicFramePr>
        <p:xfrm>
          <a:off x="2379306" y="890085"/>
          <a:ext cx="6591300" cy="2538349"/>
        </p:xfrm>
        <a:graphic>
          <a:graphicData uri="http://schemas.openxmlformats.org/drawingml/2006/table">
            <a:tbl>
              <a:tblPr/>
              <a:tblGrid>
                <a:gridCol w="1498600">
                  <a:extLst>
                    <a:ext uri="{9D8B030D-6E8A-4147-A177-3AD203B41FA5}">
                      <a16:colId xmlns:a16="http://schemas.microsoft.com/office/drawing/2014/main" val="916026678"/>
                    </a:ext>
                  </a:extLst>
                </a:gridCol>
                <a:gridCol w="1905000">
                  <a:extLst>
                    <a:ext uri="{9D8B030D-6E8A-4147-A177-3AD203B41FA5}">
                      <a16:colId xmlns:a16="http://schemas.microsoft.com/office/drawing/2014/main" val="2585772438"/>
                    </a:ext>
                  </a:extLst>
                </a:gridCol>
                <a:gridCol w="76200">
                  <a:extLst>
                    <a:ext uri="{9D8B030D-6E8A-4147-A177-3AD203B41FA5}">
                      <a16:colId xmlns:a16="http://schemas.microsoft.com/office/drawing/2014/main" val="241678525"/>
                    </a:ext>
                  </a:extLst>
                </a:gridCol>
                <a:gridCol w="1651000">
                  <a:extLst>
                    <a:ext uri="{9D8B030D-6E8A-4147-A177-3AD203B41FA5}">
                      <a16:colId xmlns:a16="http://schemas.microsoft.com/office/drawing/2014/main" val="2512611519"/>
                    </a:ext>
                  </a:extLst>
                </a:gridCol>
                <a:gridCol w="711200">
                  <a:extLst>
                    <a:ext uri="{9D8B030D-6E8A-4147-A177-3AD203B41FA5}">
                      <a16:colId xmlns:a16="http://schemas.microsoft.com/office/drawing/2014/main" val="3096074175"/>
                    </a:ext>
                  </a:extLst>
                </a:gridCol>
                <a:gridCol w="749300">
                  <a:extLst>
                    <a:ext uri="{9D8B030D-6E8A-4147-A177-3AD203B41FA5}">
                      <a16:colId xmlns:a16="http://schemas.microsoft.com/office/drawing/2014/main" val="3486285752"/>
                    </a:ext>
                  </a:extLst>
                </a:gridCol>
              </a:tblGrid>
              <a:tr h="176068">
                <a:tc>
                  <a:txBody>
                    <a:bodyPr/>
                    <a:lstStyle/>
                    <a:p>
                      <a:pPr algn="l" fontAlgn="b"/>
                      <a:r>
                        <a:rPr lang="en-US" sz="900" b="1" i="0" u="none" strike="noStrike">
                          <a:solidFill>
                            <a:srgbClr val="000000"/>
                          </a:solidFill>
                          <a:effectLst/>
                          <a:latin typeface="Calibri" panose="020F0502020204030204" pitchFamily="34" charset="0"/>
                        </a:rPr>
                        <a:t>Item</a:t>
                      </a:r>
                    </a:p>
                  </a:txBody>
                  <a:tcPr marL="0" marR="0" marT="0" marB="0" anchor="b">
                    <a:lnL>
                      <a:noFill/>
                    </a:lnL>
                    <a:lnR>
                      <a:noFill/>
                    </a:lnR>
                    <a:lnT>
                      <a:noFill/>
                    </a:lnT>
                    <a:lnB>
                      <a:noFill/>
                    </a:lnB>
                    <a:solidFill>
                      <a:srgbClr val="F2C755"/>
                    </a:solidFill>
                  </a:tcPr>
                </a:tc>
                <a:tc>
                  <a:txBody>
                    <a:bodyPr/>
                    <a:lstStyle/>
                    <a:p>
                      <a:pPr algn="r" fontAlgn="b"/>
                      <a:r>
                        <a:rPr lang="en-US" sz="900" b="1" i="0" u="none" strike="noStrike">
                          <a:solidFill>
                            <a:srgbClr val="000000"/>
                          </a:solidFill>
                          <a:effectLst/>
                          <a:latin typeface="Calibri" panose="020F0502020204030204" pitchFamily="34" charset="0"/>
                        </a:rPr>
                        <a:t>Value and period</a:t>
                      </a:r>
                    </a:p>
                  </a:txBody>
                  <a:tcPr marL="0" marR="0" marT="0" marB="0" anchor="b">
                    <a:lnL>
                      <a:noFill/>
                    </a:lnL>
                    <a:lnR>
                      <a:noFill/>
                    </a:lnR>
                    <a:lnT>
                      <a:noFill/>
                    </a:lnT>
                    <a:lnB>
                      <a:noFill/>
                    </a:lnB>
                    <a:solidFill>
                      <a:srgbClr val="F2C755"/>
                    </a:solidFill>
                  </a:tcPr>
                </a:tc>
                <a:tc>
                  <a:txBody>
                    <a:bodyPr/>
                    <a:lstStyle/>
                    <a:p>
                      <a:pPr algn="l" fontAlgn="b"/>
                      <a:endParaRPr/>
                    </a:p>
                  </a:txBody>
                  <a:tcPr marL="0" marR="0" marT="0" marB="0" anchor="b">
                    <a:lnL>
                      <a:noFill/>
                    </a:lnL>
                    <a:lnR>
                      <a:noFill/>
                    </a:lnR>
                    <a:lnT>
                      <a:noFill/>
                    </a:lnT>
                    <a:lnB>
                      <a:noFill/>
                    </a:lnB>
                    <a:solidFill>
                      <a:srgbClr val="F2C755"/>
                    </a:solidFill>
                  </a:tcPr>
                </a:tc>
                <a:tc>
                  <a:txBody>
                    <a:bodyPr/>
                    <a:lstStyle/>
                    <a:p>
                      <a:pPr algn="l" fontAlgn="b"/>
                      <a:r>
                        <a:rPr lang="en-US" sz="900" b="1" i="0" u="none" strike="noStrike">
                          <a:solidFill>
                            <a:srgbClr val="000000"/>
                          </a:solidFill>
                          <a:effectLst/>
                          <a:latin typeface="Calibri" panose="020F0502020204030204" pitchFamily="34" charset="0"/>
                        </a:rPr>
                        <a:t>Basis</a:t>
                      </a:r>
                    </a:p>
                  </a:txBody>
                  <a:tcPr marL="0" marR="0" marT="0" marB="0" anchor="b">
                    <a:lnL>
                      <a:noFill/>
                    </a:lnL>
                    <a:lnR>
                      <a:noFill/>
                    </a:lnR>
                    <a:lnT>
                      <a:noFill/>
                    </a:lnT>
                    <a:lnB>
                      <a:noFill/>
                    </a:lnB>
                    <a:solidFill>
                      <a:srgbClr val="F2C755"/>
                    </a:solidFill>
                  </a:tcPr>
                </a:tc>
                <a:tc>
                  <a:txBody>
                    <a:bodyPr/>
                    <a:lstStyle/>
                    <a:p>
                      <a:pPr algn="l" fontAlgn="b"/>
                      <a:r>
                        <a:rPr lang="en-US" sz="900" b="1" i="0" u="none" strike="noStrike">
                          <a:solidFill>
                            <a:srgbClr val="000000"/>
                          </a:solidFill>
                          <a:effectLst/>
                          <a:latin typeface="Calibri" panose="020F0502020204030204" pitchFamily="34" charset="0"/>
                        </a:rPr>
                        <a:t>Source</a:t>
                      </a:r>
                    </a:p>
                  </a:txBody>
                  <a:tcPr marL="0" marR="0" marT="0" marB="0" anchor="b">
                    <a:lnL>
                      <a:noFill/>
                    </a:lnL>
                    <a:lnR>
                      <a:noFill/>
                    </a:lnR>
                    <a:lnT>
                      <a:noFill/>
                    </a:lnT>
                    <a:lnB>
                      <a:noFill/>
                    </a:lnB>
                    <a:solidFill>
                      <a:srgbClr val="F2C755"/>
                    </a:solidFill>
                  </a:tcPr>
                </a:tc>
                <a:tc>
                  <a:txBody>
                    <a:bodyPr/>
                    <a:lstStyle/>
                    <a:p>
                      <a:pPr algn="l" fontAlgn="b"/>
                      <a:r>
                        <a:rPr lang="en-US" sz="900" b="1" i="0" u="none" strike="noStrike">
                          <a:solidFill>
                            <a:srgbClr val="000000"/>
                          </a:solidFill>
                          <a:effectLst/>
                          <a:latin typeface="Calibri" panose="020F0502020204030204" pitchFamily="34" charset="0"/>
                        </a:rPr>
                        <a:t>Comment</a:t>
                      </a:r>
                    </a:p>
                  </a:txBody>
                  <a:tcPr marL="0" marR="0" marT="0" marB="0" anchor="b">
                    <a:lnL>
                      <a:noFill/>
                    </a:lnL>
                    <a:lnR>
                      <a:noFill/>
                    </a:lnR>
                    <a:lnT>
                      <a:noFill/>
                    </a:lnT>
                    <a:lnB>
                      <a:noFill/>
                    </a:lnB>
                    <a:solidFill>
                      <a:srgbClr val="F2C755"/>
                    </a:solidFill>
                  </a:tcPr>
                </a:tc>
                <a:extLst>
                  <a:ext uri="{0D108BD9-81ED-4DB2-BD59-A6C34878D82A}">
                    <a16:rowId xmlns:a16="http://schemas.microsoft.com/office/drawing/2014/main" val="4253232548"/>
                  </a:ext>
                </a:extLst>
              </a:tr>
              <a:tr h="176068">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Lease Price Index</a:t>
                      </a:r>
                    </a:p>
                  </a:txBody>
                  <a:tcPr marL="99662" marR="0" marT="0" marB="0" anchor="b">
                    <a:lnL>
                      <a:noFill/>
                    </a:lnL>
                    <a:lnR>
                      <a:noFill/>
                    </a:lnR>
                    <a:lnT>
                      <a:noFill/>
                    </a:lnT>
                    <a:lnB>
                      <a:noFill/>
                    </a:lnB>
                    <a:solidFill>
                      <a:srgbClr val="FFFFFF"/>
                    </a:solidFill>
                  </a:tcPr>
                </a:tc>
                <a:tc>
                  <a:txBody>
                    <a:bodyPr/>
                    <a:lstStyle/>
                    <a:p>
                      <a:pPr algn="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+16.8% (Q2 2026)</a:t>
                      </a:r>
                    </a:p>
                  </a:txBody>
                  <a:tcPr marL="0" marR="0" marT="0" marB="0" anchor="b">
                    <a:lnL>
                      <a:noFill/>
                    </a:lnL>
                    <a:lnR>
                      <a:noFill/>
                    </a:lnR>
                    <a:lnT>
                      <a:noFill/>
                    </a:lnT>
                    <a:lnB>
                      <a:noFill/>
                    </a:lnB>
                    <a:solidFill>
                      <a:srgbClr val="FFFFFF"/>
                    </a:solidFill>
                  </a:tcPr>
                </a:tc>
                <a:tc>
                  <a:txBody>
                    <a:bodyPr/>
                    <a:lstStyle/>
                    <a:p>
                      <a:pPr algn="l" fontAlgn="b"/>
                      <a:endParaRP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Renewal vs expiring rate</a:t>
                      </a: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10-Q</a:t>
                      </a: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Decelerating</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065253854"/>
                  </a:ext>
                </a:extLst>
              </a:tr>
              <a:tr h="176068">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Lease Price Index</a:t>
                      </a:r>
                    </a:p>
                  </a:txBody>
                  <a:tcPr marL="99662" marR="0" marT="0" marB="0" anchor="b">
                    <a:lnL>
                      <a:noFill/>
                    </a:lnL>
                    <a:lnR>
                      <a:noFill/>
                    </a:lnR>
                    <a:lnT>
                      <a:noFill/>
                    </a:lnT>
                    <a:lnB>
                      <a:noFill/>
                    </a:lnB>
                    <a:solidFill>
                      <a:srgbClr val="F2F2F2"/>
                    </a:solidFill>
                  </a:tcPr>
                </a:tc>
                <a:tc>
                  <a:txBody>
                    <a:bodyPr/>
                    <a:lstStyle/>
                    <a:p>
                      <a:pPr algn="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+22% (FY2025)</a:t>
                      </a:r>
                    </a:p>
                  </a:txBody>
                  <a:tcPr marL="0" marR="0" marT="0" marB="0" anchor="b">
                    <a:lnL>
                      <a:noFill/>
                    </a:lnL>
                    <a:lnR>
                      <a:noFill/>
                    </a:lnR>
                    <a:lnT>
                      <a:noFill/>
                    </a:lnT>
                    <a:lnB>
                      <a:noFill/>
                    </a:lnB>
                    <a:solidFill>
                      <a:srgbClr val="F2F2F2"/>
                    </a:solidFill>
                  </a:tcPr>
                </a:tc>
                <a:tc>
                  <a:txBody>
                    <a:bodyPr/>
                    <a:lstStyle/>
                    <a:p>
                      <a:pPr algn="l" fontAlgn="b"/>
                      <a:endParaRPr/>
                    </a:p>
                  </a:txBody>
                  <a:tcPr marL="0"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Renewal vs expiring rate</a:t>
                      </a:r>
                    </a:p>
                  </a:txBody>
                  <a:tcPr marL="0"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10-Q</a:t>
                      </a:r>
                    </a:p>
                  </a:txBody>
                  <a:tcPr marL="0"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Prior print</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2998358763"/>
                  </a:ext>
                </a:extLst>
              </a:tr>
              <a:tr h="176068">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FY2026 LPI guidance</a:t>
                      </a:r>
                    </a:p>
                  </a:txBody>
                  <a:tcPr marL="99662" marR="0" marT="0" marB="0" anchor="b">
                    <a:lnL>
                      <a:noFill/>
                    </a:lnL>
                    <a:lnR>
                      <a:noFill/>
                    </a:lnR>
                    <a:lnT>
                      <a:noFill/>
                    </a:lnT>
                    <a:lnB>
                      <a:noFill/>
                    </a:lnB>
                    <a:solidFill>
                      <a:srgbClr val="FFFFFF"/>
                    </a:solidFill>
                  </a:tcPr>
                </a:tc>
                <a:tc>
                  <a:txBody>
                    <a:bodyPr/>
                    <a:lstStyle/>
                    <a:p>
                      <a:pPr algn="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High teens to low 20% (FY2026)</a:t>
                      </a:r>
                    </a:p>
                  </a:txBody>
                  <a:tcPr marL="0" marR="0" marT="0" marB="0" anchor="b">
                    <a:lnL>
                      <a:noFill/>
                    </a:lnL>
                    <a:lnR>
                      <a:noFill/>
                    </a:lnR>
                    <a:lnT>
                      <a:noFill/>
                    </a:lnT>
                    <a:lnB>
                      <a:noFill/>
                    </a:lnB>
                    <a:solidFill>
                      <a:srgbClr val="FFFFFF"/>
                    </a:solidFill>
                  </a:tcPr>
                </a:tc>
                <a:tc>
                  <a:txBody>
                    <a:bodyPr/>
                    <a:lstStyle/>
                    <a:p>
                      <a:pPr algn="l" fontAlgn="b"/>
                      <a:endParaRP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Company guidance</a:t>
                      </a: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Q2 2026 call</a:t>
                      </a: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Band</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317978771"/>
                  </a:ext>
                </a:extLst>
              </a:tr>
              <a:tr h="176068">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Legacy cars renewed</a:t>
                      </a:r>
                    </a:p>
                  </a:txBody>
                  <a:tcPr marL="99662" marR="0" marT="0" marB="0" anchor="b">
                    <a:lnL>
                      <a:noFill/>
                    </a:lnL>
                    <a:lnR>
                      <a:noFill/>
                    </a:lnR>
                    <a:lnT>
                      <a:noFill/>
                    </a:lnT>
                    <a:lnB>
                      <a:noFill/>
                    </a:lnB>
                    <a:solidFill>
                      <a:srgbClr val="F2F2F2"/>
                    </a:solidFill>
                  </a:tcPr>
                </a:tc>
                <a:tc>
                  <a:txBody>
                    <a:bodyPr/>
                    <a:lstStyle/>
                    <a:p>
                      <a:pPr algn="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21,500 (FY2025)</a:t>
                      </a:r>
                    </a:p>
                  </a:txBody>
                  <a:tcPr marL="0" marR="0" marT="0" marB="0" anchor="b">
                    <a:lnL>
                      <a:noFill/>
                    </a:lnL>
                    <a:lnR>
                      <a:noFill/>
                    </a:lnR>
                    <a:lnT>
                      <a:noFill/>
                    </a:lnT>
                    <a:lnB>
                      <a:noFill/>
                    </a:lnB>
                    <a:solidFill>
                      <a:srgbClr val="F2F2F2"/>
                    </a:solidFill>
                  </a:tcPr>
                </a:tc>
                <a:tc>
                  <a:txBody>
                    <a:bodyPr/>
                    <a:lstStyle/>
                    <a:p>
                      <a:pPr algn="l" fontAlgn="b"/>
                      <a:endParaRPr/>
                    </a:p>
                  </a:txBody>
                  <a:tcPr marL="0"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Legacy fleet</a:t>
                      </a:r>
                    </a:p>
                  </a:txBody>
                  <a:tcPr marL="0"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Company disclosure</a:t>
                      </a:r>
                    </a:p>
                  </a:txBody>
                  <a:tcPr marL="0"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About 22% of the FY2025 fleet of 99,560</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41765899"/>
                  </a:ext>
                </a:extLst>
              </a:tr>
              <a:tr h="176068">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Cars renewing annually</a:t>
                      </a:r>
                    </a:p>
                  </a:txBody>
                  <a:tcPr marL="99662" marR="0" marT="0" marB="0" anchor="b">
                    <a:lnL>
                      <a:noFill/>
                    </a:lnL>
                    <a:lnR>
                      <a:noFill/>
                    </a:lnR>
                    <a:lnT>
                      <a:noFill/>
                    </a:lnT>
                    <a:lnB>
                      <a:noFill/>
                    </a:lnB>
                    <a:solidFill>
                      <a:srgbClr val="FFFFFF"/>
                    </a:solidFill>
                  </a:tcPr>
                </a:tc>
                <a:tc>
                  <a:txBody>
                    <a:bodyPr/>
                    <a:lstStyle/>
                    <a:p>
                      <a:pPr algn="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About 23,000 per year</a:t>
                      </a:r>
                    </a:p>
                  </a:txBody>
                  <a:tcPr marL="0" marR="0" marT="0" marB="0" anchor="b">
                    <a:lnL>
                      <a:noFill/>
                    </a:lnL>
                    <a:lnR>
                      <a:noFill/>
                    </a:lnR>
                    <a:lnT>
                      <a:noFill/>
                    </a:lnT>
                    <a:lnB>
                      <a:noFill/>
                    </a:lnB>
                    <a:solidFill>
                      <a:srgbClr val="FFFFFF"/>
                    </a:solidFill>
                  </a:tcPr>
                </a:tc>
                <a:tc>
                  <a:txBody>
                    <a:bodyPr/>
                    <a:lstStyle/>
                    <a:p>
                      <a:pPr algn="l" fontAlgn="b"/>
                      <a:endParaRP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Model assumption</a:t>
                      </a: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BMG Capital</a:t>
                      </a: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About 12% of the post-GABX fleet</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288343204"/>
                  </a:ext>
                </a:extLst>
              </a:tr>
              <a:tr h="176068">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Average expiring rate</a:t>
                      </a:r>
                    </a:p>
                  </a:txBody>
                  <a:tcPr marL="99662" marR="0" marT="0" marB="0" anchor="b">
                    <a:lnL>
                      <a:noFill/>
                    </a:lnL>
                    <a:lnR>
                      <a:noFill/>
                    </a:lnR>
                    <a:lnT>
                      <a:noFill/>
                    </a:lnT>
                    <a:lnB>
                      <a:noFill/>
                    </a:lnB>
                    <a:solidFill>
                      <a:srgbClr val="F2F2F2"/>
                    </a:solidFill>
                  </a:tcPr>
                </a:tc>
                <a:tc>
                  <a:txBody>
                    <a:bodyPr/>
                    <a:lstStyle/>
                    <a:p>
                      <a:pPr algn="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$9,850 per car per year</a:t>
                      </a:r>
                    </a:p>
                  </a:txBody>
                  <a:tcPr marL="0" marR="0" marT="0" marB="0" anchor="b">
                    <a:lnL>
                      <a:noFill/>
                    </a:lnL>
                    <a:lnR>
                      <a:noFill/>
                    </a:lnR>
                    <a:lnT>
                      <a:noFill/>
                    </a:lnT>
                    <a:lnB>
                      <a:noFill/>
                    </a:lnB>
                    <a:solidFill>
                      <a:srgbClr val="F2F2F2"/>
                    </a:solidFill>
                  </a:tcPr>
                </a:tc>
                <a:tc>
                  <a:txBody>
                    <a:bodyPr/>
                    <a:lstStyle/>
                    <a:p>
                      <a:pPr algn="l" fontAlgn="b"/>
                      <a:endParaRPr/>
                    </a:p>
                  </a:txBody>
                  <a:tcPr marL="0"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Legacy cars</a:t>
                      </a:r>
                    </a:p>
                  </a:txBody>
                  <a:tcPr marL="0"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BMG Capital</a:t>
                      </a:r>
                    </a:p>
                  </a:txBody>
                  <a:tcPr marL="0"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Model input</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1646238594"/>
                  </a:ext>
                </a:extLst>
              </a:tr>
              <a:tr h="176068">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Blended fleet rate</a:t>
                      </a:r>
                    </a:p>
                  </a:txBody>
                  <a:tcPr marL="99662" marR="0" marT="0" marB="0" anchor="b">
                    <a:lnL>
                      <a:noFill/>
                    </a:lnL>
                    <a:lnR>
                      <a:noFill/>
                    </a:lnR>
                    <a:lnT>
                      <a:noFill/>
                    </a:lnT>
                    <a:lnB>
                      <a:noFill/>
                    </a:lnB>
                    <a:solidFill>
                      <a:srgbClr val="FFFFFF"/>
                    </a:solidFill>
                  </a:tcPr>
                </a:tc>
                <a:tc>
                  <a:txBody>
                    <a:bodyPr/>
                    <a:lstStyle/>
                    <a:p>
                      <a:pPr algn="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$8,205 per car per year</a:t>
                      </a:r>
                    </a:p>
                  </a:txBody>
                  <a:tcPr marL="0" marR="0" marT="0" marB="0" anchor="b">
                    <a:lnL>
                      <a:noFill/>
                    </a:lnL>
                    <a:lnR>
                      <a:noFill/>
                    </a:lnR>
                    <a:lnT>
                      <a:noFill/>
                    </a:lnT>
                    <a:lnB>
                      <a:noFill/>
                    </a:lnB>
                    <a:solidFill>
                      <a:srgbClr val="FFFFFF"/>
                    </a:solidFill>
                  </a:tcPr>
                </a:tc>
                <a:tc>
                  <a:txBody>
                    <a:bodyPr/>
                    <a:lstStyle/>
                    <a:p>
                      <a:pPr algn="l" fontAlgn="b"/>
                      <a:endParaRP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$391.0M x 4 / 190,587 cars</a:t>
                      </a: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10-Q</a:t>
                      </a: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Derived</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760127793"/>
                  </a:ext>
                </a:extLst>
              </a:tr>
              <a:tr h="176068">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Renewal bridge, 2026 to 2027</a:t>
                      </a:r>
                    </a:p>
                  </a:txBody>
                  <a:tcPr marL="99662" marR="0" marT="0" marB="0" anchor="b">
                    <a:lnL>
                      <a:noFill/>
                    </a:lnL>
                    <a:lnR>
                      <a:noFill/>
                    </a:lnR>
                    <a:lnT>
                      <a:noFill/>
                    </a:lnT>
                    <a:lnB>
                      <a:noFill/>
                    </a:lnB>
                    <a:solidFill>
                      <a:srgbClr val="F2F2F2"/>
                    </a:solidFill>
                  </a:tcPr>
                </a:tc>
                <a:tc>
                  <a:txBody>
                    <a:bodyPr/>
                    <a:lstStyle/>
                    <a:p>
                      <a:pPr algn="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+$45M pretax (2027E)</a:t>
                      </a:r>
                    </a:p>
                  </a:txBody>
                  <a:tcPr marL="0" marR="0" marT="0" marB="0" anchor="b">
                    <a:lnL>
                      <a:noFill/>
                    </a:lnL>
                    <a:lnR>
                      <a:noFill/>
                    </a:lnR>
                    <a:lnT>
                      <a:noFill/>
                    </a:lnT>
                    <a:lnB>
                      <a:noFill/>
                    </a:lnB>
                    <a:solidFill>
                      <a:srgbClr val="F2F2F2"/>
                    </a:solidFill>
                  </a:tcPr>
                </a:tc>
                <a:tc>
                  <a:txBody>
                    <a:bodyPr/>
                    <a:lstStyle/>
                    <a:p>
                      <a:pPr algn="l" fontAlgn="b"/>
                      <a:endParaRPr/>
                    </a:p>
                  </a:txBody>
                  <a:tcPr marL="0"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Rail NA $32M, GABX $9M, idle fill $4M</a:t>
                      </a:r>
                    </a:p>
                  </a:txBody>
                  <a:tcPr marL="0"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BMG Capital</a:t>
                      </a:r>
                    </a:p>
                  </a:txBody>
                  <a:tcPr marL="0"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Bridge</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697046579"/>
                  </a:ext>
                </a:extLst>
              </a:tr>
              <a:tr h="176068">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Kill criterion</a:t>
                      </a:r>
                    </a:p>
                  </a:txBody>
                  <a:tcPr marL="99662" marR="0" marT="0" marB="0" anchor="b">
                    <a:lnL>
                      <a:noFill/>
                    </a:lnL>
                    <a:lnR>
                      <a:noFill/>
                    </a:lnR>
                    <a:lnT>
                      <a:noFill/>
                    </a:lnT>
                    <a:lnB>
                      <a:noFill/>
                    </a:lnB>
                    <a:solidFill>
                      <a:srgbClr val="FFFFFF"/>
                    </a:solidFill>
                  </a:tcPr>
                </a:tc>
                <a:tc>
                  <a:txBody>
                    <a:bodyPr/>
                    <a:lstStyle/>
                    <a:p>
                      <a:pPr algn="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LPI below +10%</a:t>
                      </a:r>
                    </a:p>
                  </a:txBody>
                  <a:tcPr marL="0" marR="0" marT="0" marB="0" anchor="b">
                    <a:lnL>
                      <a:noFill/>
                    </a:lnL>
                    <a:lnR>
                      <a:noFill/>
                    </a:lnR>
                    <a:lnT>
                      <a:noFill/>
                    </a:lnT>
                    <a:lnB>
                      <a:noFill/>
                    </a:lnB>
                    <a:solidFill>
                      <a:srgbClr val="FFFFFF"/>
                    </a:solidFill>
                  </a:tcPr>
                </a:tc>
                <a:tc>
                  <a:txBody>
                    <a:bodyPr/>
                    <a:lstStyle/>
                    <a:p>
                      <a:pPr algn="l" fontAlgn="b"/>
                      <a:endParaRP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Quarterly print</a:t>
                      </a: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10-Q</a:t>
                      </a: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Exit review</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2352400331"/>
                  </a:ext>
                </a:extLst>
              </a:tr>
            </a:tbl>
          </a:graphicData>
        </a:graphic>
      </p:graphicFrame>
      <p:sp>
        <p:nvSpPr>
          <p:cNvPr id="11" name="TextBox 10">
            <a:extLst>
              <a:ext uri="{FF2B5EF4-FFF2-40B4-BE49-F238E27FC236}">
                <a16:creationId xmlns:a16="http://schemas.microsoft.com/office/drawing/2014/main" id="{053C7BE5-0E3D-72AD-B6EE-3B2F5B28F818}"/>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10</a:t>
            </a:fld>
            <a:endParaRPr lang="en-US" sz="1400">
              <a:latin typeface="Calibri" panose="020F0502020204030204" pitchFamily="34" charset="0"/>
              <a:cs typeface="Calibri" panose="020F0502020204030204" pitchFamily="34" charset="0"/>
            </a:endParaRPr>
          </a:p>
        </p:txBody>
      </p:sp>
      <p:sp>
        <p:nvSpPr>
          <p:cNvPr id="12" name="Text Box 2">
            <a:extLst>
              <a:ext uri="{FF2B5EF4-FFF2-40B4-BE49-F238E27FC236}">
                <a16:creationId xmlns:a16="http://schemas.microsoft.com/office/drawing/2014/main" id="{A702859F-D179-E811-B9DE-84664D7B9BCF}"/>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1AF24326-7DF8-4481-3219-9067D78CF2B6}"/>
              </a:ext>
            </a:extLst>
          </p:cNvPr>
          <p:cNvSpPr/>
          <p:nvPr/>
        </p:nvSpPr>
        <p:spPr>
          <a:xfrm>
            <a:off x="126452" y="1580029"/>
            <a:ext cx="2075899" cy="1565752"/>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Strong since 2022: +24% (FY2022), +34% (FY2023), +27% (FY2024), +22% (FY2025), +16.8% (Q2 2026).</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FY2026 guidance is high teens to low 20%.</a:t>
            </a:r>
          </a:p>
        </p:txBody>
      </p:sp>
    </p:spTree>
    <p:extLst>
      <p:ext uri="{BB962C8B-B14F-4D97-AF65-F5344CB8AC3E}">
        <p14:creationId xmlns:p14="http://schemas.microsoft.com/office/powerpoint/2010/main" val="995194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74806-E20C-EF2A-4C7A-5833C020C013}"/>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CCE20395-D1EF-8E7C-730F-988E77683A1D}"/>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23C33A89-DD27-8E56-C326-AEE2FBAEED09}"/>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chemeClr val="tx1"/>
                  </a:solidFill>
                  <a:latin typeface="Calibri" panose="020F0502020204030204" pitchFamily="34" charset="0"/>
                </a:rPr>
                <a:t>Driver: Renewal Pricing, Leading Indicators</a:t>
              </a:r>
              <a:endParaRPr lang="en-US" sz="3000" b="1">
                <a:solidFill>
                  <a:schemeClr val="tx1"/>
                </a:solidFill>
                <a:latin typeface="Calibri" panose="020F0502020204030204" pitchFamily="34" charset="0"/>
              </a:endParaRPr>
            </a:p>
          </p:txBody>
        </p:sp>
        <p:grpSp>
          <p:nvGrpSpPr>
            <p:cNvPr id="16397" name="Group 39">
              <a:extLst>
                <a:ext uri="{FF2B5EF4-FFF2-40B4-BE49-F238E27FC236}">
                  <a16:creationId xmlns:a16="http://schemas.microsoft.com/office/drawing/2014/main" id="{F44C0DEA-7EB0-8108-6A2D-90541AEB12A7}"/>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77B16FAA-BBB2-4B50-A524-668AA1D20964}"/>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9B0E1A35-84BB-3E14-046B-D376A43F49CA}"/>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D3800B09-8234-2999-A10E-ADA2C15A0A5B}"/>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29ADE756-9C65-5B08-DE0F-6DE9630DAFD7}"/>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D1D6EEE0-ED51-180C-7446-BE155A93FBD4}"/>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E1FF33B4-2832-44FA-E273-28B46BB54D28}"/>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C04EDD12-875A-D8C6-354B-A8DE214C8A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7FFDC874-3941-AE52-C5E6-D6220714384E}"/>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106DC8D4-5D5E-42FB-BE23-5557B20D431D}"/>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39938144-15E1-C6EC-2536-78E50EAE54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9AA80598-E261-1A66-509D-823A7BE46A40}"/>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F9118055-13EC-E9AE-9BB0-56A3D2B4E4F9}"/>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D811866E-BA9A-9FC1-1772-E4736CCC837E}"/>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5D263275-4925-8A64-7848-7401FC84A514}"/>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407D13A7-D21C-EBAF-016F-8392AB7C1950}"/>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8502EE06-1462-AF36-5D2B-89BCDD9224D6}"/>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4B180A71-2603-8329-E4D2-B38549F57273}"/>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EF60F58F-78AB-D3E8-8016-E0B93CA2FF30}"/>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997B071F-25F3-BE08-6868-55402D523D0D}"/>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6AAF9A79-3A66-832C-B0B4-40C24255F3CB}"/>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F11DB944-21C3-5DB3-A1B3-D0D8622EB68F}"/>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2016837F-6658-C55D-5128-0879181FE7B1}"/>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4E785FFE-04F0-101F-87A8-7B272317AB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sp>
        <p:nvSpPr>
          <p:cNvPr id="9" name="Text Box 2">
            <a:extLst>
              <a:ext uri="{FF2B5EF4-FFF2-40B4-BE49-F238E27FC236}">
                <a16:creationId xmlns:a16="http://schemas.microsoft.com/office/drawing/2014/main" id="{7823A9BC-3807-57A6-233A-F8BA6E06E594}"/>
              </a:ext>
            </a:extLst>
          </p:cNvPr>
          <p:cNvSpPr txBox="1">
            <a:spLocks noChangeArrowheads="1"/>
          </p:cNvSpPr>
          <p:nvPr/>
        </p:nvSpPr>
        <p:spPr bwMode="auto">
          <a:xfrm>
            <a:off x="126458" y="738240"/>
            <a:ext cx="3300564" cy="23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14:  Renewal success rate (%)</a:t>
            </a:r>
          </a:p>
        </p:txBody>
      </p:sp>
      <p:sp>
        <p:nvSpPr>
          <p:cNvPr id="18" name="Text Box 2">
            <a:extLst>
              <a:ext uri="{FF2B5EF4-FFF2-40B4-BE49-F238E27FC236}">
                <a16:creationId xmlns:a16="http://schemas.microsoft.com/office/drawing/2014/main" id="{2187E3C2-69F4-C3E6-D805-0DCAE5A50DA9}"/>
              </a:ext>
            </a:extLst>
          </p:cNvPr>
          <p:cNvSpPr txBox="1">
            <a:spLocks noChangeArrowheads="1"/>
          </p:cNvSpPr>
          <p:nvPr/>
        </p:nvSpPr>
        <p:spPr bwMode="auto">
          <a:xfrm>
            <a:off x="4822492" y="4202086"/>
            <a:ext cx="3300565" cy="23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16:  Average renewal lease term (months)</a:t>
            </a:r>
          </a:p>
        </p:txBody>
      </p:sp>
      <p:sp>
        <p:nvSpPr>
          <p:cNvPr id="19" name="Rectangle 18">
            <a:extLst>
              <a:ext uri="{FF2B5EF4-FFF2-40B4-BE49-F238E27FC236}">
                <a16:creationId xmlns:a16="http://schemas.microsoft.com/office/drawing/2014/main" id="{1B2A4B4A-DE20-9967-060D-2FA893000348}"/>
              </a:ext>
            </a:extLst>
          </p:cNvPr>
          <p:cNvSpPr/>
          <p:nvPr/>
        </p:nvSpPr>
        <p:spPr>
          <a:xfrm>
            <a:off x="6787586" y="789719"/>
            <a:ext cx="2197708" cy="1247361"/>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Renewal success fell from 87% in FY2025 to 79.1% in Q1 2026 and 82.6% in Q2 2026. Two prints below 85%; a third makes it a trend.</a:t>
            </a:r>
          </a:p>
        </p:txBody>
      </p:sp>
      <p:pic>
        <p:nvPicPr>
          <p:cNvPr id="2" name="Picture 1" descr="A black background with blue text&#10;&#10;Description automatically generated">
            <a:extLst>
              <a:ext uri="{FF2B5EF4-FFF2-40B4-BE49-F238E27FC236}">
                <a16:creationId xmlns:a16="http://schemas.microsoft.com/office/drawing/2014/main" id="{63D1BCF9-5397-1830-A055-3DE91A92307A}"/>
              </a:ext>
            </a:extLst>
          </p:cNvPr>
          <p:cNvPicPr>
            <a:picLocks noChangeAspect="1"/>
          </p:cNvPicPr>
          <p:nvPr/>
        </p:nvPicPr>
        <p:blipFill>
          <a:blip r:embed="rId7">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graphicFrame>
        <p:nvGraphicFramePr>
          <p:cNvPr id="6" name="Table 5">
            <a:extLst>
              <a:ext uri="{FF2B5EF4-FFF2-40B4-BE49-F238E27FC236}">
                <a16:creationId xmlns:a16="http://schemas.microsoft.com/office/drawing/2014/main" id="{AAF12005-6A9F-5E82-DAF1-82AACC4CD376}"/>
              </a:ext>
            </a:extLst>
          </p:cNvPr>
          <p:cNvGraphicFramePr>
            <a:graphicFrameLocks noGrp="1"/>
          </p:cNvGraphicFramePr>
          <p:nvPr>
            <p:custDataLst>
              <p:tags r:id="rId1"/>
            </p:custDataLst>
          </p:nvPr>
        </p:nvGraphicFramePr>
        <p:xfrm>
          <a:off x="4089400" y="1257300"/>
          <a:ext cx="2603500" cy="2887011"/>
        </p:xfrm>
        <a:graphic>
          <a:graphicData uri="http://schemas.openxmlformats.org/drawingml/2006/table">
            <a:tbl>
              <a:tblPr/>
              <a:tblGrid>
                <a:gridCol w="1549400">
                  <a:extLst>
                    <a:ext uri="{9D8B030D-6E8A-4147-A177-3AD203B41FA5}">
                      <a16:colId xmlns:a16="http://schemas.microsoft.com/office/drawing/2014/main" val="101686872"/>
                    </a:ext>
                  </a:extLst>
                </a:gridCol>
                <a:gridCol w="1054100">
                  <a:extLst>
                    <a:ext uri="{9D8B030D-6E8A-4147-A177-3AD203B41FA5}">
                      <a16:colId xmlns:a16="http://schemas.microsoft.com/office/drawing/2014/main" val="272099510"/>
                    </a:ext>
                  </a:extLst>
                </a:gridCol>
              </a:tblGrid>
              <a:tr h="230817">
                <a:tc>
                  <a:txBody>
                    <a:bodyPr/>
                    <a:lstStyle/>
                    <a:p>
                      <a:pPr algn="l" fontAlgn="b"/>
                      <a:r>
                        <a:rPr lang="en-US"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Customer strain signal</a:t>
                      </a:r>
                    </a:p>
                  </a:txBody>
                  <a:tcPr marL="0" marR="0" marT="0" marB="0" anchor="b">
                    <a:lnL>
                      <a:noFill/>
                    </a:lnL>
                    <a:lnR>
                      <a:noFill/>
                    </a:lnR>
                    <a:lnT>
                      <a:noFill/>
                    </a:lnT>
                    <a:lnB>
                      <a:noFill/>
                    </a:lnB>
                    <a:solidFill>
                      <a:srgbClr val="F2C755"/>
                    </a:solidFill>
                  </a:tcPr>
                </a:tc>
                <a:tc>
                  <a:txBody>
                    <a:bodyPr/>
                    <a:lstStyle/>
                    <a:p>
                      <a:pPr algn="l" fontAlgn="b"/>
                      <a:r>
                        <a:rPr lang="en-US"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0" marR="0" marT="0" marB="0" anchor="b">
                    <a:lnL>
                      <a:noFill/>
                    </a:lnL>
                    <a:lnR>
                      <a:noFill/>
                    </a:lnR>
                    <a:lnT>
                      <a:noFill/>
                    </a:lnT>
                    <a:lnB>
                      <a:noFill/>
                    </a:lnB>
                    <a:solidFill>
                      <a:srgbClr val="F2C755"/>
                    </a:solidFill>
                  </a:tcPr>
                </a:tc>
                <a:extLst>
                  <a:ext uri="{0D108BD9-81ED-4DB2-BD59-A6C34878D82A}">
                    <a16:rowId xmlns:a16="http://schemas.microsoft.com/office/drawing/2014/main" val="2734878256"/>
                  </a:ext>
                </a:extLst>
              </a:tr>
              <a:tr h="230817">
                <a:tc>
                  <a:txBody>
                    <a:bodyPr/>
                    <a:lstStyle/>
                    <a:p>
                      <a:pPr algn="l"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Renewal success, FY2025</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87%</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468614304"/>
                  </a:ext>
                </a:extLst>
              </a:tr>
              <a:tr h="230817">
                <a:tc>
                  <a:txBody>
                    <a:bodyPr/>
                    <a:lstStyle/>
                    <a:p>
                      <a:pPr algn="l"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Renewal success, Q1 / Q2 2026</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79.1% / 82.6%</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110322877"/>
                  </a:ext>
                </a:extLst>
              </a:tr>
              <a:tr h="230817">
                <a:tc>
                  <a:txBody>
                    <a:bodyPr/>
                    <a:lstStyle/>
                    <a:p>
                      <a:pPr algn="l"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Average renewal term, prior</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60 months</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045511957"/>
                  </a:ext>
                </a:extLst>
              </a:tr>
              <a:tr h="230817">
                <a:tc>
                  <a:txBody>
                    <a:bodyPr/>
                    <a:lstStyle/>
                    <a:p>
                      <a:pPr algn="l"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Average renewal term, now</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54 months</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2099217557"/>
                  </a:ext>
                </a:extLst>
              </a:tr>
              <a:tr h="230817">
                <a:tc>
                  <a:txBody>
                    <a:bodyPr/>
                    <a:lstStyle/>
                    <a:p>
                      <a:pPr algn="l"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Lease Price Index, FY2025</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+22%</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4270248860"/>
                  </a:ext>
                </a:extLst>
              </a:tr>
              <a:tr h="230817">
                <a:tc>
                  <a:txBody>
                    <a:bodyPr/>
                    <a:lstStyle/>
                    <a:p>
                      <a:pPr algn="l" fontAlgn="b"/>
                      <a:r>
                        <a:rPr lang="en-US"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Lease Price Index, Q2 2026</a:t>
                      </a:r>
                    </a:p>
                  </a:txBody>
                  <a:tcPr marL="0" marR="0" marT="0" marB="0" anchor="b">
                    <a:lnL>
                      <a:noFill/>
                    </a:lnL>
                    <a:lnR>
                      <a:noFill/>
                    </a:lnR>
                    <a:lnT>
                      <a:noFill/>
                    </a:lnT>
                    <a:lnB>
                      <a:noFill/>
                    </a:lnB>
                    <a:solidFill>
                      <a:srgbClr val="F2F2F2"/>
                    </a:solidFill>
                  </a:tcPr>
                </a:tc>
                <a:tc>
                  <a:txBody>
                    <a:bodyPr/>
                    <a:lstStyle/>
                    <a:p>
                      <a:pPr algn="r" fontAlgn="b"/>
                      <a:r>
                        <a:rPr lang="en-US"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+16.8%</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4055297894"/>
                  </a:ext>
                </a:extLst>
              </a:tr>
              <a:tr h="230817">
                <a:tc>
                  <a:txBody>
                    <a:bodyPr/>
                    <a:lstStyle/>
                    <a:p>
                      <a:pPr algn="l"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Cars renewing annually</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About 23,000</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39463724"/>
                  </a:ext>
                </a:extLst>
              </a:tr>
              <a:tr h="230817">
                <a:tc>
                  <a:txBody>
                    <a:bodyPr/>
                    <a:lstStyle/>
                    <a:p>
                      <a:pPr algn="l" fontAlgn="b"/>
                      <a:r>
                        <a:rPr lang="en-US"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Kill criterion</a:t>
                      </a:r>
                    </a:p>
                  </a:txBody>
                  <a:tcPr marL="0" marR="0" marT="0" marB="0" anchor="b">
                    <a:lnL>
                      <a:noFill/>
                    </a:lnL>
                    <a:lnR>
                      <a:noFill/>
                    </a:lnR>
                    <a:lnT>
                      <a:noFill/>
                    </a:lnT>
                    <a:lnB>
                      <a:noFill/>
                    </a:lnB>
                    <a:solidFill>
                      <a:srgbClr val="F2F2F2"/>
                    </a:solidFill>
                  </a:tcPr>
                </a:tc>
                <a:tc>
                  <a:txBody>
                    <a:bodyPr/>
                    <a:lstStyle/>
                    <a:p>
                      <a:pPr algn="r" fontAlgn="b"/>
                      <a:r>
                        <a:rPr lang="en-US"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LPI below +10%</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1447327685"/>
                  </a:ext>
                </a:extLst>
              </a:tr>
            </a:tbl>
          </a:graphicData>
        </a:graphic>
      </p:graphicFrame>
      <p:sp>
        <p:nvSpPr>
          <p:cNvPr id="8" name="Text Box 2">
            <a:extLst>
              <a:ext uri="{FF2B5EF4-FFF2-40B4-BE49-F238E27FC236}">
                <a16:creationId xmlns:a16="http://schemas.microsoft.com/office/drawing/2014/main" id="{C1133FAA-EA06-BE80-AA3D-B36B386B35B7}"/>
              </a:ext>
            </a:extLst>
          </p:cNvPr>
          <p:cNvSpPr txBox="1">
            <a:spLocks noChangeArrowheads="1"/>
          </p:cNvSpPr>
          <p:nvPr/>
        </p:nvSpPr>
        <p:spPr bwMode="auto">
          <a:xfrm>
            <a:off x="4121414" y="773806"/>
            <a:ext cx="2551667" cy="616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15:  Customer strain signals</a:t>
            </a:r>
          </a:p>
        </p:txBody>
      </p:sp>
      <p:sp>
        <p:nvSpPr>
          <p:cNvPr id="3" name="TextBox 2">
            <a:extLst>
              <a:ext uri="{FF2B5EF4-FFF2-40B4-BE49-F238E27FC236}">
                <a16:creationId xmlns:a16="http://schemas.microsoft.com/office/drawing/2014/main" id="{37FA15CF-5655-562D-47E6-5432FE7B1FD5}"/>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11</a:t>
            </a:fld>
            <a:endParaRPr lang="en-US" sz="1400">
              <a:latin typeface="Calibri" panose="020F0502020204030204" pitchFamily="34" charset="0"/>
              <a:cs typeface="Calibri" panose="020F0502020204030204" pitchFamily="34" charset="0"/>
            </a:endParaRPr>
          </a:p>
        </p:txBody>
      </p:sp>
      <p:sp>
        <p:nvSpPr>
          <p:cNvPr id="13" name="Text Box 2">
            <a:extLst>
              <a:ext uri="{FF2B5EF4-FFF2-40B4-BE49-F238E27FC236}">
                <a16:creationId xmlns:a16="http://schemas.microsoft.com/office/drawing/2014/main" id="{06E70FB6-1335-5C1F-1207-95C3B329AD63}"/>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5EE320C9-E7EF-50CA-DCC1-2793C8979B0E}"/>
              </a:ext>
            </a:extLst>
          </p:cNvPr>
          <p:cNvSpPr/>
          <p:nvPr/>
        </p:nvSpPr>
        <p:spPr>
          <a:xfrm>
            <a:off x="6787586" y="2154518"/>
            <a:ext cx="2197708" cy="1185044"/>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Average renewal term shortened from 60 months to 54 months.</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Customers are pushing back on price at the margin.</a:t>
            </a:r>
          </a:p>
        </p:txBody>
      </p:sp>
      <p:sp>
        <p:nvSpPr>
          <p:cNvPr id="900" name="StrainNote">
            <a:extLst>
              <a:ext uri="{FF2B5EF4-FFF2-40B4-BE49-F238E27FC236}">
                <a16:creationId xmlns:a16="http://schemas.microsoft.com/office/drawing/2014/main" id="{5EE320C9-E7EF-50CA-DCC1-2793C8979B0E}"/>
              </a:ext>
            </a:extLst>
          </p:cNvPr>
          <p:cNvSpPr/>
          <p:nvPr/>
        </p:nvSpPr>
        <p:spPr>
          <a:xfrm>
            <a:off x="127000" y="4318000"/>
            <a:ext cx="3810000" cy="177800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Renewal success and term length are the leading indicators.</a:t>
            </a:r>
          </a:p>
          <a:p>
            <a:pPr>
              <a:spcBef>
                <a:spcPts val="0"/>
              </a:spcBef>
              <a:spcAft>
                <a:spcPts val="0"/>
              </a:spcAft>
              <a:defRPr/>
            </a:pPr>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Both weakened before the LPI decelerated, the sequence you would expect if customers resist price.</a:t>
            </a:r>
          </a:p>
        </p:txBody>
      </p:sp>
      <p:graphicFrame>
        <p:nvGraphicFramePr>
          <p:cNvPr id="16405" name="Chart"/>
          <p:cNvGraphicFramePr/>
          <p:nvPr/>
        </p:nvGraphicFramePr>
        <p:xfrm>
          <a:off x="127000" y="990600"/>
          <a:ext cx="3835400" cy="2336800"/>
        </p:xfrm>
        <a:graphic>
          <a:graphicData uri="http://schemas.openxmlformats.org/drawingml/2006/chart">
            <c:chart xmlns:c="http://schemas.openxmlformats.org/drawingml/2006/chart" xmlns:r="http://schemas.openxmlformats.org/officeDocument/2006/relationships" r:id="rId8"/>
          </a:graphicData>
        </a:graphic>
      </p:graphicFrame>
      <p:sp>
        <p:nvSpPr>
          <p:cNvPr id="980" name="Renewal term stat"/>
          <p:cNvSpPr txBox="1"/>
          <p:nvPr/>
        </p:nvSpPr>
        <p:spPr>
          <a:xfrm>
            <a:off x="4191000" y="4696614"/>
            <a:ext cx="4800600" cy="1016000"/>
          </a:xfrm>
          <a:prstGeom prst="rect">
            <a:avLst/>
          </a:prstGeom>
          <a:noFill/>
          <a:ln>
            <a:noFill/>
          </a:ln>
        </p:spPr>
        <p:txBody>
          <a:bodyPr wrap="square" lIns="0" tIns="0" rIns="0" bIns="0" anchor="t"/>
          <a:lstStyle/>
          <a:p>
            <a:pPr algn="ctr">
              <a:buNone/>
            </a:pPr>
            <a:r>
              <a:rPr lang="en-US" sz="6000" b="1">
                <a:solidFill>
                  <a:srgbClr val="292934"/>
                </a:solidFill>
                <a:latin typeface="Calibri"/>
              </a:rPr>
              <a:t>54 mo</a:t>
            </a:r>
          </a:p>
        </p:txBody>
      </p:sp>
      <p:sp>
        <p:nvSpPr>
          <p:cNvPr id="981" name="Renewal term stat caption"/>
          <p:cNvSpPr txBox="1"/>
          <p:nvPr/>
        </p:nvSpPr>
        <p:spPr>
          <a:xfrm>
            <a:off x="4191000" y="5788955"/>
            <a:ext cx="4800600" cy="304800"/>
          </a:xfrm>
          <a:prstGeom prst="rect">
            <a:avLst/>
          </a:prstGeom>
          <a:noFill/>
          <a:ln>
            <a:noFill/>
          </a:ln>
        </p:spPr>
        <p:txBody>
          <a:bodyPr wrap="square" lIns="0" tIns="0" rIns="0" bIns="0" anchor="t"/>
          <a:lstStyle/>
          <a:p>
            <a:pPr algn="ctr">
              <a:buNone/>
            </a:pPr>
            <a:r>
              <a:rPr lang="en-US" sz="1400" b="0">
                <a:solidFill>
                  <a:srgbClr val="292934"/>
                </a:solidFill>
                <a:latin typeface="Calibri"/>
              </a:rPr>
              <a:t>average renewal term, down from 60</a:t>
            </a:r>
          </a:p>
        </p:txBody>
      </p:sp>
    </p:spTree>
    <p:extLst>
      <p:ext uri="{BB962C8B-B14F-4D97-AF65-F5344CB8AC3E}">
        <p14:creationId xmlns:p14="http://schemas.microsoft.com/office/powerpoint/2010/main" val="955281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DC7AF-EC41-D7DE-BD0B-985211BE7216}"/>
            </a:ext>
          </a:extLst>
        </p:cNvPr>
        <p:cNvGrpSpPr/>
        <p:nvPr/>
      </p:nvGrpSpPr>
      <p:grpSpPr>
        <a:xfrm>
          <a:off x="0" y="0"/>
          <a:ext cx="0" cy="0"/>
          <a:chOff x="0" y="0"/>
          <a:chExt cx="0" cy="0"/>
        </a:xfrm>
      </p:grpSpPr>
      <p:grpSp>
        <p:nvGrpSpPr>
          <p:cNvPr id="56" name="Group 37">
            <a:extLst>
              <a:ext uri="{FF2B5EF4-FFF2-40B4-BE49-F238E27FC236}">
                <a16:creationId xmlns:a16="http://schemas.microsoft.com/office/drawing/2014/main" id="{8CB08CB4-90D0-A3BE-F809-B6741AB61CB3}"/>
              </a:ext>
            </a:extLst>
          </p:cNvPr>
          <p:cNvGrpSpPr>
            <a:grpSpLocks/>
          </p:cNvGrpSpPr>
          <p:nvPr/>
        </p:nvGrpSpPr>
        <p:grpSpPr bwMode="auto">
          <a:xfrm>
            <a:off x="2179" y="77082"/>
            <a:ext cx="9144000" cy="576857"/>
            <a:chOff x="-2" y="-17873"/>
            <a:chExt cx="12192002" cy="769372"/>
          </a:xfrm>
        </p:grpSpPr>
        <p:sp>
          <p:nvSpPr>
            <p:cNvPr id="57" name="Title 1">
              <a:extLst>
                <a:ext uri="{FF2B5EF4-FFF2-40B4-BE49-F238E27FC236}">
                  <a16:creationId xmlns:a16="http://schemas.microsoft.com/office/drawing/2014/main" id="{35777718-2642-926D-D934-D7AE1017C3C8}"/>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rgbClr val="000000"/>
                  </a:solidFill>
                  <a:latin typeface="Calibri" panose="020F0502020204030204" pitchFamily="34" charset="0"/>
                </a:rPr>
                <a:t>Driver: Disposition Gains</a:t>
              </a:r>
              <a:endParaRPr lang="en-US" sz="3000" b="1">
                <a:solidFill>
                  <a:srgbClr val="000000"/>
                </a:solidFill>
                <a:latin typeface="Calibri" panose="020F0502020204030204" pitchFamily="34" charset="0"/>
              </a:endParaRPr>
            </a:p>
          </p:txBody>
        </p:sp>
        <p:grpSp>
          <p:nvGrpSpPr>
            <p:cNvPr id="58" name="Group 39">
              <a:extLst>
                <a:ext uri="{FF2B5EF4-FFF2-40B4-BE49-F238E27FC236}">
                  <a16:creationId xmlns:a16="http://schemas.microsoft.com/office/drawing/2014/main" id="{1D14C929-A765-C41D-9DC2-C827184D5319}"/>
                </a:ext>
              </a:extLst>
            </p:cNvPr>
            <p:cNvGrpSpPr>
              <a:grpSpLocks/>
            </p:cNvGrpSpPr>
            <p:nvPr/>
          </p:nvGrpSpPr>
          <p:grpSpPr bwMode="auto">
            <a:xfrm>
              <a:off x="-2" y="645614"/>
              <a:ext cx="12192002" cy="105885"/>
              <a:chOff x="2373524" y="569416"/>
              <a:chExt cx="6496168" cy="87055"/>
            </a:xfrm>
          </p:grpSpPr>
          <p:sp>
            <p:nvSpPr>
              <p:cNvPr id="59" name="Rectangle 58">
                <a:extLst>
                  <a:ext uri="{FF2B5EF4-FFF2-40B4-BE49-F238E27FC236}">
                    <a16:creationId xmlns:a16="http://schemas.microsoft.com/office/drawing/2014/main" id="{47ADB45F-5DD3-7F56-52DB-9B9422FC696A}"/>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61" name="Rectangle 60">
                <a:extLst>
                  <a:ext uri="{FF2B5EF4-FFF2-40B4-BE49-F238E27FC236}">
                    <a16:creationId xmlns:a16="http://schemas.microsoft.com/office/drawing/2014/main" id="{7F3B88D1-87E8-196A-9003-FCD3AB174423}"/>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187" name="Group 186">
            <a:extLst>
              <a:ext uri="{FF2B5EF4-FFF2-40B4-BE49-F238E27FC236}">
                <a16:creationId xmlns:a16="http://schemas.microsoft.com/office/drawing/2014/main" id="{FC4F5F29-35EE-7378-719D-2248D0784982}"/>
              </a:ext>
            </a:extLst>
          </p:cNvPr>
          <p:cNvGrpSpPr/>
          <p:nvPr/>
        </p:nvGrpSpPr>
        <p:grpSpPr>
          <a:xfrm>
            <a:off x="0" y="6265664"/>
            <a:ext cx="9144000" cy="457200"/>
            <a:chOff x="0" y="2732884"/>
            <a:chExt cx="9144000" cy="457200"/>
          </a:xfrm>
        </p:grpSpPr>
        <p:sp>
          <p:nvSpPr>
            <p:cNvPr id="188" name="Rectangle 187">
              <a:extLst>
                <a:ext uri="{FF2B5EF4-FFF2-40B4-BE49-F238E27FC236}">
                  <a16:creationId xmlns:a16="http://schemas.microsoft.com/office/drawing/2014/main" id="{E9BBC8B1-78C7-2EF0-7E46-921946816C63}"/>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189" name="Group 188">
              <a:extLst>
                <a:ext uri="{FF2B5EF4-FFF2-40B4-BE49-F238E27FC236}">
                  <a16:creationId xmlns:a16="http://schemas.microsoft.com/office/drawing/2014/main" id="{BE536046-7DBD-FFB2-8436-C8738A196F05}"/>
                </a:ext>
              </a:extLst>
            </p:cNvPr>
            <p:cNvGrpSpPr/>
            <p:nvPr/>
          </p:nvGrpSpPr>
          <p:grpSpPr>
            <a:xfrm>
              <a:off x="5021579" y="2732884"/>
              <a:ext cx="545306" cy="457200"/>
              <a:chOff x="4981575" y="2712036"/>
              <a:chExt cx="545306" cy="457200"/>
            </a:xfrm>
          </p:grpSpPr>
          <p:sp>
            <p:nvSpPr>
              <p:cNvPr id="205" name="Oval 204">
                <a:extLst>
                  <a:ext uri="{FF2B5EF4-FFF2-40B4-BE49-F238E27FC236}">
                    <a16:creationId xmlns:a16="http://schemas.microsoft.com/office/drawing/2014/main" id="{A4FC277E-7376-CD3B-154F-AE4F807120DC}"/>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206" name="Picture 205" descr="Related image">
                <a:extLst>
                  <a:ext uri="{FF2B5EF4-FFF2-40B4-BE49-F238E27FC236}">
                    <a16:creationId xmlns:a16="http://schemas.microsoft.com/office/drawing/2014/main" id="{0C79CC27-9B4C-05CC-F2BD-90BDA4E75B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90" name="Group 189">
              <a:extLst>
                <a:ext uri="{FF2B5EF4-FFF2-40B4-BE49-F238E27FC236}">
                  <a16:creationId xmlns:a16="http://schemas.microsoft.com/office/drawing/2014/main" id="{CA157549-155E-94B7-3E52-0073E77F5CC5}"/>
                </a:ext>
              </a:extLst>
            </p:cNvPr>
            <p:cNvGrpSpPr/>
            <p:nvPr/>
          </p:nvGrpSpPr>
          <p:grpSpPr>
            <a:xfrm>
              <a:off x="7910513" y="2732884"/>
              <a:ext cx="545306" cy="457200"/>
              <a:chOff x="7731919" y="2712036"/>
              <a:chExt cx="545306" cy="457200"/>
            </a:xfrm>
          </p:grpSpPr>
          <p:sp>
            <p:nvSpPr>
              <p:cNvPr id="203" name="Oval 202">
                <a:extLst>
                  <a:ext uri="{FF2B5EF4-FFF2-40B4-BE49-F238E27FC236}">
                    <a16:creationId xmlns:a16="http://schemas.microsoft.com/office/drawing/2014/main" id="{1F98D0C8-99D4-BB43-263C-7340637FEDD3}"/>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204" name="Picture 203" descr="Related image">
                <a:extLst>
                  <a:ext uri="{FF2B5EF4-FFF2-40B4-BE49-F238E27FC236}">
                    <a16:creationId xmlns:a16="http://schemas.microsoft.com/office/drawing/2014/main" id="{BE5FE0D4-D272-9865-F068-791680FF6F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91" name="Oval 190">
              <a:extLst>
                <a:ext uri="{FF2B5EF4-FFF2-40B4-BE49-F238E27FC236}">
                  <a16:creationId xmlns:a16="http://schemas.microsoft.com/office/drawing/2014/main" id="{2116ED7B-119F-10FB-D991-2333C423CBF8}"/>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92" name="Group 191">
              <a:extLst>
                <a:ext uri="{FF2B5EF4-FFF2-40B4-BE49-F238E27FC236}">
                  <a16:creationId xmlns:a16="http://schemas.microsoft.com/office/drawing/2014/main" id="{389A8809-9DFF-3C1F-CD3A-47F9A3709E2E}"/>
                </a:ext>
              </a:extLst>
            </p:cNvPr>
            <p:cNvGrpSpPr/>
            <p:nvPr/>
          </p:nvGrpSpPr>
          <p:grpSpPr>
            <a:xfrm>
              <a:off x="6466045" y="2732884"/>
              <a:ext cx="545306" cy="457200"/>
              <a:chOff x="6353175" y="2712036"/>
              <a:chExt cx="545306" cy="457200"/>
            </a:xfrm>
          </p:grpSpPr>
          <p:sp>
            <p:nvSpPr>
              <p:cNvPr id="201" name="Oval 200">
                <a:extLst>
                  <a:ext uri="{FF2B5EF4-FFF2-40B4-BE49-F238E27FC236}">
                    <a16:creationId xmlns:a16="http://schemas.microsoft.com/office/drawing/2014/main" id="{5CF4E5A6-131C-3C8F-50BC-AFD7B91A0AE1}"/>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202" name="Graphic 14379" descr="Dollar with solid fill">
                <a:extLst>
                  <a:ext uri="{FF2B5EF4-FFF2-40B4-BE49-F238E27FC236}">
                    <a16:creationId xmlns:a16="http://schemas.microsoft.com/office/drawing/2014/main" id="{A87715E6-306C-4E17-1068-0729F70992BF}"/>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193" name="Group 192">
              <a:extLst>
                <a:ext uri="{FF2B5EF4-FFF2-40B4-BE49-F238E27FC236}">
                  <a16:creationId xmlns:a16="http://schemas.microsoft.com/office/drawing/2014/main" id="{C51C8787-CC0D-4AEE-951F-7907466C79C8}"/>
                </a:ext>
              </a:extLst>
            </p:cNvPr>
            <p:cNvGrpSpPr/>
            <p:nvPr/>
          </p:nvGrpSpPr>
          <p:grpSpPr>
            <a:xfrm>
              <a:off x="3577113" y="2732884"/>
              <a:ext cx="545306" cy="457200"/>
              <a:chOff x="3609974" y="2715607"/>
              <a:chExt cx="545306" cy="457200"/>
            </a:xfrm>
          </p:grpSpPr>
          <p:sp>
            <p:nvSpPr>
              <p:cNvPr id="197" name="Oval 196">
                <a:extLst>
                  <a:ext uri="{FF2B5EF4-FFF2-40B4-BE49-F238E27FC236}">
                    <a16:creationId xmlns:a16="http://schemas.microsoft.com/office/drawing/2014/main" id="{304713AD-81DB-595D-886C-CA887F29574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98" name="Group 197">
                <a:extLst>
                  <a:ext uri="{FF2B5EF4-FFF2-40B4-BE49-F238E27FC236}">
                    <a16:creationId xmlns:a16="http://schemas.microsoft.com/office/drawing/2014/main" id="{9350E86C-44D7-E822-CE57-23885D1BD0C1}"/>
                  </a:ext>
                </a:extLst>
              </p:cNvPr>
              <p:cNvGrpSpPr/>
              <p:nvPr/>
            </p:nvGrpSpPr>
            <p:grpSpPr>
              <a:xfrm>
                <a:off x="3769049" y="2811218"/>
                <a:ext cx="227157" cy="265979"/>
                <a:chOff x="3771206" y="2761936"/>
                <a:chExt cx="227157" cy="265979"/>
              </a:xfrm>
            </p:grpSpPr>
            <p:sp>
              <p:nvSpPr>
                <p:cNvPr id="199" name="Freeform: Shape 198">
                  <a:extLst>
                    <a:ext uri="{FF2B5EF4-FFF2-40B4-BE49-F238E27FC236}">
                      <a16:creationId xmlns:a16="http://schemas.microsoft.com/office/drawing/2014/main" id="{D68FD7D4-3DB0-0196-AB8E-B542D4E105F1}"/>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200" name="Freeform: Shape 199">
                  <a:extLst>
                    <a:ext uri="{FF2B5EF4-FFF2-40B4-BE49-F238E27FC236}">
                      <a16:creationId xmlns:a16="http://schemas.microsoft.com/office/drawing/2014/main" id="{13186C15-9784-8278-EF4A-BF15698307BE}"/>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194" name="Group 193">
              <a:extLst>
                <a:ext uri="{FF2B5EF4-FFF2-40B4-BE49-F238E27FC236}">
                  <a16:creationId xmlns:a16="http://schemas.microsoft.com/office/drawing/2014/main" id="{1E2C087E-632A-688F-1222-8E1E772ED2D5}"/>
                </a:ext>
              </a:extLst>
            </p:cNvPr>
            <p:cNvGrpSpPr/>
            <p:nvPr/>
          </p:nvGrpSpPr>
          <p:grpSpPr>
            <a:xfrm>
              <a:off x="2132647" y="2732884"/>
              <a:ext cx="545306" cy="457200"/>
              <a:chOff x="2238375" y="2712635"/>
              <a:chExt cx="545306" cy="457200"/>
            </a:xfrm>
          </p:grpSpPr>
          <p:sp>
            <p:nvSpPr>
              <p:cNvPr id="195" name="Oval 194">
                <a:extLst>
                  <a:ext uri="{FF2B5EF4-FFF2-40B4-BE49-F238E27FC236}">
                    <a16:creationId xmlns:a16="http://schemas.microsoft.com/office/drawing/2014/main" id="{5C269F49-1170-A8E9-52C6-DDAD7F824454}"/>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96" name="Graphic 14377" descr="Board Of Directors with solid fill">
                <a:extLst>
                  <a:ext uri="{FF2B5EF4-FFF2-40B4-BE49-F238E27FC236}">
                    <a16:creationId xmlns:a16="http://schemas.microsoft.com/office/drawing/2014/main" id="{39D33158-5515-9F37-25F1-B20DAEB8A68D}"/>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207" name="Graphic 206" descr="Lights On with solid fill">
            <a:extLst>
              <a:ext uri="{FF2B5EF4-FFF2-40B4-BE49-F238E27FC236}">
                <a16:creationId xmlns:a16="http://schemas.microsoft.com/office/drawing/2014/main" id="{3F6A74E1-E76F-188F-4EC4-EDAB4891FF7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graphicFrame>
        <p:nvGraphicFramePr>
          <p:cNvPr id="6" name="Table 5">
            <a:extLst>
              <a:ext uri="{FF2B5EF4-FFF2-40B4-BE49-F238E27FC236}">
                <a16:creationId xmlns:a16="http://schemas.microsoft.com/office/drawing/2014/main" id="{79B1AF47-CB8F-C872-FF88-80FE203F55F8}"/>
              </a:ext>
            </a:extLst>
          </p:cNvPr>
          <p:cNvGraphicFramePr>
            <a:graphicFrameLocks noGrp="1"/>
          </p:cNvGraphicFramePr>
          <p:nvPr>
            <p:custDataLst>
              <p:tags r:id="rId1"/>
            </p:custDataLst>
          </p:nvPr>
        </p:nvGraphicFramePr>
        <p:xfrm>
          <a:off x="135710" y="2040181"/>
          <a:ext cx="4118075" cy="1811312"/>
        </p:xfrm>
        <a:graphic>
          <a:graphicData uri="http://schemas.openxmlformats.org/drawingml/2006/table">
            <a:tbl>
              <a:tblPr/>
              <a:tblGrid>
                <a:gridCol w="934489">
                  <a:extLst>
                    <a:ext uri="{9D8B030D-6E8A-4147-A177-3AD203B41FA5}">
                      <a16:colId xmlns:a16="http://schemas.microsoft.com/office/drawing/2014/main" val="828608737"/>
                    </a:ext>
                  </a:extLst>
                </a:gridCol>
                <a:gridCol w="953287">
                  <a:extLst>
                    <a:ext uri="{9D8B030D-6E8A-4147-A177-3AD203B41FA5}">
                      <a16:colId xmlns:a16="http://schemas.microsoft.com/office/drawing/2014/main" val="1809997279"/>
                    </a:ext>
                  </a:extLst>
                </a:gridCol>
                <a:gridCol w="995863">
                  <a:extLst>
                    <a:ext uri="{9D8B030D-6E8A-4147-A177-3AD203B41FA5}">
                      <a16:colId xmlns:a16="http://schemas.microsoft.com/office/drawing/2014/main" val="4201073258"/>
                    </a:ext>
                  </a:extLst>
                </a:gridCol>
                <a:gridCol w="1234436">
                  <a:extLst>
                    <a:ext uri="{9D8B030D-6E8A-4147-A177-3AD203B41FA5}">
                      <a16:colId xmlns:a16="http://schemas.microsoft.com/office/drawing/2014/main" val="2097587724"/>
                    </a:ext>
                  </a:extLst>
                </a:gridCol>
              </a:tblGrid>
              <a:tr h="186128">
                <a:tc>
                  <a:txBody>
                    <a:bodyPr/>
                    <a:lstStyle/>
                    <a:p>
                      <a:pPr algn="ctr" fontAlgn="b"/>
                      <a:r>
                        <a:rPr lang="en-US" sz="10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Disposition gains</a:t>
                      </a:r>
                    </a:p>
                  </a:txBody>
                  <a:tcPr marL="0" marR="0" marT="0" marB="0" anchor="b">
                    <a:lnL>
                      <a:noFill/>
                    </a:lnL>
                    <a:lnR>
                      <a:noFill/>
                    </a:lnR>
                    <a:lnT>
                      <a:noFill/>
                    </a:lnT>
                    <a:lnB>
                      <a:noFill/>
                    </a:lnB>
                    <a:solidFill>
                      <a:srgbClr val="F2C755"/>
                    </a:solidFill>
                  </a:tcPr>
                </a:tc>
                <a:tc>
                  <a:txBody>
                    <a:bodyPr/>
                    <a:lstStyle/>
                    <a:p>
                      <a:pPr algn="ctr" fontAlgn="b"/>
                      <a:r>
                        <a:rPr lang="en-US" sz="10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Amount</a:t>
                      </a:r>
                    </a:p>
                  </a:txBody>
                  <a:tcPr marL="0" marR="0" marT="0" marB="0" anchor="b">
                    <a:lnL>
                      <a:noFill/>
                    </a:lnL>
                    <a:lnR>
                      <a:noFill/>
                    </a:lnR>
                    <a:lnT>
                      <a:noFill/>
                    </a:lnT>
                    <a:lnB>
                      <a:noFill/>
                    </a:lnB>
                    <a:solidFill>
                      <a:srgbClr val="F2C755"/>
                    </a:solidFill>
                  </a:tcPr>
                </a:tc>
                <a:tc>
                  <a:txBody>
                    <a:bodyPr/>
                    <a:lstStyle/>
                    <a:p>
                      <a:pPr algn="ctr" fontAlgn="b"/>
                      <a:r>
                        <a:rPr lang="en-US" sz="10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Per share</a:t>
                      </a:r>
                    </a:p>
                  </a:txBody>
                  <a:tcPr marL="0" marR="0" marT="0" marB="0" anchor="b">
                    <a:lnL>
                      <a:noFill/>
                    </a:lnL>
                    <a:lnR>
                      <a:noFill/>
                    </a:lnR>
                    <a:lnT>
                      <a:noFill/>
                    </a:lnT>
                    <a:lnB>
                      <a:noFill/>
                    </a:lnB>
                    <a:solidFill>
                      <a:srgbClr val="F2C755"/>
                    </a:solidFill>
                  </a:tcPr>
                </a:tc>
                <a:tc>
                  <a:txBody>
                    <a:bodyPr/>
                    <a:lstStyle/>
                    <a:p>
                      <a:pPr algn="ctr" fontAlgn="b"/>
                      <a:r>
                        <a:rPr lang="en-US" sz="10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Source</a:t>
                      </a:r>
                    </a:p>
                  </a:txBody>
                  <a:tcPr marL="0" marR="0" marT="0" marB="0" anchor="b">
                    <a:lnL>
                      <a:noFill/>
                    </a:lnL>
                    <a:lnR>
                      <a:noFill/>
                    </a:lnR>
                    <a:lnT>
                      <a:noFill/>
                    </a:lnT>
                    <a:lnB>
                      <a:noFill/>
                    </a:lnB>
                    <a:solidFill>
                      <a:srgbClr val="F2C755"/>
                    </a:solidFill>
                  </a:tcPr>
                </a:tc>
                <a:extLst>
                  <a:ext uri="{0D108BD9-81ED-4DB2-BD59-A6C34878D82A}">
                    <a16:rowId xmlns:a16="http://schemas.microsoft.com/office/drawing/2014/main" val="3613018876"/>
                  </a:ext>
                </a:extLst>
              </a:tr>
              <a:tr h="186128">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FY2026 guide, consolidated</a:t>
                      </a:r>
                    </a:p>
                  </a:txBody>
                  <a:tcPr marL="0" marR="0" marT="0" marB="0" anchor="b">
                    <a:lnL>
                      <a:noFill/>
                    </a:lnL>
                    <a:lnR>
                      <a:noFill/>
                    </a:lnR>
                    <a:lnT>
                      <a:noFill/>
                    </a:lnT>
                    <a:lnB>
                      <a:noFill/>
                    </a:lnB>
                    <a:solidFill>
                      <a:srgbClr val="F8F8F8"/>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$200.0M</a:t>
                      </a:r>
                    </a:p>
                  </a:txBody>
                  <a:tcPr marL="0" marR="0" marT="0" marB="0" anchor="b">
                    <a:lnL>
                      <a:noFill/>
                    </a:lnL>
                    <a:lnR>
                      <a:noFill/>
                    </a:lnR>
                    <a:lnT>
                      <a:noFill/>
                    </a:lnT>
                    <a:lnB>
                      <a:noFill/>
                    </a:lnB>
                    <a:solidFill>
                      <a:srgbClr val="F8F8F8"/>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$4.25</a:t>
                      </a:r>
                    </a:p>
                  </a:txBody>
                  <a:tcPr marL="0" marR="0" marT="0" marB="0" anchor="b">
                    <a:lnL>
                      <a:noFill/>
                    </a:lnL>
                    <a:lnR>
                      <a:noFill/>
                    </a:lnR>
                    <a:lnT>
                      <a:noFill/>
                    </a:lnT>
                    <a:lnB>
                      <a:noFill/>
                    </a:lnB>
                    <a:solidFill>
                      <a:srgbClr val="F8F8F8"/>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Q2 2026 call: $130M legacy plus $70M GABX joint venture</a:t>
                      </a:r>
                    </a:p>
                  </a:txBody>
                  <a:tcPr marL="0" marR="0" marT="0" marB="0" anchor="b">
                    <a:lnL>
                      <a:noFill/>
                    </a:lnL>
                    <a:lnR>
                      <a:noFill/>
                    </a:lnR>
                    <a:lnT>
                      <a:noFill/>
                    </a:lnT>
                    <a:lnB>
                      <a:noFill/>
                    </a:lnB>
                    <a:solidFill>
                      <a:srgbClr val="F8F8F8"/>
                    </a:solidFill>
                  </a:tcPr>
                </a:tc>
                <a:extLst>
                  <a:ext uri="{0D108BD9-81ED-4DB2-BD59-A6C34878D82A}">
                    <a16:rowId xmlns:a16="http://schemas.microsoft.com/office/drawing/2014/main" val="2911014776"/>
                  </a:ext>
                </a:extLst>
              </a:tr>
              <a:tr h="186128">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H1 2026, Rail NA</a:t>
                      </a:r>
                    </a:p>
                  </a:txBody>
                  <a:tcPr marL="0" marR="0" marT="0" marB="0" anchor="b">
                    <a:lnL>
                      <a:noFill/>
                    </a:lnL>
                    <a:lnR>
                      <a:noFill/>
                    </a:lnR>
                    <a:lnT>
                      <a:noFill/>
                    </a:lnT>
                    <a:lnB>
                      <a:noFill/>
                    </a:lnB>
                    <a:solidFill>
                      <a:srgbClr val="EBEBEB"/>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$117.5M</a:t>
                      </a:r>
                    </a:p>
                  </a:txBody>
                  <a:tcPr marL="0" marR="0" marT="0" marB="0" anchor="b">
                    <a:lnL>
                      <a:noFill/>
                    </a:lnL>
                    <a:lnR>
                      <a:noFill/>
                    </a:lnR>
                    <a:lnT>
                      <a:noFill/>
                    </a:lnT>
                    <a:lnB>
                      <a:noFill/>
                    </a:lnB>
                    <a:solidFill>
                      <a:srgbClr val="EBEBEB"/>
                    </a:solidFill>
                  </a:tcPr>
                </a:tc>
                <a:tc>
                  <a:txBody>
                    <a:bodyPr/>
                    <a:lstStyle/>
                    <a:p>
                      <a:pPr algn="r" fontAlgn="b"/>
                      <a:endParaRPr sz="1000"/>
                    </a:p>
                  </a:txBody>
                  <a:tcPr marL="0" marR="0" marT="0" marB="0" anchor="b">
                    <a:lnL>
                      <a:noFill/>
                    </a:lnL>
                    <a:lnR>
                      <a:noFill/>
                    </a:lnR>
                    <a:lnT>
                      <a:noFill/>
                    </a:lnT>
                    <a:lnB>
                      <a:noFill/>
                    </a:lnB>
                    <a:solidFill>
                      <a:srgbClr val="EBEBEB"/>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90% of the $130M legacy guide in six months</a:t>
                      </a:r>
                    </a:p>
                  </a:txBody>
                  <a:tcPr marL="0" marR="0" marT="0" marB="0" anchor="b">
                    <a:lnL>
                      <a:noFill/>
                    </a:lnL>
                    <a:lnR>
                      <a:noFill/>
                    </a:lnR>
                    <a:lnT>
                      <a:noFill/>
                    </a:lnT>
                    <a:lnB>
                      <a:noFill/>
                    </a:lnB>
                    <a:solidFill>
                      <a:srgbClr val="EBEBEB"/>
                    </a:solidFill>
                  </a:tcPr>
                </a:tc>
                <a:extLst>
                  <a:ext uri="{0D108BD9-81ED-4DB2-BD59-A6C34878D82A}">
                    <a16:rowId xmlns:a16="http://schemas.microsoft.com/office/drawing/2014/main" val="1942650501"/>
                  </a:ext>
                </a:extLst>
              </a:tr>
              <a:tr h="186128">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Q2 2026, Rail NA</a:t>
                      </a:r>
                    </a:p>
                  </a:txBody>
                  <a:tcPr marL="0" marR="0" marT="0" marB="0" anchor="b">
                    <a:lnL>
                      <a:noFill/>
                    </a:lnL>
                    <a:lnR>
                      <a:noFill/>
                    </a:lnR>
                    <a:lnT>
                      <a:noFill/>
                    </a:lnT>
                    <a:lnB>
                      <a:noFill/>
                    </a:lnB>
                    <a:solidFill>
                      <a:srgbClr val="F8F8F8"/>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$67.7M</a:t>
                      </a:r>
                    </a:p>
                  </a:txBody>
                  <a:tcPr marL="0" marR="0" marT="0" marB="0" anchor="b">
                    <a:lnL>
                      <a:noFill/>
                    </a:lnL>
                    <a:lnR>
                      <a:noFill/>
                    </a:lnR>
                    <a:lnT>
                      <a:noFill/>
                    </a:lnT>
                    <a:lnB>
                      <a:noFill/>
                    </a:lnB>
                    <a:solidFill>
                      <a:srgbClr val="F8F8F8"/>
                    </a:solidFill>
                  </a:tcPr>
                </a:tc>
                <a:tc>
                  <a:txBody>
                    <a:bodyPr/>
                    <a:lstStyle/>
                    <a:p>
                      <a:pPr algn="r" fontAlgn="b"/>
                      <a:endParaRPr sz="1000"/>
                    </a:p>
                  </a:txBody>
                  <a:tcPr marL="0" marR="0" marT="0" marB="0" anchor="b">
                    <a:lnL>
                      <a:noFill/>
                    </a:lnL>
                    <a:lnR>
                      <a:noFill/>
                    </a:lnR>
                    <a:lnT>
                      <a:noFill/>
                    </a:lnT>
                    <a:lnB>
                      <a:noFill/>
                    </a:lnB>
                    <a:solidFill>
                      <a:srgbClr val="F8F8F8"/>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10-Q</a:t>
                      </a:r>
                    </a:p>
                  </a:txBody>
                  <a:tcPr marL="0" marR="0" marT="0" marB="0" anchor="b">
                    <a:lnL>
                      <a:noFill/>
                    </a:lnL>
                    <a:lnR>
                      <a:noFill/>
                    </a:lnR>
                    <a:lnT>
                      <a:noFill/>
                    </a:lnT>
                    <a:lnB>
                      <a:noFill/>
                    </a:lnB>
                    <a:solidFill>
                      <a:srgbClr val="F8F8F8"/>
                    </a:solidFill>
                  </a:tcPr>
                </a:tc>
                <a:extLst>
                  <a:ext uri="{0D108BD9-81ED-4DB2-BD59-A6C34878D82A}">
                    <a16:rowId xmlns:a16="http://schemas.microsoft.com/office/drawing/2014/main" val="2719983455"/>
                  </a:ext>
                </a:extLst>
              </a:tr>
              <a:tr h="186128">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Q2 2026, Rail Intl</a:t>
                      </a:r>
                    </a:p>
                  </a:txBody>
                  <a:tcPr marL="0" marR="0" marT="0" marB="0" anchor="b">
                    <a:lnL>
                      <a:noFill/>
                    </a:lnL>
                    <a:lnR>
                      <a:noFill/>
                    </a:lnR>
                    <a:lnT>
                      <a:noFill/>
                    </a:lnT>
                    <a:lnB>
                      <a:noFill/>
                    </a:lnB>
                    <a:solidFill>
                      <a:srgbClr val="EBEBEB"/>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$2.0M</a:t>
                      </a:r>
                    </a:p>
                  </a:txBody>
                  <a:tcPr marL="0" marR="0" marT="0" marB="0" anchor="b">
                    <a:lnL>
                      <a:noFill/>
                    </a:lnL>
                    <a:lnR>
                      <a:noFill/>
                    </a:lnR>
                    <a:lnT>
                      <a:noFill/>
                    </a:lnT>
                    <a:lnB>
                      <a:noFill/>
                    </a:lnB>
                    <a:solidFill>
                      <a:srgbClr val="EBEBEB"/>
                    </a:solidFill>
                  </a:tcPr>
                </a:tc>
                <a:tc>
                  <a:txBody>
                    <a:bodyPr/>
                    <a:lstStyle/>
                    <a:p>
                      <a:pPr algn="r" fontAlgn="b"/>
                      <a:endParaRPr sz="1000"/>
                    </a:p>
                  </a:txBody>
                  <a:tcPr marL="0" marR="0" marT="0" marB="0" anchor="b">
                    <a:lnL>
                      <a:noFill/>
                    </a:lnL>
                    <a:lnR>
                      <a:noFill/>
                    </a:lnR>
                    <a:lnT>
                      <a:noFill/>
                    </a:lnT>
                    <a:lnB>
                      <a:noFill/>
                    </a:lnB>
                    <a:solidFill>
                      <a:srgbClr val="EBEBEB"/>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10-Q</a:t>
                      </a:r>
                    </a:p>
                  </a:txBody>
                  <a:tcPr marL="0" marR="0" marT="0" marB="0" anchor="b">
                    <a:lnL>
                      <a:noFill/>
                    </a:lnL>
                    <a:lnR>
                      <a:noFill/>
                    </a:lnR>
                    <a:lnT>
                      <a:noFill/>
                    </a:lnT>
                    <a:lnB>
                      <a:noFill/>
                    </a:lnB>
                    <a:solidFill>
                      <a:srgbClr val="EBEBEB"/>
                    </a:solidFill>
                  </a:tcPr>
                </a:tc>
                <a:extLst>
                  <a:ext uri="{0D108BD9-81ED-4DB2-BD59-A6C34878D82A}">
                    <a16:rowId xmlns:a16="http://schemas.microsoft.com/office/drawing/2014/main" val="1379087460"/>
                  </a:ext>
                </a:extLst>
              </a:tr>
              <a:tr h="186128">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Guided adj. EPS mid</a:t>
                      </a:r>
                    </a:p>
                  </a:txBody>
                  <a:tcPr marL="0" marR="0" marT="0" marB="0" anchor="b">
                    <a:lnL>
                      <a:noFill/>
                    </a:lnL>
                    <a:lnR>
                      <a:noFill/>
                    </a:lnR>
                    <a:lnT>
                      <a:noFill/>
                    </a:lnT>
                    <a:lnB>
                      <a:noFill/>
                    </a:lnB>
                    <a:solidFill>
                      <a:srgbClr val="F8F8F8"/>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$10.10</a:t>
                      </a:r>
                    </a:p>
                  </a:txBody>
                  <a:tcPr marL="0" marR="0" marT="0" marB="0" anchor="b">
                    <a:lnL>
                      <a:noFill/>
                    </a:lnL>
                    <a:lnR>
                      <a:noFill/>
                    </a:lnR>
                    <a:lnT>
                      <a:noFill/>
                    </a:lnT>
                    <a:lnB>
                      <a:noFill/>
                    </a:lnB>
                    <a:solidFill>
                      <a:srgbClr val="F8F8F8"/>
                    </a:solidFill>
                  </a:tcPr>
                </a:tc>
                <a:tc>
                  <a:txBody>
                    <a:bodyPr/>
                    <a:lstStyle/>
                    <a:p>
                      <a:pPr algn="r" fontAlgn="b"/>
                      <a:endParaRPr sz="1000"/>
                    </a:p>
                  </a:txBody>
                  <a:tcPr marL="0" marR="0" marT="0" marB="0" anchor="b">
                    <a:lnL>
                      <a:noFill/>
                    </a:lnL>
                    <a:lnR>
                      <a:noFill/>
                    </a:lnR>
                    <a:lnT>
                      <a:noFill/>
                    </a:lnT>
                    <a:lnB>
                      <a:noFill/>
                    </a:lnB>
                    <a:solidFill>
                      <a:srgbClr val="F8F8F8"/>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Includes gains</a:t>
                      </a:r>
                    </a:p>
                  </a:txBody>
                  <a:tcPr marL="0" marR="0" marT="0" marB="0" anchor="b">
                    <a:lnL>
                      <a:noFill/>
                    </a:lnL>
                    <a:lnR>
                      <a:noFill/>
                    </a:lnR>
                    <a:lnT>
                      <a:noFill/>
                    </a:lnT>
                    <a:lnB>
                      <a:noFill/>
                    </a:lnB>
                    <a:solidFill>
                      <a:srgbClr val="F8F8F8"/>
                    </a:solidFill>
                  </a:tcPr>
                </a:tc>
                <a:extLst>
                  <a:ext uri="{0D108BD9-81ED-4DB2-BD59-A6C34878D82A}">
                    <a16:rowId xmlns:a16="http://schemas.microsoft.com/office/drawing/2014/main" val="1755321665"/>
                  </a:ext>
                </a:extLst>
              </a:tr>
              <a:tr h="186128">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BMG FY2026 legacy estimate</a:t>
                      </a:r>
                    </a:p>
                  </a:txBody>
                  <a:tcPr marL="0" marR="0" marT="0" marB="0" anchor="b">
                    <a:lnL>
                      <a:noFill/>
                    </a:lnL>
                    <a:lnR>
                      <a:noFill/>
                    </a:lnR>
                    <a:lnT>
                      <a:noFill/>
                    </a:lnT>
                    <a:lnB>
                      <a:noFill/>
                    </a:lnB>
                    <a:solidFill>
                      <a:srgbClr val="EBEBEB"/>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$155.0M</a:t>
                      </a:r>
                    </a:p>
                  </a:txBody>
                  <a:tcPr marL="0" marR="0" marT="0" marB="0" anchor="b">
                    <a:lnL>
                      <a:noFill/>
                    </a:lnL>
                    <a:lnR>
                      <a:noFill/>
                    </a:lnR>
                    <a:lnT>
                      <a:noFill/>
                    </a:lnT>
                    <a:lnB>
                      <a:noFill/>
                    </a:lnB>
                    <a:solidFill>
                      <a:srgbClr val="EBEBEB"/>
                    </a:solidFill>
                  </a:tcPr>
                </a:tc>
                <a:tc>
                  <a:txBody>
                    <a:bodyPr/>
                    <a:lstStyle/>
                    <a:p>
                      <a:pPr algn="r" fontAlgn="b"/>
                      <a:r>
                        <a:t>$3.29</a:t>
                      </a:r>
                      <a:endParaRPr sz="1000"/>
                    </a:p>
                  </a:txBody>
                  <a:tcPr marL="0" marR="0" marT="0" marB="0" anchor="b">
                    <a:lnL>
                      <a:noFill/>
                    </a:lnL>
                    <a:lnR>
                      <a:noFill/>
                    </a:lnR>
                    <a:lnT>
                      <a:noFill/>
                    </a:lnT>
                    <a:lnB>
                      <a:noFill/>
                    </a:lnB>
                    <a:solidFill>
                      <a:srgbClr val="EBEBEB"/>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H1 actual plus H2 at a $37M pace; SELL flip point $146M</a:t>
                      </a:r>
                    </a:p>
                  </a:txBody>
                  <a:tcPr marL="0" marR="0" marT="0" marB="0" anchor="b">
                    <a:lnL>
                      <a:noFill/>
                    </a:lnL>
                    <a:lnR>
                      <a:noFill/>
                    </a:lnR>
                    <a:lnT>
                      <a:noFill/>
                    </a:lnT>
                    <a:lnB>
                      <a:noFill/>
                    </a:lnB>
                    <a:solidFill>
                      <a:srgbClr val="EBEBEB"/>
                    </a:solidFill>
                  </a:tcPr>
                </a:tc>
                <a:extLst>
                  <a:ext uri="{0D108BD9-81ED-4DB2-BD59-A6C34878D82A}">
                    <a16:rowId xmlns:a16="http://schemas.microsoft.com/office/drawing/2014/main" val="3046643366"/>
                  </a:ext>
                </a:extLst>
              </a:tr>
            </a:tbl>
          </a:graphicData>
        </a:graphic>
      </p:graphicFrame>
      <p:sp>
        <p:nvSpPr>
          <p:cNvPr id="9" name="Rectangle 8">
            <a:extLst>
              <a:ext uri="{FF2B5EF4-FFF2-40B4-BE49-F238E27FC236}">
                <a16:creationId xmlns:a16="http://schemas.microsoft.com/office/drawing/2014/main" id="{38C8E108-AF28-EEAA-D84F-7AA5ED7AF916}"/>
              </a:ext>
            </a:extLst>
          </p:cNvPr>
          <p:cNvSpPr/>
          <p:nvPr/>
        </p:nvSpPr>
        <p:spPr>
          <a:xfrm>
            <a:off x="119389" y="3928931"/>
            <a:ext cx="4121766" cy="91440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eaLnBrk="1" hangingPunct="1">
              <a:lnSpc>
                <a:spcPct val="100000"/>
              </a:lnSpc>
              <a:spcAft>
                <a:spcPts val="400"/>
              </a:spcAft>
            </a:pPr>
            <a:r>
              <a:rPr lang="en-US" altLang="en-US" sz="900">
                <a:solidFill>
                  <a:srgbClr val="292934"/>
                </a:solidFill>
                <a:latin typeface="Calibri" panose="020F0502020204030204" pitchFamily="34" charset="0"/>
                <a:ea typeface="Calibri" panose="020F0502020204030204" pitchFamily="34" charset="0"/>
              </a:rPr>
              <a:t>$200M of gains, taxed at 24% over 35.8M diluted shares, is $4.25 per share: about 42% of the $10.10 guided adjusted EPS midpoint.</a:t>
            </a:r>
          </a:p>
          <a:p>
            <a:pPr eaLnBrk="1" hangingPunct="1">
              <a:lnSpc>
                <a:spcPct val="100000"/>
              </a:lnSpc>
              <a:spcAft>
                <a:spcPts val="400"/>
              </a:spcAft>
            </a:pPr>
            <a:r>
              <a:rPr lang="en-US" altLang="en-US" sz="900">
                <a:solidFill>
                  <a:srgbClr val="292934"/>
                </a:solidFill>
                <a:latin typeface="Calibri" panose="020F0502020204030204" pitchFamily="34" charset="0"/>
                <a:ea typeface="Calibri" panose="020F0502020204030204" pitchFamily="34" charset="0"/>
              </a:rPr>
              <a:t>Adjusted EPS includes disposition gains per FactSet's non-GAAP reconciliation. At a 24% tax rate the share is 42%; at 30% it is about 38%.</a:t>
            </a:r>
          </a:p>
        </p:txBody>
      </p:sp>
      <p:grpSp>
        <p:nvGrpSpPr>
          <p:cNvPr id="2" name="Group 1">
            <a:extLst>
              <a:ext uri="{FF2B5EF4-FFF2-40B4-BE49-F238E27FC236}">
                <a16:creationId xmlns:a16="http://schemas.microsoft.com/office/drawing/2014/main" id="{5A73922C-C78D-F784-5EFC-9FAAB4CF7FEE}"/>
              </a:ext>
            </a:extLst>
          </p:cNvPr>
          <p:cNvGrpSpPr/>
          <p:nvPr/>
        </p:nvGrpSpPr>
        <p:grpSpPr>
          <a:xfrm>
            <a:off x="132018" y="744971"/>
            <a:ext cx="8885527" cy="972014"/>
            <a:chOff x="328436" y="4805306"/>
            <a:chExt cx="8422480" cy="1042653"/>
          </a:xfrm>
        </p:grpSpPr>
        <p:sp>
          <p:nvSpPr>
            <p:cNvPr id="11" name="Rectangle 10">
              <a:extLst>
                <a:ext uri="{FF2B5EF4-FFF2-40B4-BE49-F238E27FC236}">
                  <a16:creationId xmlns:a16="http://schemas.microsoft.com/office/drawing/2014/main" id="{F6698ED8-D586-121A-FCB9-A0F7B3493C9B}"/>
                </a:ext>
              </a:extLst>
            </p:cNvPr>
            <p:cNvSpPr/>
            <p:nvPr/>
          </p:nvSpPr>
          <p:spPr>
            <a:xfrm>
              <a:off x="328436" y="4805306"/>
              <a:ext cx="2533651" cy="104265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GATX sells older railcars every year and books the gains</a:t>
              </a:r>
            </a:p>
          </p:txBody>
        </p:sp>
        <p:sp>
          <p:nvSpPr>
            <p:cNvPr id="12" name="Rectangle 11">
              <a:extLst>
                <a:ext uri="{FF2B5EF4-FFF2-40B4-BE49-F238E27FC236}">
                  <a16:creationId xmlns:a16="http://schemas.microsoft.com/office/drawing/2014/main" id="{3FE6237F-0B05-99C6-6FAA-69CC0C89929E}"/>
                </a:ext>
              </a:extLst>
            </p:cNvPr>
            <p:cNvSpPr/>
            <p:nvPr/>
          </p:nvSpPr>
          <p:spPr>
            <a:xfrm>
              <a:off x="3272851" y="4805306"/>
              <a:ext cx="2533651" cy="104265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Gains are a recurring part of the lessor model, not a one-off</a:t>
              </a:r>
            </a:p>
          </p:txBody>
        </p:sp>
        <p:sp>
          <p:nvSpPr>
            <p:cNvPr id="14" name="Rectangle 13">
              <a:extLst>
                <a:ext uri="{FF2B5EF4-FFF2-40B4-BE49-F238E27FC236}">
                  <a16:creationId xmlns:a16="http://schemas.microsoft.com/office/drawing/2014/main" id="{DAD5B128-2E9D-17E9-2BC8-C5271C49DDAE}"/>
                </a:ext>
              </a:extLst>
            </p:cNvPr>
            <p:cNvSpPr/>
            <p:nvPr/>
          </p:nvSpPr>
          <p:spPr>
            <a:xfrm>
              <a:off x="6217265" y="4805306"/>
              <a:ext cx="2533651" cy="104265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H1 2026 booked 90% of the $130M legacy guide; BMG carries $155M.</a:t>
              </a:r>
            </a:p>
          </p:txBody>
        </p:sp>
        <p:sp>
          <p:nvSpPr>
            <p:cNvPr id="15" name="Arrow: Right 14">
              <a:extLst>
                <a:ext uri="{FF2B5EF4-FFF2-40B4-BE49-F238E27FC236}">
                  <a16:creationId xmlns:a16="http://schemas.microsoft.com/office/drawing/2014/main" id="{55BB490A-DF0C-7BFF-A557-5E705B204DB2}"/>
                </a:ext>
              </a:extLst>
            </p:cNvPr>
            <p:cNvSpPr/>
            <p:nvPr/>
          </p:nvSpPr>
          <p:spPr>
            <a:xfrm>
              <a:off x="2862086" y="5008691"/>
              <a:ext cx="410765" cy="604970"/>
            </a:xfrm>
            <a:prstGeom prst="rightArrow">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grpSp>
      <p:sp>
        <p:nvSpPr>
          <p:cNvPr id="7" name="Text Box 2">
            <a:extLst>
              <a:ext uri="{FF2B5EF4-FFF2-40B4-BE49-F238E27FC236}">
                <a16:creationId xmlns:a16="http://schemas.microsoft.com/office/drawing/2014/main" id="{3F01565B-2DDD-8062-AE80-31D5F89FDE08}"/>
              </a:ext>
            </a:extLst>
          </p:cNvPr>
          <p:cNvSpPr txBox="1">
            <a:spLocks noChangeArrowheads="1"/>
          </p:cNvSpPr>
          <p:nvPr/>
        </p:nvSpPr>
        <p:spPr bwMode="auto">
          <a:xfrm>
            <a:off x="125780" y="1787803"/>
            <a:ext cx="4118074"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17:  Disposition gains, FY2026 guide and H1 2026 actual</a:t>
            </a:r>
            <a:endParaRPr lang="en-US" altLang="en-US" sz="1200">
              <a:solidFill>
                <a:srgbClr val="000000"/>
              </a:solidFill>
              <a:latin typeface="Calibri"/>
              <a:ea typeface="Calibri" panose="020F0502020204030204" pitchFamily="34" charset="0"/>
              <a:cs typeface="Times New Roman"/>
            </a:endParaRPr>
          </a:p>
        </p:txBody>
      </p:sp>
      <p:pic>
        <p:nvPicPr>
          <p:cNvPr id="4" name="Picture 3" descr="A black background with blue text&#10;&#10;Description automatically generated">
            <a:extLst>
              <a:ext uri="{FF2B5EF4-FFF2-40B4-BE49-F238E27FC236}">
                <a16:creationId xmlns:a16="http://schemas.microsoft.com/office/drawing/2014/main" id="{3BB4026A-2D8C-DA11-DAB9-C7D6E0A274FD}"/>
              </a:ext>
            </a:extLst>
          </p:cNvPr>
          <p:cNvPicPr>
            <a:picLocks noChangeAspect="1"/>
          </p:cNvPicPr>
          <p:nvPr/>
        </p:nvPicPr>
        <p:blipFill>
          <a:blip r:embed="rId7">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13" name="Text Box 2">
            <a:extLst>
              <a:ext uri="{FF2B5EF4-FFF2-40B4-BE49-F238E27FC236}">
                <a16:creationId xmlns:a16="http://schemas.microsoft.com/office/drawing/2014/main" id="{4925998E-D908-7503-1B83-F77177592E2D}"/>
              </a:ext>
            </a:extLst>
          </p:cNvPr>
          <p:cNvSpPr txBox="1">
            <a:spLocks noChangeArrowheads="1"/>
          </p:cNvSpPr>
          <p:nvPr/>
        </p:nvSpPr>
        <p:spPr bwMode="auto">
          <a:xfrm>
            <a:off x="4472347" y="3419585"/>
            <a:ext cx="4621842" cy="515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18:  FY2026 guide, legacy guide, H1 booked and BMG estimate ($M)</a:t>
            </a:r>
            <a:endParaRPr lang="en-US" altLang="en-US" sz="1200">
              <a:solidFill>
                <a:srgbClr val="000000"/>
              </a:solidFill>
              <a:latin typeface="Calibri"/>
              <a:ea typeface="Calibri" panose="020F0502020204030204" pitchFamily="34" charset="0"/>
              <a:cs typeface="Times New Roman"/>
            </a:endParaRPr>
          </a:p>
        </p:txBody>
      </p:sp>
      <p:sp>
        <p:nvSpPr>
          <p:cNvPr id="5" name="Arrow: Right 4">
            <a:extLst>
              <a:ext uri="{FF2B5EF4-FFF2-40B4-BE49-F238E27FC236}">
                <a16:creationId xmlns:a16="http://schemas.microsoft.com/office/drawing/2014/main" id="{D74227DA-EC8A-C349-EF1F-CF030AFCE9DA}"/>
              </a:ext>
            </a:extLst>
          </p:cNvPr>
          <p:cNvSpPr/>
          <p:nvPr/>
        </p:nvSpPr>
        <p:spPr>
          <a:xfrm>
            <a:off x="5905692" y="922709"/>
            <a:ext cx="433348" cy="502005"/>
          </a:xfrm>
          <a:prstGeom prst="rightArrow">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5B606D99-9E72-B0BC-AA01-213112AB2DCB}"/>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12</a:t>
            </a:fld>
            <a:endParaRPr lang="en-US" sz="1400">
              <a:latin typeface="Calibri" panose="020F0502020204030204" pitchFamily="34" charset="0"/>
              <a:cs typeface="Calibri" panose="020F0502020204030204" pitchFamily="34" charset="0"/>
            </a:endParaRPr>
          </a:p>
        </p:txBody>
      </p:sp>
      <p:sp>
        <p:nvSpPr>
          <p:cNvPr id="18" name="Text Box 2">
            <a:extLst>
              <a:ext uri="{FF2B5EF4-FFF2-40B4-BE49-F238E27FC236}">
                <a16:creationId xmlns:a16="http://schemas.microsoft.com/office/drawing/2014/main" id="{59468557-A74D-6201-0853-BA56C80C49BA}"/>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70627FF9-327D-D4B2-D4CD-7C7AD4CD7A99}"/>
              </a:ext>
            </a:extLst>
          </p:cNvPr>
          <p:cNvSpPr/>
          <p:nvPr/>
        </p:nvSpPr>
        <p:spPr>
          <a:xfrm>
            <a:off x="4472348" y="1892007"/>
            <a:ext cx="4539634" cy="153699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Disposition gains are the recurring, not guaranteed line in the income statement.</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Lease revenue is locked by multi-year contracts, typically four to five years.</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Gains depend on what used railcars fetch in the secondary market, which is a cycle variable.</a:t>
            </a:r>
          </a:p>
        </p:txBody>
      </p:sp>
      <p:sp>
        <p:nvSpPr>
          <p:cNvPr id="16" name="Rectangle 15">
            <a:extLst>
              <a:ext uri="{FF2B5EF4-FFF2-40B4-BE49-F238E27FC236}">
                <a16:creationId xmlns:a16="http://schemas.microsoft.com/office/drawing/2014/main" id="{B75DECA7-4D4B-38DA-2801-F2C1BE8ECB6E}"/>
              </a:ext>
            </a:extLst>
          </p:cNvPr>
          <p:cNvSpPr/>
          <p:nvPr/>
        </p:nvSpPr>
        <p:spPr>
          <a:xfrm>
            <a:off x="119389" y="5040006"/>
            <a:ext cx="4121766" cy="101600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Sensitivity: each $50M above or below the guide is roughly $1.06 per share. H1 legacy gains of $117.5M are 90% of the $130M legacy guide; BMG carries $155M, which is why BMG's 2026E EPS of $10.53 sits above the $9.90 to $10.30 guide. Below $146M of legacy gains the rating flips to SELL.</a:t>
            </a:r>
          </a:p>
        </p:txBody>
      </p:sp>
      <p:graphicFrame>
        <p:nvGraphicFramePr>
          <p:cNvPr id="208" name="Chart"/>
          <p:cNvGraphicFramePr/>
          <p:nvPr/>
        </p:nvGraphicFramePr>
        <p:xfrm>
          <a:off x="4470400" y="3898900"/>
          <a:ext cx="4533900" cy="2159000"/>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40399705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52A78-2825-DA42-87C1-882BBBD1CB82}"/>
            </a:ext>
          </a:extLst>
        </p:cNvPr>
        <p:cNvGrpSpPr/>
        <p:nvPr/>
      </p:nvGrpSpPr>
      <p:grpSpPr>
        <a:xfrm>
          <a:off x="0" y="0"/>
          <a:ext cx="0" cy="0"/>
          <a:chOff x="0" y="0"/>
          <a:chExt cx="0" cy="0"/>
        </a:xfrm>
      </p:grpSpPr>
      <p:sp>
        <p:nvSpPr>
          <p:cNvPr id="2" name="Arrow: Right 1">
            <a:extLst>
              <a:ext uri="{FF2B5EF4-FFF2-40B4-BE49-F238E27FC236}">
                <a16:creationId xmlns:a16="http://schemas.microsoft.com/office/drawing/2014/main" id="{4E9760A8-D82E-A919-8CE0-F9CBB90C8B33}"/>
              </a:ext>
            </a:extLst>
          </p:cNvPr>
          <p:cNvSpPr/>
          <p:nvPr/>
        </p:nvSpPr>
        <p:spPr>
          <a:xfrm>
            <a:off x="1819088" y="2965806"/>
            <a:ext cx="1177564" cy="707254"/>
          </a:xfrm>
          <a:prstGeom prst="rightArrow">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grpSp>
        <p:nvGrpSpPr>
          <p:cNvPr id="56" name="Group 37">
            <a:extLst>
              <a:ext uri="{FF2B5EF4-FFF2-40B4-BE49-F238E27FC236}">
                <a16:creationId xmlns:a16="http://schemas.microsoft.com/office/drawing/2014/main" id="{982BBD1B-1F5D-8A05-6153-0D79AFD2B677}"/>
              </a:ext>
            </a:extLst>
          </p:cNvPr>
          <p:cNvGrpSpPr>
            <a:grpSpLocks/>
          </p:cNvGrpSpPr>
          <p:nvPr/>
        </p:nvGrpSpPr>
        <p:grpSpPr bwMode="auto">
          <a:xfrm>
            <a:off x="2179" y="77082"/>
            <a:ext cx="9144000" cy="576857"/>
            <a:chOff x="-2" y="-17873"/>
            <a:chExt cx="12192002" cy="769372"/>
          </a:xfrm>
        </p:grpSpPr>
        <p:sp>
          <p:nvSpPr>
            <p:cNvPr id="57" name="Title 1">
              <a:extLst>
                <a:ext uri="{FF2B5EF4-FFF2-40B4-BE49-F238E27FC236}">
                  <a16:creationId xmlns:a16="http://schemas.microsoft.com/office/drawing/2014/main" id="{89E99DF4-DD2B-FF22-8997-25CF1BA6F7FE}"/>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rgbClr val="000000"/>
                  </a:solidFill>
                  <a:latin typeface="Calibri" panose="020F0502020204030204" pitchFamily="34" charset="0"/>
                </a:rPr>
                <a:t>Driver: Disposition Gains, What Moves It</a:t>
              </a:r>
              <a:endParaRPr lang="en-US" sz="3000" b="1">
                <a:solidFill>
                  <a:srgbClr val="000000"/>
                </a:solidFill>
                <a:latin typeface="Calibri" panose="020F0502020204030204" pitchFamily="34" charset="0"/>
              </a:endParaRPr>
            </a:p>
          </p:txBody>
        </p:sp>
        <p:grpSp>
          <p:nvGrpSpPr>
            <p:cNvPr id="58" name="Group 39">
              <a:extLst>
                <a:ext uri="{FF2B5EF4-FFF2-40B4-BE49-F238E27FC236}">
                  <a16:creationId xmlns:a16="http://schemas.microsoft.com/office/drawing/2014/main" id="{7D2C4B54-D97B-9222-75AE-CD7A08C144A9}"/>
                </a:ext>
              </a:extLst>
            </p:cNvPr>
            <p:cNvGrpSpPr>
              <a:grpSpLocks/>
            </p:cNvGrpSpPr>
            <p:nvPr/>
          </p:nvGrpSpPr>
          <p:grpSpPr bwMode="auto">
            <a:xfrm>
              <a:off x="-2" y="645614"/>
              <a:ext cx="12192002" cy="105885"/>
              <a:chOff x="2373524" y="569416"/>
              <a:chExt cx="6496168" cy="87055"/>
            </a:xfrm>
          </p:grpSpPr>
          <p:sp>
            <p:nvSpPr>
              <p:cNvPr id="59" name="Rectangle 58">
                <a:extLst>
                  <a:ext uri="{FF2B5EF4-FFF2-40B4-BE49-F238E27FC236}">
                    <a16:creationId xmlns:a16="http://schemas.microsoft.com/office/drawing/2014/main" id="{CA79B72E-E5E5-C650-32B8-61ECCAF162F7}"/>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61" name="Rectangle 60">
                <a:extLst>
                  <a:ext uri="{FF2B5EF4-FFF2-40B4-BE49-F238E27FC236}">
                    <a16:creationId xmlns:a16="http://schemas.microsoft.com/office/drawing/2014/main" id="{C5544373-23F9-EC76-C17B-F0F0885FE932}"/>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187" name="Group 186">
            <a:extLst>
              <a:ext uri="{FF2B5EF4-FFF2-40B4-BE49-F238E27FC236}">
                <a16:creationId xmlns:a16="http://schemas.microsoft.com/office/drawing/2014/main" id="{A7B671E3-BE2E-514D-EEF2-3259266B74F3}"/>
              </a:ext>
            </a:extLst>
          </p:cNvPr>
          <p:cNvGrpSpPr/>
          <p:nvPr/>
        </p:nvGrpSpPr>
        <p:grpSpPr>
          <a:xfrm>
            <a:off x="0" y="6265664"/>
            <a:ext cx="9144000" cy="457200"/>
            <a:chOff x="0" y="2732884"/>
            <a:chExt cx="9144000" cy="457200"/>
          </a:xfrm>
        </p:grpSpPr>
        <p:sp>
          <p:nvSpPr>
            <p:cNvPr id="188" name="Rectangle 187">
              <a:extLst>
                <a:ext uri="{FF2B5EF4-FFF2-40B4-BE49-F238E27FC236}">
                  <a16:creationId xmlns:a16="http://schemas.microsoft.com/office/drawing/2014/main" id="{EB875B69-E971-8184-CDD0-6E761FAD340D}"/>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189" name="Group 188">
              <a:extLst>
                <a:ext uri="{FF2B5EF4-FFF2-40B4-BE49-F238E27FC236}">
                  <a16:creationId xmlns:a16="http://schemas.microsoft.com/office/drawing/2014/main" id="{44646E3A-B3CC-B19C-59ED-8574D15D5359}"/>
                </a:ext>
              </a:extLst>
            </p:cNvPr>
            <p:cNvGrpSpPr/>
            <p:nvPr/>
          </p:nvGrpSpPr>
          <p:grpSpPr>
            <a:xfrm>
              <a:off x="5021579" y="2732884"/>
              <a:ext cx="545306" cy="457200"/>
              <a:chOff x="4981575" y="2712036"/>
              <a:chExt cx="545306" cy="457200"/>
            </a:xfrm>
          </p:grpSpPr>
          <p:sp>
            <p:nvSpPr>
              <p:cNvPr id="205" name="Oval 204">
                <a:extLst>
                  <a:ext uri="{FF2B5EF4-FFF2-40B4-BE49-F238E27FC236}">
                    <a16:creationId xmlns:a16="http://schemas.microsoft.com/office/drawing/2014/main" id="{D0D9506B-4BAA-A2D1-85C8-F67353BCA08F}"/>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206" name="Picture 205" descr="Related image">
                <a:extLst>
                  <a:ext uri="{FF2B5EF4-FFF2-40B4-BE49-F238E27FC236}">
                    <a16:creationId xmlns:a16="http://schemas.microsoft.com/office/drawing/2014/main" id="{E18757CC-4B07-CEE5-27D7-667F1746F4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90" name="Group 189">
              <a:extLst>
                <a:ext uri="{FF2B5EF4-FFF2-40B4-BE49-F238E27FC236}">
                  <a16:creationId xmlns:a16="http://schemas.microsoft.com/office/drawing/2014/main" id="{9E96D84B-D53C-8B2E-5B14-E06D06C505BC}"/>
                </a:ext>
              </a:extLst>
            </p:cNvPr>
            <p:cNvGrpSpPr/>
            <p:nvPr/>
          </p:nvGrpSpPr>
          <p:grpSpPr>
            <a:xfrm>
              <a:off x="7910513" y="2732884"/>
              <a:ext cx="545306" cy="457200"/>
              <a:chOff x="7731919" y="2712036"/>
              <a:chExt cx="545306" cy="457200"/>
            </a:xfrm>
          </p:grpSpPr>
          <p:sp>
            <p:nvSpPr>
              <p:cNvPr id="203" name="Oval 202">
                <a:extLst>
                  <a:ext uri="{FF2B5EF4-FFF2-40B4-BE49-F238E27FC236}">
                    <a16:creationId xmlns:a16="http://schemas.microsoft.com/office/drawing/2014/main" id="{3FFB801A-983D-6196-71E1-C613B2354120}"/>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204" name="Picture 203" descr="Related image">
                <a:extLst>
                  <a:ext uri="{FF2B5EF4-FFF2-40B4-BE49-F238E27FC236}">
                    <a16:creationId xmlns:a16="http://schemas.microsoft.com/office/drawing/2014/main" id="{302CF576-D7C0-A352-780A-2468484E20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91" name="Oval 190">
              <a:extLst>
                <a:ext uri="{FF2B5EF4-FFF2-40B4-BE49-F238E27FC236}">
                  <a16:creationId xmlns:a16="http://schemas.microsoft.com/office/drawing/2014/main" id="{3DC0E809-DDA5-0129-ACC6-D84565365BD8}"/>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92" name="Group 191">
              <a:extLst>
                <a:ext uri="{FF2B5EF4-FFF2-40B4-BE49-F238E27FC236}">
                  <a16:creationId xmlns:a16="http://schemas.microsoft.com/office/drawing/2014/main" id="{369539A9-FE94-C35C-FD96-CA9987399658}"/>
                </a:ext>
              </a:extLst>
            </p:cNvPr>
            <p:cNvGrpSpPr/>
            <p:nvPr/>
          </p:nvGrpSpPr>
          <p:grpSpPr>
            <a:xfrm>
              <a:off x="6466045" y="2732884"/>
              <a:ext cx="545306" cy="457200"/>
              <a:chOff x="6353175" y="2712036"/>
              <a:chExt cx="545306" cy="457200"/>
            </a:xfrm>
          </p:grpSpPr>
          <p:sp>
            <p:nvSpPr>
              <p:cNvPr id="201" name="Oval 200">
                <a:extLst>
                  <a:ext uri="{FF2B5EF4-FFF2-40B4-BE49-F238E27FC236}">
                    <a16:creationId xmlns:a16="http://schemas.microsoft.com/office/drawing/2014/main" id="{061BD228-3378-1C4D-EBA0-F4F79CA9901E}"/>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202" name="Graphic 14379" descr="Dollar with solid fill">
                <a:extLst>
                  <a:ext uri="{FF2B5EF4-FFF2-40B4-BE49-F238E27FC236}">
                    <a16:creationId xmlns:a16="http://schemas.microsoft.com/office/drawing/2014/main" id="{B0A3D804-F585-B517-6BB6-6865B4B29EED}"/>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193" name="Group 192">
              <a:extLst>
                <a:ext uri="{FF2B5EF4-FFF2-40B4-BE49-F238E27FC236}">
                  <a16:creationId xmlns:a16="http://schemas.microsoft.com/office/drawing/2014/main" id="{EF2035A2-B917-166F-518A-70348C55A050}"/>
                </a:ext>
              </a:extLst>
            </p:cNvPr>
            <p:cNvGrpSpPr/>
            <p:nvPr/>
          </p:nvGrpSpPr>
          <p:grpSpPr>
            <a:xfrm>
              <a:off x="3577113" y="2732884"/>
              <a:ext cx="545306" cy="457200"/>
              <a:chOff x="3609974" y="2715607"/>
              <a:chExt cx="545306" cy="457200"/>
            </a:xfrm>
          </p:grpSpPr>
          <p:sp>
            <p:nvSpPr>
              <p:cNvPr id="197" name="Oval 196">
                <a:extLst>
                  <a:ext uri="{FF2B5EF4-FFF2-40B4-BE49-F238E27FC236}">
                    <a16:creationId xmlns:a16="http://schemas.microsoft.com/office/drawing/2014/main" id="{10370AB5-1023-66AB-84D0-C64F2D7FDA4B}"/>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98" name="Group 197">
                <a:extLst>
                  <a:ext uri="{FF2B5EF4-FFF2-40B4-BE49-F238E27FC236}">
                    <a16:creationId xmlns:a16="http://schemas.microsoft.com/office/drawing/2014/main" id="{F01E4A7D-1FF6-23EB-87EE-0597120AEBEF}"/>
                  </a:ext>
                </a:extLst>
              </p:cNvPr>
              <p:cNvGrpSpPr/>
              <p:nvPr/>
            </p:nvGrpSpPr>
            <p:grpSpPr>
              <a:xfrm>
                <a:off x="3769049" y="2811218"/>
                <a:ext cx="227157" cy="265979"/>
                <a:chOff x="3771206" y="2761936"/>
                <a:chExt cx="227157" cy="265979"/>
              </a:xfrm>
            </p:grpSpPr>
            <p:sp>
              <p:nvSpPr>
                <p:cNvPr id="199" name="Freeform: Shape 198">
                  <a:extLst>
                    <a:ext uri="{FF2B5EF4-FFF2-40B4-BE49-F238E27FC236}">
                      <a16:creationId xmlns:a16="http://schemas.microsoft.com/office/drawing/2014/main" id="{DFC65911-B5DD-90BA-EC6E-BDE3324FB575}"/>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200" name="Freeform: Shape 199">
                  <a:extLst>
                    <a:ext uri="{FF2B5EF4-FFF2-40B4-BE49-F238E27FC236}">
                      <a16:creationId xmlns:a16="http://schemas.microsoft.com/office/drawing/2014/main" id="{6FEDD6A5-2B10-DD48-12F7-6D76F46A0ACA}"/>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194" name="Group 193">
              <a:extLst>
                <a:ext uri="{FF2B5EF4-FFF2-40B4-BE49-F238E27FC236}">
                  <a16:creationId xmlns:a16="http://schemas.microsoft.com/office/drawing/2014/main" id="{0771D946-04B4-9C08-6E31-C1ED5561CE3E}"/>
                </a:ext>
              </a:extLst>
            </p:cNvPr>
            <p:cNvGrpSpPr/>
            <p:nvPr/>
          </p:nvGrpSpPr>
          <p:grpSpPr>
            <a:xfrm>
              <a:off x="2132647" y="2732884"/>
              <a:ext cx="545306" cy="457200"/>
              <a:chOff x="2238375" y="2712635"/>
              <a:chExt cx="545306" cy="457200"/>
            </a:xfrm>
          </p:grpSpPr>
          <p:sp>
            <p:nvSpPr>
              <p:cNvPr id="195" name="Oval 194">
                <a:extLst>
                  <a:ext uri="{FF2B5EF4-FFF2-40B4-BE49-F238E27FC236}">
                    <a16:creationId xmlns:a16="http://schemas.microsoft.com/office/drawing/2014/main" id="{EC951805-BDF6-1C82-6C17-BD29AFA731EA}"/>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96" name="Graphic 14377" descr="Board Of Directors with solid fill">
                <a:extLst>
                  <a:ext uri="{FF2B5EF4-FFF2-40B4-BE49-F238E27FC236}">
                    <a16:creationId xmlns:a16="http://schemas.microsoft.com/office/drawing/2014/main" id="{CBE11E5A-4A03-BE36-0BAD-9FEC56BFDA59}"/>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207" name="Graphic 206" descr="Lights On with solid fill">
            <a:extLst>
              <a:ext uri="{FF2B5EF4-FFF2-40B4-BE49-F238E27FC236}">
                <a16:creationId xmlns:a16="http://schemas.microsoft.com/office/drawing/2014/main" id="{9D851E82-7FCE-8984-7361-5C366003DF1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sp>
        <p:nvSpPr>
          <p:cNvPr id="9" name="Rectangle 8">
            <a:extLst>
              <a:ext uri="{FF2B5EF4-FFF2-40B4-BE49-F238E27FC236}">
                <a16:creationId xmlns:a16="http://schemas.microsoft.com/office/drawing/2014/main" id="{3BDE97A0-2248-9189-5AB4-F170E1AE8F25}"/>
              </a:ext>
            </a:extLst>
          </p:cNvPr>
          <p:cNvSpPr/>
          <p:nvPr/>
        </p:nvSpPr>
        <p:spPr>
          <a:xfrm>
            <a:off x="2996652" y="2927692"/>
            <a:ext cx="3266363" cy="80981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So the gains line, about 42% of guided EPS, moves with the cycle rather than with contracts</a:t>
            </a:r>
          </a:p>
        </p:txBody>
      </p:sp>
      <p:sp>
        <p:nvSpPr>
          <p:cNvPr id="10" name="Rectangle 9">
            <a:extLst>
              <a:ext uri="{FF2B5EF4-FFF2-40B4-BE49-F238E27FC236}">
                <a16:creationId xmlns:a16="http://schemas.microsoft.com/office/drawing/2014/main" id="{86E9851A-FCCD-F0A6-A2A6-6A80F0CD18D3}"/>
              </a:ext>
            </a:extLst>
          </p:cNvPr>
          <p:cNvSpPr/>
          <p:nvPr/>
        </p:nvSpPr>
        <p:spPr>
          <a:xfrm>
            <a:off x="120893" y="2927693"/>
            <a:ext cx="2111598" cy="80981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Secondary-market railcar prices set the gain on every car sold</a:t>
            </a:r>
          </a:p>
        </p:txBody>
      </p:sp>
      <p:sp>
        <p:nvSpPr>
          <p:cNvPr id="16" name="Text Box 2">
            <a:extLst>
              <a:ext uri="{FF2B5EF4-FFF2-40B4-BE49-F238E27FC236}">
                <a16:creationId xmlns:a16="http://schemas.microsoft.com/office/drawing/2014/main" id="{F3037D34-F113-F239-7B3F-A3131C9B7AF7}"/>
              </a:ext>
            </a:extLst>
          </p:cNvPr>
          <p:cNvSpPr txBox="1">
            <a:spLocks noChangeArrowheads="1"/>
          </p:cNvSpPr>
          <p:nvPr/>
        </p:nvSpPr>
        <p:spPr bwMode="auto">
          <a:xfrm>
            <a:off x="110227" y="748337"/>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19:  Secondary-market drivers of the gains line</a:t>
            </a:r>
          </a:p>
        </p:txBody>
      </p:sp>
      <p:pic>
        <p:nvPicPr>
          <p:cNvPr id="6" name="Picture 5" descr="A black background with blue text&#10;&#10;Description automatically generated">
            <a:extLst>
              <a:ext uri="{FF2B5EF4-FFF2-40B4-BE49-F238E27FC236}">
                <a16:creationId xmlns:a16="http://schemas.microsoft.com/office/drawing/2014/main" id="{95169893-0FC6-F84E-EC8C-7DF0E55472EF}"/>
              </a:ext>
            </a:extLst>
          </p:cNvPr>
          <p:cNvPicPr>
            <a:picLocks noChangeAspect="1"/>
          </p:cNvPicPr>
          <p:nvPr/>
        </p:nvPicPr>
        <p:blipFill>
          <a:blip r:embed="rId7">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36" name="Text Box 2">
            <a:extLst>
              <a:ext uri="{FF2B5EF4-FFF2-40B4-BE49-F238E27FC236}">
                <a16:creationId xmlns:a16="http://schemas.microsoft.com/office/drawing/2014/main" id="{C3E00795-C0F8-6B89-9512-98BDC406D2A0}"/>
              </a:ext>
            </a:extLst>
          </p:cNvPr>
          <p:cNvSpPr txBox="1">
            <a:spLocks noChangeArrowheads="1"/>
          </p:cNvSpPr>
          <p:nvPr/>
        </p:nvSpPr>
        <p:spPr bwMode="auto">
          <a:xfrm>
            <a:off x="6413500" y="715972"/>
            <a:ext cx="319148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20:  Gains pace vs guide ($M)</a:t>
            </a:r>
            <a:endParaRPr lang="en-US" altLang="en-US" sz="1200">
              <a:solidFill>
                <a:srgbClr val="000000"/>
              </a:solidFill>
              <a:latin typeface="Calibri"/>
              <a:ea typeface="Calibri" panose="020F0502020204030204" pitchFamily="34" charset="0"/>
              <a:cs typeface="Times New Roman"/>
            </a:endParaRPr>
          </a:p>
        </p:txBody>
      </p:sp>
      <p:sp>
        <p:nvSpPr>
          <p:cNvPr id="37" name="Text Box 2">
            <a:extLst>
              <a:ext uri="{FF2B5EF4-FFF2-40B4-BE49-F238E27FC236}">
                <a16:creationId xmlns:a16="http://schemas.microsoft.com/office/drawing/2014/main" id="{62F9106A-BB5C-0D8E-4D11-422B2432F948}"/>
              </a:ext>
            </a:extLst>
          </p:cNvPr>
          <p:cNvSpPr txBox="1">
            <a:spLocks noChangeArrowheads="1"/>
          </p:cNvSpPr>
          <p:nvPr/>
        </p:nvSpPr>
        <p:spPr bwMode="auto">
          <a:xfrm>
            <a:off x="6413500" y="2340562"/>
            <a:ext cx="3329649"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21:  Per-share translation</a:t>
            </a:r>
            <a:endParaRPr lang="en-US" altLang="en-US" sz="1200">
              <a:solidFill>
                <a:srgbClr val="000000"/>
              </a:solidFill>
              <a:latin typeface="Calibri"/>
              <a:ea typeface="Calibri" panose="020F0502020204030204" pitchFamily="34" charset="0"/>
              <a:cs typeface="Times New Roman"/>
            </a:endParaRPr>
          </a:p>
        </p:txBody>
      </p:sp>
      <p:sp>
        <p:nvSpPr>
          <p:cNvPr id="12" name="Text Box 2">
            <a:extLst>
              <a:ext uri="{FF2B5EF4-FFF2-40B4-BE49-F238E27FC236}">
                <a16:creationId xmlns:a16="http://schemas.microsoft.com/office/drawing/2014/main" id="{CB3BED51-B52D-0F67-F536-FD2046AF7939}"/>
              </a:ext>
            </a:extLst>
          </p:cNvPr>
          <p:cNvSpPr txBox="1">
            <a:spLocks noChangeArrowheads="1"/>
          </p:cNvSpPr>
          <p:nvPr/>
        </p:nvSpPr>
        <p:spPr bwMode="auto">
          <a:xfrm>
            <a:off x="1418189" y="3732014"/>
            <a:ext cx="4496514" cy="461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22:  Legacy gains: H1 booked, H2 to guide, H2 in BMG model ($M)</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2" name="TextBox 21">
            <a:extLst>
              <a:ext uri="{FF2B5EF4-FFF2-40B4-BE49-F238E27FC236}">
                <a16:creationId xmlns:a16="http://schemas.microsoft.com/office/drawing/2014/main" id="{992E0319-B022-37F0-FCC7-A1CA41AE4902}"/>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13</a:t>
            </a:fld>
            <a:endParaRPr lang="en-US" sz="1400">
              <a:latin typeface="Calibri" panose="020F0502020204030204" pitchFamily="34" charset="0"/>
              <a:cs typeface="Calibri" panose="020F0502020204030204" pitchFamily="34" charset="0"/>
            </a:endParaRPr>
          </a:p>
        </p:txBody>
      </p:sp>
      <p:sp>
        <p:nvSpPr>
          <p:cNvPr id="23" name="Text Box 2">
            <a:extLst>
              <a:ext uri="{FF2B5EF4-FFF2-40B4-BE49-F238E27FC236}">
                <a16:creationId xmlns:a16="http://schemas.microsoft.com/office/drawing/2014/main" id="{433FFD38-4AFA-B668-179C-C980F612DF57}"/>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7" name="Table 6">
            <a:extLst>
              <a:ext uri="{FF2B5EF4-FFF2-40B4-BE49-F238E27FC236}">
                <a16:creationId xmlns:a16="http://schemas.microsoft.com/office/drawing/2014/main" id="{28F28F52-095B-4CA9-4ED8-54D89B00E5A2}"/>
              </a:ext>
            </a:extLst>
          </p:cNvPr>
          <p:cNvGraphicFramePr>
            <a:graphicFrameLocks noGrp="1"/>
          </p:cNvGraphicFramePr>
          <p:nvPr>
            <p:custDataLst>
              <p:tags r:id="rId1"/>
            </p:custDataLst>
          </p:nvPr>
        </p:nvGraphicFramePr>
        <p:xfrm>
          <a:off x="6462093" y="994949"/>
          <a:ext cx="2606420" cy="1136976"/>
        </p:xfrm>
        <a:graphic>
          <a:graphicData uri="http://schemas.openxmlformats.org/drawingml/2006/table">
            <a:tbl>
              <a:tblPr/>
              <a:tblGrid>
                <a:gridCol w="1915913">
                  <a:extLst>
                    <a:ext uri="{9D8B030D-6E8A-4147-A177-3AD203B41FA5}">
                      <a16:colId xmlns:a16="http://schemas.microsoft.com/office/drawing/2014/main" val="2991020019"/>
                    </a:ext>
                  </a:extLst>
                </a:gridCol>
                <a:gridCol w="690507">
                  <a:extLst>
                    <a:ext uri="{9D8B030D-6E8A-4147-A177-3AD203B41FA5}">
                      <a16:colId xmlns:a16="http://schemas.microsoft.com/office/drawing/2014/main" val="509852246"/>
                    </a:ext>
                  </a:extLst>
                </a:gridCol>
              </a:tblGrid>
              <a:tr h="189496">
                <a:tc>
                  <a:txBody>
                    <a:bodyPr/>
                    <a:lstStyle/>
                    <a:p>
                      <a:pPr algn="l" rtl="0" fontAlgn="b"/>
                      <a:r>
                        <a:rPr lang="en-US" sz="1000" b="1" i="0" u="none" strike="noStrike">
                          <a:solidFill>
                            <a:srgbClr val="000000"/>
                          </a:solidFill>
                          <a:effectLst/>
                          <a:latin typeface="Calibri" panose="020F0502020204030204" pitchFamily="34" charset="0"/>
                        </a:rPr>
                        <a:t>FY2026 gains ($M)</a:t>
                      </a:r>
                    </a:p>
                  </a:txBody>
                  <a:tcPr marL="0" marR="0" marT="0" marB="0" anchor="b">
                    <a:lnL>
                      <a:noFill/>
                    </a:lnL>
                    <a:lnR>
                      <a:noFill/>
                    </a:lnR>
                    <a:lnT>
                      <a:noFill/>
                    </a:lnT>
                    <a:lnB>
                      <a:noFill/>
                    </a:lnB>
                    <a:solidFill>
                      <a:srgbClr val="F2C755"/>
                    </a:solidFill>
                  </a:tcPr>
                </a:tc>
                <a:tc>
                  <a:txBody>
                    <a:bodyPr/>
                    <a:lstStyle/>
                    <a:p>
                      <a:pPr algn="r" rtl="0" fontAlgn="b"/>
                      <a:r>
                        <a:rPr lang="en-US" sz="1000" b="1"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2C755"/>
                    </a:solidFill>
                  </a:tcPr>
                </a:tc>
                <a:extLst>
                  <a:ext uri="{0D108BD9-81ED-4DB2-BD59-A6C34878D82A}">
                    <a16:rowId xmlns:a16="http://schemas.microsoft.com/office/drawing/2014/main" val="1066475486"/>
                  </a:ext>
                </a:extLst>
              </a:tr>
              <a:tr h="189496">
                <a:tc>
                  <a:txBody>
                    <a:bodyPr/>
                    <a:lstStyle/>
                    <a:p>
                      <a:pPr algn="l" rtl="0" fontAlgn="b"/>
                      <a:r>
                        <a:rPr lang="en-US" sz="1000" b="0" i="0" u="none" strike="noStrike">
                          <a:solidFill>
                            <a:srgbClr val="000000"/>
                          </a:solidFill>
                          <a:effectLst/>
                          <a:latin typeface="Calibri" panose="020F0502020204030204" pitchFamily="34" charset="0"/>
                        </a:rPr>
                        <a:t>Guide, consolidated</a:t>
                      </a:r>
                    </a:p>
                  </a:txBody>
                  <a:tcPr marL="0" marR="0" marT="0" marB="0" anchor="b">
                    <a:lnL>
                      <a:noFill/>
                    </a:lnL>
                    <a:lnR>
                      <a:noFill/>
                    </a:lnR>
                    <a:lnT>
                      <a:noFill/>
                    </a:lnT>
                    <a:lnB>
                      <a:noFill/>
                    </a:lnB>
                    <a:noFill/>
                  </a:tcPr>
                </a:tc>
                <a:tc>
                  <a:txBody>
                    <a:bodyPr/>
                    <a:lstStyle/>
                    <a:p>
                      <a:pPr algn="r" rtl="0" fontAlgn="b"/>
                      <a:r>
                        <a:rPr lang="en-US" sz="1000" b="0" i="0" u="none" strike="noStrike">
                          <a:solidFill>
                            <a:srgbClr val="000000"/>
                          </a:solidFill>
                          <a:effectLst/>
                          <a:latin typeface="Calibri" panose="020F0502020204030204" pitchFamily="34" charset="0"/>
                        </a:rPr>
                        <a:t>200.0</a:t>
                      </a:r>
                    </a:p>
                  </a:txBody>
                  <a:tcPr marL="0" marR="0" marT="0" marB="0" anchor="b">
                    <a:lnL>
                      <a:noFill/>
                    </a:lnL>
                    <a:lnR>
                      <a:noFill/>
                    </a:lnR>
                    <a:lnT>
                      <a:noFill/>
                    </a:lnT>
                    <a:lnB>
                      <a:noFill/>
                    </a:lnB>
                    <a:noFill/>
                  </a:tcPr>
                </a:tc>
                <a:extLst>
                  <a:ext uri="{0D108BD9-81ED-4DB2-BD59-A6C34878D82A}">
                    <a16:rowId xmlns:a16="http://schemas.microsoft.com/office/drawing/2014/main" val="3482212368"/>
                  </a:ext>
                </a:extLst>
              </a:tr>
              <a:tr h="189496">
                <a:tc>
                  <a:txBody>
                    <a:bodyPr/>
                    <a:lstStyle/>
                    <a:p>
                      <a:pPr algn="l" rtl="0" fontAlgn="b"/>
                      <a:r>
                        <a:rPr lang="en-US" sz="1000" b="0" i="0" u="none" strike="noStrike">
                          <a:solidFill>
                            <a:srgbClr val="000000"/>
                          </a:solidFill>
                          <a:effectLst/>
                          <a:latin typeface="Calibri" panose="020F0502020204030204" pitchFamily="34" charset="0"/>
                        </a:rPr>
                        <a:t>H1 2026 booked, legacy (Rail NA)</a:t>
                      </a:r>
                    </a:p>
                  </a:txBody>
                  <a:tcPr marL="0" marR="0" marT="0" marB="0" anchor="b">
                    <a:lnL>
                      <a:noFill/>
                    </a:lnL>
                    <a:lnR>
                      <a:noFill/>
                    </a:lnR>
                    <a:lnT>
                      <a:noFill/>
                    </a:lnT>
                    <a:lnB>
                      <a:noFill/>
                    </a:lnB>
                    <a:solidFill>
                      <a:srgbClr val="F2F2F2"/>
                    </a:solidFill>
                  </a:tcPr>
                </a:tc>
                <a:tc>
                  <a:txBody>
                    <a:bodyPr/>
                    <a:lstStyle/>
                    <a:p>
                      <a:pPr algn="r" rtl="0" fontAlgn="b"/>
                      <a:r>
                        <a:rPr lang="en-US" sz="1000" b="0" i="0" u="none" strike="noStrike">
                          <a:solidFill>
                            <a:srgbClr val="000000"/>
                          </a:solidFill>
                          <a:effectLst/>
                          <a:latin typeface="Calibri" panose="020F0502020204030204" pitchFamily="34" charset="0"/>
                        </a:rPr>
                        <a:t>117.5</a:t>
                      </a: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230338193"/>
                  </a:ext>
                </a:extLst>
              </a:tr>
              <a:tr h="189496">
                <a:tc>
                  <a:txBody>
                    <a:bodyPr/>
                    <a:lstStyle/>
                    <a:p>
                      <a:pPr algn="l" rtl="0" fontAlgn="b"/>
                      <a:r>
                        <a:rPr lang="en-US" sz="1000" b="0" i="0" u="none" strike="noStrike">
                          <a:solidFill>
                            <a:srgbClr val="000000"/>
                          </a:solidFill>
                          <a:effectLst/>
                          <a:latin typeface="Calibri" panose="020F0502020204030204" pitchFamily="34" charset="0"/>
                        </a:rPr>
                        <a:t>Share of $130M legacy guide</a:t>
                      </a:r>
                    </a:p>
                  </a:txBody>
                  <a:tcPr marL="0" marR="0" marT="0" marB="0" anchor="b">
                    <a:lnL>
                      <a:noFill/>
                    </a:lnL>
                    <a:lnR>
                      <a:noFill/>
                    </a:lnR>
                    <a:lnT>
                      <a:noFill/>
                    </a:lnT>
                    <a:lnB>
                      <a:noFill/>
                    </a:lnB>
                    <a:noFill/>
                  </a:tcPr>
                </a:tc>
                <a:tc>
                  <a:txBody>
                    <a:bodyPr/>
                    <a:lstStyle/>
                    <a:p>
                      <a:pPr algn="r" rtl="0" fontAlgn="b"/>
                      <a:r>
                        <a:rPr lang="en-US" sz="1000" b="0" i="0" u="none" strike="noStrike">
                          <a:solidFill>
                            <a:srgbClr val="000000"/>
                          </a:solidFill>
                          <a:effectLst/>
                          <a:latin typeface="Calibri" panose="020F0502020204030204" pitchFamily="34" charset="0"/>
                        </a:rPr>
                        <a:t>90%</a:t>
                      </a:r>
                    </a:p>
                  </a:txBody>
                  <a:tcPr marL="0" marR="0" marT="0"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260366253"/>
                  </a:ext>
                </a:extLst>
              </a:tr>
              <a:tr h="189496">
                <a:tc>
                  <a:txBody>
                    <a:bodyPr/>
                    <a:lstStyle/>
                    <a:p>
                      <a:pPr algn="l" rtl="0" fontAlgn="b"/>
                      <a:r>
                        <a:rPr lang="en-US" sz="1000" b="0" i="0" u="none" strike="noStrike">
                          <a:solidFill>
                            <a:srgbClr val="000000"/>
                          </a:solidFill>
                          <a:effectLst/>
                          <a:latin typeface="Calibri" panose="020F0502020204030204" pitchFamily="34" charset="0"/>
                        </a:rPr>
                        <a:t>Implied H2 to meet legacy guide</a:t>
                      </a:r>
                    </a:p>
                  </a:txBody>
                  <a:tcPr marL="0" marR="0" marT="0" marB="0" anchor="b">
                    <a:lnL>
                      <a:noFill/>
                    </a:lnL>
                    <a:lnR>
                      <a:noFill/>
                    </a:lnR>
                    <a:lnT>
                      <a:noFill/>
                    </a:lnT>
                    <a:lnB>
                      <a:noFill/>
                    </a:lnB>
                    <a:solidFill>
                      <a:srgbClr val="F2F2F2"/>
                    </a:solidFill>
                  </a:tcPr>
                </a:tc>
                <a:tc>
                  <a:txBody>
                    <a:bodyPr/>
                    <a:lstStyle/>
                    <a:p>
                      <a:pPr algn="r" rtl="0" fontAlgn="b"/>
                      <a:r>
                        <a:rPr lang="en-US" sz="1000" b="0" i="0" u="none" strike="noStrike">
                          <a:solidFill>
                            <a:srgbClr val="000000"/>
                          </a:solidFill>
                          <a:effectLst/>
                          <a:latin typeface="Calibri" panose="020F0502020204030204" pitchFamily="34" charset="0"/>
                        </a:rPr>
                        <a:t>12.5</a:t>
                      </a: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4246324204"/>
                  </a:ext>
                </a:extLst>
              </a:tr>
              <a:tr h="189496">
                <a:tc>
                  <a:txBody>
                    <a:bodyPr/>
                    <a:lstStyle/>
                    <a:p>
                      <a:pPr algn="l" rtl="0" fontAlgn="b"/>
                      <a:r>
                        <a:rPr lang="en-US" sz="1000" b="1" i="0" u="none" strike="noStrike">
                          <a:solidFill>
                            <a:srgbClr val="000000"/>
                          </a:solidFill>
                          <a:effectLst/>
                          <a:latin typeface="Calibri" panose="020F0502020204030204" pitchFamily="34" charset="0"/>
                        </a:rPr>
                        <a:t>H2 in BMG model (legacy $155M)</a:t>
                      </a:r>
                    </a:p>
                  </a:txBody>
                  <a:tcPr marL="0" marR="0" marT="0" marB="0" anchor="b">
                    <a:lnL>
                      <a:noFill/>
                    </a:lnL>
                    <a:lnR>
                      <a:noFill/>
                    </a:lnR>
                    <a:lnT>
                      <a:noFill/>
                    </a:lnT>
                    <a:lnB>
                      <a:noFill/>
                    </a:lnB>
                    <a:noFill/>
                  </a:tcPr>
                </a:tc>
                <a:tc>
                  <a:txBody>
                    <a:bodyPr/>
                    <a:lstStyle/>
                    <a:p>
                      <a:pPr algn="r" rtl="0" fontAlgn="b"/>
                      <a:r>
                        <a:rPr lang="en-US" sz="1000" b="1" i="0" u="none" strike="noStrike">
                          <a:solidFill>
                            <a:srgbClr val="000000"/>
                          </a:solidFill>
                          <a:effectLst/>
                          <a:latin typeface="Calibri" panose="020F0502020204030204" pitchFamily="34" charset="0"/>
                        </a:rPr>
                        <a:t>37.5</a:t>
                      </a:r>
                    </a:p>
                  </a:txBody>
                  <a:tcPr marL="0" marR="0" marT="0"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808270810"/>
                  </a:ext>
                </a:extLst>
              </a:tr>
            </a:tbl>
          </a:graphicData>
        </a:graphic>
      </p:graphicFrame>
      <p:graphicFrame>
        <p:nvGraphicFramePr>
          <p:cNvPr id="18" name="Table 17">
            <a:extLst>
              <a:ext uri="{FF2B5EF4-FFF2-40B4-BE49-F238E27FC236}">
                <a16:creationId xmlns:a16="http://schemas.microsoft.com/office/drawing/2014/main" id="{8AAB9011-2061-13EB-144E-DF5835917CF4}"/>
              </a:ext>
            </a:extLst>
          </p:cNvPr>
          <p:cNvGraphicFramePr>
            <a:graphicFrameLocks noGrp="1"/>
          </p:cNvGraphicFramePr>
          <p:nvPr/>
        </p:nvGraphicFramePr>
        <p:xfrm>
          <a:off x="6462093" y="2603860"/>
          <a:ext cx="2606420" cy="1136976"/>
        </p:xfrm>
        <a:graphic>
          <a:graphicData uri="http://schemas.openxmlformats.org/drawingml/2006/table">
            <a:tbl>
              <a:tblPr/>
              <a:tblGrid>
                <a:gridCol w="1919274">
                  <a:extLst>
                    <a:ext uri="{9D8B030D-6E8A-4147-A177-3AD203B41FA5}">
                      <a16:colId xmlns:a16="http://schemas.microsoft.com/office/drawing/2014/main" val="1455333279"/>
                    </a:ext>
                  </a:extLst>
                </a:gridCol>
                <a:gridCol w="687146">
                  <a:extLst>
                    <a:ext uri="{9D8B030D-6E8A-4147-A177-3AD203B41FA5}">
                      <a16:colId xmlns:a16="http://schemas.microsoft.com/office/drawing/2014/main" val="3006940455"/>
                    </a:ext>
                  </a:extLst>
                </a:gridCol>
              </a:tblGrid>
              <a:tr h="189496">
                <a:tc>
                  <a:txBody>
                    <a:bodyPr/>
                    <a:lstStyle/>
                    <a:p>
                      <a:pPr algn="l" rtl="0" fontAlgn="b"/>
                      <a:r>
                        <a:rPr lang="en-US" sz="1000" b="1" i="0" u="none" strike="noStrike">
                          <a:solidFill>
                            <a:srgbClr val="000000"/>
                          </a:solidFill>
                          <a:effectLst/>
                          <a:latin typeface="Calibri" panose="020F0502020204030204" pitchFamily="34" charset="0"/>
                        </a:rPr>
                        <a:t>Per-share translation</a:t>
                      </a:r>
                    </a:p>
                  </a:txBody>
                  <a:tcPr marL="0" marR="0" marT="0" marB="0" anchor="b">
                    <a:lnL>
                      <a:noFill/>
                    </a:lnL>
                    <a:lnR>
                      <a:noFill/>
                    </a:lnR>
                    <a:lnT>
                      <a:noFill/>
                    </a:lnT>
                    <a:lnB>
                      <a:noFill/>
                    </a:lnB>
                    <a:solidFill>
                      <a:srgbClr val="F2C755"/>
                    </a:solidFill>
                  </a:tcPr>
                </a:tc>
                <a:tc>
                  <a:txBody>
                    <a:bodyPr/>
                    <a:lstStyle/>
                    <a:p>
                      <a:pPr algn="r" rtl="0" fontAlgn="b"/>
                      <a:r>
                        <a:rPr lang="en-US" sz="1000" b="1"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2C755"/>
                    </a:solidFill>
                  </a:tcPr>
                </a:tc>
                <a:extLst>
                  <a:ext uri="{0D108BD9-81ED-4DB2-BD59-A6C34878D82A}">
                    <a16:rowId xmlns:a16="http://schemas.microsoft.com/office/drawing/2014/main" val="3874746106"/>
                  </a:ext>
                </a:extLst>
              </a:tr>
              <a:tr h="189496">
                <a:tc>
                  <a:txBody>
                    <a:bodyPr/>
                    <a:lstStyle/>
                    <a:p>
                      <a:pPr algn="l" rtl="0" fontAlgn="b"/>
                      <a:r>
                        <a:rPr lang="en-US" sz="1000" b="0" i="0" u="none" strike="noStrike">
                          <a:solidFill>
                            <a:srgbClr val="000000"/>
                          </a:solidFill>
                          <a:effectLst/>
                          <a:latin typeface="Calibri" panose="020F0502020204030204" pitchFamily="34" charset="0"/>
                        </a:rPr>
                        <a:t>$200M of gains</a:t>
                      </a:r>
                    </a:p>
                  </a:txBody>
                  <a:tcPr marL="0" marR="0" marT="0" marB="0" anchor="b">
                    <a:lnL>
                      <a:noFill/>
                    </a:lnL>
                    <a:lnR>
                      <a:noFill/>
                    </a:lnR>
                    <a:lnT>
                      <a:noFill/>
                    </a:lnT>
                    <a:lnB>
                      <a:noFill/>
                    </a:lnB>
                    <a:noFill/>
                  </a:tcPr>
                </a:tc>
                <a:tc>
                  <a:txBody>
                    <a:bodyPr/>
                    <a:lstStyle/>
                    <a:p>
                      <a:pPr algn="r" rtl="0" fontAlgn="b"/>
                      <a:r>
                        <a:rPr lang="en-US" sz="1000" b="0" i="0" u="none" strike="noStrike">
                          <a:solidFill>
                            <a:srgbClr val="000000"/>
                          </a:solidFill>
                          <a:effectLst/>
                          <a:latin typeface="Calibri" panose="020F0502020204030204" pitchFamily="34" charset="0"/>
                        </a:rPr>
                        <a:t>$4.25</a:t>
                      </a:r>
                    </a:p>
                  </a:txBody>
                  <a:tcPr marL="0" marR="0" marT="0" marB="0" anchor="b">
                    <a:lnL>
                      <a:noFill/>
                    </a:lnL>
                    <a:lnR>
                      <a:noFill/>
                    </a:lnR>
                    <a:lnT>
                      <a:noFill/>
                    </a:lnT>
                    <a:lnB>
                      <a:noFill/>
                    </a:lnB>
                    <a:noFill/>
                  </a:tcPr>
                </a:tc>
                <a:extLst>
                  <a:ext uri="{0D108BD9-81ED-4DB2-BD59-A6C34878D82A}">
                    <a16:rowId xmlns:a16="http://schemas.microsoft.com/office/drawing/2014/main" val="1922337640"/>
                  </a:ext>
                </a:extLst>
              </a:tr>
              <a:tr h="189496">
                <a:tc>
                  <a:txBody>
                    <a:bodyPr/>
                    <a:lstStyle/>
                    <a:p>
                      <a:pPr algn="l" rtl="0" fontAlgn="b"/>
                      <a:r>
                        <a:rPr lang="en-US" sz="1000" b="0" i="0" u="none" strike="noStrike">
                          <a:solidFill>
                            <a:srgbClr val="000000"/>
                          </a:solidFill>
                          <a:effectLst/>
                          <a:latin typeface="Calibri" panose="020F0502020204030204" pitchFamily="34" charset="0"/>
                        </a:rPr>
                        <a:t>Tax rate assumed</a:t>
                      </a:r>
                    </a:p>
                  </a:txBody>
                  <a:tcPr marL="0" marR="0" marT="0" marB="0" anchor="b">
                    <a:lnL>
                      <a:noFill/>
                    </a:lnL>
                    <a:lnR>
                      <a:noFill/>
                    </a:lnR>
                    <a:lnT>
                      <a:noFill/>
                    </a:lnT>
                    <a:lnB>
                      <a:noFill/>
                    </a:lnB>
                    <a:solidFill>
                      <a:srgbClr val="F2F2F2"/>
                    </a:solidFill>
                  </a:tcPr>
                </a:tc>
                <a:tc>
                  <a:txBody>
                    <a:bodyPr/>
                    <a:lstStyle/>
                    <a:p>
                      <a:pPr algn="r" rtl="0" fontAlgn="b"/>
                      <a:r>
                        <a:rPr lang="en-US" sz="1000" b="0" i="0" u="none" strike="noStrike">
                          <a:solidFill>
                            <a:srgbClr val="000000"/>
                          </a:solidFill>
                          <a:effectLst/>
                          <a:latin typeface="Calibri" panose="020F0502020204030204" pitchFamily="34" charset="0"/>
                        </a:rPr>
                        <a:t>24%</a:t>
                      </a: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756837032"/>
                  </a:ext>
                </a:extLst>
              </a:tr>
              <a:tr h="189496">
                <a:tc>
                  <a:txBody>
                    <a:bodyPr/>
                    <a:lstStyle/>
                    <a:p>
                      <a:pPr algn="l" rtl="0" fontAlgn="b"/>
                      <a:r>
                        <a:rPr lang="en-US" sz="1000" b="0" i="0" u="none" strike="noStrike">
                          <a:solidFill>
                            <a:srgbClr val="000000"/>
                          </a:solidFill>
                          <a:effectLst/>
                          <a:latin typeface="Calibri" panose="020F0502020204030204" pitchFamily="34" charset="0"/>
                        </a:rPr>
                        <a:t>Diluted shares</a:t>
                      </a:r>
                    </a:p>
                  </a:txBody>
                  <a:tcPr marL="0" marR="0" marT="0" marB="0" anchor="b">
                    <a:lnL>
                      <a:noFill/>
                    </a:lnL>
                    <a:lnR>
                      <a:noFill/>
                    </a:lnR>
                    <a:lnT>
                      <a:noFill/>
                    </a:lnT>
                    <a:lnB>
                      <a:noFill/>
                    </a:lnB>
                    <a:noFill/>
                  </a:tcPr>
                </a:tc>
                <a:tc>
                  <a:txBody>
                    <a:bodyPr/>
                    <a:lstStyle/>
                    <a:p>
                      <a:pPr algn="r" rtl="0" fontAlgn="b"/>
                      <a:r>
                        <a:rPr lang="en-US" sz="1000" b="0" i="0" u="none" strike="noStrike">
                          <a:solidFill>
                            <a:srgbClr val="000000"/>
                          </a:solidFill>
                          <a:effectLst/>
                          <a:latin typeface="Calibri" panose="020F0502020204030204" pitchFamily="34" charset="0"/>
                        </a:rPr>
                        <a:t>35.8M</a:t>
                      </a:r>
                    </a:p>
                  </a:txBody>
                  <a:tcPr marL="0" marR="0" marT="0"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584397068"/>
                  </a:ext>
                </a:extLst>
              </a:tr>
              <a:tr h="189496">
                <a:tc>
                  <a:txBody>
                    <a:bodyPr/>
                    <a:lstStyle/>
                    <a:p>
                      <a:pPr algn="l" rtl="0" fontAlgn="b"/>
                      <a:r>
                        <a:rPr lang="en-US" sz="1000" b="0" i="0" u="none" strike="noStrike">
                          <a:solidFill>
                            <a:srgbClr val="000000"/>
                          </a:solidFill>
                          <a:effectLst/>
                          <a:latin typeface="Calibri" panose="020F0502020204030204" pitchFamily="34" charset="0"/>
                        </a:rPr>
                        <a:t>Guided adj. EPS midpoint</a:t>
                      </a:r>
                    </a:p>
                  </a:txBody>
                  <a:tcPr marL="0" marR="0" marT="0" marB="0" anchor="b">
                    <a:lnL>
                      <a:noFill/>
                    </a:lnL>
                    <a:lnR>
                      <a:noFill/>
                    </a:lnR>
                    <a:lnT>
                      <a:noFill/>
                    </a:lnT>
                    <a:lnB>
                      <a:noFill/>
                    </a:lnB>
                    <a:solidFill>
                      <a:srgbClr val="F2F2F2"/>
                    </a:solidFill>
                  </a:tcPr>
                </a:tc>
                <a:tc>
                  <a:txBody>
                    <a:bodyPr/>
                    <a:lstStyle/>
                    <a:p>
                      <a:pPr algn="r" rtl="0" fontAlgn="b"/>
                      <a:r>
                        <a:rPr lang="en-US" sz="1000" b="0" i="0" u="none" strike="noStrike">
                          <a:solidFill>
                            <a:srgbClr val="000000"/>
                          </a:solidFill>
                          <a:effectLst/>
                          <a:latin typeface="Calibri" panose="020F0502020204030204" pitchFamily="34" charset="0"/>
                        </a:rPr>
                        <a:t>$10.10</a:t>
                      </a: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751695023"/>
                  </a:ext>
                </a:extLst>
              </a:tr>
              <a:tr h="189496">
                <a:tc>
                  <a:txBody>
                    <a:bodyPr/>
                    <a:lstStyle/>
                    <a:p>
                      <a:pPr algn="l" rtl="0" fontAlgn="b"/>
                      <a:r>
                        <a:rPr lang="en-US" sz="1000" b="1" i="0" u="none" strike="noStrike">
                          <a:solidFill>
                            <a:srgbClr val="000000"/>
                          </a:solidFill>
                          <a:effectLst/>
                          <a:latin typeface="Calibri" panose="020F0502020204030204" pitchFamily="34" charset="0"/>
                        </a:rPr>
                        <a:t>Each $50M of gains</a:t>
                      </a:r>
                    </a:p>
                  </a:txBody>
                  <a:tcPr marL="0" marR="0" marT="0" marB="0" anchor="b">
                    <a:lnL>
                      <a:noFill/>
                    </a:lnL>
                    <a:lnR>
                      <a:noFill/>
                    </a:lnR>
                    <a:lnT>
                      <a:noFill/>
                    </a:lnT>
                    <a:lnB>
                      <a:noFill/>
                    </a:lnB>
                    <a:noFill/>
                  </a:tcPr>
                </a:tc>
                <a:tc>
                  <a:txBody>
                    <a:bodyPr/>
                    <a:lstStyle/>
                    <a:p>
                      <a:pPr algn="r" rtl="0" fontAlgn="b"/>
                      <a:r>
                        <a:rPr lang="en-US" sz="1000" b="1" i="0" u="none" strike="noStrike">
                          <a:solidFill>
                            <a:srgbClr val="000000"/>
                          </a:solidFill>
                          <a:effectLst/>
                          <a:latin typeface="Calibri" panose="020F0502020204030204" pitchFamily="34" charset="0"/>
                        </a:rPr>
                        <a:t>$1.06</a:t>
                      </a:r>
                    </a:p>
                  </a:txBody>
                  <a:tcPr marL="0" marR="0" marT="0"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17316173"/>
                  </a:ext>
                </a:extLst>
              </a:tr>
            </a:tbl>
          </a:graphicData>
        </a:graphic>
      </p:graphicFrame>
      <p:sp>
        <p:nvSpPr>
          <p:cNvPr id="24" name="Rectangle 23">
            <a:extLst>
              <a:ext uri="{FF2B5EF4-FFF2-40B4-BE49-F238E27FC236}">
                <a16:creationId xmlns:a16="http://schemas.microsoft.com/office/drawing/2014/main" id="{025A39E8-5D28-3E9B-125E-D1F3C289586C}"/>
              </a:ext>
            </a:extLst>
          </p:cNvPr>
          <p:cNvSpPr/>
          <p:nvPr/>
        </p:nvSpPr>
        <p:spPr>
          <a:xfrm>
            <a:off x="4798150" y="4001338"/>
            <a:ext cx="3027153" cy="2024552"/>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H1 legacy gains of $117.5M are 90% of the $130M legacy guide with two quarters left, which is why the guide is more likely to move up than down at Q3 on October 27. BMG carries $155M.</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The same cyclicality cuts both ways: used railcar values fall when the cycle turns, and this is the line where that shows up first. Below $146M the SELL deepens; gains are the line that would have kept this a HOLD.</a:t>
            </a:r>
          </a:p>
        </p:txBody>
      </p:sp>
      <p:graphicFrame>
        <p:nvGraphicFramePr>
          <p:cNvPr id="14" name="Table 13">
            <a:extLst>
              <a:ext uri="{FF2B5EF4-FFF2-40B4-BE49-F238E27FC236}">
                <a16:creationId xmlns:a16="http://schemas.microsoft.com/office/drawing/2014/main" id="{3EAA623A-1622-BB4F-EB4A-21A870603130}"/>
              </a:ext>
            </a:extLst>
          </p:cNvPr>
          <p:cNvGraphicFramePr>
            <a:graphicFrameLocks noGrp="1"/>
          </p:cNvGraphicFramePr>
          <p:nvPr/>
        </p:nvGraphicFramePr>
        <p:xfrm>
          <a:off x="116415" y="990699"/>
          <a:ext cx="6108132" cy="1770273"/>
        </p:xfrm>
        <a:graphic>
          <a:graphicData uri="http://schemas.openxmlformats.org/drawingml/2006/table">
            <a:tbl>
              <a:tblPr/>
              <a:tblGrid>
                <a:gridCol w="1817793">
                  <a:extLst>
                    <a:ext uri="{9D8B030D-6E8A-4147-A177-3AD203B41FA5}">
                      <a16:colId xmlns:a16="http://schemas.microsoft.com/office/drawing/2014/main" val="3446221753"/>
                    </a:ext>
                  </a:extLst>
                </a:gridCol>
                <a:gridCol w="1430113">
                  <a:extLst>
                    <a:ext uri="{9D8B030D-6E8A-4147-A177-3AD203B41FA5}">
                      <a16:colId xmlns:a16="http://schemas.microsoft.com/office/drawing/2014/main" val="794027635"/>
                    </a:ext>
                  </a:extLst>
                </a:gridCol>
                <a:gridCol w="1430113">
                  <a:extLst>
                    <a:ext uri="{9D8B030D-6E8A-4147-A177-3AD203B41FA5}">
                      <a16:colId xmlns:a16="http://schemas.microsoft.com/office/drawing/2014/main" val="3660670062"/>
                    </a:ext>
                  </a:extLst>
                </a:gridCol>
                <a:gridCol w="1430113">
                  <a:extLst>
                    <a:ext uri="{9D8B030D-6E8A-4147-A177-3AD203B41FA5}">
                      <a16:colId xmlns:a16="http://schemas.microsoft.com/office/drawing/2014/main" val="2482525975"/>
                    </a:ext>
                  </a:extLst>
                </a:gridCol>
              </a:tblGrid>
              <a:tr h="183691">
                <a:tc>
                  <a:txBody>
                    <a:bodyPr/>
                    <a:lstStyle/>
                    <a:p>
                      <a:pPr algn="l" fontAlgn="b"/>
                      <a:r>
                        <a:rPr lang="en-US" sz="1000" b="1" i="0" u="none" strike="noStrike">
                          <a:effectLst/>
                          <a:latin typeface="Calibri" panose="020F0502020204030204" pitchFamily="34" charset="0"/>
                          <a:ea typeface="Calibri" panose="020F0502020204030204" pitchFamily="34" charset="0"/>
                          <a:cs typeface="Calibri" panose="020F0502020204030204" pitchFamily="34" charset="0"/>
                        </a:rPr>
                        <a:t>Secondary-market driver</a:t>
                      </a:r>
                    </a:p>
                  </a:txBody>
                  <a:tcPr marL="0" marR="0" marT="0" marB="0" anchor="b">
                    <a:lnL>
                      <a:noFill/>
                    </a:lnL>
                    <a:lnR>
                      <a:noFill/>
                    </a:lnR>
                    <a:lnT>
                      <a:noFill/>
                    </a:lnT>
                    <a:lnB>
                      <a:noFill/>
                    </a:lnB>
                    <a:solidFill>
                      <a:srgbClr val="F2C755"/>
                    </a:solidFill>
                  </a:tcPr>
                </a:tc>
                <a:tc>
                  <a:txBody>
                    <a:bodyPr/>
                    <a:lstStyle/>
                    <a:p>
                      <a:pPr algn="l" fontAlgn="b"/>
                      <a:r>
                        <a:rPr lang="en-US" sz="1000" b="1" i="0" u="none" strike="noStrike">
                          <a:effectLst/>
                          <a:latin typeface="Calibri" panose="020F0502020204030204" pitchFamily="34" charset="0"/>
                          <a:ea typeface="Calibri" panose="020F0502020204030204" pitchFamily="34" charset="0"/>
                          <a:cs typeface="Calibri" panose="020F0502020204030204" pitchFamily="34" charset="0"/>
                        </a:rPr>
                        <a:t>Current read</a:t>
                      </a:r>
                    </a:p>
                  </a:txBody>
                  <a:tcPr marL="0" marR="0" marT="0" marB="0" anchor="b">
                    <a:lnL>
                      <a:noFill/>
                    </a:lnL>
                    <a:lnR>
                      <a:noFill/>
                    </a:lnR>
                    <a:lnT>
                      <a:noFill/>
                    </a:lnT>
                    <a:lnB>
                      <a:noFill/>
                    </a:lnB>
                    <a:solidFill>
                      <a:srgbClr val="F2C755"/>
                    </a:solidFill>
                  </a:tcPr>
                </a:tc>
                <a:tc>
                  <a:txBody>
                    <a:bodyPr/>
                    <a:lstStyle/>
                    <a:p>
                      <a:pPr algn="l" fontAlgn="b"/>
                      <a:r>
                        <a:rPr lang="en-US" sz="1000" b="1" i="0" u="none" strike="noStrike">
                          <a:effectLst/>
                          <a:latin typeface="Calibri" panose="020F0502020204030204" pitchFamily="34" charset="0"/>
                          <a:ea typeface="Calibri" panose="020F0502020204030204" pitchFamily="34" charset="0"/>
                          <a:cs typeface="Calibri" panose="020F0502020204030204" pitchFamily="34" charset="0"/>
                        </a:rPr>
                        <a:t>Evidence</a:t>
                      </a:r>
                    </a:p>
                  </a:txBody>
                  <a:tcPr marL="0" marR="0" marT="0" marB="0" anchor="b">
                    <a:lnL>
                      <a:noFill/>
                    </a:lnL>
                    <a:lnR>
                      <a:noFill/>
                    </a:lnR>
                    <a:lnT>
                      <a:noFill/>
                    </a:lnT>
                    <a:lnB>
                      <a:noFill/>
                    </a:lnB>
                    <a:solidFill>
                      <a:srgbClr val="F2C755"/>
                    </a:solidFill>
                  </a:tcPr>
                </a:tc>
                <a:tc>
                  <a:txBody>
                    <a:bodyPr/>
                    <a:lstStyle/>
                    <a:p>
                      <a:pPr algn="l" fontAlgn="b"/>
                      <a:r>
                        <a:rPr lang="en-US" sz="1000" b="1" i="0" u="none" strike="noStrike">
                          <a:effectLst/>
                          <a:latin typeface="Calibri" panose="020F0502020204030204" pitchFamily="34" charset="0"/>
                          <a:ea typeface="Calibri" panose="020F0502020204030204" pitchFamily="34" charset="0"/>
                          <a:cs typeface="Calibri" panose="020F0502020204030204" pitchFamily="34" charset="0"/>
                        </a:rPr>
                        <a:t>Source</a:t>
                      </a:r>
                    </a:p>
                  </a:txBody>
                  <a:tcPr marL="0" marR="0" marT="0" marB="0" anchor="b">
                    <a:lnL>
                      <a:noFill/>
                    </a:lnL>
                    <a:lnR>
                      <a:noFill/>
                    </a:lnR>
                    <a:lnT>
                      <a:noFill/>
                    </a:lnT>
                    <a:lnB>
                      <a:noFill/>
                    </a:lnB>
                    <a:solidFill>
                      <a:srgbClr val="F2C755"/>
                    </a:solidFill>
                  </a:tcPr>
                </a:tc>
                <a:extLst>
                  <a:ext uri="{0D108BD9-81ED-4DB2-BD59-A6C34878D82A}">
                    <a16:rowId xmlns:a16="http://schemas.microsoft.com/office/drawing/2014/main" val="3455847374"/>
                  </a:ext>
                </a:extLst>
              </a:tr>
              <a:tr h="183691">
                <a:tc gridSpan="2">
                  <a:txBody>
                    <a:bodyPr/>
                    <a:lstStyle/>
                    <a:p>
                      <a:pPr algn="l" fontAlgn="b"/>
                      <a:r>
                        <a:rPr lang="en-US" sz="10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Renewal rate environment</a:t>
                      </a:r>
                    </a:p>
                  </a:txBody>
                  <a:tcPr marL="0" marR="0" marT="0" marB="0" anchor="b">
                    <a:lnL>
                      <a:noFill/>
                    </a:lnL>
                    <a:lnR>
                      <a:noFill/>
                    </a:lnR>
                    <a:lnT>
                      <a:noFill/>
                    </a:lnT>
                    <a:lnB>
                      <a:noFill/>
                    </a:lnB>
                    <a:solidFill>
                      <a:srgbClr val="FFFFFF"/>
                    </a:solidFill>
                  </a:tcPr>
                </a:tc>
                <a:tc hMerge="1">
                  <a:txBody>
                    <a:bodyPr/>
                    <a:lstStyle/>
                    <a:p>
                      <a:endParaRPr lang="en-US"/>
                    </a:p>
                  </a:txBody>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LPI +16.8% in Q2 2026 from +22% in FY2025</a:t>
                      </a:r>
                    </a:p>
                  </a:txBody>
                  <a:tcPr marL="0" marR="0" marT="0" marB="0" anchor="b">
                    <a:lnL>
                      <a:noFill/>
                    </a:lnL>
                    <a:lnR>
                      <a:noFill/>
                    </a:lnR>
                    <a:lnT>
                      <a:noFill/>
                    </a:lnT>
                    <a:lnB>
                      <a:noFill/>
                    </a:lnB>
                    <a:solidFill>
                      <a:srgbClr val="FFFFFF"/>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10-Q</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796452033"/>
                  </a:ext>
                </a:extLst>
              </a:tr>
              <a:tr h="183691">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Fleet utilization</a:t>
                      </a:r>
                    </a:p>
                  </a:txBody>
                  <a:tcPr marL="104466" marR="0" marT="0" marB="0" anchor="b">
                    <a:lnL>
                      <a:noFill/>
                    </a:lnL>
                    <a:lnR>
                      <a:noFill/>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Firm</a:t>
                      </a:r>
                    </a:p>
                  </a:txBody>
                  <a:tcPr marL="0" marR="0" marT="0" marB="0" anchor="b">
                    <a:lnL>
                      <a:noFill/>
                    </a:lnL>
                    <a:lnR>
                      <a:noFill/>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98.0% in Q2 2026</a:t>
                      </a:r>
                    </a:p>
                  </a:txBody>
                  <a:tcPr marL="0" marR="0" marT="0" marB="0" anchor="b">
                    <a:lnL>
                      <a:noFill/>
                    </a:lnL>
                    <a:lnR>
                      <a:noFill/>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10-Q</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440220258"/>
                  </a:ext>
                </a:extLst>
              </a:tr>
              <a:tr h="183691">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Cycle position</a:t>
                      </a:r>
                    </a:p>
                  </a:txBody>
                  <a:tcPr marL="104466" marR="0" marT="0" marB="0" anchor="b">
                    <a:lnL>
                      <a:noFill/>
                    </a:lnL>
                    <a:lnR>
                      <a:noFill/>
                    </a:lnR>
                    <a:lnT>
                      <a:noFill/>
                    </a:lnT>
                    <a:lnB>
                      <a:noFill/>
                    </a:lnB>
                    <a:solidFill>
                      <a:srgbClr val="FFFFFF"/>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Late cycle</a:t>
                      </a:r>
                    </a:p>
                  </a:txBody>
                  <a:tcPr marL="0" marR="0" marT="0" marB="0" anchor="b">
                    <a:lnL>
                      <a:noFill/>
                    </a:lnL>
                    <a:lnR>
                      <a:noFill/>
                    </a:lnR>
                    <a:lnT>
                      <a:noFill/>
                    </a:lnT>
                    <a:lnB>
                      <a:noFill/>
                    </a:lnB>
                    <a:solidFill>
                      <a:srgbClr val="FFFFFF"/>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ISM PMI down July 2026, XLI/XLP peaked June 2026</a:t>
                      </a:r>
                    </a:p>
                  </a:txBody>
                  <a:tcPr marL="0" marR="0" marT="0" marB="0" anchor="b">
                    <a:lnL>
                      <a:noFill/>
                    </a:lnL>
                    <a:lnR>
                      <a:noFill/>
                    </a:lnR>
                    <a:lnT>
                      <a:noFill/>
                    </a:lnT>
                    <a:lnB>
                      <a:noFill/>
                    </a:lnB>
                    <a:solidFill>
                      <a:srgbClr val="FFFFFF"/>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ISM, market data</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175276171"/>
                  </a:ext>
                </a:extLst>
              </a:tr>
              <a:tr h="183691">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Average renewal term</a:t>
                      </a:r>
                    </a:p>
                  </a:txBody>
                  <a:tcPr marL="104466" marR="0" marT="0" marB="0" anchor="b">
                    <a:lnL>
                      <a:noFill/>
                    </a:lnL>
                    <a:lnR>
                      <a:noFill/>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Shortening</a:t>
                      </a:r>
                    </a:p>
                  </a:txBody>
                  <a:tcPr marL="0" marR="0" marT="0" marB="0" anchor="b">
                    <a:lnL>
                      <a:noFill/>
                    </a:lnL>
                    <a:lnR>
                      <a:noFill/>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60 months to 54 months</a:t>
                      </a:r>
                    </a:p>
                  </a:txBody>
                  <a:tcPr marL="0" marR="0" marT="0" marB="0" anchor="b">
                    <a:lnL>
                      <a:noFill/>
                    </a:lnL>
                    <a:lnR>
                      <a:noFill/>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Company disclosure</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47359917"/>
                  </a:ext>
                </a:extLst>
              </a:tr>
              <a:tr h="183691">
                <a:tc gridSpan="2">
                  <a:txBody>
                    <a:bodyPr/>
                    <a:lstStyle/>
                    <a:p>
                      <a:pPr algn="l" fontAlgn="b"/>
                      <a:r>
                        <a:rPr lang="en-US" sz="10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Renewal success rate</a:t>
                      </a:r>
                    </a:p>
                  </a:txBody>
                  <a:tcPr marL="0" marR="0" marT="0" marB="0" anchor="b">
                    <a:lnL>
                      <a:noFill/>
                    </a:lnL>
                    <a:lnR>
                      <a:noFill/>
                    </a:lnR>
                    <a:lnT>
                      <a:noFill/>
                    </a:lnT>
                    <a:lnB>
                      <a:noFill/>
                    </a:lnB>
                    <a:solidFill>
                      <a:srgbClr val="FFFFFF"/>
                    </a:solidFill>
                  </a:tcPr>
                </a:tc>
                <a:tc hMerge="1">
                  <a:txBody>
                    <a:bodyPr/>
                    <a:lstStyle/>
                    <a:p>
                      <a:endParaRPr lang="en-US"/>
                    </a:p>
                  </a:txBody>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87% FY2025, 79.1% Q1 2026</a:t>
                      </a:r>
                    </a:p>
                  </a:txBody>
                  <a:tcPr marL="0" marR="0" marT="0" marB="0" anchor="b">
                    <a:lnL>
                      <a:noFill/>
                    </a:lnL>
                    <a:lnR>
                      <a:noFill/>
                    </a:lnR>
                    <a:lnT>
                      <a:noFill/>
                    </a:lnT>
                    <a:lnB>
                      <a:noFill/>
                    </a:lnB>
                    <a:solidFill>
                      <a:srgbClr val="FFFFFF"/>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Company disclosure</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432776435"/>
                  </a:ext>
                </a:extLst>
              </a:tr>
              <a:tr h="183691">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Gains pace versus guide</a:t>
                      </a:r>
                    </a:p>
                  </a:txBody>
                  <a:tcPr marL="104466" marR="0" marT="0" marB="0" anchor="b">
                    <a:lnL>
                      <a:noFill/>
                    </a:lnL>
                    <a:lnR>
                      <a:noFill/>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Ahead</a:t>
                      </a:r>
                    </a:p>
                  </a:txBody>
                  <a:tcPr marL="0" marR="0" marT="0" marB="0" anchor="b">
                    <a:lnL>
                      <a:noFill/>
                    </a:lnL>
                    <a:lnR>
                      <a:noFill/>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$117.5M of $200.0M booked in H1</a:t>
                      </a:r>
                    </a:p>
                  </a:txBody>
                  <a:tcPr marL="0" marR="0" marT="0" marB="0" anchor="b">
                    <a:lnL>
                      <a:noFill/>
                    </a:lnL>
                    <a:lnR>
                      <a:noFill/>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10-Q</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718325945"/>
                  </a:ext>
                </a:extLst>
              </a:tr>
            </a:tbl>
          </a:graphicData>
        </a:graphic>
      </p:graphicFrame>
      <p:graphicFrame>
        <p:nvGraphicFramePr>
          <p:cNvPr id="208" name="Chart"/>
          <p:cNvGraphicFramePr/>
          <p:nvPr/>
        </p:nvGraphicFramePr>
        <p:xfrm>
          <a:off x="152400" y="4013200"/>
          <a:ext cx="4546600" cy="2006600"/>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3380168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461DF-4463-A9AA-A5B1-9F46E83AF763}"/>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C04B33D3-F8F4-3C12-FE17-D473909C64B3}"/>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173ED337-FA26-5DC8-B5F8-4B25ABB0945C}"/>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chemeClr val="tx1"/>
                  </a:solidFill>
                  <a:latin typeface="Calibri" panose="020F0502020204030204" pitchFamily="34" charset="0"/>
                </a:rPr>
                <a:t>Driver: International and Engine Leasing</a:t>
              </a:r>
              <a:endParaRPr lang="en-US" sz="3000" b="1">
                <a:solidFill>
                  <a:schemeClr val="tx1"/>
                </a:solidFill>
                <a:latin typeface="Calibri" panose="020F0502020204030204" pitchFamily="34" charset="0"/>
              </a:endParaRPr>
            </a:p>
          </p:txBody>
        </p:sp>
        <p:grpSp>
          <p:nvGrpSpPr>
            <p:cNvPr id="16397" name="Group 39">
              <a:extLst>
                <a:ext uri="{FF2B5EF4-FFF2-40B4-BE49-F238E27FC236}">
                  <a16:creationId xmlns:a16="http://schemas.microsoft.com/office/drawing/2014/main" id="{1F2DC2D5-4449-6B81-A39B-1C14D828DC34}"/>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22C6BAA8-77A4-0D49-6404-3CA0F8F1B971}"/>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197DEA92-DE19-0DC5-B697-6558CCDEF806}"/>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D51671D1-38B0-0FE3-B4FE-5CAA44BA8D0B}"/>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1473F3A1-0141-C862-A31B-FB1A08161ED7}"/>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198381EC-3648-7539-7F46-2A89E76575C3}"/>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0E461373-6E03-C497-14CF-6B52C4C59AB6}"/>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4630CAE2-DB1A-55C4-3DAB-D22EA84E3B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EDE9AA9A-F43A-CB7E-4844-F03B8414808C}"/>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F95A93F4-56A2-69D2-2DD2-C2624C920C24}"/>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A35EA052-91C3-76A6-7282-D65AD30E22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8498C91F-87BC-9A92-202E-0E744CE16A4F}"/>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4C59F308-3A99-1882-65A3-12F72A5D65C4}"/>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11F264C0-A4BC-47DA-0AEE-74603460B846}"/>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0F42C7CE-CB4C-4840-10AB-455AE7900258}"/>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1ADCCFE1-DE4C-CEA4-6A55-777CD1617D7A}"/>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9E4C52EB-9A3A-C6F2-0830-BAB475E573C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B279246C-D0FF-7DA9-9A6D-D62185C787D2}"/>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9342B7BD-3410-5EFF-D3A5-40B00B46253D}"/>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2B717248-6A02-5A92-CE4D-8ACCD8A59D76}"/>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F469DA7F-A520-C286-58C9-61C46386CD0A}"/>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DB45D139-4609-8D56-B805-AB8118676C42}"/>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E41CFB76-60E9-4FA2-33B3-DF0B2DB9921D}"/>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C3AF3965-6CED-2928-250A-DA3CD5B727E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979" y="6263507"/>
            <a:ext cx="461513" cy="461513"/>
          </a:xfrm>
          <a:prstGeom prst="rect">
            <a:avLst/>
          </a:prstGeom>
        </p:spPr>
      </p:pic>
      <p:sp>
        <p:nvSpPr>
          <p:cNvPr id="10" name="Text Box 2">
            <a:extLst>
              <a:ext uri="{FF2B5EF4-FFF2-40B4-BE49-F238E27FC236}">
                <a16:creationId xmlns:a16="http://schemas.microsoft.com/office/drawing/2014/main" id="{9FBF1FC8-0D53-C7B9-02C6-7058BB3571B8}"/>
              </a:ext>
            </a:extLst>
          </p:cNvPr>
          <p:cNvSpPr txBox="1">
            <a:spLocks noChangeArrowheads="1"/>
          </p:cNvSpPr>
          <p:nvPr/>
        </p:nvSpPr>
        <p:spPr bwMode="auto">
          <a:xfrm>
            <a:off x="152400" y="673100"/>
            <a:ext cx="43561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defRPr/>
            </a:pPr>
            <a:r>
              <a:rPr lang="en-US" altLang="en-US" sz="1200">
                <a:solidFill>
                  <a:srgbClr val="000000"/>
                </a:solidFill>
                <a:latin typeface="Calibri"/>
                <a:ea typeface="Calibri" panose="020F0502020204030204" pitchFamily="34" charset="0"/>
                <a:cs typeface="Times New Roman"/>
              </a:rPr>
              <a:t>Figure 23: Rail International revenue, Europe and India.</a:t>
            </a:r>
          </a:p>
        </p:txBody>
      </p:sp>
      <p:sp>
        <p:nvSpPr>
          <p:cNvPr id="19" name="Text Box 2">
            <a:extLst>
              <a:ext uri="{FF2B5EF4-FFF2-40B4-BE49-F238E27FC236}">
                <a16:creationId xmlns:a16="http://schemas.microsoft.com/office/drawing/2014/main" id="{E4093050-50A8-53CD-4E1A-D88D63C5CB71}"/>
              </a:ext>
            </a:extLst>
          </p:cNvPr>
          <p:cNvSpPr txBox="1">
            <a:spLocks noChangeArrowheads="1"/>
          </p:cNvSpPr>
          <p:nvPr/>
        </p:nvSpPr>
        <p:spPr bwMode="auto">
          <a:xfrm>
            <a:off x="152400" y="3225800"/>
            <a:ext cx="43561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defRPr/>
            </a:pPr>
            <a:r>
              <a:rPr lang="en-US" altLang="en-US" sz="1200">
                <a:solidFill>
                  <a:srgbClr val="000000"/>
                </a:solidFill>
                <a:latin typeface="Calibri"/>
                <a:ea typeface="Calibri" panose="020F0502020204030204" pitchFamily="34" charset="0"/>
                <a:cs typeface="Times New Roman"/>
              </a:rPr>
              <a:t>Figure 24: Engine Leasing revenue, RRPF joint venture with Rolls-Royce.</a:t>
            </a:r>
          </a:p>
        </p:txBody>
      </p:sp>
      <p:sp>
        <p:nvSpPr>
          <p:cNvPr id="20" name="Rectangle 19">
            <a:extLst>
              <a:ext uri="{FF2B5EF4-FFF2-40B4-BE49-F238E27FC236}">
                <a16:creationId xmlns:a16="http://schemas.microsoft.com/office/drawing/2014/main" id="{D69D10C8-552E-CF07-0FBD-09D970D0FB0F}"/>
              </a:ext>
            </a:extLst>
          </p:cNvPr>
          <p:cNvSpPr/>
          <p:nvPr/>
        </p:nvSpPr>
        <p:spPr>
          <a:xfrm>
            <a:off x="4673600" y="762000"/>
            <a:ext cx="4368800" cy="10795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Rail International grew 10.7% in 2025 and consensus has 6% to 10% through 2027. India is the growth market; Europe is the base.</a:t>
            </a:r>
          </a:p>
        </p:txBody>
      </p:sp>
      <p:sp>
        <p:nvSpPr>
          <p:cNvPr id="22" name="Rectangle 21">
            <a:extLst>
              <a:ext uri="{FF2B5EF4-FFF2-40B4-BE49-F238E27FC236}">
                <a16:creationId xmlns:a16="http://schemas.microsoft.com/office/drawing/2014/main" id="{E309471D-74E9-8BC6-1579-2A0FF75363FA}"/>
              </a:ext>
            </a:extLst>
          </p:cNvPr>
          <p:cNvSpPr/>
          <p:nvPr/>
        </p:nvSpPr>
        <p:spPr>
          <a:xfrm>
            <a:off x="4673600" y="1930400"/>
            <a:ext cx="4368800" cy="15240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Engine Leasing is 7% of revenue but its RRPF joint venture with Rolls-Royce contributed $49.6M of pretax affiliate earnings in Q2 2026 alone. Consensus 2027 revenue growth is 13.6%, the fastest in the company.</a:t>
            </a:r>
          </a:p>
        </p:txBody>
      </p:sp>
      <p:pic>
        <p:nvPicPr>
          <p:cNvPr id="2" name="Picture 1" descr="A black background with blue text&#10;&#10;Description automatically generated">
            <a:extLst>
              <a:ext uri="{FF2B5EF4-FFF2-40B4-BE49-F238E27FC236}">
                <a16:creationId xmlns:a16="http://schemas.microsoft.com/office/drawing/2014/main" id="{F18F8B55-9A63-75F6-27CB-757D39583335}"/>
              </a:ext>
            </a:extLst>
          </p:cNvPr>
          <p:cNvPicPr>
            <a:picLocks noChangeAspect="1"/>
          </p:cNvPicPr>
          <p:nvPr/>
        </p:nvPicPr>
        <p:blipFill>
          <a:blip r:embed="rId6">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3" name="TextBox 2">
            <a:extLst>
              <a:ext uri="{FF2B5EF4-FFF2-40B4-BE49-F238E27FC236}">
                <a16:creationId xmlns:a16="http://schemas.microsoft.com/office/drawing/2014/main" id="{89C5FEF4-F8AF-FB1B-B23F-003C6EE4B948}"/>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14</a:t>
            </a:fld>
            <a:endParaRPr lang="en-US" sz="1400">
              <a:latin typeface="Calibri" panose="020F0502020204030204" pitchFamily="34" charset="0"/>
              <a:cs typeface="Calibri" panose="020F0502020204030204" pitchFamily="34" charset="0"/>
            </a:endParaRPr>
          </a:p>
        </p:txBody>
      </p:sp>
      <p:sp>
        <p:nvSpPr>
          <p:cNvPr id="5" name="Text Box 2">
            <a:extLst>
              <a:ext uri="{FF2B5EF4-FFF2-40B4-BE49-F238E27FC236}">
                <a16:creationId xmlns:a16="http://schemas.microsoft.com/office/drawing/2014/main" id="{B4B62734-7A30-C589-AFFF-92901E557E35}"/>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941" name="Callout 3">
            <a:extLst>
              <a:ext uri="{FF2B5EF4-FFF2-40B4-BE49-F238E27FC236}">
                <a16:creationId xmlns:a16="http://schemas.microsoft.com/office/drawing/2014/main" id="{D69D10C8-552E-CF07-0FBD-09D970D0FB0F}"/>
              </a:ext>
            </a:extLst>
          </p:cNvPr>
          <p:cNvSpPr/>
          <p:nvPr/>
        </p:nvSpPr>
        <p:spPr>
          <a:xfrm>
            <a:off x="4673600" y="3543300"/>
            <a:ext cx="4368800" cy="9144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Both segments are small against Rail North America. Both are growing faster than it. Consensus 2027 Rail NA growth is 2.2%.</a:t>
            </a:r>
          </a:p>
        </p:txBody>
      </p:sp>
      <p:sp>
        <p:nvSpPr>
          <p:cNvPr id="942" name="Table caption">
            <a:extLst>
              <a:ext uri="{FF2B5EF4-FFF2-40B4-BE49-F238E27FC236}">
                <a16:creationId xmlns:a16="http://schemas.microsoft.com/office/drawing/2014/main" id="{9FBF1FC8-0D53-C7B9-02C6-7058BB3571B8}"/>
              </a:ext>
            </a:extLst>
          </p:cNvPr>
          <p:cNvSpPr txBox="1">
            <a:spLocks noChangeArrowheads="1"/>
          </p:cNvSpPr>
          <p:nvPr/>
        </p:nvSpPr>
        <p:spPr bwMode="auto">
          <a:xfrm>
            <a:off x="4673600" y="4546600"/>
            <a:ext cx="43688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defRPr/>
            </a:pPr>
            <a:r>
              <a:rPr lang="en-US" altLang="en-US" sz="1200">
                <a:solidFill>
                  <a:srgbClr val="000000"/>
                </a:solidFill>
                <a:latin typeface="Calibri"/>
                <a:ea typeface="Calibri" panose="020F0502020204030204" pitchFamily="34" charset="0"/>
                <a:cs typeface="Times New Roman"/>
              </a:rPr>
              <a:t>Figure 25: Segment revenue, 2025 actual and consensus ($M)</a:t>
            </a:r>
          </a:p>
        </p:txBody>
      </p:sp>
      <p:graphicFrame>
        <p:nvGraphicFramePr>
          <p:cNvPr id="16405" name="Chart"/>
          <p:cNvGraphicFramePr/>
          <p:nvPr/>
        </p:nvGraphicFramePr>
        <p:xfrm>
          <a:off x="152400" y="990600"/>
          <a:ext cx="4356100" cy="20955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6406" name="Chart"/>
          <p:cNvGraphicFramePr/>
          <p:nvPr/>
        </p:nvGraphicFramePr>
        <p:xfrm>
          <a:off x="152400" y="3581400"/>
          <a:ext cx="4356100" cy="209550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6" name="Table 5">
            <a:extLst>
              <a:ext uri="{FF2B5EF4-FFF2-40B4-BE49-F238E27FC236}">
                <a16:creationId xmlns:a16="http://schemas.microsoft.com/office/drawing/2014/main" id="{CFFE1F66-0659-438B-9287-B30ECF7A5359}"/>
              </a:ext>
            </a:extLst>
          </p:cNvPr>
          <p:cNvGraphicFramePr>
            <a:graphicFrameLocks noGrp="1"/>
          </p:cNvGraphicFramePr>
          <p:nvPr/>
        </p:nvGraphicFramePr>
        <p:xfrm>
          <a:off x="4673600" y="4800600"/>
          <a:ext cx="4263000" cy="1097280"/>
        </p:xfrm>
        <a:graphic>
          <a:graphicData uri="http://schemas.openxmlformats.org/drawingml/2006/table">
            <a:tbl>
              <a:tblPr/>
              <a:tblGrid>
                <a:gridCol w="1524000">
                  <a:extLst>
                    <a:ext uri="{9D8B030D-6E8A-4147-A177-3AD203B41FA5}">
                      <a16:colId xmlns:a16="http://schemas.microsoft.com/office/drawing/2014/main" val="1694622123"/>
                    </a:ext>
                  </a:extLst>
                </a:gridCol>
                <a:gridCol w="913000">
                  <a:extLst>
                    <a:ext uri="{9D8B030D-6E8A-4147-A177-3AD203B41FA5}">
                      <a16:colId xmlns:a16="http://schemas.microsoft.com/office/drawing/2014/main" val="1920157407"/>
                    </a:ext>
                  </a:extLst>
                </a:gridCol>
                <a:gridCol w="913000">
                  <a:extLst>
                    <a:ext uri="{9D8B030D-6E8A-4147-A177-3AD203B41FA5}">
                      <a16:colId xmlns:a16="http://schemas.microsoft.com/office/drawing/2014/main" val="2419233828"/>
                    </a:ext>
                  </a:extLst>
                </a:gridCol>
                <a:gridCol w="913000">
                  <a:extLst>
                    <a:ext uri="{9D8B030D-6E8A-4147-A177-3AD203B41FA5}">
                      <a16:colId xmlns:a16="http://schemas.microsoft.com/office/drawing/2014/main" val="1137235436"/>
                    </a:ext>
                  </a:extLst>
                </a:gridCol>
              </a:tblGrid>
              <a:tr h="274320">
                <a:tc>
                  <a:txBody>
                    <a:bodyPr/>
                    <a:lstStyle/>
                    <a:p>
                      <a:pPr algn="l"/>
                      <a:r>
                        <a:rPr lang="en-US" sz="1100" b="1">
                          <a:latin typeface="Calibri"/>
                        </a:rPr>
                        <a:t>Segment</a:t>
                      </a:r>
                    </a:p>
                  </a:txBody>
                  <a:tcPr marL="54864" marR="54864" marT="27432" marB="27432" anchor="ctr">
                    <a:lnR w="12700">
                      <a:noFill/>
                    </a:lnR>
                    <a:lnB w="19050" cap="flat" cmpd="sng" algn="ctr">
                      <a:solidFill>
                        <a:srgbClr val="292934"/>
                      </a:solidFill>
                      <a:prstDash val="solid"/>
                    </a:lnB>
                    <a:noFill/>
                  </a:tcPr>
                </a:tc>
                <a:tc>
                  <a:txBody>
                    <a:bodyPr/>
                    <a:lstStyle/>
                    <a:p>
                      <a:pPr algn="r"/>
                      <a:r>
                        <a:rPr lang="en-US" sz="1100" b="1">
                          <a:latin typeface="Calibri"/>
                        </a:rPr>
                        <a:t>2025A</a:t>
                      </a:r>
                    </a:p>
                  </a:txBody>
                  <a:tcPr marL="54864" marR="54864" marT="27432" marB="27432" anchor="ctr">
                    <a:lnL>
                      <a:noFill/>
                    </a:lnL>
                    <a:lnR w="12700">
                      <a:noFill/>
                    </a:lnR>
                    <a:lnB w="19050" cap="flat" cmpd="sng" algn="ctr">
                      <a:solidFill>
                        <a:srgbClr val="292934"/>
                      </a:solidFill>
                      <a:prstDash val="solid"/>
                    </a:lnB>
                    <a:noFill/>
                  </a:tcPr>
                </a:tc>
                <a:tc>
                  <a:txBody>
                    <a:bodyPr/>
                    <a:lstStyle/>
                    <a:p>
                      <a:pPr algn="r"/>
                      <a:r>
                        <a:rPr lang="en-US" sz="1100" b="1">
                          <a:latin typeface="Calibri"/>
                        </a:rPr>
                        <a:t>2026E</a:t>
                      </a:r>
                    </a:p>
                  </a:txBody>
                  <a:tcPr marL="54864" marR="54864" marT="27432" marB="27432" anchor="ctr">
                    <a:lnL>
                      <a:noFill/>
                    </a:lnL>
                    <a:lnR w="12700">
                      <a:noFill/>
                    </a:lnR>
                    <a:lnB w="19050" cap="flat" cmpd="sng" algn="ctr">
                      <a:solidFill>
                        <a:srgbClr val="292934"/>
                      </a:solidFill>
                      <a:prstDash val="solid"/>
                    </a:lnB>
                    <a:noFill/>
                  </a:tcPr>
                </a:tc>
                <a:tc>
                  <a:txBody>
                    <a:bodyPr/>
                    <a:lstStyle/>
                    <a:p>
                      <a:pPr algn="r"/>
                      <a:r>
                        <a:rPr lang="en-US" sz="1100" b="1">
                          <a:latin typeface="Calibri"/>
                        </a:rPr>
                        <a:t>2027E</a:t>
                      </a:r>
                    </a:p>
                  </a:txBody>
                  <a:tcPr marL="54864" marR="54864" marT="27432" marB="27432" anchor="ctr">
                    <a:lnL>
                      <a:noFill/>
                    </a:lnL>
                    <a:lnR w="12700">
                      <a:noFill/>
                    </a:lnR>
                    <a:lnB w="19050" cap="flat" cmpd="sng" algn="ctr">
                      <a:solidFill>
                        <a:srgbClr val="292934"/>
                      </a:solidFill>
                      <a:prstDash val="solid"/>
                    </a:lnB>
                    <a:noFill/>
                  </a:tcPr>
                </a:tc>
                <a:extLst>
                  <a:ext uri="{0D108BD9-81ED-4DB2-BD59-A6C34878D82A}">
                    <a16:rowId xmlns:a16="http://schemas.microsoft.com/office/drawing/2014/main" val="3249597433"/>
                  </a:ext>
                </a:extLst>
              </a:tr>
              <a:tr h="274320">
                <a:tc>
                  <a:txBody>
                    <a:bodyPr/>
                    <a:lstStyle/>
                    <a:p>
                      <a:pPr algn="l"/>
                      <a:r>
                        <a:rPr lang="en-US" sz="1100" b="1">
                          <a:latin typeface="Calibri"/>
                        </a:rPr>
                        <a:t>Rail NA</a:t>
                      </a:r>
                    </a:p>
                  </a:txBody>
                  <a:tcPr marL="54864" marR="54864" marT="27432" marB="27432" anchor="ctr">
                    <a:lnR w="12700">
                      <a:noFill/>
                    </a:lnR>
                    <a:lnT w="19050" cap="flat" cmpd="sng" algn="ctr">
                      <a:solidFill>
                        <a:srgbClr val="292934"/>
                      </a:solidFill>
                      <a:prstDash val="solid"/>
                      <a:round/>
                      <a:headEnd type="none" w="med" len="med"/>
                      <a:tailEnd type="none" w="med" len="med"/>
                    </a:lnT>
                    <a:lnB w="12700" cap="flat" cmpd="sng" algn="ctr">
                      <a:solidFill>
                        <a:srgbClr val="C9C9C9"/>
                      </a:solidFill>
                      <a:prstDash val="solid"/>
                    </a:lnB>
                    <a:noFill/>
                  </a:tcPr>
                </a:tc>
                <a:tc>
                  <a:txBody>
                    <a:bodyPr/>
                    <a:lstStyle/>
                    <a:p>
                      <a:pPr algn="r"/>
                      <a:r>
                        <a:rPr lang="en-US" sz="1100">
                          <a:latin typeface="Calibri"/>
                        </a:rPr>
                        <a:t>$1,186M</a:t>
                      </a:r>
                    </a:p>
                  </a:txBody>
                  <a:tcPr marL="54864" marR="54864" marT="27432" marB="27432" anchor="ctr">
                    <a:lnL>
                      <a:noFill/>
                    </a:lnL>
                    <a:lnR w="12700">
                      <a:noFill/>
                    </a:lnR>
                    <a:lnT w="19050" cap="flat" cmpd="sng" algn="ctr">
                      <a:solidFill>
                        <a:srgbClr val="292934"/>
                      </a:solidFill>
                      <a:prstDash val="solid"/>
                      <a:round/>
                      <a:headEnd type="none" w="med" len="med"/>
                      <a:tailEnd type="none" w="med" len="med"/>
                    </a:lnT>
                    <a:lnB w="12700" cap="flat" cmpd="sng" algn="ctr">
                      <a:solidFill>
                        <a:srgbClr val="C9C9C9"/>
                      </a:solidFill>
                      <a:prstDash val="solid"/>
                    </a:lnB>
                    <a:noFill/>
                  </a:tcPr>
                </a:tc>
                <a:tc>
                  <a:txBody>
                    <a:bodyPr/>
                    <a:lstStyle/>
                    <a:p>
                      <a:pPr algn="r"/>
                      <a:r>
                        <a:rPr lang="en-US" sz="1100">
                          <a:latin typeface="Calibri"/>
                        </a:rPr>
                        <a:t>$1,734M</a:t>
                      </a:r>
                    </a:p>
                  </a:txBody>
                  <a:tcPr marL="54864" marR="54864" marT="27432" marB="27432" anchor="ctr">
                    <a:lnL>
                      <a:noFill/>
                    </a:lnL>
                    <a:lnR w="12700">
                      <a:noFill/>
                    </a:lnR>
                    <a:lnT w="19050" cap="flat" cmpd="sng" algn="ctr">
                      <a:solidFill>
                        <a:srgbClr val="292934"/>
                      </a:solidFill>
                      <a:prstDash val="solid"/>
                      <a:round/>
                      <a:headEnd type="none" w="med" len="med"/>
                      <a:tailEnd type="none" w="med" len="med"/>
                    </a:lnT>
                    <a:lnB w="12700" cap="flat" cmpd="sng" algn="ctr">
                      <a:solidFill>
                        <a:srgbClr val="C9C9C9"/>
                      </a:solidFill>
                      <a:prstDash val="solid"/>
                    </a:lnB>
                    <a:noFill/>
                  </a:tcPr>
                </a:tc>
                <a:tc>
                  <a:txBody>
                    <a:bodyPr/>
                    <a:lstStyle/>
                    <a:p>
                      <a:pPr algn="r"/>
                      <a:r>
                        <a:rPr lang="en-US" sz="1100">
                          <a:latin typeface="Calibri"/>
                        </a:rPr>
                        <a:t>$1,772M</a:t>
                      </a:r>
                    </a:p>
                  </a:txBody>
                  <a:tcPr marL="54864" marR="54864" marT="27432" marB="27432" anchor="ctr">
                    <a:lnL>
                      <a:noFill/>
                    </a:lnL>
                    <a:lnR w="12700">
                      <a:noFill/>
                    </a:lnR>
                    <a:lnT w="19050" cap="flat" cmpd="sng" algn="ctr">
                      <a:solidFill>
                        <a:srgbClr val="292934"/>
                      </a:solidFill>
                      <a:prstDash val="solid"/>
                      <a:round/>
                      <a:headEnd type="none" w="med" len="med"/>
                      <a:tailEnd type="none" w="med" len="med"/>
                    </a:lnT>
                    <a:lnB w="12700" cap="flat" cmpd="sng" algn="ctr">
                      <a:solidFill>
                        <a:srgbClr val="C9C9C9"/>
                      </a:solidFill>
                      <a:prstDash val="solid"/>
                    </a:lnB>
                    <a:noFill/>
                  </a:tcPr>
                </a:tc>
                <a:extLst>
                  <a:ext uri="{0D108BD9-81ED-4DB2-BD59-A6C34878D82A}">
                    <a16:rowId xmlns:a16="http://schemas.microsoft.com/office/drawing/2014/main" val="2474467772"/>
                  </a:ext>
                </a:extLst>
              </a:tr>
              <a:tr h="274320">
                <a:tc>
                  <a:txBody>
                    <a:bodyPr/>
                    <a:lstStyle/>
                    <a:p>
                      <a:pPr algn="l"/>
                      <a:r>
                        <a:rPr lang="en-US" sz="1100" b="1">
                          <a:latin typeface="Calibri"/>
                        </a:rPr>
                        <a:t>Rail International</a:t>
                      </a:r>
                    </a:p>
                  </a:txBody>
                  <a:tcPr marL="54864" marR="54864" marT="27432" marB="27432" anchor="ctr">
                    <a:lnR w="12700">
                      <a:noFill/>
                    </a:lnR>
                    <a:lnT w="12700" cap="flat" cmpd="sng" algn="ctr">
                      <a:solidFill>
                        <a:srgbClr val="C9C9C9"/>
                      </a:solidFill>
                      <a:prstDash val="solid"/>
                      <a:round/>
                      <a:headEnd type="none" w="med" len="med"/>
                      <a:tailEnd type="none" w="med" len="med"/>
                    </a:lnT>
                    <a:lnB w="12700" cap="flat" cmpd="sng" algn="ctr">
                      <a:solidFill>
                        <a:srgbClr val="C9C9C9"/>
                      </a:solidFill>
                      <a:prstDash val="solid"/>
                    </a:lnB>
                    <a:noFill/>
                  </a:tcPr>
                </a:tc>
                <a:tc>
                  <a:txBody>
                    <a:bodyPr/>
                    <a:lstStyle/>
                    <a:p>
                      <a:pPr algn="r"/>
                      <a:r>
                        <a:rPr lang="en-US" sz="1100">
                          <a:latin typeface="Calibri"/>
                        </a:rPr>
                        <a:t>$388M</a:t>
                      </a:r>
                    </a:p>
                  </a:txBody>
                  <a:tcPr marL="54864" marR="54864" marT="27432" marB="27432" anchor="ctr">
                    <a:lnL>
                      <a:noFill/>
                    </a:lnL>
                    <a:lnR w="12700">
                      <a:noFill/>
                    </a:lnR>
                    <a:lnT w="12700" cap="flat" cmpd="sng" algn="ctr">
                      <a:solidFill>
                        <a:srgbClr val="C9C9C9"/>
                      </a:solidFill>
                      <a:prstDash val="solid"/>
                      <a:round/>
                      <a:headEnd type="none" w="med" len="med"/>
                      <a:tailEnd type="none" w="med" len="med"/>
                    </a:lnT>
                    <a:lnB w="12700" cap="flat" cmpd="sng" algn="ctr">
                      <a:solidFill>
                        <a:srgbClr val="C9C9C9"/>
                      </a:solidFill>
                      <a:prstDash val="solid"/>
                    </a:lnB>
                    <a:noFill/>
                  </a:tcPr>
                </a:tc>
                <a:tc>
                  <a:txBody>
                    <a:bodyPr/>
                    <a:lstStyle/>
                    <a:p>
                      <a:pPr algn="r"/>
                      <a:r>
                        <a:rPr lang="en-US" sz="1100">
                          <a:latin typeface="Calibri"/>
                        </a:rPr>
                        <a:t>$425M</a:t>
                      </a:r>
                    </a:p>
                  </a:txBody>
                  <a:tcPr marL="54864" marR="54864" marT="27432" marB="27432" anchor="ctr">
                    <a:lnL>
                      <a:noFill/>
                    </a:lnL>
                    <a:lnR w="12700">
                      <a:noFill/>
                    </a:lnR>
                    <a:lnT w="12700" cap="flat" cmpd="sng" algn="ctr">
                      <a:solidFill>
                        <a:srgbClr val="C9C9C9"/>
                      </a:solidFill>
                      <a:prstDash val="solid"/>
                      <a:round/>
                      <a:headEnd type="none" w="med" len="med"/>
                      <a:tailEnd type="none" w="med" len="med"/>
                    </a:lnT>
                    <a:lnB w="12700" cap="flat" cmpd="sng" algn="ctr">
                      <a:solidFill>
                        <a:srgbClr val="C9C9C9"/>
                      </a:solidFill>
                      <a:prstDash val="solid"/>
                    </a:lnB>
                    <a:noFill/>
                  </a:tcPr>
                </a:tc>
                <a:tc>
                  <a:txBody>
                    <a:bodyPr/>
                    <a:lstStyle/>
                    <a:p>
                      <a:pPr algn="r"/>
                      <a:r>
                        <a:rPr lang="en-US" sz="1100">
                          <a:latin typeface="Calibri"/>
                        </a:rPr>
                        <a:t>$452M</a:t>
                      </a:r>
                    </a:p>
                  </a:txBody>
                  <a:tcPr marL="54864" marR="54864" marT="27432" marB="27432" anchor="ctr">
                    <a:lnL>
                      <a:noFill/>
                    </a:lnL>
                    <a:lnR w="12700">
                      <a:noFill/>
                    </a:lnR>
                    <a:lnT w="12700" cap="flat" cmpd="sng" algn="ctr">
                      <a:solidFill>
                        <a:srgbClr val="C9C9C9"/>
                      </a:solidFill>
                      <a:prstDash val="solid"/>
                      <a:round/>
                      <a:headEnd type="none" w="med" len="med"/>
                      <a:tailEnd type="none" w="med" len="med"/>
                    </a:lnT>
                    <a:lnB w="12700" cap="flat" cmpd="sng" algn="ctr">
                      <a:solidFill>
                        <a:srgbClr val="C9C9C9"/>
                      </a:solidFill>
                      <a:prstDash val="solid"/>
                    </a:lnB>
                    <a:noFill/>
                  </a:tcPr>
                </a:tc>
                <a:extLst>
                  <a:ext uri="{0D108BD9-81ED-4DB2-BD59-A6C34878D82A}">
                    <a16:rowId xmlns:a16="http://schemas.microsoft.com/office/drawing/2014/main" val="829266337"/>
                  </a:ext>
                </a:extLst>
              </a:tr>
              <a:tr h="274320">
                <a:tc>
                  <a:txBody>
                    <a:bodyPr/>
                    <a:lstStyle/>
                    <a:p>
                      <a:pPr algn="l"/>
                      <a:r>
                        <a:rPr lang="en-US" sz="1100" b="1">
                          <a:latin typeface="Calibri"/>
                        </a:rPr>
                        <a:t>Engine Leasing</a:t>
                      </a:r>
                    </a:p>
                  </a:txBody>
                  <a:tcPr marL="54864" marR="54864" marT="27432" marB="27432" anchor="ctr">
                    <a:lnR w="12700">
                      <a:noFill/>
                    </a:lnR>
                    <a:lnT w="12700" cap="flat" cmpd="sng" algn="ctr">
                      <a:solidFill>
                        <a:srgbClr val="C9C9C9"/>
                      </a:solidFill>
                      <a:prstDash val="solid"/>
                      <a:round/>
                      <a:headEnd type="none" w="med" len="med"/>
                      <a:tailEnd type="none" w="med" len="med"/>
                    </a:lnT>
                    <a:lnB w="12700" cap="flat" cmpd="sng" algn="ctr">
                      <a:solidFill>
                        <a:srgbClr val="C9C9C9"/>
                      </a:solidFill>
                      <a:prstDash val="solid"/>
                    </a:lnB>
                    <a:noFill/>
                  </a:tcPr>
                </a:tc>
                <a:tc>
                  <a:txBody>
                    <a:bodyPr/>
                    <a:lstStyle/>
                    <a:p>
                      <a:pPr algn="r"/>
                      <a:r>
                        <a:rPr lang="en-US" sz="1100">
                          <a:latin typeface="Calibri"/>
                        </a:rPr>
                        <a:t>$125M</a:t>
                      </a:r>
                    </a:p>
                  </a:txBody>
                  <a:tcPr marL="54864" marR="54864" marT="27432" marB="27432" anchor="ctr">
                    <a:lnL>
                      <a:noFill/>
                    </a:lnL>
                    <a:lnR w="12700">
                      <a:noFill/>
                    </a:lnR>
                    <a:lnT w="12700" cap="flat" cmpd="sng" algn="ctr">
                      <a:solidFill>
                        <a:srgbClr val="C9C9C9"/>
                      </a:solidFill>
                      <a:prstDash val="solid"/>
                      <a:round/>
                      <a:headEnd type="none" w="med" len="med"/>
                      <a:tailEnd type="none" w="med" len="med"/>
                    </a:lnT>
                    <a:lnB w="12700" cap="flat" cmpd="sng" algn="ctr">
                      <a:solidFill>
                        <a:srgbClr val="C9C9C9"/>
                      </a:solidFill>
                      <a:prstDash val="solid"/>
                    </a:lnB>
                    <a:noFill/>
                  </a:tcPr>
                </a:tc>
                <a:tc>
                  <a:txBody>
                    <a:bodyPr/>
                    <a:lstStyle/>
                    <a:p>
                      <a:pPr algn="r"/>
                      <a:r>
                        <a:rPr lang="en-US" sz="1100">
                          <a:latin typeface="Calibri"/>
                        </a:rPr>
                        <a:t>$132M</a:t>
                      </a:r>
                    </a:p>
                  </a:txBody>
                  <a:tcPr marL="54864" marR="54864" marT="27432" marB="27432" anchor="ctr">
                    <a:lnL>
                      <a:noFill/>
                    </a:lnL>
                    <a:lnR w="12700">
                      <a:noFill/>
                    </a:lnR>
                    <a:lnT w="12700" cap="flat" cmpd="sng" algn="ctr">
                      <a:solidFill>
                        <a:srgbClr val="C9C9C9"/>
                      </a:solidFill>
                      <a:prstDash val="solid"/>
                      <a:round/>
                      <a:headEnd type="none" w="med" len="med"/>
                      <a:tailEnd type="none" w="med" len="med"/>
                    </a:lnT>
                    <a:lnB w="12700" cap="flat" cmpd="sng" algn="ctr">
                      <a:solidFill>
                        <a:srgbClr val="C9C9C9"/>
                      </a:solidFill>
                      <a:prstDash val="solid"/>
                    </a:lnB>
                    <a:noFill/>
                  </a:tcPr>
                </a:tc>
                <a:tc>
                  <a:txBody>
                    <a:bodyPr/>
                    <a:lstStyle/>
                    <a:p>
                      <a:pPr algn="r"/>
                      <a:r>
                        <a:rPr lang="en-US" sz="1100">
                          <a:latin typeface="Calibri"/>
                        </a:rPr>
                        <a:t>$150M</a:t>
                      </a:r>
                    </a:p>
                  </a:txBody>
                  <a:tcPr marL="54864" marR="54864" marT="27432" marB="27432" anchor="ctr">
                    <a:lnL>
                      <a:noFill/>
                    </a:lnL>
                    <a:lnR w="12700">
                      <a:noFill/>
                    </a:lnR>
                    <a:lnT w="12700" cap="flat" cmpd="sng" algn="ctr">
                      <a:solidFill>
                        <a:srgbClr val="C9C9C9"/>
                      </a:solidFill>
                      <a:prstDash val="solid"/>
                      <a:round/>
                      <a:headEnd type="none" w="med" len="med"/>
                      <a:tailEnd type="none" w="med" len="med"/>
                    </a:lnT>
                    <a:lnB w="12700" cap="flat" cmpd="sng" algn="ctr">
                      <a:solidFill>
                        <a:srgbClr val="C9C9C9"/>
                      </a:solidFill>
                      <a:prstDash val="solid"/>
                    </a:lnB>
                    <a:noFill/>
                  </a:tcPr>
                </a:tc>
                <a:extLst>
                  <a:ext uri="{0D108BD9-81ED-4DB2-BD59-A6C34878D82A}">
                    <a16:rowId xmlns:a16="http://schemas.microsoft.com/office/drawing/2014/main" val="1442847254"/>
                  </a:ext>
                </a:extLst>
              </a:tr>
            </a:tbl>
          </a:graphicData>
        </a:graphic>
      </p:graphicFrame>
    </p:spTree>
    <p:extLst>
      <p:ext uri="{BB962C8B-B14F-4D97-AF65-F5344CB8AC3E}">
        <p14:creationId xmlns:p14="http://schemas.microsoft.com/office/powerpoint/2010/main" val="542662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4B5EC-742C-F838-1EC0-12CBCC537C3A}"/>
            </a:ext>
          </a:extLst>
        </p:cNvPr>
        <p:cNvGrpSpPr/>
        <p:nvPr/>
      </p:nvGrpSpPr>
      <p:grpSpPr>
        <a:xfrm>
          <a:off x="0" y="0"/>
          <a:ext cx="0" cy="0"/>
          <a:chOff x="0" y="0"/>
          <a:chExt cx="0" cy="0"/>
        </a:xfrm>
      </p:grpSpPr>
      <p:sp>
        <p:nvSpPr>
          <p:cNvPr id="12292" name="AutoShape 22" descr="Image result for risk black clip art">
            <a:extLst>
              <a:ext uri="{FF2B5EF4-FFF2-40B4-BE49-F238E27FC236}">
                <a16:creationId xmlns:a16="http://schemas.microsoft.com/office/drawing/2014/main" id="{FF1DF42F-69A2-DC54-2EC6-2C8D6116FE96}"/>
              </a:ext>
            </a:extLst>
          </p:cNvPr>
          <p:cNvSpPr>
            <a:spLocks noChangeAspect="1" noChangeArrowheads="1"/>
          </p:cNvSpPr>
          <p:nvPr/>
        </p:nvSpPr>
        <p:spPr bwMode="auto">
          <a:xfrm>
            <a:off x="116681" y="748906"/>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400">
              <a:solidFill>
                <a:srgbClr val="292934"/>
              </a:solidFill>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53724412-3420-6062-A176-2B58903A21EA}"/>
              </a:ext>
            </a:extLst>
          </p:cNvPr>
          <p:cNvSpPr>
            <a:spLocks noGrp="1"/>
          </p:cNvSpPr>
          <p:nvPr>
            <p:ph type="sldNum" sz="quarter" idx="12"/>
          </p:nvPr>
        </p:nvSpPr>
        <p:spPr/>
        <p:txBody>
          <a:bodyPr/>
          <a:lstStyle/>
          <a:p>
            <a:fld id="{763E63E3-3972-446C-8D4C-DDC4F18578E9}" type="slidenum">
              <a:rPr lang="en-US" altLang="en-US" sz="1400" smtClean="0">
                <a:latin typeface="Calibri" panose="020F0502020204030204" pitchFamily="34" charset="0"/>
                <a:cs typeface="Calibri" panose="020F0502020204030204" pitchFamily="34" charset="0"/>
              </a:rPr>
              <a:pPr/>
              <a:t>15</a:t>
            </a:fld>
            <a:endParaRPr lang="en-US" altLang="en-US" sz="1400">
              <a:latin typeface="Calibri" panose="020F0502020204030204" pitchFamily="34" charset="0"/>
              <a:cs typeface="Calibri" panose="020F0502020204030204" pitchFamily="34" charset="0"/>
            </a:endParaRPr>
          </a:p>
        </p:txBody>
      </p:sp>
      <p:sp>
        <p:nvSpPr>
          <p:cNvPr id="83" name="Left-Right Arrow 2063">
            <a:extLst>
              <a:ext uri="{FF2B5EF4-FFF2-40B4-BE49-F238E27FC236}">
                <a16:creationId xmlns:a16="http://schemas.microsoft.com/office/drawing/2014/main" id="{8763F090-031F-44F8-0889-D6BC7C538321}"/>
              </a:ext>
            </a:extLst>
          </p:cNvPr>
          <p:cNvSpPr/>
          <p:nvPr/>
        </p:nvSpPr>
        <p:spPr bwMode="auto">
          <a:xfrm>
            <a:off x="688861" y="4220820"/>
            <a:ext cx="7753471" cy="677315"/>
          </a:xfrm>
          <a:prstGeom prst="leftRight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Key Highlights</a:t>
            </a:r>
          </a:p>
        </p:txBody>
      </p:sp>
      <p:grpSp>
        <p:nvGrpSpPr>
          <p:cNvPr id="34" name="Group 33">
            <a:extLst>
              <a:ext uri="{FF2B5EF4-FFF2-40B4-BE49-F238E27FC236}">
                <a16:creationId xmlns:a16="http://schemas.microsoft.com/office/drawing/2014/main" id="{C06F448F-20FE-9848-1E08-34CFF47854E0}"/>
              </a:ext>
            </a:extLst>
          </p:cNvPr>
          <p:cNvGrpSpPr/>
          <p:nvPr/>
        </p:nvGrpSpPr>
        <p:grpSpPr>
          <a:xfrm>
            <a:off x="694642" y="739926"/>
            <a:ext cx="7753470" cy="3242764"/>
            <a:chOff x="695702" y="695161"/>
            <a:chExt cx="7753470" cy="3242764"/>
          </a:xfrm>
        </p:grpSpPr>
        <p:sp>
          <p:nvSpPr>
            <p:cNvPr id="29" name="Down Arrow Callout 49">
              <a:extLst>
                <a:ext uri="{FF2B5EF4-FFF2-40B4-BE49-F238E27FC236}">
                  <a16:creationId xmlns:a16="http://schemas.microsoft.com/office/drawing/2014/main" id="{D156FAF5-D5AD-8797-2B4E-5FCAE09C0852}"/>
                </a:ext>
              </a:extLst>
            </p:cNvPr>
            <p:cNvSpPr/>
            <p:nvPr/>
          </p:nvSpPr>
          <p:spPr bwMode="auto">
            <a:xfrm>
              <a:off x="2280317"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Drivers</a:t>
              </a:r>
            </a:p>
          </p:txBody>
        </p:sp>
        <p:grpSp>
          <p:nvGrpSpPr>
            <p:cNvPr id="75" name="Group 74">
              <a:extLst>
                <a:ext uri="{FF2B5EF4-FFF2-40B4-BE49-F238E27FC236}">
                  <a16:creationId xmlns:a16="http://schemas.microsoft.com/office/drawing/2014/main" id="{B79F3A04-956C-79B0-80EF-088C5EB17415}"/>
                </a:ext>
              </a:extLst>
            </p:cNvPr>
            <p:cNvGrpSpPr/>
            <p:nvPr/>
          </p:nvGrpSpPr>
          <p:grpSpPr>
            <a:xfrm>
              <a:off x="2281074" y="701514"/>
              <a:ext cx="1435608" cy="1645920"/>
              <a:chOff x="1780524" y="1001320"/>
              <a:chExt cx="1261872" cy="1496616"/>
            </a:xfrm>
          </p:grpSpPr>
          <p:sp>
            <p:nvSpPr>
              <p:cNvPr id="21" name="Rectangle 20">
                <a:extLst>
                  <a:ext uri="{FF2B5EF4-FFF2-40B4-BE49-F238E27FC236}">
                    <a16:creationId xmlns:a16="http://schemas.microsoft.com/office/drawing/2014/main" id="{3C6AEEA9-4805-E509-A371-60E75FDCE54C}"/>
                  </a:ext>
                </a:extLst>
              </p:cNvPr>
              <p:cNvSpPr/>
              <p:nvPr/>
            </p:nvSpPr>
            <p:spPr bwMode="auto">
              <a:xfrm>
                <a:off x="1780524" y="1001320"/>
                <a:ext cx="1261872" cy="1496616"/>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9503D0E3-68E6-7C71-7497-74C14C24E528}"/>
                  </a:ext>
                </a:extLst>
              </p:cNvPr>
              <p:cNvGrpSpPr/>
              <p:nvPr/>
            </p:nvGrpSpPr>
            <p:grpSpPr>
              <a:xfrm>
                <a:off x="1839668" y="1178128"/>
                <a:ext cx="1143584" cy="1143000"/>
                <a:chOff x="1839668" y="1142389"/>
                <a:chExt cx="1143584" cy="1143000"/>
              </a:xfrm>
            </p:grpSpPr>
            <p:sp>
              <p:nvSpPr>
                <p:cNvPr id="23" name="Oval 22">
                  <a:extLst>
                    <a:ext uri="{FF2B5EF4-FFF2-40B4-BE49-F238E27FC236}">
                      <a16:creationId xmlns:a16="http://schemas.microsoft.com/office/drawing/2014/main" id="{9102C99A-1B11-1775-BABE-2FD10954F02F}"/>
                    </a:ext>
                  </a:extLst>
                </p:cNvPr>
                <p:cNvSpPr/>
                <p:nvPr/>
              </p:nvSpPr>
              <p:spPr bwMode="auto">
                <a:xfrm>
                  <a:off x="1839668" y="1142389"/>
                  <a:ext cx="1143584"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33" name="Graphic 5" descr="Board Of Directors with solid fill">
                  <a:extLst>
                    <a:ext uri="{FF2B5EF4-FFF2-40B4-BE49-F238E27FC236}">
                      <a16:creationId xmlns:a16="http://schemas.microsoft.com/office/drawing/2014/main" id="{8986F2C8-AD14-7711-17CC-700817D655C4}"/>
                    </a:ext>
                  </a:extLst>
                </p:cNvPr>
                <p:cNvSpPr/>
                <p:nvPr/>
              </p:nvSpPr>
              <p:spPr>
                <a:xfrm>
                  <a:off x="2054844" y="1406926"/>
                  <a:ext cx="713232" cy="613927"/>
                </a:xfrm>
                <a:custGeom>
                  <a:avLst/>
                  <a:gdLst>
                    <a:gd name="connsiteX0" fmla="*/ 745496 w 784462"/>
                    <a:gd name="connsiteY0" fmla="*/ 435333 h 613927"/>
                    <a:gd name="connsiteX1" fmla="*/ 764008 w 784462"/>
                    <a:gd name="connsiteY1" fmla="*/ 413769 h 613927"/>
                    <a:gd name="connsiteX2" fmla="*/ 784276 w 784462"/>
                    <a:gd name="connsiteY2" fmla="*/ 244885 h 613927"/>
                    <a:gd name="connsiteX3" fmla="*/ 761982 w 784462"/>
                    <a:gd name="connsiteY3" fmla="*/ 216486 h 613927"/>
                    <a:gd name="connsiteX4" fmla="*/ 760401 w 784462"/>
                    <a:gd name="connsiteY4" fmla="*/ 216345 h 613927"/>
                    <a:gd name="connsiteX5" fmla="*/ 666554 w 784462"/>
                    <a:gd name="connsiteY5" fmla="*/ 210820 h 613927"/>
                    <a:gd name="connsiteX6" fmla="*/ 639720 w 784462"/>
                    <a:gd name="connsiteY6" fmla="*/ 233049 h 613927"/>
                    <a:gd name="connsiteX7" fmla="*/ 633904 w 784462"/>
                    <a:gd name="connsiteY7" fmla="*/ 278140 h 613927"/>
                    <a:gd name="connsiteX8" fmla="*/ 619571 w 784462"/>
                    <a:gd name="connsiteY8" fmla="*/ 256191 h 613927"/>
                    <a:gd name="connsiteX9" fmla="*/ 622836 w 784462"/>
                    <a:gd name="connsiteY9" fmla="*/ 230875 h 613927"/>
                    <a:gd name="connsiteX10" fmla="*/ 665096 w 784462"/>
                    <a:gd name="connsiteY10" fmla="*/ 193757 h 613927"/>
                    <a:gd name="connsiteX11" fmla="*/ 667654 w 784462"/>
                    <a:gd name="connsiteY11" fmla="*/ 193834 h 613927"/>
                    <a:gd name="connsiteX12" fmla="*/ 708191 w 784462"/>
                    <a:gd name="connsiteY12" fmla="*/ 196213 h 613927"/>
                    <a:gd name="connsiteX13" fmla="*/ 714049 w 784462"/>
                    <a:gd name="connsiteY13" fmla="*/ 160255 h 613927"/>
                    <a:gd name="connsiteX14" fmla="*/ 692851 w 784462"/>
                    <a:gd name="connsiteY14" fmla="*/ 130939 h 613927"/>
                    <a:gd name="connsiteX15" fmla="*/ 690540 w 784462"/>
                    <a:gd name="connsiteY15" fmla="*/ 130675 h 613927"/>
                    <a:gd name="connsiteX16" fmla="*/ 614233 w 784462"/>
                    <a:gd name="connsiteY16" fmla="*/ 125559 h 613927"/>
                    <a:gd name="connsiteX17" fmla="*/ 587296 w 784462"/>
                    <a:gd name="connsiteY17" fmla="*/ 147149 h 613927"/>
                    <a:gd name="connsiteX18" fmla="*/ 579827 w 784462"/>
                    <a:gd name="connsiteY18" fmla="*/ 195232 h 613927"/>
                    <a:gd name="connsiteX19" fmla="*/ 565894 w 784462"/>
                    <a:gd name="connsiteY19" fmla="*/ 173915 h 613927"/>
                    <a:gd name="connsiteX20" fmla="*/ 570413 w 784462"/>
                    <a:gd name="connsiteY20" fmla="*/ 144599 h 613927"/>
                    <a:gd name="connsiteX21" fmla="*/ 612468 w 784462"/>
                    <a:gd name="connsiteY21" fmla="*/ 108522 h 613927"/>
                    <a:gd name="connsiteX22" fmla="*/ 615316 w 784462"/>
                    <a:gd name="connsiteY22" fmla="*/ 108624 h 613927"/>
                    <a:gd name="connsiteX23" fmla="*/ 632148 w 784462"/>
                    <a:gd name="connsiteY23" fmla="*/ 109741 h 613927"/>
                    <a:gd name="connsiteX24" fmla="*/ 634800 w 784462"/>
                    <a:gd name="connsiteY24" fmla="*/ 85866 h 613927"/>
                    <a:gd name="connsiteX25" fmla="*/ 612162 w 784462"/>
                    <a:gd name="connsiteY25" fmla="*/ 57648 h 613927"/>
                    <a:gd name="connsiteX26" fmla="*/ 611376 w 784462"/>
                    <a:gd name="connsiteY26" fmla="*/ 57574 h 613927"/>
                    <a:gd name="connsiteX27" fmla="*/ 551807 w 784462"/>
                    <a:gd name="connsiteY27" fmla="*/ 52995 h 613927"/>
                    <a:gd name="connsiteX28" fmla="*/ 524402 w 784462"/>
                    <a:gd name="connsiteY28" fmla="*/ 75787 h 613927"/>
                    <a:gd name="connsiteX29" fmla="*/ 520539 w 784462"/>
                    <a:gd name="connsiteY29" fmla="*/ 112504 h 613927"/>
                    <a:gd name="connsiteX30" fmla="*/ 466342 w 784462"/>
                    <a:gd name="connsiteY30" fmla="*/ 93660 h 613927"/>
                    <a:gd name="connsiteX31" fmla="*/ 458898 w 784462"/>
                    <a:gd name="connsiteY31" fmla="*/ 93660 h 613927"/>
                    <a:gd name="connsiteX32" fmla="*/ 458898 w 784462"/>
                    <a:gd name="connsiteY32" fmla="*/ 33971 h 613927"/>
                    <a:gd name="connsiteX33" fmla="*/ 452076 w 784462"/>
                    <a:gd name="connsiteY33" fmla="*/ 17506 h 613927"/>
                    <a:gd name="connsiteX34" fmla="*/ 441691 w 784462"/>
                    <a:gd name="connsiteY34" fmla="*/ 11102 h 613927"/>
                    <a:gd name="connsiteX35" fmla="*/ 342446 w 784462"/>
                    <a:gd name="connsiteY35" fmla="*/ 10676 h 613927"/>
                    <a:gd name="connsiteX36" fmla="*/ 330124 w 784462"/>
                    <a:gd name="connsiteY36" fmla="*/ 17497 h 613927"/>
                    <a:gd name="connsiteX37" fmla="*/ 323303 w 784462"/>
                    <a:gd name="connsiteY37" fmla="*/ 33963 h 613927"/>
                    <a:gd name="connsiteX38" fmla="*/ 323303 w 784462"/>
                    <a:gd name="connsiteY38" fmla="*/ 93651 h 613927"/>
                    <a:gd name="connsiteX39" fmla="*/ 315100 w 784462"/>
                    <a:gd name="connsiteY39" fmla="*/ 93651 h 613927"/>
                    <a:gd name="connsiteX40" fmla="*/ 263683 w 784462"/>
                    <a:gd name="connsiteY40" fmla="*/ 110355 h 613927"/>
                    <a:gd name="connsiteX41" fmla="*/ 260067 w 784462"/>
                    <a:gd name="connsiteY41" fmla="*/ 75787 h 613927"/>
                    <a:gd name="connsiteX42" fmla="*/ 232713 w 784462"/>
                    <a:gd name="connsiteY42" fmla="*/ 52995 h 613927"/>
                    <a:gd name="connsiteX43" fmla="*/ 173144 w 784462"/>
                    <a:gd name="connsiteY43" fmla="*/ 57574 h 613927"/>
                    <a:gd name="connsiteX44" fmla="*/ 149646 w 784462"/>
                    <a:gd name="connsiteY44" fmla="*/ 85081 h 613927"/>
                    <a:gd name="connsiteX45" fmla="*/ 149720 w 784462"/>
                    <a:gd name="connsiteY45" fmla="*/ 85866 h 613927"/>
                    <a:gd name="connsiteX46" fmla="*/ 152372 w 784462"/>
                    <a:gd name="connsiteY46" fmla="*/ 109741 h 613927"/>
                    <a:gd name="connsiteX47" fmla="*/ 169204 w 784462"/>
                    <a:gd name="connsiteY47" fmla="*/ 108624 h 613927"/>
                    <a:gd name="connsiteX48" fmla="*/ 172052 w 784462"/>
                    <a:gd name="connsiteY48" fmla="*/ 108522 h 613927"/>
                    <a:gd name="connsiteX49" fmla="*/ 214099 w 784462"/>
                    <a:gd name="connsiteY49" fmla="*/ 144599 h 613927"/>
                    <a:gd name="connsiteX50" fmla="*/ 218064 w 784462"/>
                    <a:gd name="connsiteY50" fmla="*/ 170231 h 613927"/>
                    <a:gd name="connsiteX51" fmla="*/ 204131 w 784462"/>
                    <a:gd name="connsiteY51" fmla="*/ 191549 h 613927"/>
                    <a:gd name="connsiteX52" fmla="*/ 197309 w 784462"/>
                    <a:gd name="connsiteY52" fmla="*/ 147158 h 613927"/>
                    <a:gd name="connsiteX53" fmla="*/ 170373 w 784462"/>
                    <a:gd name="connsiteY53" fmla="*/ 125567 h 613927"/>
                    <a:gd name="connsiteX54" fmla="*/ 94065 w 784462"/>
                    <a:gd name="connsiteY54" fmla="*/ 130684 h 613927"/>
                    <a:gd name="connsiteX55" fmla="*/ 70292 w 784462"/>
                    <a:gd name="connsiteY55" fmla="*/ 157953 h 613927"/>
                    <a:gd name="connsiteX56" fmla="*/ 70557 w 784462"/>
                    <a:gd name="connsiteY56" fmla="*/ 160263 h 613927"/>
                    <a:gd name="connsiteX57" fmla="*/ 76415 w 784462"/>
                    <a:gd name="connsiteY57" fmla="*/ 196221 h 613927"/>
                    <a:gd name="connsiteX58" fmla="*/ 116951 w 784462"/>
                    <a:gd name="connsiteY58" fmla="*/ 193842 h 613927"/>
                    <a:gd name="connsiteX59" fmla="*/ 119510 w 784462"/>
                    <a:gd name="connsiteY59" fmla="*/ 193766 h 613927"/>
                    <a:gd name="connsiteX60" fmla="*/ 161701 w 784462"/>
                    <a:gd name="connsiteY60" fmla="*/ 230883 h 613927"/>
                    <a:gd name="connsiteX61" fmla="*/ 164481 w 784462"/>
                    <a:gd name="connsiteY61" fmla="*/ 252465 h 613927"/>
                    <a:gd name="connsiteX62" fmla="*/ 150070 w 784462"/>
                    <a:gd name="connsiteY62" fmla="*/ 274422 h 613927"/>
                    <a:gd name="connsiteX63" fmla="*/ 144732 w 784462"/>
                    <a:gd name="connsiteY63" fmla="*/ 233049 h 613927"/>
                    <a:gd name="connsiteX64" fmla="*/ 117898 w 784462"/>
                    <a:gd name="connsiteY64" fmla="*/ 210820 h 613927"/>
                    <a:gd name="connsiteX65" fmla="*/ 24059 w 784462"/>
                    <a:gd name="connsiteY65" fmla="*/ 216345 h 613927"/>
                    <a:gd name="connsiteX66" fmla="*/ 43 w 784462"/>
                    <a:gd name="connsiteY66" fmla="*/ 243303 h 613927"/>
                    <a:gd name="connsiteX67" fmla="*/ 184 w 784462"/>
                    <a:gd name="connsiteY67" fmla="*/ 244885 h 613927"/>
                    <a:gd name="connsiteX68" fmla="*/ 20461 w 784462"/>
                    <a:gd name="connsiteY68" fmla="*/ 413769 h 613927"/>
                    <a:gd name="connsiteX69" fmla="*/ 38981 w 784462"/>
                    <a:gd name="connsiteY69" fmla="*/ 435333 h 613927"/>
                    <a:gd name="connsiteX70" fmla="*/ 74419 w 784462"/>
                    <a:gd name="connsiteY70" fmla="*/ 445182 h 613927"/>
                    <a:gd name="connsiteX71" fmla="*/ 74419 w 784462"/>
                    <a:gd name="connsiteY71" fmla="*/ 480995 h 613927"/>
                    <a:gd name="connsiteX72" fmla="*/ 44643 w 784462"/>
                    <a:gd name="connsiteY72" fmla="*/ 480995 h 613927"/>
                    <a:gd name="connsiteX73" fmla="*/ 14850 w 784462"/>
                    <a:gd name="connsiteY73" fmla="*/ 510779 h 613927"/>
                    <a:gd name="connsiteX74" fmla="*/ 14850 w 784462"/>
                    <a:gd name="connsiteY74" fmla="*/ 516646 h 613927"/>
                    <a:gd name="connsiteX75" fmla="*/ 16360 w 784462"/>
                    <a:gd name="connsiteY75" fmla="*/ 540717 h 613927"/>
                    <a:gd name="connsiteX76" fmla="*/ 40431 w 784462"/>
                    <a:gd name="connsiteY76" fmla="*/ 539206 h 613927"/>
                    <a:gd name="connsiteX77" fmla="*/ 40431 w 784462"/>
                    <a:gd name="connsiteY77" fmla="*/ 516646 h 613927"/>
                    <a:gd name="connsiteX78" fmla="*/ 40431 w 784462"/>
                    <a:gd name="connsiteY78" fmla="*/ 510779 h 613927"/>
                    <a:gd name="connsiteX79" fmla="*/ 44694 w 784462"/>
                    <a:gd name="connsiteY79" fmla="*/ 506516 h 613927"/>
                    <a:gd name="connsiteX80" fmla="*/ 74436 w 784462"/>
                    <a:gd name="connsiteY80" fmla="*/ 506516 h 613927"/>
                    <a:gd name="connsiteX81" fmla="*/ 74436 w 784462"/>
                    <a:gd name="connsiteY81" fmla="*/ 516637 h 613927"/>
                    <a:gd name="connsiteX82" fmla="*/ 75901 w 784462"/>
                    <a:gd name="connsiteY82" fmla="*/ 540711 h 613927"/>
                    <a:gd name="connsiteX83" fmla="*/ 99974 w 784462"/>
                    <a:gd name="connsiteY83" fmla="*/ 539246 h 613927"/>
                    <a:gd name="connsiteX84" fmla="*/ 99974 w 784462"/>
                    <a:gd name="connsiteY84" fmla="*/ 516637 h 613927"/>
                    <a:gd name="connsiteX85" fmla="*/ 99974 w 784462"/>
                    <a:gd name="connsiteY85" fmla="*/ 506516 h 613927"/>
                    <a:gd name="connsiteX86" fmla="*/ 129767 w 784462"/>
                    <a:gd name="connsiteY86" fmla="*/ 506516 h 613927"/>
                    <a:gd name="connsiteX87" fmla="*/ 134031 w 784462"/>
                    <a:gd name="connsiteY87" fmla="*/ 510779 h 613927"/>
                    <a:gd name="connsiteX88" fmla="*/ 134031 w 784462"/>
                    <a:gd name="connsiteY88" fmla="*/ 516646 h 613927"/>
                    <a:gd name="connsiteX89" fmla="*/ 135541 w 784462"/>
                    <a:gd name="connsiteY89" fmla="*/ 540717 h 613927"/>
                    <a:gd name="connsiteX90" fmla="*/ 159612 w 784462"/>
                    <a:gd name="connsiteY90" fmla="*/ 539206 h 613927"/>
                    <a:gd name="connsiteX91" fmla="*/ 159612 w 784462"/>
                    <a:gd name="connsiteY91" fmla="*/ 516646 h 613927"/>
                    <a:gd name="connsiteX92" fmla="*/ 159612 w 784462"/>
                    <a:gd name="connsiteY92" fmla="*/ 510779 h 613927"/>
                    <a:gd name="connsiteX93" fmla="*/ 129819 w 784462"/>
                    <a:gd name="connsiteY93" fmla="*/ 480986 h 613927"/>
                    <a:gd name="connsiteX94" fmla="*/ 99974 w 784462"/>
                    <a:gd name="connsiteY94" fmla="*/ 480986 h 613927"/>
                    <a:gd name="connsiteX95" fmla="*/ 99974 w 784462"/>
                    <a:gd name="connsiteY95" fmla="*/ 456830 h 613927"/>
                    <a:gd name="connsiteX96" fmla="*/ 117173 w 784462"/>
                    <a:gd name="connsiteY96" fmla="*/ 464564 h 613927"/>
                    <a:gd name="connsiteX97" fmla="*/ 172052 w 784462"/>
                    <a:gd name="connsiteY97" fmla="*/ 479230 h 613927"/>
                    <a:gd name="connsiteX98" fmla="*/ 254627 w 784462"/>
                    <a:gd name="connsiteY98" fmla="*/ 496906 h 613927"/>
                    <a:gd name="connsiteX99" fmla="*/ 254627 w 784462"/>
                    <a:gd name="connsiteY99" fmla="*/ 576104 h 613927"/>
                    <a:gd name="connsiteX100" fmla="*/ 273975 w 784462"/>
                    <a:gd name="connsiteY100" fmla="*/ 600832 h 613927"/>
                    <a:gd name="connsiteX101" fmla="*/ 286808 w 784462"/>
                    <a:gd name="connsiteY101" fmla="*/ 604038 h 613927"/>
                    <a:gd name="connsiteX102" fmla="*/ 494447 w 784462"/>
                    <a:gd name="connsiteY102" fmla="*/ 602418 h 613927"/>
                    <a:gd name="connsiteX103" fmla="*/ 499563 w 784462"/>
                    <a:gd name="connsiteY103" fmla="*/ 601054 h 613927"/>
                    <a:gd name="connsiteX104" fmla="*/ 518527 w 784462"/>
                    <a:gd name="connsiteY104" fmla="*/ 576437 h 613927"/>
                    <a:gd name="connsiteX105" fmla="*/ 518527 w 784462"/>
                    <a:gd name="connsiteY105" fmla="*/ 498117 h 613927"/>
                    <a:gd name="connsiteX106" fmla="*/ 608238 w 784462"/>
                    <a:gd name="connsiteY106" fmla="*/ 479486 h 613927"/>
                    <a:gd name="connsiteX107" fmla="*/ 664388 w 784462"/>
                    <a:gd name="connsiteY107" fmla="*/ 464546 h 613927"/>
                    <a:gd name="connsiteX108" fmla="*/ 684520 w 784462"/>
                    <a:gd name="connsiteY108" fmla="*/ 454860 h 613927"/>
                    <a:gd name="connsiteX109" fmla="*/ 684520 w 784462"/>
                    <a:gd name="connsiteY109" fmla="*/ 480986 h 613927"/>
                    <a:gd name="connsiteX110" fmla="*/ 654727 w 784462"/>
                    <a:gd name="connsiteY110" fmla="*/ 480986 h 613927"/>
                    <a:gd name="connsiteX111" fmla="*/ 624934 w 784462"/>
                    <a:gd name="connsiteY111" fmla="*/ 510779 h 613927"/>
                    <a:gd name="connsiteX112" fmla="*/ 624934 w 784462"/>
                    <a:gd name="connsiteY112" fmla="*/ 516646 h 613927"/>
                    <a:gd name="connsiteX113" fmla="*/ 626399 w 784462"/>
                    <a:gd name="connsiteY113" fmla="*/ 540719 h 613927"/>
                    <a:gd name="connsiteX114" fmla="*/ 650472 w 784462"/>
                    <a:gd name="connsiteY114" fmla="*/ 539254 h 613927"/>
                    <a:gd name="connsiteX115" fmla="*/ 650472 w 784462"/>
                    <a:gd name="connsiteY115" fmla="*/ 516646 h 613927"/>
                    <a:gd name="connsiteX116" fmla="*/ 650472 w 784462"/>
                    <a:gd name="connsiteY116" fmla="*/ 510779 h 613927"/>
                    <a:gd name="connsiteX117" fmla="*/ 654736 w 784462"/>
                    <a:gd name="connsiteY117" fmla="*/ 506516 h 613927"/>
                    <a:gd name="connsiteX118" fmla="*/ 684529 w 784462"/>
                    <a:gd name="connsiteY118" fmla="*/ 506516 h 613927"/>
                    <a:gd name="connsiteX119" fmla="*/ 684529 w 784462"/>
                    <a:gd name="connsiteY119" fmla="*/ 516637 h 613927"/>
                    <a:gd name="connsiteX120" fmla="*/ 685994 w 784462"/>
                    <a:gd name="connsiteY120" fmla="*/ 540711 h 613927"/>
                    <a:gd name="connsiteX121" fmla="*/ 710067 w 784462"/>
                    <a:gd name="connsiteY121" fmla="*/ 539246 h 613927"/>
                    <a:gd name="connsiteX122" fmla="*/ 710067 w 784462"/>
                    <a:gd name="connsiteY122" fmla="*/ 516637 h 613927"/>
                    <a:gd name="connsiteX123" fmla="*/ 710067 w 784462"/>
                    <a:gd name="connsiteY123" fmla="*/ 506516 h 613927"/>
                    <a:gd name="connsiteX124" fmla="*/ 739860 w 784462"/>
                    <a:gd name="connsiteY124" fmla="*/ 506516 h 613927"/>
                    <a:gd name="connsiteX125" fmla="*/ 744123 w 784462"/>
                    <a:gd name="connsiteY125" fmla="*/ 510779 h 613927"/>
                    <a:gd name="connsiteX126" fmla="*/ 744123 w 784462"/>
                    <a:gd name="connsiteY126" fmla="*/ 516646 h 613927"/>
                    <a:gd name="connsiteX127" fmla="*/ 745633 w 784462"/>
                    <a:gd name="connsiteY127" fmla="*/ 540717 h 613927"/>
                    <a:gd name="connsiteX128" fmla="*/ 769704 w 784462"/>
                    <a:gd name="connsiteY128" fmla="*/ 539206 h 613927"/>
                    <a:gd name="connsiteX129" fmla="*/ 769704 w 784462"/>
                    <a:gd name="connsiteY129" fmla="*/ 516646 h 613927"/>
                    <a:gd name="connsiteX130" fmla="*/ 769704 w 784462"/>
                    <a:gd name="connsiteY130" fmla="*/ 510779 h 613927"/>
                    <a:gd name="connsiteX131" fmla="*/ 739860 w 784462"/>
                    <a:gd name="connsiteY131" fmla="*/ 480986 h 613927"/>
                    <a:gd name="connsiteX132" fmla="*/ 710058 w 784462"/>
                    <a:gd name="connsiteY132" fmla="*/ 480986 h 613927"/>
                    <a:gd name="connsiteX133" fmla="*/ 710058 w 784462"/>
                    <a:gd name="connsiteY133" fmla="*/ 445173 h 613927"/>
                    <a:gd name="connsiteX134" fmla="*/ 599481 w 784462"/>
                    <a:gd name="connsiteY134" fmla="*/ 446580 h 613927"/>
                    <a:gd name="connsiteX135" fmla="*/ 390631 w 784462"/>
                    <a:gd name="connsiteY135" fmla="*/ 473866 h 613927"/>
                    <a:gd name="connsiteX136" fmla="*/ 180869 w 784462"/>
                    <a:gd name="connsiteY136" fmla="*/ 446316 h 613927"/>
                    <a:gd name="connsiteX137" fmla="*/ 125990 w 784462"/>
                    <a:gd name="connsiteY137" fmla="*/ 431650 h 613927"/>
                    <a:gd name="connsiteX138" fmla="*/ 108141 w 784462"/>
                    <a:gd name="connsiteY138" fmla="*/ 403859 h 613927"/>
                    <a:gd name="connsiteX139" fmla="*/ 111554 w 784462"/>
                    <a:gd name="connsiteY139" fmla="*/ 395837 h 613927"/>
                    <a:gd name="connsiteX140" fmla="*/ 272193 w 784462"/>
                    <a:gd name="connsiteY140" fmla="*/ 149545 h 613927"/>
                    <a:gd name="connsiteX141" fmla="*/ 315117 w 784462"/>
                    <a:gd name="connsiteY141" fmla="*/ 127708 h 613927"/>
                    <a:gd name="connsiteX142" fmla="*/ 466419 w 784462"/>
                    <a:gd name="connsiteY142" fmla="*/ 127708 h 613927"/>
                    <a:gd name="connsiteX143" fmla="*/ 509343 w 784462"/>
                    <a:gd name="connsiteY143" fmla="*/ 149528 h 613927"/>
                    <a:gd name="connsiteX144" fmla="*/ 670093 w 784462"/>
                    <a:gd name="connsiteY144" fmla="*/ 395802 h 613927"/>
                    <a:gd name="connsiteX145" fmla="*/ 663692 w 784462"/>
                    <a:gd name="connsiteY145" fmla="*/ 428194 h 613927"/>
                    <a:gd name="connsiteX146" fmla="*/ 655639 w 784462"/>
                    <a:gd name="connsiteY146" fmla="*/ 431616 h 61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784462" h="613927">
                      <a:moveTo>
                        <a:pt x="745496" y="435333"/>
                      </a:moveTo>
                      <a:cubicBezTo>
                        <a:pt x="755467" y="432562"/>
                        <a:pt x="762778" y="424044"/>
                        <a:pt x="764008" y="413769"/>
                      </a:cubicBezTo>
                      <a:lnTo>
                        <a:pt x="784276" y="244885"/>
                      </a:lnTo>
                      <a:cubicBezTo>
                        <a:pt x="785962" y="230886"/>
                        <a:pt x="775981" y="218171"/>
                        <a:pt x="761982" y="216486"/>
                      </a:cubicBezTo>
                      <a:cubicBezTo>
                        <a:pt x="761457" y="216423"/>
                        <a:pt x="760930" y="216376"/>
                        <a:pt x="760401" y="216345"/>
                      </a:cubicBezTo>
                      <a:lnTo>
                        <a:pt x="666554" y="210820"/>
                      </a:lnTo>
                      <a:cubicBezTo>
                        <a:pt x="653165" y="210050"/>
                        <a:pt x="641454" y="219751"/>
                        <a:pt x="639720" y="233049"/>
                      </a:cubicBezTo>
                      <a:lnTo>
                        <a:pt x="633904" y="278140"/>
                      </a:lnTo>
                      <a:lnTo>
                        <a:pt x="619571" y="256191"/>
                      </a:lnTo>
                      <a:lnTo>
                        <a:pt x="622836" y="230875"/>
                      </a:lnTo>
                      <a:cubicBezTo>
                        <a:pt x="625607" y="209647"/>
                        <a:pt x="643688" y="193766"/>
                        <a:pt x="665096" y="193757"/>
                      </a:cubicBezTo>
                      <a:cubicBezTo>
                        <a:pt x="665948" y="193757"/>
                        <a:pt x="666801" y="193757"/>
                        <a:pt x="667654" y="193834"/>
                      </a:cubicBezTo>
                      <a:lnTo>
                        <a:pt x="708191" y="196213"/>
                      </a:lnTo>
                      <a:lnTo>
                        <a:pt x="714049" y="160255"/>
                      </a:lnTo>
                      <a:cubicBezTo>
                        <a:pt x="716291" y="146306"/>
                        <a:pt x="706800" y="133181"/>
                        <a:pt x="692851" y="130939"/>
                      </a:cubicBezTo>
                      <a:cubicBezTo>
                        <a:pt x="692085" y="130817"/>
                        <a:pt x="691314" y="130728"/>
                        <a:pt x="690540" y="130675"/>
                      </a:cubicBezTo>
                      <a:lnTo>
                        <a:pt x="614233" y="125559"/>
                      </a:lnTo>
                      <a:cubicBezTo>
                        <a:pt x="601019" y="124699"/>
                        <a:pt x="589334" y="134065"/>
                        <a:pt x="587296" y="147149"/>
                      </a:cubicBezTo>
                      <a:lnTo>
                        <a:pt x="579827" y="195232"/>
                      </a:lnTo>
                      <a:lnTo>
                        <a:pt x="565894" y="173915"/>
                      </a:lnTo>
                      <a:lnTo>
                        <a:pt x="570413" y="144599"/>
                      </a:lnTo>
                      <a:cubicBezTo>
                        <a:pt x="573523" y="123796"/>
                        <a:pt x="591433" y="108431"/>
                        <a:pt x="612468" y="108522"/>
                      </a:cubicBezTo>
                      <a:cubicBezTo>
                        <a:pt x="613406" y="108522"/>
                        <a:pt x="614361" y="108522"/>
                        <a:pt x="615316" y="108624"/>
                      </a:cubicBezTo>
                      <a:lnTo>
                        <a:pt x="632148" y="109741"/>
                      </a:lnTo>
                      <a:lnTo>
                        <a:pt x="634800" y="85866"/>
                      </a:lnTo>
                      <a:cubicBezTo>
                        <a:pt x="636340" y="71822"/>
                        <a:pt x="626205" y="59189"/>
                        <a:pt x="612162" y="57648"/>
                      </a:cubicBezTo>
                      <a:cubicBezTo>
                        <a:pt x="611901" y="57619"/>
                        <a:pt x="611639" y="57594"/>
                        <a:pt x="611376" y="57574"/>
                      </a:cubicBezTo>
                      <a:lnTo>
                        <a:pt x="551807" y="52995"/>
                      </a:lnTo>
                      <a:cubicBezTo>
                        <a:pt x="538011" y="51930"/>
                        <a:pt x="525869" y="62028"/>
                        <a:pt x="524402" y="75787"/>
                      </a:cubicBezTo>
                      <a:lnTo>
                        <a:pt x="520539" y="112504"/>
                      </a:lnTo>
                      <a:cubicBezTo>
                        <a:pt x="505125" y="100272"/>
                        <a:pt x="486019" y="93630"/>
                        <a:pt x="466342" y="93660"/>
                      </a:cubicBezTo>
                      <a:lnTo>
                        <a:pt x="458898" y="93660"/>
                      </a:lnTo>
                      <a:lnTo>
                        <a:pt x="458898" y="33971"/>
                      </a:lnTo>
                      <a:cubicBezTo>
                        <a:pt x="458891" y="27797"/>
                        <a:pt x="456438" y="21877"/>
                        <a:pt x="452076" y="17506"/>
                      </a:cubicBezTo>
                      <a:cubicBezTo>
                        <a:pt x="448944" y="14878"/>
                        <a:pt x="445445" y="12720"/>
                        <a:pt x="441691" y="11102"/>
                      </a:cubicBezTo>
                      <a:cubicBezTo>
                        <a:pt x="410264" y="-3551"/>
                        <a:pt x="373997" y="-3706"/>
                        <a:pt x="342446" y="10676"/>
                      </a:cubicBezTo>
                      <a:cubicBezTo>
                        <a:pt x="338067" y="12421"/>
                        <a:pt x="333927" y="14713"/>
                        <a:pt x="330124" y="17497"/>
                      </a:cubicBezTo>
                      <a:cubicBezTo>
                        <a:pt x="325763" y="21868"/>
                        <a:pt x="323310" y="27788"/>
                        <a:pt x="323303" y="33963"/>
                      </a:cubicBezTo>
                      <a:lnTo>
                        <a:pt x="323303" y="93651"/>
                      </a:lnTo>
                      <a:lnTo>
                        <a:pt x="315100" y="93651"/>
                      </a:lnTo>
                      <a:cubicBezTo>
                        <a:pt x="296624" y="93630"/>
                        <a:pt x="278618" y="99479"/>
                        <a:pt x="263683" y="110355"/>
                      </a:cubicBezTo>
                      <a:lnTo>
                        <a:pt x="260067" y="75787"/>
                      </a:lnTo>
                      <a:cubicBezTo>
                        <a:pt x="258601" y="62050"/>
                        <a:pt x="246490" y="51959"/>
                        <a:pt x="232713" y="52995"/>
                      </a:cubicBezTo>
                      <a:lnTo>
                        <a:pt x="173144" y="57574"/>
                      </a:lnTo>
                      <a:cubicBezTo>
                        <a:pt x="159059" y="58681"/>
                        <a:pt x="148539" y="70996"/>
                        <a:pt x="149646" y="85081"/>
                      </a:cubicBezTo>
                      <a:cubicBezTo>
                        <a:pt x="149667" y="85343"/>
                        <a:pt x="149691" y="85604"/>
                        <a:pt x="149720" y="85866"/>
                      </a:cubicBezTo>
                      <a:lnTo>
                        <a:pt x="152372" y="109741"/>
                      </a:lnTo>
                      <a:lnTo>
                        <a:pt x="169204" y="108624"/>
                      </a:lnTo>
                      <a:cubicBezTo>
                        <a:pt x="170159" y="108556"/>
                        <a:pt x="171114" y="108522"/>
                        <a:pt x="172052" y="108522"/>
                      </a:cubicBezTo>
                      <a:cubicBezTo>
                        <a:pt x="193086" y="108427"/>
                        <a:pt x="210997" y="123796"/>
                        <a:pt x="214099" y="144599"/>
                      </a:cubicBezTo>
                      <a:lnTo>
                        <a:pt x="218064" y="170231"/>
                      </a:lnTo>
                      <a:lnTo>
                        <a:pt x="204131" y="191549"/>
                      </a:lnTo>
                      <a:lnTo>
                        <a:pt x="197309" y="147158"/>
                      </a:lnTo>
                      <a:cubicBezTo>
                        <a:pt x="195271" y="134074"/>
                        <a:pt x="183586" y="124708"/>
                        <a:pt x="170373" y="125567"/>
                      </a:cubicBezTo>
                      <a:lnTo>
                        <a:pt x="94065" y="130684"/>
                      </a:lnTo>
                      <a:cubicBezTo>
                        <a:pt x="79970" y="131649"/>
                        <a:pt x="69327" y="143858"/>
                        <a:pt x="70292" y="157953"/>
                      </a:cubicBezTo>
                      <a:cubicBezTo>
                        <a:pt x="70345" y="158726"/>
                        <a:pt x="70434" y="159498"/>
                        <a:pt x="70557" y="160263"/>
                      </a:cubicBezTo>
                      <a:lnTo>
                        <a:pt x="76415" y="196221"/>
                      </a:lnTo>
                      <a:lnTo>
                        <a:pt x="116951" y="193842"/>
                      </a:lnTo>
                      <a:cubicBezTo>
                        <a:pt x="117804" y="193791"/>
                        <a:pt x="118657" y="193766"/>
                        <a:pt x="119510" y="193766"/>
                      </a:cubicBezTo>
                      <a:cubicBezTo>
                        <a:pt x="140891" y="193808"/>
                        <a:pt x="158934" y="209682"/>
                        <a:pt x="161701" y="230883"/>
                      </a:cubicBezTo>
                      <a:lnTo>
                        <a:pt x="164481" y="252465"/>
                      </a:lnTo>
                      <a:lnTo>
                        <a:pt x="150070" y="274422"/>
                      </a:lnTo>
                      <a:lnTo>
                        <a:pt x="144732" y="233049"/>
                      </a:lnTo>
                      <a:cubicBezTo>
                        <a:pt x="142998" y="219751"/>
                        <a:pt x="131287" y="210050"/>
                        <a:pt x="117898" y="210820"/>
                      </a:cubicBezTo>
                      <a:lnTo>
                        <a:pt x="24059" y="216345"/>
                      </a:lnTo>
                      <a:cubicBezTo>
                        <a:pt x="9983" y="217158"/>
                        <a:pt x="-769" y="229227"/>
                        <a:pt x="43" y="243303"/>
                      </a:cubicBezTo>
                      <a:cubicBezTo>
                        <a:pt x="74" y="243831"/>
                        <a:pt x="121" y="244359"/>
                        <a:pt x="184" y="244885"/>
                      </a:cubicBezTo>
                      <a:lnTo>
                        <a:pt x="20461" y="413769"/>
                      </a:lnTo>
                      <a:cubicBezTo>
                        <a:pt x="21691" y="424047"/>
                        <a:pt x="29007" y="432565"/>
                        <a:pt x="38981" y="435333"/>
                      </a:cubicBezTo>
                      <a:lnTo>
                        <a:pt x="74419" y="445182"/>
                      </a:lnTo>
                      <a:lnTo>
                        <a:pt x="74419" y="480995"/>
                      </a:lnTo>
                      <a:lnTo>
                        <a:pt x="44643" y="480995"/>
                      </a:lnTo>
                      <a:cubicBezTo>
                        <a:pt x="28204" y="481023"/>
                        <a:pt x="14883" y="494340"/>
                        <a:pt x="14850" y="510779"/>
                      </a:cubicBezTo>
                      <a:lnTo>
                        <a:pt x="14850" y="516646"/>
                      </a:lnTo>
                      <a:cubicBezTo>
                        <a:pt x="8620" y="523710"/>
                        <a:pt x="9297" y="534487"/>
                        <a:pt x="16360" y="540717"/>
                      </a:cubicBezTo>
                      <a:cubicBezTo>
                        <a:pt x="23424" y="546946"/>
                        <a:pt x="34201" y="546270"/>
                        <a:pt x="40431" y="539206"/>
                      </a:cubicBezTo>
                      <a:cubicBezTo>
                        <a:pt x="46116" y="532760"/>
                        <a:pt x="46116" y="523091"/>
                        <a:pt x="40431" y="516646"/>
                      </a:cubicBezTo>
                      <a:lnTo>
                        <a:pt x="40431" y="510779"/>
                      </a:lnTo>
                      <a:cubicBezTo>
                        <a:pt x="40431" y="508425"/>
                        <a:pt x="42340" y="506516"/>
                        <a:pt x="44694" y="506516"/>
                      </a:cubicBezTo>
                      <a:lnTo>
                        <a:pt x="74436" y="506516"/>
                      </a:lnTo>
                      <a:lnTo>
                        <a:pt x="74436" y="516637"/>
                      </a:lnTo>
                      <a:cubicBezTo>
                        <a:pt x="68193" y="523689"/>
                        <a:pt x="68849" y="534467"/>
                        <a:pt x="75901" y="540711"/>
                      </a:cubicBezTo>
                      <a:cubicBezTo>
                        <a:pt x="82953" y="546954"/>
                        <a:pt x="93731" y="546298"/>
                        <a:pt x="99974" y="539246"/>
                      </a:cubicBezTo>
                      <a:cubicBezTo>
                        <a:pt x="105687" y="532792"/>
                        <a:pt x="105687" y="523091"/>
                        <a:pt x="99974" y="516637"/>
                      </a:cubicBezTo>
                      <a:lnTo>
                        <a:pt x="99974" y="506516"/>
                      </a:lnTo>
                      <a:lnTo>
                        <a:pt x="129767" y="506516"/>
                      </a:lnTo>
                      <a:cubicBezTo>
                        <a:pt x="132122" y="506516"/>
                        <a:pt x="134031" y="508425"/>
                        <a:pt x="134031" y="510779"/>
                      </a:cubicBezTo>
                      <a:lnTo>
                        <a:pt x="134031" y="516646"/>
                      </a:lnTo>
                      <a:cubicBezTo>
                        <a:pt x="127801" y="523710"/>
                        <a:pt x="128477" y="534487"/>
                        <a:pt x="135541" y="540717"/>
                      </a:cubicBezTo>
                      <a:cubicBezTo>
                        <a:pt x="142606" y="546946"/>
                        <a:pt x="153382" y="546270"/>
                        <a:pt x="159612" y="539206"/>
                      </a:cubicBezTo>
                      <a:cubicBezTo>
                        <a:pt x="165297" y="532760"/>
                        <a:pt x="165297" y="523091"/>
                        <a:pt x="159612" y="516646"/>
                      </a:cubicBezTo>
                      <a:lnTo>
                        <a:pt x="159612" y="510779"/>
                      </a:lnTo>
                      <a:cubicBezTo>
                        <a:pt x="159583" y="494337"/>
                        <a:pt x="146261" y="481015"/>
                        <a:pt x="129819" y="480986"/>
                      </a:cubicBezTo>
                      <a:lnTo>
                        <a:pt x="99974" y="480986"/>
                      </a:lnTo>
                      <a:lnTo>
                        <a:pt x="99974" y="456830"/>
                      </a:lnTo>
                      <a:cubicBezTo>
                        <a:pt x="105266" y="460293"/>
                        <a:pt x="111070" y="462902"/>
                        <a:pt x="117173" y="464564"/>
                      </a:cubicBezTo>
                      <a:lnTo>
                        <a:pt x="172052" y="479230"/>
                      </a:lnTo>
                      <a:cubicBezTo>
                        <a:pt x="199287" y="486501"/>
                        <a:pt x="226812" y="492393"/>
                        <a:pt x="254627" y="496906"/>
                      </a:cubicBezTo>
                      <a:lnTo>
                        <a:pt x="254627" y="576104"/>
                      </a:lnTo>
                      <a:cubicBezTo>
                        <a:pt x="254665" y="587801"/>
                        <a:pt x="262630" y="597982"/>
                        <a:pt x="273975" y="600832"/>
                      </a:cubicBezTo>
                      <a:lnTo>
                        <a:pt x="286808" y="604038"/>
                      </a:lnTo>
                      <a:cubicBezTo>
                        <a:pt x="355399" y="617749"/>
                        <a:pt x="426078" y="617197"/>
                        <a:pt x="494447" y="602418"/>
                      </a:cubicBezTo>
                      <a:lnTo>
                        <a:pt x="499563" y="601054"/>
                      </a:lnTo>
                      <a:cubicBezTo>
                        <a:pt x="510715" y="598068"/>
                        <a:pt x="518485" y="587981"/>
                        <a:pt x="518527" y="576437"/>
                      </a:cubicBezTo>
                      <a:lnTo>
                        <a:pt x="518527" y="498117"/>
                      </a:lnTo>
                      <a:cubicBezTo>
                        <a:pt x="548744" y="493526"/>
                        <a:pt x="578692" y="487307"/>
                        <a:pt x="608238" y="479486"/>
                      </a:cubicBezTo>
                      <a:lnTo>
                        <a:pt x="664388" y="464546"/>
                      </a:lnTo>
                      <a:cubicBezTo>
                        <a:pt x="671646" y="462607"/>
                        <a:pt x="678475" y="459321"/>
                        <a:pt x="684520" y="454860"/>
                      </a:cubicBezTo>
                      <a:lnTo>
                        <a:pt x="684520" y="480986"/>
                      </a:lnTo>
                      <a:lnTo>
                        <a:pt x="654727" y="480986"/>
                      </a:lnTo>
                      <a:cubicBezTo>
                        <a:pt x="638285" y="481015"/>
                        <a:pt x="624962" y="494337"/>
                        <a:pt x="624934" y="510779"/>
                      </a:cubicBezTo>
                      <a:lnTo>
                        <a:pt x="624934" y="516646"/>
                      </a:lnTo>
                      <a:cubicBezTo>
                        <a:pt x="618691" y="523698"/>
                        <a:pt x="619347" y="534476"/>
                        <a:pt x="626399" y="540719"/>
                      </a:cubicBezTo>
                      <a:cubicBezTo>
                        <a:pt x="633451" y="546963"/>
                        <a:pt x="644229" y="546307"/>
                        <a:pt x="650472" y="539254"/>
                      </a:cubicBezTo>
                      <a:cubicBezTo>
                        <a:pt x="656185" y="532801"/>
                        <a:pt x="656185" y="523099"/>
                        <a:pt x="650472" y="516646"/>
                      </a:cubicBezTo>
                      <a:lnTo>
                        <a:pt x="650472" y="510779"/>
                      </a:lnTo>
                      <a:cubicBezTo>
                        <a:pt x="650472" y="508425"/>
                        <a:pt x="652381" y="506516"/>
                        <a:pt x="654736" y="506516"/>
                      </a:cubicBezTo>
                      <a:lnTo>
                        <a:pt x="684529" y="506516"/>
                      </a:lnTo>
                      <a:lnTo>
                        <a:pt x="684529" y="516637"/>
                      </a:lnTo>
                      <a:cubicBezTo>
                        <a:pt x="678285" y="523689"/>
                        <a:pt x="678941" y="534467"/>
                        <a:pt x="685994" y="540711"/>
                      </a:cubicBezTo>
                      <a:cubicBezTo>
                        <a:pt x="693045" y="546954"/>
                        <a:pt x="703823" y="546298"/>
                        <a:pt x="710067" y="539246"/>
                      </a:cubicBezTo>
                      <a:cubicBezTo>
                        <a:pt x="715780" y="532792"/>
                        <a:pt x="715780" y="523091"/>
                        <a:pt x="710067" y="516637"/>
                      </a:cubicBezTo>
                      <a:lnTo>
                        <a:pt x="710067" y="506516"/>
                      </a:lnTo>
                      <a:lnTo>
                        <a:pt x="739860" y="506516"/>
                      </a:lnTo>
                      <a:cubicBezTo>
                        <a:pt x="742214" y="506516"/>
                        <a:pt x="744123" y="508425"/>
                        <a:pt x="744123" y="510779"/>
                      </a:cubicBezTo>
                      <a:lnTo>
                        <a:pt x="744123" y="516646"/>
                      </a:lnTo>
                      <a:cubicBezTo>
                        <a:pt x="737893" y="523710"/>
                        <a:pt x="738570" y="534487"/>
                        <a:pt x="745633" y="540717"/>
                      </a:cubicBezTo>
                      <a:cubicBezTo>
                        <a:pt x="752698" y="546946"/>
                        <a:pt x="763474" y="546270"/>
                        <a:pt x="769704" y="539206"/>
                      </a:cubicBezTo>
                      <a:cubicBezTo>
                        <a:pt x="775389" y="532760"/>
                        <a:pt x="775389" y="523091"/>
                        <a:pt x="769704" y="516646"/>
                      </a:cubicBezTo>
                      <a:lnTo>
                        <a:pt x="769704" y="510779"/>
                      </a:lnTo>
                      <a:cubicBezTo>
                        <a:pt x="769676" y="494316"/>
                        <a:pt x="756323" y="480986"/>
                        <a:pt x="739860" y="480986"/>
                      </a:cubicBezTo>
                      <a:lnTo>
                        <a:pt x="710058" y="480986"/>
                      </a:lnTo>
                      <a:lnTo>
                        <a:pt x="710058" y="445173"/>
                      </a:lnTo>
                      <a:close/>
                      <a:moveTo>
                        <a:pt x="599481" y="446580"/>
                      </a:moveTo>
                      <a:cubicBezTo>
                        <a:pt x="531343" y="464701"/>
                        <a:pt x="461137" y="473873"/>
                        <a:pt x="390631" y="473866"/>
                      </a:cubicBezTo>
                      <a:cubicBezTo>
                        <a:pt x="319809" y="473860"/>
                        <a:pt x="249291" y="464598"/>
                        <a:pt x="180869" y="446316"/>
                      </a:cubicBezTo>
                      <a:lnTo>
                        <a:pt x="125990" y="431650"/>
                      </a:lnTo>
                      <a:cubicBezTo>
                        <a:pt x="113387" y="428904"/>
                        <a:pt x="105396" y="416461"/>
                        <a:pt x="108141" y="403859"/>
                      </a:cubicBezTo>
                      <a:cubicBezTo>
                        <a:pt x="108766" y="400994"/>
                        <a:pt x="109923" y="398273"/>
                        <a:pt x="111554" y="395837"/>
                      </a:cubicBezTo>
                      <a:lnTo>
                        <a:pt x="272193" y="149545"/>
                      </a:lnTo>
                      <a:cubicBezTo>
                        <a:pt x="282073" y="135690"/>
                        <a:pt x="298100" y="127535"/>
                        <a:pt x="315117" y="127708"/>
                      </a:cubicBezTo>
                      <a:lnTo>
                        <a:pt x="466419" y="127708"/>
                      </a:lnTo>
                      <a:cubicBezTo>
                        <a:pt x="483432" y="127536"/>
                        <a:pt x="499456" y="135682"/>
                        <a:pt x="509343" y="149528"/>
                      </a:cubicBezTo>
                      <a:lnTo>
                        <a:pt x="670093" y="395802"/>
                      </a:lnTo>
                      <a:cubicBezTo>
                        <a:pt x="677270" y="406514"/>
                        <a:pt x="674405" y="421017"/>
                        <a:pt x="663692" y="428194"/>
                      </a:cubicBezTo>
                      <a:cubicBezTo>
                        <a:pt x="661248" y="429832"/>
                        <a:pt x="658516" y="430992"/>
                        <a:pt x="655639" y="431616"/>
                      </a:cubicBezTo>
                      <a:close/>
                    </a:path>
                  </a:pathLst>
                </a:custGeom>
                <a:solidFill>
                  <a:srgbClr val="000000"/>
                </a:solidFill>
                <a:ln w="8434" cap="flat">
                  <a:solidFill>
                    <a:srgbClr val="000000"/>
                  </a:solid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44" name="Down Arrow Callout 60">
              <a:extLst>
                <a:ext uri="{FF2B5EF4-FFF2-40B4-BE49-F238E27FC236}">
                  <a16:creationId xmlns:a16="http://schemas.microsoft.com/office/drawing/2014/main" id="{4DAF9212-9634-6782-15AE-D838B7E6C73E}"/>
                </a:ext>
              </a:extLst>
            </p:cNvPr>
            <p:cNvSpPr/>
            <p:nvPr/>
          </p:nvSpPr>
          <p:spPr bwMode="auto">
            <a:xfrm>
              <a:off x="3854196" y="2474885"/>
              <a:ext cx="1435608" cy="1463040"/>
            </a:xfrm>
            <a:prstGeom prst="downArrowCallou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Financial Analysis</a:t>
              </a:r>
            </a:p>
          </p:txBody>
        </p:sp>
        <p:grpSp>
          <p:nvGrpSpPr>
            <p:cNvPr id="73" name="Group 72">
              <a:extLst>
                <a:ext uri="{FF2B5EF4-FFF2-40B4-BE49-F238E27FC236}">
                  <a16:creationId xmlns:a16="http://schemas.microsoft.com/office/drawing/2014/main" id="{4615F57C-9E70-B39F-0144-1607799EC5EE}"/>
                </a:ext>
              </a:extLst>
            </p:cNvPr>
            <p:cNvGrpSpPr/>
            <p:nvPr/>
          </p:nvGrpSpPr>
          <p:grpSpPr>
            <a:xfrm>
              <a:off x="3848853" y="695161"/>
              <a:ext cx="1435608" cy="1645920"/>
              <a:chOff x="4614673" y="998939"/>
              <a:chExt cx="1261872" cy="1497294"/>
            </a:xfrm>
          </p:grpSpPr>
          <p:sp>
            <p:nvSpPr>
              <p:cNvPr id="42" name="Rectangle 41">
                <a:extLst>
                  <a:ext uri="{FF2B5EF4-FFF2-40B4-BE49-F238E27FC236}">
                    <a16:creationId xmlns:a16="http://schemas.microsoft.com/office/drawing/2014/main" id="{755EF454-49E7-C579-5025-823CC4463E60}"/>
                  </a:ext>
                </a:extLst>
              </p:cNvPr>
              <p:cNvSpPr/>
              <p:nvPr/>
            </p:nvSpPr>
            <p:spPr bwMode="auto">
              <a:xfrm>
                <a:off x="4614673" y="998939"/>
                <a:ext cx="1261872" cy="1497294"/>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4" name="Group 63">
                <a:extLst>
                  <a:ext uri="{FF2B5EF4-FFF2-40B4-BE49-F238E27FC236}">
                    <a16:creationId xmlns:a16="http://schemas.microsoft.com/office/drawing/2014/main" id="{1B7BD45E-EE7F-D44D-E161-EDDCBB516DE6}"/>
                  </a:ext>
                </a:extLst>
              </p:cNvPr>
              <p:cNvGrpSpPr/>
              <p:nvPr/>
            </p:nvGrpSpPr>
            <p:grpSpPr>
              <a:xfrm>
                <a:off x="4674035" y="1176086"/>
                <a:ext cx="1143149" cy="1143000"/>
                <a:chOff x="4674035" y="1142389"/>
                <a:chExt cx="1143149" cy="1143000"/>
              </a:xfrm>
            </p:grpSpPr>
            <p:sp>
              <p:nvSpPr>
                <p:cNvPr id="43" name="Oval 42">
                  <a:extLst>
                    <a:ext uri="{FF2B5EF4-FFF2-40B4-BE49-F238E27FC236}">
                      <a16:creationId xmlns:a16="http://schemas.microsoft.com/office/drawing/2014/main" id="{86F54CAD-9BDC-71C2-D49B-A00E1C6112A8}"/>
                    </a:ext>
                  </a:extLst>
                </p:cNvPr>
                <p:cNvSpPr/>
                <p:nvPr/>
              </p:nvSpPr>
              <p:spPr bwMode="auto">
                <a:xfrm>
                  <a:off x="4674035" y="1142389"/>
                  <a:ext cx="1143149" cy="1143000"/>
                </a:xfrm>
                <a:prstGeom prst="ellipse">
                  <a:avLst/>
                </a:prstGeom>
                <a:solidFill>
                  <a:srgbClr val="F2C755"/>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45" name="Picture 18" descr="Related image">
                  <a:extLst>
                    <a:ext uri="{FF2B5EF4-FFF2-40B4-BE49-F238E27FC236}">
                      <a16:creationId xmlns:a16="http://schemas.microsoft.com/office/drawing/2014/main" id="{FF746F24-93E8-1242-9F05-1A88F002C6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93" y="1353410"/>
                  <a:ext cx="713232" cy="720959"/>
                </a:xfrm>
                <a:prstGeom prst="rect">
                  <a:avLst/>
                </a:prstGeom>
                <a:solidFill>
                  <a:srgbClr val="F2C755"/>
                </a:solidFill>
                <a:ln>
                  <a:noFill/>
                </a:ln>
                <a:extLst>
                  <a:ext uri="{91240B29-F687-4F45-9708-019B960494DF}">
                    <a14:hiddenLine xmlns:a14="http://schemas.microsoft.com/office/drawing/2010/main" w="9525">
                      <a:solidFill>
                        <a:srgbClr val="000000"/>
                      </a:solidFill>
                      <a:miter lim="800000"/>
                      <a:headEnd/>
                      <a:tailEnd/>
                    </a14:hiddenLine>
                  </a:ext>
                </a:extLst>
              </p:spPr>
            </p:pic>
          </p:grpSp>
        </p:grpSp>
        <p:sp>
          <p:nvSpPr>
            <p:cNvPr id="49" name="Down Arrow Callout 69">
              <a:extLst>
                <a:ext uri="{FF2B5EF4-FFF2-40B4-BE49-F238E27FC236}">
                  <a16:creationId xmlns:a16="http://schemas.microsoft.com/office/drawing/2014/main" id="{1E207831-4B63-AB4A-5E5F-ECBA0EECB5B5}"/>
                </a:ext>
              </a:extLst>
            </p:cNvPr>
            <p:cNvSpPr/>
            <p:nvPr/>
          </p:nvSpPr>
          <p:spPr bwMode="auto">
            <a:xfrm>
              <a:off x="5433880"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Valuation</a:t>
              </a:r>
            </a:p>
          </p:txBody>
        </p:sp>
        <p:grpSp>
          <p:nvGrpSpPr>
            <p:cNvPr id="69" name="Group 68">
              <a:extLst>
                <a:ext uri="{FF2B5EF4-FFF2-40B4-BE49-F238E27FC236}">
                  <a16:creationId xmlns:a16="http://schemas.microsoft.com/office/drawing/2014/main" id="{9AE79651-2392-53FB-DDA1-E1D724024E24}"/>
                </a:ext>
              </a:extLst>
            </p:cNvPr>
            <p:cNvGrpSpPr/>
            <p:nvPr/>
          </p:nvGrpSpPr>
          <p:grpSpPr>
            <a:xfrm>
              <a:off x="5433880" y="695162"/>
              <a:ext cx="1435608" cy="1645920"/>
              <a:chOff x="6031705" y="998939"/>
              <a:chExt cx="1261872" cy="1497294"/>
            </a:xfrm>
          </p:grpSpPr>
          <p:sp>
            <p:nvSpPr>
              <p:cNvPr id="47" name="Rectangle 46">
                <a:extLst>
                  <a:ext uri="{FF2B5EF4-FFF2-40B4-BE49-F238E27FC236}">
                    <a16:creationId xmlns:a16="http://schemas.microsoft.com/office/drawing/2014/main" id="{295A6564-C23F-EE3D-18E3-391B7AD70B8B}"/>
                  </a:ext>
                </a:extLst>
              </p:cNvPr>
              <p:cNvSpPr/>
              <p:nvPr/>
            </p:nvSpPr>
            <p:spPr bwMode="auto">
              <a:xfrm>
                <a:off x="6031705"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5" name="Group 64">
                <a:extLst>
                  <a:ext uri="{FF2B5EF4-FFF2-40B4-BE49-F238E27FC236}">
                    <a16:creationId xmlns:a16="http://schemas.microsoft.com/office/drawing/2014/main" id="{5172EF4D-9E1C-A4CC-C66E-EC8057C28997}"/>
                  </a:ext>
                </a:extLst>
              </p:cNvPr>
              <p:cNvGrpSpPr/>
              <p:nvPr/>
            </p:nvGrpSpPr>
            <p:grpSpPr>
              <a:xfrm>
                <a:off x="6091067" y="1176086"/>
                <a:ext cx="1143149" cy="1143000"/>
                <a:chOff x="6091067" y="1176086"/>
                <a:chExt cx="1143149" cy="1143000"/>
              </a:xfrm>
            </p:grpSpPr>
            <p:sp>
              <p:nvSpPr>
                <p:cNvPr id="48" name="Oval 47">
                  <a:extLst>
                    <a:ext uri="{FF2B5EF4-FFF2-40B4-BE49-F238E27FC236}">
                      <a16:creationId xmlns:a16="http://schemas.microsoft.com/office/drawing/2014/main" id="{8800BF5A-327E-C724-8AA9-BA4F77CA3645}"/>
                    </a:ext>
                  </a:extLst>
                </p:cNvPr>
                <p:cNvSpPr/>
                <p:nvPr/>
              </p:nvSpPr>
              <p:spPr bwMode="auto">
                <a:xfrm>
                  <a:off x="6091067" y="1176086"/>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2" name="Graphic 11" descr="Dollar with solid fill">
                  <a:extLst>
                    <a:ext uri="{FF2B5EF4-FFF2-40B4-BE49-F238E27FC236}">
                      <a16:creationId xmlns:a16="http://schemas.microsoft.com/office/drawing/2014/main" id="{CF31E3F3-FE17-40B0-9A55-FD92F13E45EB}"/>
                    </a:ext>
                  </a:extLst>
                </p:cNvPr>
                <p:cNvSpPr/>
                <p:nvPr/>
              </p:nvSpPr>
              <p:spPr>
                <a:xfrm>
                  <a:off x="6497831" y="1441262"/>
                  <a:ext cx="329621" cy="612648"/>
                </a:xfrm>
                <a:custGeom>
                  <a:avLst/>
                  <a:gdLst>
                    <a:gd name="connsiteX0" fmla="*/ 284667 w 329621"/>
                    <a:gd name="connsiteY0" fmla="*/ 371951 h 710840"/>
                    <a:gd name="connsiteX1" fmla="*/ 186058 w 329621"/>
                    <a:gd name="connsiteY1" fmla="*/ 326243 h 710840"/>
                    <a:gd name="connsiteX2" fmla="*/ 186058 w 329621"/>
                    <a:gd name="connsiteY2" fmla="*/ 126381 h 710840"/>
                    <a:gd name="connsiteX3" fmla="*/ 274169 w 329621"/>
                    <a:gd name="connsiteY3" fmla="*/ 168287 h 710840"/>
                    <a:gd name="connsiteX4" fmla="*/ 313844 w 329621"/>
                    <a:gd name="connsiteY4" fmla="*/ 130266 h 710840"/>
                    <a:gd name="connsiteX5" fmla="*/ 186058 w 329621"/>
                    <a:gd name="connsiteY5" fmla="*/ 71828 h 710840"/>
                    <a:gd name="connsiteX6" fmla="*/ 186058 w 329621"/>
                    <a:gd name="connsiteY6" fmla="*/ 0 h 710840"/>
                    <a:gd name="connsiteX7" fmla="*/ 136465 w 329621"/>
                    <a:gd name="connsiteY7" fmla="*/ 0 h 710840"/>
                    <a:gd name="connsiteX8" fmla="*/ 136465 w 329621"/>
                    <a:gd name="connsiteY8" fmla="*/ 74969 h 710840"/>
                    <a:gd name="connsiteX9" fmla="*/ 87863 w 329621"/>
                    <a:gd name="connsiteY9" fmla="*/ 92327 h 710840"/>
                    <a:gd name="connsiteX10" fmla="*/ 18928 w 329621"/>
                    <a:gd name="connsiteY10" fmla="*/ 274169 h 710840"/>
                    <a:gd name="connsiteX11" fmla="*/ 136465 w 329621"/>
                    <a:gd name="connsiteY11" fmla="*/ 366909 h 710840"/>
                    <a:gd name="connsiteX12" fmla="*/ 136465 w 329621"/>
                    <a:gd name="connsiteY12" fmla="*/ 583302 h 710840"/>
                    <a:gd name="connsiteX13" fmla="*/ 39675 w 329621"/>
                    <a:gd name="connsiteY13" fmla="*/ 528997 h 710840"/>
                    <a:gd name="connsiteX14" fmla="*/ 0 w 329621"/>
                    <a:gd name="connsiteY14" fmla="*/ 566936 h 710840"/>
                    <a:gd name="connsiteX15" fmla="*/ 66538 w 329621"/>
                    <a:gd name="connsiteY15" fmla="*/ 619919 h 710840"/>
                    <a:gd name="connsiteX16" fmla="*/ 136465 w 329621"/>
                    <a:gd name="connsiteY16" fmla="*/ 638351 h 710840"/>
                    <a:gd name="connsiteX17" fmla="*/ 136465 w 329621"/>
                    <a:gd name="connsiteY17" fmla="*/ 710840 h 710840"/>
                    <a:gd name="connsiteX18" fmla="*/ 186058 w 329621"/>
                    <a:gd name="connsiteY18" fmla="*/ 710840 h 710840"/>
                    <a:gd name="connsiteX19" fmla="*/ 186058 w 329621"/>
                    <a:gd name="connsiteY19" fmla="*/ 636450 h 710840"/>
                    <a:gd name="connsiteX20" fmla="*/ 317646 w 329621"/>
                    <a:gd name="connsiteY20" fmla="*/ 537263 h 710840"/>
                    <a:gd name="connsiteX21" fmla="*/ 284667 w 329621"/>
                    <a:gd name="connsiteY21" fmla="*/ 371951 h 710840"/>
                    <a:gd name="connsiteX22" fmla="*/ 95137 w 329621"/>
                    <a:gd name="connsiteY22" fmla="*/ 287064 h 710840"/>
                    <a:gd name="connsiteX23" fmla="*/ 108940 w 329621"/>
                    <a:gd name="connsiteY23" fmla="*/ 143738 h 710840"/>
                    <a:gd name="connsiteX24" fmla="*/ 136465 w 329621"/>
                    <a:gd name="connsiteY24" fmla="*/ 131092 h 710840"/>
                    <a:gd name="connsiteX25" fmla="*/ 136465 w 329621"/>
                    <a:gd name="connsiteY25" fmla="*/ 310373 h 710840"/>
                    <a:gd name="connsiteX26" fmla="*/ 95137 w 329621"/>
                    <a:gd name="connsiteY26" fmla="*/ 287064 h 710840"/>
                    <a:gd name="connsiteX27" fmla="*/ 244661 w 329621"/>
                    <a:gd name="connsiteY27" fmla="*/ 550075 h 710840"/>
                    <a:gd name="connsiteX28" fmla="*/ 186058 w 329621"/>
                    <a:gd name="connsiteY28" fmla="*/ 581071 h 710840"/>
                    <a:gd name="connsiteX29" fmla="*/ 186058 w 329621"/>
                    <a:gd name="connsiteY29" fmla="*/ 383606 h 710840"/>
                    <a:gd name="connsiteX30" fmla="*/ 270533 w 329621"/>
                    <a:gd name="connsiteY30" fmla="*/ 444523 h 710840"/>
                    <a:gd name="connsiteX31" fmla="*/ 244661 w 329621"/>
                    <a:gd name="connsiteY31" fmla="*/ 550075 h 71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9621" h="710840">
                      <a:moveTo>
                        <a:pt x="284667" y="371951"/>
                      </a:moveTo>
                      <a:cubicBezTo>
                        <a:pt x="256729" y="348146"/>
                        <a:pt x="220443" y="336988"/>
                        <a:pt x="186058" y="326243"/>
                      </a:cubicBezTo>
                      <a:lnTo>
                        <a:pt x="186058" y="126381"/>
                      </a:lnTo>
                      <a:cubicBezTo>
                        <a:pt x="219443" y="129553"/>
                        <a:pt x="250641" y="144391"/>
                        <a:pt x="274169" y="168287"/>
                      </a:cubicBezTo>
                      <a:lnTo>
                        <a:pt x="313844" y="130266"/>
                      </a:lnTo>
                      <a:cubicBezTo>
                        <a:pt x="279891" y="95726"/>
                        <a:pt x="234393" y="74919"/>
                        <a:pt x="186058" y="71828"/>
                      </a:cubicBezTo>
                      <a:lnTo>
                        <a:pt x="186058" y="0"/>
                      </a:lnTo>
                      <a:lnTo>
                        <a:pt x="136465" y="0"/>
                      </a:lnTo>
                      <a:lnTo>
                        <a:pt x="136465" y="74969"/>
                      </a:lnTo>
                      <a:cubicBezTo>
                        <a:pt x="119482" y="78274"/>
                        <a:pt x="103097" y="84126"/>
                        <a:pt x="87863" y="92327"/>
                      </a:cubicBezTo>
                      <a:cubicBezTo>
                        <a:pt x="25210" y="126463"/>
                        <a:pt x="-6778" y="206640"/>
                        <a:pt x="18928" y="274169"/>
                      </a:cubicBezTo>
                      <a:cubicBezTo>
                        <a:pt x="38848" y="326243"/>
                        <a:pt x="86871" y="349469"/>
                        <a:pt x="136465" y="366909"/>
                      </a:cubicBezTo>
                      <a:lnTo>
                        <a:pt x="136465" y="583302"/>
                      </a:lnTo>
                      <a:cubicBezTo>
                        <a:pt x="98030" y="578591"/>
                        <a:pt x="66125" y="556522"/>
                        <a:pt x="39675" y="528997"/>
                      </a:cubicBezTo>
                      <a:lnTo>
                        <a:pt x="0" y="566936"/>
                      </a:lnTo>
                      <a:cubicBezTo>
                        <a:pt x="18891" y="588372"/>
                        <a:pt x="41416" y="606309"/>
                        <a:pt x="66538" y="619919"/>
                      </a:cubicBezTo>
                      <a:cubicBezTo>
                        <a:pt x="88495" y="630364"/>
                        <a:pt x="112211" y="636615"/>
                        <a:pt x="136465" y="638351"/>
                      </a:cubicBezTo>
                      <a:lnTo>
                        <a:pt x="136465" y="710840"/>
                      </a:lnTo>
                      <a:lnTo>
                        <a:pt x="186058" y="710840"/>
                      </a:lnTo>
                      <a:lnTo>
                        <a:pt x="186058" y="636450"/>
                      </a:lnTo>
                      <a:cubicBezTo>
                        <a:pt x="242926" y="626945"/>
                        <a:pt x="295164" y="591981"/>
                        <a:pt x="317646" y="537263"/>
                      </a:cubicBezTo>
                      <a:cubicBezTo>
                        <a:pt x="340129" y="482545"/>
                        <a:pt x="331946" y="412370"/>
                        <a:pt x="284667" y="371951"/>
                      </a:cubicBezTo>
                      <a:close/>
                      <a:moveTo>
                        <a:pt x="95137" y="287064"/>
                      </a:moveTo>
                      <a:cubicBezTo>
                        <a:pt x="49676" y="248711"/>
                        <a:pt x="60752" y="174486"/>
                        <a:pt x="108940" y="143738"/>
                      </a:cubicBezTo>
                      <a:cubicBezTo>
                        <a:pt x="117481" y="138261"/>
                        <a:pt x="126745" y="134004"/>
                        <a:pt x="136465" y="131092"/>
                      </a:cubicBezTo>
                      <a:lnTo>
                        <a:pt x="136465" y="310373"/>
                      </a:lnTo>
                      <a:cubicBezTo>
                        <a:pt x="121500" y="304930"/>
                        <a:pt x="107537" y="297054"/>
                        <a:pt x="95137" y="287064"/>
                      </a:cubicBezTo>
                      <a:close/>
                      <a:moveTo>
                        <a:pt x="244661" y="550075"/>
                      </a:moveTo>
                      <a:cubicBezTo>
                        <a:pt x="228529" y="565846"/>
                        <a:pt x="208175" y="576611"/>
                        <a:pt x="186058" y="581071"/>
                      </a:cubicBezTo>
                      <a:lnTo>
                        <a:pt x="186058" y="383606"/>
                      </a:lnTo>
                      <a:cubicBezTo>
                        <a:pt x="219121" y="394930"/>
                        <a:pt x="257060" y="409312"/>
                        <a:pt x="270533" y="444523"/>
                      </a:cubicBezTo>
                      <a:cubicBezTo>
                        <a:pt x="284005" y="479734"/>
                        <a:pt x="270450" y="523790"/>
                        <a:pt x="244661" y="550075"/>
                      </a:cubicBezTo>
                      <a:close/>
                    </a:path>
                  </a:pathLst>
                </a:custGeom>
                <a:solidFill>
                  <a:srgbClr val="000000"/>
                </a:solidFill>
                <a:ln w="8235"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55" name="Down Arrow Callout 69">
              <a:extLst>
                <a:ext uri="{FF2B5EF4-FFF2-40B4-BE49-F238E27FC236}">
                  <a16:creationId xmlns:a16="http://schemas.microsoft.com/office/drawing/2014/main" id="{DFDC8F32-3324-6742-E060-3D604D6C6E30}"/>
                </a:ext>
              </a:extLst>
            </p:cNvPr>
            <p:cNvSpPr/>
            <p:nvPr/>
          </p:nvSpPr>
          <p:spPr bwMode="auto">
            <a:xfrm>
              <a:off x="7013564"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Risks</a:t>
              </a:r>
            </a:p>
          </p:txBody>
        </p:sp>
        <p:grpSp>
          <p:nvGrpSpPr>
            <p:cNvPr id="68" name="Group 67">
              <a:extLst>
                <a:ext uri="{FF2B5EF4-FFF2-40B4-BE49-F238E27FC236}">
                  <a16:creationId xmlns:a16="http://schemas.microsoft.com/office/drawing/2014/main" id="{627339E5-B67D-5725-C176-F23E10C3C720}"/>
                </a:ext>
              </a:extLst>
            </p:cNvPr>
            <p:cNvGrpSpPr/>
            <p:nvPr/>
          </p:nvGrpSpPr>
          <p:grpSpPr>
            <a:xfrm>
              <a:off x="7013564" y="701514"/>
              <a:ext cx="1435608" cy="1645920"/>
              <a:chOff x="7417254" y="998937"/>
              <a:chExt cx="1264787" cy="1497293"/>
            </a:xfrm>
          </p:grpSpPr>
          <p:sp>
            <p:nvSpPr>
              <p:cNvPr id="54" name="Rectangle 53">
                <a:extLst>
                  <a:ext uri="{FF2B5EF4-FFF2-40B4-BE49-F238E27FC236}">
                    <a16:creationId xmlns:a16="http://schemas.microsoft.com/office/drawing/2014/main" id="{86BEBD46-602D-73EE-639E-BD6D3AD5190F}"/>
                  </a:ext>
                </a:extLst>
              </p:cNvPr>
              <p:cNvSpPr/>
              <p:nvPr/>
            </p:nvSpPr>
            <p:spPr bwMode="auto">
              <a:xfrm>
                <a:off x="7417254" y="998937"/>
                <a:ext cx="1264787" cy="1497293"/>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7" name="Group 66">
                <a:extLst>
                  <a:ext uri="{FF2B5EF4-FFF2-40B4-BE49-F238E27FC236}">
                    <a16:creationId xmlns:a16="http://schemas.microsoft.com/office/drawing/2014/main" id="{F9034589-2378-2308-8F21-2693CC6A4C68}"/>
                  </a:ext>
                </a:extLst>
              </p:cNvPr>
              <p:cNvGrpSpPr/>
              <p:nvPr/>
            </p:nvGrpSpPr>
            <p:grpSpPr>
              <a:xfrm>
                <a:off x="7478147" y="1176083"/>
                <a:ext cx="1143000" cy="1143000"/>
                <a:chOff x="7474569" y="1120998"/>
                <a:chExt cx="1143000" cy="1143000"/>
              </a:xfrm>
            </p:grpSpPr>
            <p:sp>
              <p:nvSpPr>
                <p:cNvPr id="56" name="Oval 55">
                  <a:extLst>
                    <a:ext uri="{FF2B5EF4-FFF2-40B4-BE49-F238E27FC236}">
                      <a16:creationId xmlns:a16="http://schemas.microsoft.com/office/drawing/2014/main" id="{F2388114-356A-9EA4-1D1D-6837A18A453C}"/>
                    </a:ext>
                  </a:extLst>
                </p:cNvPr>
                <p:cNvSpPr/>
                <p:nvPr/>
              </p:nvSpPr>
              <p:spPr bwMode="auto">
                <a:xfrm>
                  <a:off x="7474569" y="1120998"/>
                  <a:ext cx="1143000"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7" name="Graphic 20" descr="Warning with solid fill">
                  <a:extLst>
                    <a:ext uri="{FF2B5EF4-FFF2-40B4-BE49-F238E27FC236}">
                      <a16:creationId xmlns:a16="http://schemas.microsoft.com/office/drawing/2014/main" id="{6D10A00F-D1D9-38FF-AB10-830C7C2CFF65}"/>
                    </a:ext>
                  </a:extLst>
                </p:cNvPr>
                <p:cNvSpPr/>
                <p:nvPr/>
              </p:nvSpPr>
              <p:spPr>
                <a:xfrm>
                  <a:off x="7689453" y="1355694"/>
                  <a:ext cx="713232" cy="612648"/>
                </a:xfrm>
                <a:custGeom>
                  <a:avLst/>
                  <a:gdLst>
                    <a:gd name="connsiteX0" fmla="*/ 612383 w 616118"/>
                    <a:gd name="connsiteY0" fmla="*/ 500241 h 543103"/>
                    <a:gd name="connsiteX1" fmla="*/ 333062 w 616118"/>
                    <a:gd name="connsiteY1" fmla="*/ 14466 h 543103"/>
                    <a:gd name="connsiteX2" fmla="*/ 283770 w 616118"/>
                    <a:gd name="connsiteY2" fmla="*/ 14466 h 543103"/>
                    <a:gd name="connsiteX3" fmla="*/ 3735 w 616118"/>
                    <a:gd name="connsiteY3" fmla="*/ 500241 h 543103"/>
                    <a:gd name="connsiteX4" fmla="*/ 28739 w 616118"/>
                    <a:gd name="connsiteY4" fmla="*/ 543104 h 543103"/>
                    <a:gd name="connsiteX5" fmla="*/ 308059 w 616118"/>
                    <a:gd name="connsiteY5" fmla="*/ 543104 h 543103"/>
                    <a:gd name="connsiteX6" fmla="*/ 587380 w 616118"/>
                    <a:gd name="connsiteY6" fmla="*/ 543104 h 543103"/>
                    <a:gd name="connsiteX7" fmla="*/ 612383 w 616118"/>
                    <a:gd name="connsiteY7" fmla="*/ 500241 h 543103"/>
                    <a:gd name="connsiteX8" fmla="*/ 286628 w 616118"/>
                    <a:gd name="connsiteY8" fmla="*/ 128766 h 543103"/>
                    <a:gd name="connsiteX9" fmla="*/ 329490 w 616118"/>
                    <a:gd name="connsiteY9" fmla="*/ 128766 h 543103"/>
                    <a:gd name="connsiteX10" fmla="*/ 329490 w 616118"/>
                    <a:gd name="connsiteY10" fmla="*/ 378797 h 543103"/>
                    <a:gd name="connsiteX11" fmla="*/ 286628 w 616118"/>
                    <a:gd name="connsiteY11" fmla="*/ 378797 h 543103"/>
                    <a:gd name="connsiteX12" fmla="*/ 286628 w 616118"/>
                    <a:gd name="connsiteY12" fmla="*/ 128766 h 543103"/>
                    <a:gd name="connsiteX13" fmla="*/ 308059 w 616118"/>
                    <a:gd name="connsiteY13" fmla="*/ 478810 h 543103"/>
                    <a:gd name="connsiteX14" fmla="*/ 272340 w 616118"/>
                    <a:gd name="connsiteY14" fmla="*/ 443091 h 543103"/>
                    <a:gd name="connsiteX15" fmla="*/ 308059 w 616118"/>
                    <a:gd name="connsiteY15" fmla="*/ 407372 h 543103"/>
                    <a:gd name="connsiteX16" fmla="*/ 343778 w 616118"/>
                    <a:gd name="connsiteY16" fmla="*/ 443091 h 543103"/>
                    <a:gd name="connsiteX17" fmla="*/ 308059 w 616118"/>
                    <a:gd name="connsiteY17" fmla="*/ 478810 h 54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6118" h="543103">
                      <a:moveTo>
                        <a:pt x="612383" y="500241"/>
                      </a:moveTo>
                      <a:lnTo>
                        <a:pt x="333062" y="14466"/>
                      </a:lnTo>
                      <a:cubicBezTo>
                        <a:pt x="322347" y="-4822"/>
                        <a:pt x="294486" y="-4822"/>
                        <a:pt x="283770" y="14466"/>
                      </a:cubicBezTo>
                      <a:lnTo>
                        <a:pt x="3735" y="500241"/>
                      </a:lnTo>
                      <a:cubicBezTo>
                        <a:pt x="-6980" y="519529"/>
                        <a:pt x="6593" y="543104"/>
                        <a:pt x="28739" y="543104"/>
                      </a:cubicBezTo>
                      <a:lnTo>
                        <a:pt x="308059" y="543104"/>
                      </a:lnTo>
                      <a:lnTo>
                        <a:pt x="587380" y="543104"/>
                      </a:lnTo>
                      <a:cubicBezTo>
                        <a:pt x="609525" y="543104"/>
                        <a:pt x="623099" y="519529"/>
                        <a:pt x="612383" y="500241"/>
                      </a:cubicBezTo>
                      <a:close/>
                      <a:moveTo>
                        <a:pt x="286628" y="128766"/>
                      </a:moveTo>
                      <a:lnTo>
                        <a:pt x="329490" y="128766"/>
                      </a:lnTo>
                      <a:lnTo>
                        <a:pt x="329490" y="378797"/>
                      </a:lnTo>
                      <a:lnTo>
                        <a:pt x="286628" y="378797"/>
                      </a:lnTo>
                      <a:lnTo>
                        <a:pt x="286628" y="128766"/>
                      </a:lnTo>
                      <a:close/>
                      <a:moveTo>
                        <a:pt x="308059" y="478810"/>
                      </a:moveTo>
                      <a:cubicBezTo>
                        <a:pt x="288057" y="478810"/>
                        <a:pt x="272340" y="463094"/>
                        <a:pt x="272340" y="443091"/>
                      </a:cubicBezTo>
                      <a:cubicBezTo>
                        <a:pt x="272340" y="423089"/>
                        <a:pt x="288057" y="407372"/>
                        <a:pt x="308059" y="407372"/>
                      </a:cubicBezTo>
                      <a:cubicBezTo>
                        <a:pt x="328062" y="407372"/>
                        <a:pt x="343778" y="423089"/>
                        <a:pt x="343778" y="443091"/>
                      </a:cubicBezTo>
                      <a:cubicBezTo>
                        <a:pt x="343778" y="463094"/>
                        <a:pt x="328062" y="478810"/>
                        <a:pt x="308059" y="478810"/>
                      </a:cubicBezTo>
                      <a:close/>
                    </a:path>
                  </a:pathLst>
                </a:custGeom>
                <a:solidFill>
                  <a:srgbClr val="000000"/>
                </a:solidFill>
                <a:ln w="7144"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10" name="Down Arrow Callout 26">
              <a:extLst>
                <a:ext uri="{FF2B5EF4-FFF2-40B4-BE49-F238E27FC236}">
                  <a16:creationId xmlns:a16="http://schemas.microsoft.com/office/drawing/2014/main" id="{07E5E5E9-C87B-8950-BA34-CF1BF77D51FD}"/>
                </a:ext>
              </a:extLst>
            </p:cNvPr>
            <p:cNvSpPr/>
            <p:nvPr/>
          </p:nvSpPr>
          <p:spPr bwMode="auto">
            <a:xfrm>
              <a:off x="704167" y="2474509"/>
              <a:ext cx="1435608" cy="1463040"/>
            </a:xfrm>
            <a:prstGeom prst="downArrowCallou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Business Description</a:t>
              </a:r>
            </a:p>
          </p:txBody>
        </p:sp>
        <p:grpSp>
          <p:nvGrpSpPr>
            <p:cNvPr id="32" name="Group 31">
              <a:extLst>
                <a:ext uri="{FF2B5EF4-FFF2-40B4-BE49-F238E27FC236}">
                  <a16:creationId xmlns:a16="http://schemas.microsoft.com/office/drawing/2014/main" id="{B88F4F1F-EA1B-B371-0C27-181FA22FE78D}"/>
                </a:ext>
              </a:extLst>
            </p:cNvPr>
            <p:cNvGrpSpPr/>
            <p:nvPr/>
          </p:nvGrpSpPr>
          <p:grpSpPr>
            <a:xfrm>
              <a:off x="695702" y="701514"/>
              <a:ext cx="1435608" cy="1645920"/>
              <a:chOff x="676875" y="701139"/>
              <a:chExt cx="1435608" cy="1645920"/>
            </a:xfrm>
          </p:grpSpPr>
          <p:sp>
            <p:nvSpPr>
              <p:cNvPr id="3" name="Rectangle 2">
                <a:extLst>
                  <a:ext uri="{FF2B5EF4-FFF2-40B4-BE49-F238E27FC236}">
                    <a16:creationId xmlns:a16="http://schemas.microsoft.com/office/drawing/2014/main" id="{81FBE964-4AA7-3729-4B21-780818EAE360}"/>
                  </a:ext>
                </a:extLst>
              </p:cNvPr>
              <p:cNvSpPr/>
              <p:nvPr/>
            </p:nvSpPr>
            <p:spPr bwMode="auto">
              <a:xfrm>
                <a:off x="676875" y="701139"/>
                <a:ext cx="1435608" cy="1645920"/>
              </a:xfrm>
              <a:prstGeom prst="rec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4" name="Oval 3">
                <a:extLst>
                  <a:ext uri="{FF2B5EF4-FFF2-40B4-BE49-F238E27FC236}">
                    <a16:creationId xmlns:a16="http://schemas.microsoft.com/office/drawing/2014/main" id="{2CC2771E-452F-DE45-DFF8-AEDF6DDB1FEE}"/>
                  </a:ext>
                </a:extLst>
              </p:cNvPr>
              <p:cNvSpPr/>
              <p:nvPr/>
            </p:nvSpPr>
            <p:spPr bwMode="auto">
              <a:xfrm>
                <a:off x="744824" y="895586"/>
                <a:ext cx="1299710" cy="1257027"/>
              </a:xfrm>
              <a:prstGeom prst="ellipse">
                <a:avLst/>
              </a:prstGeom>
              <a:solidFill>
                <a:srgbClr val="BFBFBF"/>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7" name="Graphic 6" descr="Lights On with solid fill">
                <a:extLst>
                  <a:ext uri="{FF2B5EF4-FFF2-40B4-BE49-F238E27FC236}">
                    <a16:creationId xmlns:a16="http://schemas.microsoft.com/office/drawing/2014/main" id="{3DD7AD32-C73C-3478-D6A2-0C5A610F71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5940" y="984359"/>
                <a:ext cx="1117478" cy="1091784"/>
              </a:xfrm>
              <a:prstGeom prst="rect">
                <a:avLst/>
              </a:prstGeom>
            </p:spPr>
          </p:pic>
        </p:grpSp>
      </p:grpSp>
      <p:grpSp>
        <p:nvGrpSpPr>
          <p:cNvPr id="8" name="Group 7">
            <a:extLst>
              <a:ext uri="{FF2B5EF4-FFF2-40B4-BE49-F238E27FC236}">
                <a16:creationId xmlns:a16="http://schemas.microsoft.com/office/drawing/2014/main" id="{1048CDAB-3CBD-A6C1-5089-3E40909C62DD}"/>
              </a:ext>
            </a:extLst>
          </p:cNvPr>
          <p:cNvGrpSpPr/>
          <p:nvPr/>
        </p:nvGrpSpPr>
        <p:grpSpPr>
          <a:xfrm>
            <a:off x="703108" y="5169051"/>
            <a:ext cx="7748594" cy="882922"/>
            <a:chOff x="711751" y="4599865"/>
            <a:chExt cx="8312737" cy="1072146"/>
          </a:xfrm>
        </p:grpSpPr>
        <p:grpSp>
          <p:nvGrpSpPr>
            <p:cNvPr id="123" name="Group 122">
              <a:extLst>
                <a:ext uri="{FF2B5EF4-FFF2-40B4-BE49-F238E27FC236}">
                  <a16:creationId xmlns:a16="http://schemas.microsoft.com/office/drawing/2014/main" id="{732326DC-382A-EEC9-06DC-954030EB1F43}"/>
                </a:ext>
              </a:extLst>
            </p:cNvPr>
            <p:cNvGrpSpPr/>
            <p:nvPr/>
          </p:nvGrpSpPr>
          <p:grpSpPr>
            <a:xfrm>
              <a:off x="711751" y="4599865"/>
              <a:ext cx="5387572" cy="1072146"/>
              <a:chOff x="-290443" y="4599864"/>
              <a:chExt cx="6793428" cy="1072146"/>
            </a:xfrm>
          </p:grpSpPr>
          <p:sp>
            <p:nvSpPr>
              <p:cNvPr id="85" name="Rectangle 84">
                <a:extLst>
                  <a:ext uri="{FF2B5EF4-FFF2-40B4-BE49-F238E27FC236}">
                    <a16:creationId xmlns:a16="http://schemas.microsoft.com/office/drawing/2014/main" id="{A549D411-167A-4682-4DFB-3CCFDEA92597}"/>
                  </a:ext>
                </a:extLst>
              </p:cNvPr>
              <p:cNvSpPr/>
              <p:nvPr/>
            </p:nvSpPr>
            <p:spPr bwMode="auto">
              <a:xfrm>
                <a:off x="3355384" y="4599864"/>
                <a:ext cx="3147601"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Leverage and Rate Exposure</a:t>
                </a:r>
              </a:p>
            </p:txBody>
          </p:sp>
          <p:sp>
            <p:nvSpPr>
              <p:cNvPr id="122" name="Rectangle 121">
                <a:extLst>
                  <a:ext uri="{FF2B5EF4-FFF2-40B4-BE49-F238E27FC236}">
                    <a16:creationId xmlns:a16="http://schemas.microsoft.com/office/drawing/2014/main" id="{127D4110-D51A-DDA0-6853-AE06E03F7984}"/>
                  </a:ext>
                </a:extLst>
              </p:cNvPr>
              <p:cNvSpPr/>
              <p:nvPr/>
            </p:nvSpPr>
            <p:spPr bwMode="auto">
              <a:xfrm>
                <a:off x="-290443" y="4599864"/>
                <a:ext cx="3147600"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EPS and Guidance</a:t>
                </a:r>
              </a:p>
            </p:txBody>
          </p:sp>
        </p:grpSp>
        <p:sp>
          <p:nvSpPr>
            <p:cNvPr id="6" name="Rectangle 5">
              <a:extLst>
                <a:ext uri="{FF2B5EF4-FFF2-40B4-BE49-F238E27FC236}">
                  <a16:creationId xmlns:a16="http://schemas.microsoft.com/office/drawing/2014/main" id="{36C6FE81-7385-C78C-11C8-E256664C8D44}"/>
                </a:ext>
              </a:extLst>
            </p:cNvPr>
            <p:cNvSpPr/>
            <p:nvPr/>
          </p:nvSpPr>
          <p:spPr bwMode="auto">
            <a:xfrm>
              <a:off x="6528262" y="4599865"/>
              <a:ext cx="2496226"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Returns on Capital</a:t>
              </a:r>
            </a:p>
          </p:txBody>
        </p:sp>
      </p:grpSp>
      <p:sp>
        <p:nvSpPr>
          <p:cNvPr id="9" name="TextBox 8">
            <a:extLst>
              <a:ext uri="{FF2B5EF4-FFF2-40B4-BE49-F238E27FC236}">
                <a16:creationId xmlns:a16="http://schemas.microsoft.com/office/drawing/2014/main" id="{075287B3-2E0C-65A8-7731-8D2683F6E49A}"/>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15</a:t>
            </a:fld>
            <a:endParaRPr 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04144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CE7E0-D7F9-BD72-B5A4-55FABFEE2BB4}"/>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CD6272CD-2197-B558-2708-ACEFE42D5467}"/>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7F10C017-43F7-46C8-A84F-D4F1C4DCD167}"/>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rgbClr val="000000"/>
                  </a:solidFill>
                  <a:latin typeface="Calibri" panose="020F0502020204030204" pitchFamily="34" charset="0"/>
                </a:rPr>
                <a:t>EPS and Guidance</a:t>
              </a:r>
              <a:endParaRPr lang="en-US" sz="3000" b="1">
                <a:solidFill>
                  <a:srgbClr val="000000"/>
                </a:solidFill>
                <a:latin typeface="Calibri" panose="020F0502020204030204" pitchFamily="34" charset="0"/>
              </a:endParaRPr>
            </a:p>
          </p:txBody>
        </p:sp>
        <p:grpSp>
          <p:nvGrpSpPr>
            <p:cNvPr id="16397" name="Group 39">
              <a:extLst>
                <a:ext uri="{FF2B5EF4-FFF2-40B4-BE49-F238E27FC236}">
                  <a16:creationId xmlns:a16="http://schemas.microsoft.com/office/drawing/2014/main" id="{AC99058E-0BCE-5A24-188C-6D34756ED25A}"/>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EEA198C5-B07F-9E2A-5267-CD38C3B53C49}"/>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endParaRPr>
              </a:p>
            </p:txBody>
          </p:sp>
          <p:sp>
            <p:nvSpPr>
              <p:cNvPr id="43" name="Rectangle 42">
                <a:extLst>
                  <a:ext uri="{FF2B5EF4-FFF2-40B4-BE49-F238E27FC236}">
                    <a16:creationId xmlns:a16="http://schemas.microsoft.com/office/drawing/2014/main" id="{D6839812-289E-B019-8FFE-1E0D99E45011}"/>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endParaRPr>
              </a:p>
            </p:txBody>
          </p:sp>
        </p:grpSp>
      </p:grpSp>
      <p:grpSp>
        <p:nvGrpSpPr>
          <p:cNvPr id="55" name="Group 54">
            <a:extLst>
              <a:ext uri="{FF2B5EF4-FFF2-40B4-BE49-F238E27FC236}">
                <a16:creationId xmlns:a16="http://schemas.microsoft.com/office/drawing/2014/main" id="{931CEDF0-4FE3-5251-1EBB-2EA4190A3149}"/>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8731CD97-7784-C06E-3318-3E699ED7351A}"/>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DACD95AD-7228-56DE-E20C-0F42722DFABA}"/>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7F658F3C-B967-5744-62EF-D58EFB6319A4}"/>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B4C4FB01-622B-4BE4-6167-0114748A64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21462035-A46B-139C-19A6-F800947AF70C}"/>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9D4B3684-D04E-FA28-26ED-13D56D608BA2}"/>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9498CE67-4A1D-17F2-B928-AC99965208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AA8CAA83-3928-DDD5-93C3-257F6B5383AB}"/>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625F5DC5-057C-1F3F-2D05-17B0A2F1B575}"/>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22719D70-21B1-EE62-75D3-E309B9D09F61}"/>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3279FC4E-0467-7322-A239-B46FB681ADFF}"/>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C095F5B6-9604-498E-0335-0DDF5AE16908}"/>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1B5C8352-10F3-E25E-0028-3451D01E8D6E}"/>
                  </a:ext>
                </a:extLst>
              </p:cNvPr>
              <p:cNvSpPr/>
              <p:nvPr/>
            </p:nvSpPr>
            <p:spPr bwMode="auto">
              <a:xfrm>
                <a:off x="3609974" y="2715607"/>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F14DFEDF-7B81-2598-2900-C7F9419345B8}"/>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9AA2DBAC-E8A4-CBF2-6239-57874B2C18A7}"/>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E706692D-8A98-F79F-2271-AF0FF98E4EBD}"/>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21689EE3-2BD5-6E54-70DB-69BE0391CDE2}"/>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CC4430CA-D216-4757-F313-F0AC21AB86BE}"/>
                  </a:ext>
                </a:extLst>
              </p:cNvPr>
              <p:cNvSpPr/>
              <p:nvPr/>
            </p:nvSpPr>
            <p:spPr bwMode="auto">
              <a:xfrm>
                <a:off x="2238375" y="2712635"/>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5D8B4BC2-1B5C-1350-83C4-EA072978F524}"/>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D78B1DBF-EABB-26D1-EDB9-2FFF4CF8085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grpSp>
        <p:nvGrpSpPr>
          <p:cNvPr id="11" name="Group 10">
            <a:extLst>
              <a:ext uri="{FF2B5EF4-FFF2-40B4-BE49-F238E27FC236}">
                <a16:creationId xmlns:a16="http://schemas.microsoft.com/office/drawing/2014/main" id="{503573CF-A83A-CEC7-A4B3-0C3423A5DCCB}"/>
              </a:ext>
            </a:extLst>
          </p:cNvPr>
          <p:cNvGrpSpPr/>
          <p:nvPr/>
        </p:nvGrpSpPr>
        <p:grpSpPr>
          <a:xfrm>
            <a:off x="158647" y="804599"/>
            <a:ext cx="8798539" cy="504817"/>
            <a:chOff x="353249" y="911109"/>
            <a:chExt cx="8371508" cy="520113"/>
          </a:xfrm>
        </p:grpSpPr>
        <p:sp>
          <p:nvSpPr>
            <p:cNvPr id="12" name="Rectangle 11">
              <a:extLst>
                <a:ext uri="{FF2B5EF4-FFF2-40B4-BE49-F238E27FC236}">
                  <a16:creationId xmlns:a16="http://schemas.microsoft.com/office/drawing/2014/main" id="{5B40C6F6-60A6-DE39-D2BA-68E0D097FB27}"/>
                </a:ext>
              </a:extLst>
            </p:cNvPr>
            <p:cNvSpPr/>
            <p:nvPr/>
          </p:nvSpPr>
          <p:spPr>
            <a:xfrm>
              <a:off x="353249" y="911109"/>
              <a:ext cx="1432173" cy="520113"/>
            </a:xfrm>
            <a:prstGeom prst="rect">
              <a:avLst/>
            </a:prstGeom>
            <a:solidFill>
              <a:srgbClr val="F2C755"/>
            </a:solidFill>
            <a:ln w="285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Lease revenue on 278K cars</a:t>
              </a:r>
            </a:p>
          </p:txBody>
        </p:sp>
        <p:sp>
          <p:nvSpPr>
            <p:cNvPr id="13" name="Rectangle 12">
              <a:extLst>
                <a:ext uri="{FF2B5EF4-FFF2-40B4-BE49-F238E27FC236}">
                  <a16:creationId xmlns:a16="http://schemas.microsoft.com/office/drawing/2014/main" id="{55902FD6-B2FC-B831-5363-67AEE3365985}"/>
                </a:ext>
              </a:extLst>
            </p:cNvPr>
            <p:cNvSpPr/>
            <p:nvPr/>
          </p:nvSpPr>
          <p:spPr>
            <a:xfrm>
              <a:off x="2670958" y="911109"/>
              <a:ext cx="1432173" cy="520113"/>
            </a:xfrm>
            <a:prstGeom prst="rect">
              <a:avLst/>
            </a:prstGeom>
            <a:solidFill>
              <a:srgbClr val="F2C755"/>
            </a:solidFill>
            <a:ln w="285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Disposition gains</a:t>
              </a:r>
            </a:p>
          </p:txBody>
        </p:sp>
        <p:sp>
          <p:nvSpPr>
            <p:cNvPr id="14" name="Plus Sign 13">
              <a:extLst>
                <a:ext uri="{FF2B5EF4-FFF2-40B4-BE49-F238E27FC236}">
                  <a16:creationId xmlns:a16="http://schemas.microsoft.com/office/drawing/2014/main" id="{451556E6-ACD4-5324-2ED2-AF96798634E0}"/>
                </a:ext>
              </a:extLst>
            </p:cNvPr>
            <p:cNvSpPr/>
            <p:nvPr/>
          </p:nvSpPr>
          <p:spPr>
            <a:xfrm>
              <a:off x="2051015" y="1004714"/>
              <a:ext cx="358240" cy="320912"/>
            </a:xfrm>
            <a:prstGeom prst="mathPlus">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93FE68FF-771C-E57D-6875-2A999DFE8236}"/>
                </a:ext>
              </a:extLst>
            </p:cNvPr>
            <p:cNvSpPr/>
            <p:nvPr/>
          </p:nvSpPr>
          <p:spPr>
            <a:xfrm>
              <a:off x="4988667" y="911109"/>
              <a:ext cx="1432173" cy="520113"/>
            </a:xfrm>
            <a:prstGeom prst="rect">
              <a:avLst/>
            </a:prstGeom>
            <a:solidFill>
              <a:srgbClr val="F2C755"/>
            </a:solidFill>
            <a:ln w="285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Interest cost</a:t>
              </a:r>
            </a:p>
          </p:txBody>
        </p:sp>
        <p:sp>
          <p:nvSpPr>
            <p:cNvPr id="16" name="Plus Sign 15">
              <a:extLst>
                <a:ext uri="{FF2B5EF4-FFF2-40B4-BE49-F238E27FC236}">
                  <a16:creationId xmlns:a16="http://schemas.microsoft.com/office/drawing/2014/main" id="{FEF92B81-50E4-1F69-5B31-E2630644A70D}"/>
                </a:ext>
              </a:extLst>
            </p:cNvPr>
            <p:cNvSpPr/>
            <p:nvPr/>
          </p:nvSpPr>
          <p:spPr>
            <a:xfrm>
              <a:off x="4368723" y="1004714"/>
              <a:ext cx="358240" cy="320912"/>
            </a:xfrm>
            <a:prstGeom prst="mathPlus">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AAF922DD-6F89-5024-32DF-28DE6554EC20}"/>
                </a:ext>
              </a:extLst>
            </p:cNvPr>
            <p:cNvSpPr/>
            <p:nvPr/>
          </p:nvSpPr>
          <p:spPr>
            <a:xfrm>
              <a:off x="7321990" y="911109"/>
              <a:ext cx="1402767" cy="520113"/>
            </a:xfrm>
            <a:prstGeom prst="rect">
              <a:avLst/>
            </a:prstGeom>
            <a:solidFill>
              <a:srgbClr val="F2C755"/>
            </a:solidFill>
            <a:ln w="285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Adjusted EPS</a:t>
              </a:r>
            </a:p>
          </p:txBody>
        </p:sp>
        <p:grpSp>
          <p:nvGrpSpPr>
            <p:cNvPr id="18" name="Group 17">
              <a:extLst>
                <a:ext uri="{FF2B5EF4-FFF2-40B4-BE49-F238E27FC236}">
                  <a16:creationId xmlns:a16="http://schemas.microsoft.com/office/drawing/2014/main" id="{0136CAC5-1D98-AD55-CD8E-7BCBB58393CC}"/>
                </a:ext>
              </a:extLst>
            </p:cNvPr>
            <p:cNvGrpSpPr/>
            <p:nvPr/>
          </p:nvGrpSpPr>
          <p:grpSpPr>
            <a:xfrm>
              <a:off x="6686433" y="1054026"/>
              <a:ext cx="373856" cy="222286"/>
              <a:chOff x="6528951" y="2695446"/>
              <a:chExt cx="373856" cy="222286"/>
            </a:xfrm>
          </p:grpSpPr>
          <p:sp>
            <p:nvSpPr>
              <p:cNvPr id="20" name="Rectangle 19">
                <a:extLst>
                  <a:ext uri="{FF2B5EF4-FFF2-40B4-BE49-F238E27FC236}">
                    <a16:creationId xmlns:a16="http://schemas.microsoft.com/office/drawing/2014/main" id="{3E14130F-61DB-8EDB-A0B6-05D08430559F}"/>
                  </a:ext>
                </a:extLst>
              </p:cNvPr>
              <p:cNvSpPr/>
              <p:nvPr/>
            </p:nvSpPr>
            <p:spPr>
              <a:xfrm>
                <a:off x="6528951" y="2695446"/>
                <a:ext cx="373856" cy="9525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1" name="Rectangle 20">
                <a:extLst>
                  <a:ext uri="{FF2B5EF4-FFF2-40B4-BE49-F238E27FC236}">
                    <a16:creationId xmlns:a16="http://schemas.microsoft.com/office/drawing/2014/main" id="{B249FBF6-7327-2FA6-DCF8-BAC8ABE928F0}"/>
                  </a:ext>
                </a:extLst>
              </p:cNvPr>
              <p:cNvSpPr/>
              <p:nvPr/>
            </p:nvSpPr>
            <p:spPr>
              <a:xfrm>
                <a:off x="6528951" y="2822482"/>
                <a:ext cx="373856" cy="9525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grpSp>
      </p:grpSp>
      <p:sp>
        <p:nvSpPr>
          <p:cNvPr id="9" name="Text Box 2">
            <a:extLst>
              <a:ext uri="{FF2B5EF4-FFF2-40B4-BE49-F238E27FC236}">
                <a16:creationId xmlns:a16="http://schemas.microsoft.com/office/drawing/2014/main" id="{31652EF7-07B6-FF5A-74F1-A7B0175DDC2E}"/>
              </a:ext>
            </a:extLst>
          </p:cNvPr>
          <p:cNvSpPr txBox="1">
            <a:spLocks noChangeArrowheads="1"/>
          </p:cNvSpPr>
          <p:nvPr/>
        </p:nvSpPr>
        <p:spPr bwMode="auto">
          <a:xfrm>
            <a:off x="5601563" y="3647551"/>
            <a:ext cx="3374625"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30:  Q2 2026 net income ($M)</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 Box 2">
            <a:extLst>
              <a:ext uri="{FF2B5EF4-FFF2-40B4-BE49-F238E27FC236}">
                <a16:creationId xmlns:a16="http://schemas.microsoft.com/office/drawing/2014/main" id="{FCC8EB1E-F9DF-4296-4700-6B0A0F2A583D}"/>
              </a:ext>
            </a:extLst>
          </p:cNvPr>
          <p:cNvSpPr txBox="1">
            <a:spLocks noChangeArrowheads="1"/>
          </p:cNvSpPr>
          <p:nvPr/>
        </p:nvSpPr>
        <p:spPr bwMode="auto">
          <a:xfrm>
            <a:off x="3168140" y="1354125"/>
            <a:ext cx="3409783"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27:  2027E EPS, BMG vs consensus ($)</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7" name="Text Box 2">
            <a:extLst>
              <a:ext uri="{FF2B5EF4-FFF2-40B4-BE49-F238E27FC236}">
                <a16:creationId xmlns:a16="http://schemas.microsoft.com/office/drawing/2014/main" id="{517EF8FA-9DFB-0631-6A2A-34998CC26309}"/>
              </a:ext>
            </a:extLst>
          </p:cNvPr>
          <p:cNvSpPr txBox="1">
            <a:spLocks noChangeArrowheads="1"/>
          </p:cNvSpPr>
          <p:nvPr/>
        </p:nvSpPr>
        <p:spPr bwMode="auto">
          <a:xfrm>
            <a:off x="60850" y="3662474"/>
            <a:ext cx="5607367" cy="239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29: Estimate versus consensus, FactSet pulled 2026-09-21</a:t>
            </a:r>
          </a:p>
        </p:txBody>
      </p:sp>
      <p:pic>
        <p:nvPicPr>
          <p:cNvPr id="6" name="Picture 5" descr="A black background with blue text&#10;&#10;Description automatically generated">
            <a:extLst>
              <a:ext uri="{FF2B5EF4-FFF2-40B4-BE49-F238E27FC236}">
                <a16:creationId xmlns:a16="http://schemas.microsoft.com/office/drawing/2014/main" id="{A6AEC1B9-1A4F-FC05-994F-EB2485AA6AEF}"/>
              </a:ext>
            </a:extLst>
          </p:cNvPr>
          <p:cNvPicPr>
            <a:picLocks noChangeAspect="1"/>
          </p:cNvPicPr>
          <p:nvPr/>
        </p:nvPicPr>
        <p:blipFill>
          <a:blip r:embed="rId7">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19" name="Text Box 2">
            <a:extLst>
              <a:ext uri="{FF2B5EF4-FFF2-40B4-BE49-F238E27FC236}">
                <a16:creationId xmlns:a16="http://schemas.microsoft.com/office/drawing/2014/main" id="{57E40A5A-1DEE-F0EF-100C-56F2A47A907B}"/>
              </a:ext>
            </a:extLst>
          </p:cNvPr>
          <p:cNvSpPr txBox="1">
            <a:spLocks noChangeArrowheads="1"/>
          </p:cNvSpPr>
          <p:nvPr/>
        </p:nvSpPr>
        <p:spPr bwMode="auto">
          <a:xfrm>
            <a:off x="6205621" y="1360917"/>
            <a:ext cx="3409783"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a:ea typeface="Calibri" panose="020F0502020204030204" pitchFamily="34" charset="0"/>
                <a:cs typeface="Times New Roman"/>
              </a:rPr>
              <a:t>Figure 28:  Gains share of EPS ($)</a:t>
            </a:r>
            <a:endParaRPr lang="en-US" altLang="en-US" sz="120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 Box 2">
            <a:extLst>
              <a:ext uri="{FF2B5EF4-FFF2-40B4-BE49-F238E27FC236}">
                <a16:creationId xmlns:a16="http://schemas.microsoft.com/office/drawing/2014/main" id="{18F48D9A-47E5-4595-B11F-CC52A62EB2BA}"/>
              </a:ext>
            </a:extLst>
          </p:cNvPr>
          <p:cNvSpPr txBox="1">
            <a:spLocks noChangeArrowheads="1"/>
          </p:cNvSpPr>
          <p:nvPr/>
        </p:nvSpPr>
        <p:spPr bwMode="auto">
          <a:xfrm>
            <a:off x="134901" y="1332111"/>
            <a:ext cx="3409783"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a:ea typeface="Calibri" panose="020F0502020204030204" pitchFamily="34" charset="0"/>
                <a:cs typeface="Times New Roman"/>
              </a:rPr>
              <a:t>Figure 26:  FY2026 EPS guide ($)</a:t>
            </a:r>
            <a:endParaRPr lang="en-US" altLang="en-US" sz="120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6" name="TextBox 25">
            <a:extLst>
              <a:ext uri="{FF2B5EF4-FFF2-40B4-BE49-F238E27FC236}">
                <a16:creationId xmlns:a16="http://schemas.microsoft.com/office/drawing/2014/main" id="{111EA68D-1EEF-C313-A770-81DA8F0FBA89}"/>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16</a:t>
            </a:fld>
            <a:endParaRPr lang="en-US" sz="1400">
              <a:latin typeface="Calibri" panose="020F0502020204030204" pitchFamily="34" charset="0"/>
              <a:cs typeface="Calibri" panose="020F0502020204030204" pitchFamily="34" charset="0"/>
            </a:endParaRPr>
          </a:p>
        </p:txBody>
      </p:sp>
      <p:sp>
        <p:nvSpPr>
          <p:cNvPr id="28" name="Text Box 2">
            <a:extLst>
              <a:ext uri="{FF2B5EF4-FFF2-40B4-BE49-F238E27FC236}">
                <a16:creationId xmlns:a16="http://schemas.microsoft.com/office/drawing/2014/main" id="{11563B24-51B3-48BC-C9F0-6B0A569A7466}"/>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0" name="Table 39">
            <a:extLst>
              <a:ext uri="{FF2B5EF4-FFF2-40B4-BE49-F238E27FC236}">
                <a16:creationId xmlns:a16="http://schemas.microsoft.com/office/drawing/2014/main" id="{7FC5F630-AB5B-D878-66C4-148C8D5CD37E}"/>
              </a:ext>
            </a:extLst>
          </p:cNvPr>
          <p:cNvGraphicFramePr>
            <a:graphicFrameLocks noGrp="1"/>
          </p:cNvGraphicFramePr>
          <p:nvPr>
            <p:custDataLst>
              <p:tags r:id="rId1"/>
            </p:custDataLst>
          </p:nvPr>
        </p:nvGraphicFramePr>
        <p:xfrm>
          <a:off x="128179" y="3928599"/>
          <a:ext cx="5273899" cy="1047390"/>
        </p:xfrm>
        <a:graphic>
          <a:graphicData uri="http://schemas.openxmlformats.org/drawingml/2006/table">
            <a:tbl>
              <a:tblPr/>
              <a:tblGrid>
                <a:gridCol w="1056199">
                  <a:extLst>
                    <a:ext uri="{9D8B030D-6E8A-4147-A177-3AD203B41FA5}">
                      <a16:colId xmlns:a16="http://schemas.microsoft.com/office/drawing/2014/main" val="1385822324"/>
                    </a:ext>
                  </a:extLst>
                </a:gridCol>
                <a:gridCol w="702950">
                  <a:extLst>
                    <a:ext uri="{9D8B030D-6E8A-4147-A177-3AD203B41FA5}">
                      <a16:colId xmlns:a16="http://schemas.microsoft.com/office/drawing/2014/main" val="165655921"/>
                    </a:ext>
                  </a:extLst>
                </a:gridCol>
                <a:gridCol w="702950">
                  <a:extLst>
                    <a:ext uri="{9D8B030D-6E8A-4147-A177-3AD203B41FA5}">
                      <a16:colId xmlns:a16="http://schemas.microsoft.com/office/drawing/2014/main" val="1013249314"/>
                    </a:ext>
                  </a:extLst>
                </a:gridCol>
                <a:gridCol w="702950">
                  <a:extLst>
                    <a:ext uri="{9D8B030D-6E8A-4147-A177-3AD203B41FA5}">
                      <a16:colId xmlns:a16="http://schemas.microsoft.com/office/drawing/2014/main" val="4208314038"/>
                    </a:ext>
                  </a:extLst>
                </a:gridCol>
                <a:gridCol w="702950">
                  <a:extLst>
                    <a:ext uri="{9D8B030D-6E8A-4147-A177-3AD203B41FA5}">
                      <a16:colId xmlns:a16="http://schemas.microsoft.com/office/drawing/2014/main" val="3600705870"/>
                    </a:ext>
                  </a:extLst>
                </a:gridCol>
                <a:gridCol w="702950">
                  <a:extLst>
                    <a:ext uri="{9D8B030D-6E8A-4147-A177-3AD203B41FA5}">
                      <a16:colId xmlns:a16="http://schemas.microsoft.com/office/drawing/2014/main" val="1260765811"/>
                    </a:ext>
                  </a:extLst>
                </a:gridCol>
                <a:gridCol w="702950">
                  <a:extLst>
                    <a:ext uri="{9D8B030D-6E8A-4147-A177-3AD203B41FA5}">
                      <a16:colId xmlns:a16="http://schemas.microsoft.com/office/drawing/2014/main" val="2925799145"/>
                    </a:ext>
                  </a:extLst>
                </a:gridCol>
              </a:tblGrid>
              <a:tr h="91062">
                <a:tc>
                  <a:txBody>
                    <a:bodyPr/>
                    <a:lstStyle/>
                    <a:p>
                      <a:pPr algn="l"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F2C755"/>
                    </a:solidFill>
                  </a:tcPr>
                </a:tc>
                <a:tc gridSpan="2">
                  <a:txBody>
                    <a:bodyPr/>
                    <a:lstStyle/>
                    <a:p>
                      <a:pPr algn="ctr"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FY2026</a:t>
                      </a:r>
                    </a:p>
                  </a:txBody>
                  <a:tcPr marL="6925" marR="6925" marT="6925" marB="0" anchor="b">
                    <a:lnL>
                      <a:noFill/>
                    </a:lnL>
                    <a:lnR>
                      <a:noFill/>
                    </a:lnR>
                    <a:lnT w="12700" cap="flat" cmpd="sng" algn="ctr">
                      <a:solidFill>
                        <a:schemeClr val="tx1"/>
                      </a:solidFill>
                      <a:prstDash val="solid"/>
                      <a:round/>
                      <a:headEnd type="none" w="med" len="med"/>
                      <a:tailEnd type="none" w="med" len="med"/>
                    </a:lnT>
                    <a:lnB>
                      <a:noFill/>
                    </a:lnB>
                    <a:solidFill>
                      <a:srgbClr val="F2C755"/>
                    </a:solidFill>
                  </a:tcPr>
                </a:tc>
                <a:tc hMerge="1">
                  <a:txBody>
                    <a:bodyPr/>
                    <a:lstStyle/>
                    <a:p>
                      <a:endParaRPr lang="en-US"/>
                    </a:p>
                  </a:txBody>
                  <a:tcPr/>
                </a:tc>
                <a:tc gridSpan="2">
                  <a:txBody>
                    <a:bodyPr/>
                    <a:lstStyle/>
                    <a:p>
                      <a:pPr algn="ctr"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2027E</a:t>
                      </a:r>
                    </a:p>
                  </a:txBody>
                  <a:tcPr marL="6925" marR="6925" marT="6925" marB="0" anchor="b">
                    <a:lnL>
                      <a:noFill/>
                    </a:lnL>
                    <a:lnR>
                      <a:noFill/>
                    </a:lnR>
                    <a:lnT w="12700" cap="flat" cmpd="sng" algn="ctr">
                      <a:solidFill>
                        <a:schemeClr val="tx1"/>
                      </a:solidFill>
                      <a:prstDash val="solid"/>
                      <a:round/>
                      <a:headEnd type="none" w="med" len="med"/>
                      <a:tailEnd type="none" w="med" len="med"/>
                    </a:lnT>
                    <a:lnB>
                      <a:noFill/>
                    </a:lnB>
                    <a:solidFill>
                      <a:srgbClr val="F2C755"/>
                    </a:solidFill>
                  </a:tcPr>
                </a:tc>
                <a:tc hMerge="1">
                  <a:txBody>
                    <a:bodyPr/>
                    <a:lstStyle/>
                    <a:p>
                      <a:endParaRPr lang="en-US"/>
                    </a:p>
                  </a:txBody>
                  <a:tcPr/>
                </a:tc>
                <a:tc gridSpan="2">
                  <a:txBody>
                    <a:bodyPr/>
                    <a:lstStyle/>
                    <a:p>
                      <a:pPr algn="ctr"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2C755"/>
                    </a:solidFill>
                  </a:tcPr>
                </a:tc>
                <a:tc hMerge="1">
                  <a:txBody>
                    <a:bodyPr/>
                    <a:lstStyle/>
                    <a:p>
                      <a:endParaRPr lang="en-US"/>
                    </a:p>
                  </a:txBody>
                  <a:tcPr/>
                </a:tc>
                <a:extLst>
                  <a:ext uri="{0D108BD9-81ED-4DB2-BD59-A6C34878D82A}">
                    <a16:rowId xmlns:a16="http://schemas.microsoft.com/office/drawing/2014/main" val="952331086"/>
                  </a:ext>
                </a:extLst>
              </a:tr>
              <a:tr h="91062">
                <a:tc>
                  <a:txBody>
                    <a:bodyPr/>
                    <a:lstStyle/>
                    <a:p>
                      <a:pPr algn="l"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w="12700" cap="flat" cmpd="sng" algn="ctr">
                      <a:solidFill>
                        <a:schemeClr val="tx1"/>
                      </a:solidFill>
                      <a:prstDash val="solid"/>
                      <a:round/>
                      <a:headEnd type="none" w="med" len="med"/>
                      <a:tailEnd type="none" w="med" len="med"/>
                    </a:lnL>
                    <a:lnR>
                      <a:noFill/>
                    </a:lnR>
                    <a:lnT>
                      <a:noFill/>
                    </a:lnT>
                    <a:lnB>
                      <a:noFill/>
                    </a:lnB>
                    <a:solidFill>
                      <a:srgbClr val="F2C755"/>
                    </a:solidFill>
                  </a:tcPr>
                </a:tc>
                <a:tc>
                  <a:txBody>
                    <a:bodyPr/>
                    <a:lstStyle/>
                    <a:p>
                      <a:pPr algn="ctr"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Estimate</a:t>
                      </a:r>
                    </a:p>
                  </a:txBody>
                  <a:tcPr marL="6925" marR="6925" marT="6925" marB="0" anchor="b">
                    <a:lnL>
                      <a:noFill/>
                    </a:lnL>
                    <a:lnR>
                      <a:noFill/>
                    </a:lnR>
                    <a:lnT>
                      <a:noFill/>
                    </a:lnT>
                    <a:lnB>
                      <a:noFill/>
                    </a:lnB>
                    <a:solidFill>
                      <a:srgbClr val="F2C755"/>
                    </a:solidFill>
                  </a:tcPr>
                </a:tc>
                <a:tc>
                  <a:txBody>
                    <a:bodyPr/>
                    <a:lstStyle/>
                    <a:p>
                      <a:pPr algn="ctr"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Consensus</a:t>
                      </a:r>
                    </a:p>
                  </a:txBody>
                  <a:tcPr marL="6925" marR="6925" marT="6925" marB="0" anchor="b">
                    <a:lnL>
                      <a:noFill/>
                    </a:lnL>
                    <a:lnR>
                      <a:noFill/>
                    </a:lnR>
                    <a:lnT>
                      <a:noFill/>
                    </a:lnT>
                    <a:lnB>
                      <a:noFill/>
                    </a:lnB>
                    <a:solidFill>
                      <a:srgbClr val="F2C755"/>
                    </a:solidFill>
                  </a:tcPr>
                </a:tc>
                <a:tc>
                  <a:txBody>
                    <a:bodyPr/>
                    <a:lstStyle/>
                    <a:p>
                      <a:pPr algn="ctr"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Estimate</a:t>
                      </a:r>
                    </a:p>
                  </a:txBody>
                  <a:tcPr marL="6925" marR="6925" marT="6925" marB="0" anchor="b">
                    <a:lnL>
                      <a:noFill/>
                    </a:lnL>
                    <a:lnR>
                      <a:noFill/>
                    </a:lnR>
                    <a:lnT>
                      <a:noFill/>
                    </a:lnT>
                    <a:lnB>
                      <a:noFill/>
                    </a:lnB>
                    <a:solidFill>
                      <a:srgbClr val="F2C755"/>
                    </a:solidFill>
                  </a:tcPr>
                </a:tc>
                <a:tc>
                  <a:txBody>
                    <a:bodyPr/>
                    <a:lstStyle/>
                    <a:p>
                      <a:pPr algn="ctr"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Consensus</a:t>
                      </a:r>
                    </a:p>
                  </a:txBody>
                  <a:tcPr marL="6925" marR="6925" marT="6925" marB="0" anchor="b">
                    <a:lnL>
                      <a:noFill/>
                    </a:lnL>
                    <a:lnR>
                      <a:noFill/>
                    </a:lnR>
                    <a:lnT>
                      <a:noFill/>
                    </a:lnT>
                    <a:lnB>
                      <a:noFill/>
                    </a:lnB>
                    <a:solidFill>
                      <a:srgbClr val="F2C755"/>
                    </a:solidFill>
                  </a:tcPr>
                </a:tc>
                <a:tc>
                  <a:txBody>
                    <a:bodyPr/>
                    <a:lstStyle/>
                    <a:p>
                      <a:pPr algn="ctr"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a:noFill/>
                    </a:lnR>
                    <a:lnT>
                      <a:noFill/>
                    </a:lnT>
                    <a:lnB>
                      <a:noFill/>
                    </a:lnB>
                    <a:solidFill>
                      <a:srgbClr val="F2C755"/>
                    </a:solidFill>
                  </a:tcPr>
                </a:tc>
                <a:tc>
                  <a:txBody>
                    <a:bodyPr/>
                    <a:lstStyle/>
                    <a:p>
                      <a:pPr algn="ctr"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w="12700" cap="flat" cmpd="sng" algn="ctr">
                      <a:solidFill>
                        <a:schemeClr val="tx1"/>
                      </a:solidFill>
                      <a:prstDash val="solid"/>
                      <a:round/>
                      <a:headEnd type="none" w="med" len="med"/>
                      <a:tailEnd type="none" w="med" len="med"/>
                    </a:lnR>
                    <a:lnT>
                      <a:noFill/>
                    </a:lnT>
                    <a:lnB>
                      <a:noFill/>
                    </a:lnB>
                    <a:solidFill>
                      <a:srgbClr val="F2C755"/>
                    </a:solidFill>
                  </a:tcPr>
                </a:tc>
                <a:extLst>
                  <a:ext uri="{0D108BD9-81ED-4DB2-BD59-A6C34878D82A}">
                    <a16:rowId xmlns:a16="http://schemas.microsoft.com/office/drawing/2014/main" val="3190658772"/>
                  </a:ext>
                </a:extLst>
              </a:tr>
              <a:tr h="91062">
                <a:tc>
                  <a:txBody>
                    <a:bodyPr/>
                    <a:lstStyle/>
                    <a:p>
                      <a:pPr algn="l"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Sales</a:t>
                      </a:r>
                    </a:p>
                  </a:txBody>
                  <a:tcPr marL="6925" marR="6925" marT="6925" marB="0" anchor="b">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2,379</a:t>
                      </a:r>
                    </a:p>
                  </a:txBody>
                  <a:tcPr marL="6925" marR="6925" marT="6925" marB="0" anchor="b">
                    <a:lnL>
                      <a:noFill/>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2,351</a:t>
                      </a:r>
                    </a:p>
                  </a:txBody>
                  <a:tcPr marL="6925" marR="6925" marT="6925" marB="0" anchor="b">
                    <a:lnL>
                      <a:noFill/>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2,467</a:t>
                      </a:r>
                    </a:p>
                  </a:txBody>
                  <a:tcPr marL="6925" marR="6925" marT="6925" marB="0" anchor="b">
                    <a:lnL>
                      <a:noFill/>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2,428</a:t>
                      </a:r>
                    </a:p>
                  </a:txBody>
                  <a:tcPr marL="6925" marR="6925" marT="6925" marB="0" anchor="b">
                    <a:lnL>
                      <a:noFill/>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789985682"/>
                  </a:ext>
                </a:extLst>
              </a:tr>
              <a:tr h="91062">
                <a:tc>
                  <a:txBody>
                    <a:bodyPr/>
                    <a:lstStyle/>
                    <a:p>
                      <a:pPr algn="l"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 Change</a:t>
                      </a:r>
                    </a:p>
                  </a:txBody>
                  <a:tcPr marL="6925" marR="6925" marT="6925" marB="0" anchor="b">
                    <a:lnL w="1270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36.7%</a:t>
                      </a:r>
                    </a:p>
                  </a:txBody>
                  <a:tcPr marL="6925" marR="6925" marT="6925" marB="0" anchor="b">
                    <a:lnL>
                      <a:noFill/>
                    </a:lnL>
                    <a:lnR>
                      <a:noFill/>
                    </a:lnR>
                    <a:lnT>
                      <a:noFill/>
                    </a:lnT>
                    <a:lnB>
                      <a:noFill/>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35.1%</a:t>
                      </a:r>
                    </a:p>
                  </a:txBody>
                  <a:tcPr marL="6925" marR="6925" marT="6925" marB="0" anchor="b">
                    <a:lnL>
                      <a:noFill/>
                    </a:lnL>
                    <a:lnR>
                      <a:noFill/>
                    </a:lnR>
                    <a:lnT>
                      <a:noFill/>
                    </a:lnT>
                    <a:lnB>
                      <a:noFill/>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3.7%</a:t>
                      </a:r>
                    </a:p>
                  </a:txBody>
                  <a:tcPr marL="6925" marR="6925" marT="6925" marB="0" anchor="b">
                    <a:lnL>
                      <a:noFill/>
                    </a:lnL>
                    <a:lnR>
                      <a:noFill/>
                    </a:lnR>
                    <a:lnT>
                      <a:noFill/>
                    </a:lnT>
                    <a:lnB>
                      <a:noFill/>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3.3%</a:t>
                      </a:r>
                    </a:p>
                  </a:txBody>
                  <a:tcPr marL="6925" marR="6925" marT="6925" marB="0" anchor="b">
                    <a:lnL>
                      <a:noFill/>
                    </a:lnL>
                    <a:lnR>
                      <a:noFill/>
                    </a:lnR>
                    <a:lnT>
                      <a:noFill/>
                    </a:lnT>
                    <a:lnB>
                      <a:noFill/>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a:noFill/>
                    </a:lnR>
                    <a:lnT>
                      <a:noFill/>
                    </a:lnT>
                    <a:lnB>
                      <a:noFill/>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w="12700" cap="flat" cmpd="sng" algn="ctr">
                      <a:solidFill>
                        <a:schemeClr val="tx1"/>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842674494"/>
                  </a:ext>
                </a:extLst>
              </a:tr>
              <a:tr h="91062">
                <a:tc>
                  <a:txBody>
                    <a:bodyPr/>
                    <a:lstStyle/>
                    <a:p>
                      <a:pPr algn="l"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EPS - Diluted</a:t>
                      </a:r>
                    </a:p>
                  </a:txBody>
                  <a:tcPr marL="6925" marR="6925" marT="6925" marB="0" anchor="b">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$10.53</a:t>
                      </a:r>
                    </a:p>
                  </a:txBody>
                  <a:tcPr marL="6925" marR="6925" marT="6925" marB="0" anchor="b">
                    <a:lnL>
                      <a:noFill/>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$10.23</a:t>
                      </a:r>
                    </a:p>
                  </a:txBody>
                  <a:tcPr marL="6925" marR="6925" marT="6925" marB="0" anchor="b">
                    <a:lnL>
                      <a:noFill/>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$10.47</a:t>
                      </a:r>
                    </a:p>
                  </a:txBody>
                  <a:tcPr marL="6925" marR="6925" marT="6925" marB="0" anchor="b">
                    <a:lnL>
                      <a:noFill/>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$11.27</a:t>
                      </a:r>
                    </a:p>
                  </a:txBody>
                  <a:tcPr marL="6925" marR="6925" marT="6925" marB="0" anchor="b">
                    <a:lnL>
                      <a:noFill/>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412610431"/>
                  </a:ext>
                </a:extLst>
              </a:tr>
              <a:tr h="91062">
                <a:tc>
                  <a:txBody>
                    <a:bodyPr/>
                    <a:lstStyle/>
                    <a:p>
                      <a:pPr algn="l"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 Change</a:t>
                      </a:r>
                    </a:p>
                  </a:txBody>
                  <a:tcPr marL="6925" marR="6925" marT="6925" marB="0" anchor="b">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20.3%</a:t>
                      </a:r>
                    </a:p>
                  </a:txBody>
                  <a:tcPr marL="6925" marR="6925" marT="6925" marB="0" anchor="b">
                    <a:lnL>
                      <a:noFill/>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16.9%</a:t>
                      </a:r>
                    </a:p>
                  </a:txBody>
                  <a:tcPr marL="6925" marR="6925" marT="6925" marB="0" anchor="b">
                    <a:lnL>
                      <a:noFill/>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-0.6%</a:t>
                      </a:r>
                    </a:p>
                  </a:txBody>
                  <a:tcPr marL="6925" marR="6925" marT="6925" marB="0" anchor="b">
                    <a:lnL>
                      <a:noFill/>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10.2%</a:t>
                      </a:r>
                    </a:p>
                  </a:txBody>
                  <a:tcPr marL="6925" marR="6925" marT="6925" marB="0" anchor="b">
                    <a:lnL>
                      <a:noFill/>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411684766"/>
                  </a:ext>
                </a:extLst>
              </a:tr>
            </a:tbl>
          </a:graphicData>
        </a:graphic>
      </p:graphicFrame>
      <p:sp>
        <p:nvSpPr>
          <p:cNvPr id="2" name="Rectangle 1">
            <a:extLst>
              <a:ext uri="{FF2B5EF4-FFF2-40B4-BE49-F238E27FC236}">
                <a16:creationId xmlns:a16="http://schemas.microsoft.com/office/drawing/2014/main" id="{AD723CF5-9799-F42A-19DF-E2DDB447F894}"/>
              </a:ext>
            </a:extLst>
          </p:cNvPr>
          <p:cNvSpPr/>
          <p:nvPr/>
        </p:nvSpPr>
        <p:spPr>
          <a:xfrm>
            <a:off x="146813" y="5156200"/>
            <a:ext cx="5261991" cy="984749"/>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eaLnBrk="1" hangingPunct="1">
              <a:lnSpc>
                <a:spcPct val="100000"/>
              </a:lnSpc>
              <a:spcAft>
                <a:spcPts val="400"/>
              </a:spcAft>
            </a:pPr>
            <a:r>
              <a:rPr lang="en-US" altLang="en-US" sz="900">
                <a:solidFill>
                  <a:srgbClr val="292934"/>
                </a:solidFill>
                <a:latin typeface="Calibri" panose="020F0502020204030204" pitchFamily="34" charset="0"/>
                <a:ea typeface="Calibri" panose="020F0502020204030204" pitchFamily="34" charset="0"/>
              </a:rPr>
              <a:t>FY2026 guide $9.90 to $10.30 (raised 2026-07-30). BMG 2026E $10.53, above the range on legacy disposition gains of $155M vs the $130M guide; H1 was $117.5M.</a:t>
            </a:r>
          </a:p>
          <a:p>
            <a:pPr eaLnBrk="1" hangingPunct="1">
              <a:lnSpc>
                <a:spcPct val="100000"/>
              </a:lnSpc>
              <a:spcAft>
                <a:spcPts val="400"/>
              </a:spcAft>
            </a:pPr>
            <a:r>
              <a:rPr lang="en-US" altLang="en-US" sz="900">
                <a:solidFill>
                  <a:srgbClr val="292934"/>
                </a:solidFill>
                <a:latin typeface="Calibri" panose="020F0502020204030204" pitchFamily="34" charset="0"/>
                <a:ea typeface="Calibri" panose="020F0502020204030204" pitchFamily="34" charset="0"/>
              </a:rPr>
              <a:t>2027E: BMG $10.47 vs consensus $11.27. The $0.80 gap is interest ($616M vs ~$590M, $0.55), a second year of Wells Fargo accretion the Street assumes ($0.30) and RRPF ($0.28), not repricing.</a:t>
            </a:r>
          </a:p>
          <a:p>
            <a:pPr eaLnBrk="1" hangingPunct="1">
              <a:lnSpc>
                <a:spcPct val="100000"/>
              </a:lnSpc>
              <a:spcAft>
                <a:spcPts val="400"/>
              </a:spcAft>
            </a:pPr>
            <a:r>
              <a:rPr lang="en-US" altLang="en-US" sz="900">
                <a:solidFill>
                  <a:srgbClr val="292934"/>
                </a:solidFill>
                <a:latin typeface="Calibri" panose="020F0502020204030204" pitchFamily="34" charset="0"/>
                <a:ea typeface="Calibri" panose="020F0502020204030204" pitchFamily="34" charset="0"/>
              </a:rPr>
              <a:t>Q3 2026: BMG $2.67 vs consensus $2.48. A print at the guide midpoint is inside guidance and a miss against consensus.</a:t>
            </a:r>
          </a:p>
        </p:txBody>
      </p:sp>
      <p:graphicFrame>
        <p:nvGraphicFramePr>
          <p:cNvPr id="16405" name="Chart"/>
          <p:cNvGraphicFramePr/>
          <p:nvPr/>
        </p:nvGraphicFramePr>
        <p:xfrm>
          <a:off x="152400" y="1625600"/>
          <a:ext cx="2743200" cy="201930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6406" name="Chart"/>
          <p:cNvGraphicFramePr/>
          <p:nvPr/>
        </p:nvGraphicFramePr>
        <p:xfrm>
          <a:off x="3200400" y="1625600"/>
          <a:ext cx="2768600" cy="2019300"/>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6407" name="Chart"/>
          <p:cNvGraphicFramePr/>
          <p:nvPr/>
        </p:nvGraphicFramePr>
        <p:xfrm>
          <a:off x="6235700" y="1625600"/>
          <a:ext cx="2717800" cy="201930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6408" name="Chart"/>
          <p:cNvGraphicFramePr/>
          <p:nvPr/>
        </p:nvGraphicFramePr>
        <p:xfrm>
          <a:off x="5664200" y="3911600"/>
          <a:ext cx="3289300" cy="2108200"/>
        </p:xfrm>
        <a:graphic>
          <a:graphicData uri="http://schemas.openxmlformats.org/drawingml/2006/chart">
            <c:chart xmlns:c="http://schemas.openxmlformats.org/drawingml/2006/chart" xmlns:r="http://schemas.openxmlformats.org/officeDocument/2006/relationships" r:id="rId11"/>
          </a:graphicData>
        </a:graphic>
      </p:graphicFrame>
      <p:sp>
        <p:nvSpPr>
          <p:cNvPr id="901" name="Note 901">
            <a:extLst>
              <a:ext uri="{FF2B5EF4-FFF2-40B4-BE49-F238E27FC236}">
                <a16:creationId xmlns:a16="http://schemas.microsoft.com/office/drawing/2014/main" id="{11563B24-51B3-48BC-C9F0-6B0A569A7466}"/>
              </a:ext>
            </a:extLst>
          </p:cNvPr>
          <p:cNvSpPr txBox="1">
            <a:spLocks noChangeArrowheads="1"/>
          </p:cNvSpPr>
          <p:nvPr/>
        </p:nvSpPr>
        <p:spPr bwMode="auto">
          <a:xfrm>
            <a:off x="152400" y="4965700"/>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BMG builds its own EPS from the filings; consensus and guidance are checks, not inputs. Model: GATX-FSM-v25.</a:t>
            </a:r>
          </a:p>
        </p:txBody>
      </p:sp>
    </p:spTree>
    <p:extLst>
      <p:ext uri="{BB962C8B-B14F-4D97-AF65-F5344CB8AC3E}">
        <p14:creationId xmlns:p14="http://schemas.microsoft.com/office/powerpoint/2010/main" val="4273993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B43DE-77E4-5FEE-A26C-67431356B116}"/>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2FE2E43B-E3B6-5F74-40EC-BC533C89606C}"/>
              </a:ext>
            </a:extLst>
          </p:cNvPr>
          <p:cNvGrpSpPr/>
          <p:nvPr/>
        </p:nvGrpSpPr>
        <p:grpSpPr>
          <a:xfrm>
            <a:off x="0" y="6265664"/>
            <a:ext cx="9144000" cy="457200"/>
            <a:chOff x="0" y="2732884"/>
            <a:chExt cx="9144000" cy="457200"/>
          </a:xfrm>
        </p:grpSpPr>
        <p:sp>
          <p:nvSpPr>
            <p:cNvPr id="38" name="Rectangle 37">
              <a:extLst>
                <a:ext uri="{FF2B5EF4-FFF2-40B4-BE49-F238E27FC236}">
                  <a16:creationId xmlns:a16="http://schemas.microsoft.com/office/drawing/2014/main" id="{84108413-21C6-0178-0654-FB2AC5BDCA0A}"/>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40" name="Group 39">
              <a:extLst>
                <a:ext uri="{FF2B5EF4-FFF2-40B4-BE49-F238E27FC236}">
                  <a16:creationId xmlns:a16="http://schemas.microsoft.com/office/drawing/2014/main" id="{E225E1A1-F186-7010-6E05-C8D9D323D72D}"/>
                </a:ext>
              </a:extLst>
            </p:cNvPr>
            <p:cNvGrpSpPr/>
            <p:nvPr/>
          </p:nvGrpSpPr>
          <p:grpSpPr>
            <a:xfrm>
              <a:off x="5021579" y="2732884"/>
              <a:ext cx="545306" cy="457200"/>
              <a:chOff x="4981575" y="2712036"/>
              <a:chExt cx="545306" cy="457200"/>
            </a:xfrm>
          </p:grpSpPr>
          <p:sp>
            <p:nvSpPr>
              <p:cNvPr id="16387" name="Oval 16386">
                <a:extLst>
                  <a:ext uri="{FF2B5EF4-FFF2-40B4-BE49-F238E27FC236}">
                    <a16:creationId xmlns:a16="http://schemas.microsoft.com/office/drawing/2014/main" id="{F271CDDE-8FB6-0EFB-ABCC-FABC531A2EF5}"/>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388" name="Picture 16387" descr="Related image">
                <a:extLst>
                  <a:ext uri="{FF2B5EF4-FFF2-40B4-BE49-F238E27FC236}">
                    <a16:creationId xmlns:a16="http://schemas.microsoft.com/office/drawing/2014/main" id="{B1CD9010-D747-B093-91D8-074FB038C4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41" name="Group 40">
              <a:extLst>
                <a:ext uri="{FF2B5EF4-FFF2-40B4-BE49-F238E27FC236}">
                  <a16:creationId xmlns:a16="http://schemas.microsoft.com/office/drawing/2014/main" id="{92EE47EC-FBF9-5501-A445-940BA5D7B1E8}"/>
                </a:ext>
              </a:extLst>
            </p:cNvPr>
            <p:cNvGrpSpPr/>
            <p:nvPr/>
          </p:nvGrpSpPr>
          <p:grpSpPr>
            <a:xfrm>
              <a:off x="7910513" y="2732884"/>
              <a:ext cx="545306" cy="457200"/>
              <a:chOff x="7731919" y="2712036"/>
              <a:chExt cx="545306" cy="457200"/>
            </a:xfrm>
          </p:grpSpPr>
          <p:sp>
            <p:nvSpPr>
              <p:cNvPr id="16385" name="Oval 16384">
                <a:extLst>
                  <a:ext uri="{FF2B5EF4-FFF2-40B4-BE49-F238E27FC236}">
                    <a16:creationId xmlns:a16="http://schemas.microsoft.com/office/drawing/2014/main" id="{65520DC1-92FA-4E77-BB52-6228E88A60B5}"/>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386" name="Picture 16385" descr="Related image">
                <a:extLst>
                  <a:ext uri="{FF2B5EF4-FFF2-40B4-BE49-F238E27FC236}">
                    <a16:creationId xmlns:a16="http://schemas.microsoft.com/office/drawing/2014/main" id="{9EA0A078-8B5C-1948-D582-344F937843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44" name="Oval 43">
              <a:extLst>
                <a:ext uri="{FF2B5EF4-FFF2-40B4-BE49-F238E27FC236}">
                  <a16:creationId xmlns:a16="http://schemas.microsoft.com/office/drawing/2014/main" id="{6548F505-659E-258C-6F3D-C93762F6A06A}"/>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45" name="Group 44">
              <a:extLst>
                <a:ext uri="{FF2B5EF4-FFF2-40B4-BE49-F238E27FC236}">
                  <a16:creationId xmlns:a16="http://schemas.microsoft.com/office/drawing/2014/main" id="{EB9B8A60-ED2D-9C58-9F97-E3470EAFA4A2}"/>
                </a:ext>
              </a:extLst>
            </p:cNvPr>
            <p:cNvGrpSpPr/>
            <p:nvPr/>
          </p:nvGrpSpPr>
          <p:grpSpPr>
            <a:xfrm>
              <a:off x="6466045" y="2732884"/>
              <a:ext cx="545306" cy="457200"/>
              <a:chOff x="6353175" y="2712036"/>
              <a:chExt cx="545306" cy="457200"/>
            </a:xfrm>
          </p:grpSpPr>
          <p:sp>
            <p:nvSpPr>
              <p:cNvPr id="54" name="Oval 53">
                <a:extLst>
                  <a:ext uri="{FF2B5EF4-FFF2-40B4-BE49-F238E27FC236}">
                    <a16:creationId xmlns:a16="http://schemas.microsoft.com/office/drawing/2014/main" id="{2BE4C60D-7200-F2E0-A450-C9AC02AE121D}"/>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84" name="Graphic 14379" descr="Dollar with solid fill">
                <a:extLst>
                  <a:ext uri="{FF2B5EF4-FFF2-40B4-BE49-F238E27FC236}">
                    <a16:creationId xmlns:a16="http://schemas.microsoft.com/office/drawing/2014/main" id="{A9803D8A-9F35-62D5-5844-99DBACB001F4}"/>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46" name="Group 45">
              <a:extLst>
                <a:ext uri="{FF2B5EF4-FFF2-40B4-BE49-F238E27FC236}">
                  <a16:creationId xmlns:a16="http://schemas.microsoft.com/office/drawing/2014/main" id="{EB3BFE4A-9960-130F-0548-A4ACCDF01024}"/>
                </a:ext>
              </a:extLst>
            </p:cNvPr>
            <p:cNvGrpSpPr/>
            <p:nvPr/>
          </p:nvGrpSpPr>
          <p:grpSpPr>
            <a:xfrm>
              <a:off x="3577113" y="2732884"/>
              <a:ext cx="545306" cy="457200"/>
              <a:chOff x="3609974" y="2715607"/>
              <a:chExt cx="545306" cy="457200"/>
            </a:xfrm>
          </p:grpSpPr>
          <p:sp>
            <p:nvSpPr>
              <p:cNvPr id="50" name="Oval 49">
                <a:extLst>
                  <a:ext uri="{FF2B5EF4-FFF2-40B4-BE49-F238E27FC236}">
                    <a16:creationId xmlns:a16="http://schemas.microsoft.com/office/drawing/2014/main" id="{945A1417-6E57-EEC9-E989-78457D3A565F}"/>
                  </a:ext>
                </a:extLst>
              </p:cNvPr>
              <p:cNvSpPr/>
              <p:nvPr/>
            </p:nvSpPr>
            <p:spPr bwMode="auto">
              <a:xfrm>
                <a:off x="3609974" y="2715607"/>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51" name="Group 50">
                <a:extLst>
                  <a:ext uri="{FF2B5EF4-FFF2-40B4-BE49-F238E27FC236}">
                    <a16:creationId xmlns:a16="http://schemas.microsoft.com/office/drawing/2014/main" id="{F7E88807-7953-4625-B15E-34C713F28616}"/>
                  </a:ext>
                </a:extLst>
              </p:cNvPr>
              <p:cNvGrpSpPr/>
              <p:nvPr/>
            </p:nvGrpSpPr>
            <p:grpSpPr>
              <a:xfrm>
                <a:off x="3769049" y="2811218"/>
                <a:ext cx="227157" cy="265979"/>
                <a:chOff x="3771206" y="2761936"/>
                <a:chExt cx="227157" cy="265979"/>
              </a:xfrm>
            </p:grpSpPr>
            <p:sp>
              <p:nvSpPr>
                <p:cNvPr id="52" name="Freeform: Shape 51">
                  <a:extLst>
                    <a:ext uri="{FF2B5EF4-FFF2-40B4-BE49-F238E27FC236}">
                      <a16:creationId xmlns:a16="http://schemas.microsoft.com/office/drawing/2014/main" id="{A75991F1-CBDE-0302-EF41-9E5B76DF93D1}"/>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53" name="Freeform: Shape 52">
                  <a:extLst>
                    <a:ext uri="{FF2B5EF4-FFF2-40B4-BE49-F238E27FC236}">
                      <a16:creationId xmlns:a16="http://schemas.microsoft.com/office/drawing/2014/main" id="{D1DB5E96-CB46-F060-E571-472614307899}"/>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47" name="Group 46">
              <a:extLst>
                <a:ext uri="{FF2B5EF4-FFF2-40B4-BE49-F238E27FC236}">
                  <a16:creationId xmlns:a16="http://schemas.microsoft.com/office/drawing/2014/main" id="{E2F88179-5325-BFF2-7707-3706BD7B9823}"/>
                </a:ext>
              </a:extLst>
            </p:cNvPr>
            <p:cNvGrpSpPr/>
            <p:nvPr/>
          </p:nvGrpSpPr>
          <p:grpSpPr>
            <a:xfrm>
              <a:off x="2132647" y="2732884"/>
              <a:ext cx="545306" cy="457200"/>
              <a:chOff x="2238375" y="2712635"/>
              <a:chExt cx="545306" cy="457200"/>
            </a:xfrm>
          </p:grpSpPr>
          <p:sp>
            <p:nvSpPr>
              <p:cNvPr id="48" name="Oval 47">
                <a:extLst>
                  <a:ext uri="{FF2B5EF4-FFF2-40B4-BE49-F238E27FC236}">
                    <a16:creationId xmlns:a16="http://schemas.microsoft.com/office/drawing/2014/main" id="{709E1315-FD77-B2E8-18BA-16EB2AD5B398}"/>
                  </a:ext>
                </a:extLst>
              </p:cNvPr>
              <p:cNvSpPr/>
              <p:nvPr/>
            </p:nvSpPr>
            <p:spPr bwMode="auto">
              <a:xfrm>
                <a:off x="2238375" y="2712635"/>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49" name="Graphic 14377" descr="Board Of Directors with solid fill">
                <a:extLst>
                  <a:ext uri="{FF2B5EF4-FFF2-40B4-BE49-F238E27FC236}">
                    <a16:creationId xmlns:a16="http://schemas.microsoft.com/office/drawing/2014/main" id="{CF9F9F6A-5D63-FCA1-5387-5735538F8D3A}"/>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16392" name="Group 37">
            <a:extLst>
              <a:ext uri="{FF2B5EF4-FFF2-40B4-BE49-F238E27FC236}">
                <a16:creationId xmlns:a16="http://schemas.microsoft.com/office/drawing/2014/main" id="{881E33D9-4005-94EF-54C7-FF6EE40B6E7F}"/>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34BA7C5A-F90C-9D30-029F-D18C72D7801A}"/>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rgbClr val="000000"/>
                  </a:solidFill>
                  <a:latin typeface="Calibri" panose="020F0502020204030204" pitchFamily="34" charset="0"/>
                </a:rPr>
                <a:t>Leverage and Rate Exposure</a:t>
              </a:r>
              <a:endParaRPr lang="en-US" sz="3000" b="1">
                <a:solidFill>
                  <a:srgbClr val="000000"/>
                </a:solidFill>
                <a:latin typeface="Calibri" panose="020F0502020204030204" pitchFamily="34" charset="0"/>
              </a:endParaRPr>
            </a:p>
          </p:txBody>
        </p:sp>
        <p:grpSp>
          <p:nvGrpSpPr>
            <p:cNvPr id="16397" name="Group 39">
              <a:extLst>
                <a:ext uri="{FF2B5EF4-FFF2-40B4-BE49-F238E27FC236}">
                  <a16:creationId xmlns:a16="http://schemas.microsoft.com/office/drawing/2014/main" id="{E18898A6-AD8E-ABB9-72FF-74DBAD88C226}"/>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59B48EDD-CB35-034B-5E09-8A8FDE5D1E23}"/>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endParaRPr>
              </a:p>
            </p:txBody>
          </p:sp>
          <p:sp>
            <p:nvSpPr>
              <p:cNvPr id="43" name="Rectangle 42">
                <a:extLst>
                  <a:ext uri="{FF2B5EF4-FFF2-40B4-BE49-F238E27FC236}">
                    <a16:creationId xmlns:a16="http://schemas.microsoft.com/office/drawing/2014/main" id="{D4A51B44-EAD4-3D89-709D-05AE9225CFA9}"/>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endParaRPr>
              </a:p>
            </p:txBody>
          </p:sp>
        </p:grpSp>
      </p:grpSp>
      <p:sp>
        <p:nvSpPr>
          <p:cNvPr id="19" name="Rectangle 18">
            <a:extLst>
              <a:ext uri="{FF2B5EF4-FFF2-40B4-BE49-F238E27FC236}">
                <a16:creationId xmlns:a16="http://schemas.microsoft.com/office/drawing/2014/main" id="{08EBCFA6-019C-84F5-BFE7-166D72A204A2}"/>
              </a:ext>
            </a:extLst>
          </p:cNvPr>
          <p:cNvSpPr/>
          <p:nvPr/>
        </p:nvSpPr>
        <p:spPr>
          <a:xfrm>
            <a:off x="7053264" y="953634"/>
            <a:ext cx="1951766" cy="2220055"/>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eaLnBrk="1" hangingPunct="1">
              <a:lnSpc>
                <a:spcPct val="100000"/>
              </a:lnSpc>
              <a:spcAft>
                <a:spcPts val="300"/>
              </a:spcAft>
            </a:pPr>
            <a:r>
              <a:rPr lang="en-US" altLang="en-US" sz="800">
                <a:solidFill>
                  <a:srgbClr val="292934"/>
                </a:solidFill>
                <a:latin typeface="Calibri" panose="020F0502020204030204" pitchFamily="34" charset="0"/>
                <a:ea typeface="Calibri" panose="020F0502020204030204" pitchFamily="34" charset="0"/>
              </a:rPr>
              <a:t>Total debt $12,688M (FactSet balance sheet, includes revolver) against equity $2,751M at 2025-12-31, total debt to equity 461%.</a:t>
            </a:r>
          </a:p>
          <a:p>
            <a:pPr eaLnBrk="1" hangingPunct="1">
              <a:lnSpc>
                <a:spcPct val="100000"/>
              </a:lnSpc>
              <a:spcAft>
                <a:spcPts val="300"/>
              </a:spcAft>
            </a:pPr>
            <a:r>
              <a:rPr lang="en-US" altLang="en-US" sz="800">
                <a:solidFill>
                  <a:srgbClr val="292934"/>
                </a:solidFill>
                <a:latin typeface="Calibri" panose="020F0502020204030204" pitchFamily="34" charset="0"/>
                <a:ea typeface="Calibri" panose="020F0502020204030204" pitchFamily="34" charset="0"/>
              </a:rPr>
              <a:t>Cash of $4,985M was pre-funded for the January GABX close, so year-end net debt was $7,703M. Consensus carries net debt of $11,277M for 2026.</a:t>
            </a:r>
          </a:p>
          <a:p>
            <a:pPr eaLnBrk="1" hangingPunct="1">
              <a:lnSpc>
                <a:spcPct val="100000"/>
              </a:lnSpc>
              <a:spcAft>
                <a:spcPts val="300"/>
              </a:spcAft>
            </a:pPr>
            <a:r>
              <a:rPr lang="en-US" altLang="en-US" sz="800">
                <a:solidFill>
                  <a:srgbClr val="292934"/>
                </a:solidFill>
                <a:latin typeface="Calibri" panose="020F0502020204030204" pitchFamily="34" charset="0"/>
                <a:ea typeface="Calibri" panose="020F0502020204030204" pitchFamily="34" charset="0"/>
              </a:rPr>
              <a:t>Floating debt $3,830.5M, of which $2,959M is the GABX term loan. 100bp is $0.45 net / $0.81 gross.</a:t>
            </a:r>
          </a:p>
          <a:p>
            <a:pPr eaLnBrk="1" hangingPunct="1">
              <a:lnSpc>
                <a:spcPct val="100000"/>
              </a:lnSpc>
              <a:spcAft>
                <a:spcPts val="300"/>
              </a:spcAft>
            </a:pPr>
            <a:r>
              <a:rPr lang="en-US" altLang="en-US" sz="800">
                <a:solidFill>
                  <a:srgbClr val="292934"/>
                </a:solidFill>
                <a:latin typeface="Calibri" panose="020F0502020204030204" pitchFamily="34" charset="0"/>
                <a:ea typeface="Calibri" panose="020F0502020204030204" pitchFamily="34" charset="0"/>
              </a:rPr>
              <a:t>Net debt to EBITDA 7.65x in FY2025, the lowest in five years (range 7.65x to 8.91x).</a:t>
            </a:r>
          </a:p>
        </p:txBody>
      </p:sp>
      <p:sp>
        <p:nvSpPr>
          <p:cNvPr id="11" name="Text Box 2">
            <a:extLst>
              <a:ext uri="{FF2B5EF4-FFF2-40B4-BE49-F238E27FC236}">
                <a16:creationId xmlns:a16="http://schemas.microsoft.com/office/drawing/2014/main" id="{14687E6B-B774-A514-0ADD-9A78B8EE6CBA}"/>
              </a:ext>
            </a:extLst>
          </p:cNvPr>
          <p:cNvSpPr txBox="1">
            <a:spLocks noChangeArrowheads="1"/>
          </p:cNvSpPr>
          <p:nvPr/>
        </p:nvSpPr>
        <p:spPr bwMode="auto">
          <a:xfrm>
            <a:off x="50019" y="696502"/>
            <a:ext cx="3527094"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31:  Debt maturity ladder ($M)</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 Box 2">
            <a:extLst>
              <a:ext uri="{FF2B5EF4-FFF2-40B4-BE49-F238E27FC236}">
                <a16:creationId xmlns:a16="http://schemas.microsoft.com/office/drawing/2014/main" id="{87CD320C-221E-9FF6-EF08-4C8A766D6215}"/>
              </a:ext>
            </a:extLst>
          </p:cNvPr>
          <p:cNvSpPr txBox="1">
            <a:spLocks noChangeArrowheads="1"/>
          </p:cNvSpPr>
          <p:nvPr/>
        </p:nvSpPr>
        <p:spPr bwMode="auto">
          <a:xfrm>
            <a:off x="5598498" y="3177231"/>
            <a:ext cx="3735158"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34:  Cost of debt (%)</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 Box 2">
            <a:extLst>
              <a:ext uri="{FF2B5EF4-FFF2-40B4-BE49-F238E27FC236}">
                <a16:creationId xmlns:a16="http://schemas.microsoft.com/office/drawing/2014/main" id="{7E99B8BF-563A-8054-F2F5-8884318315F7}"/>
              </a:ext>
            </a:extLst>
          </p:cNvPr>
          <p:cNvSpPr txBox="1">
            <a:spLocks noChangeArrowheads="1"/>
          </p:cNvSpPr>
          <p:nvPr/>
        </p:nvSpPr>
        <p:spPr bwMode="auto">
          <a:xfrm>
            <a:off x="3104889" y="696502"/>
            <a:ext cx="2768343"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32:  Floating-rate exposure ($M)</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descr="A black background with blue text&#10;&#10;Description automatically generated">
            <a:extLst>
              <a:ext uri="{FF2B5EF4-FFF2-40B4-BE49-F238E27FC236}">
                <a16:creationId xmlns:a16="http://schemas.microsoft.com/office/drawing/2014/main" id="{C8C0D31C-52A8-9566-E2D6-9470B2BE4B97}"/>
              </a:ext>
            </a:extLst>
          </p:cNvPr>
          <p:cNvPicPr>
            <a:picLocks noChangeAspect="1"/>
          </p:cNvPicPr>
          <p:nvPr/>
        </p:nvPicPr>
        <p:blipFill>
          <a:blip r:embed="rId5">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14" name="TextBox 13">
            <a:extLst>
              <a:ext uri="{FF2B5EF4-FFF2-40B4-BE49-F238E27FC236}">
                <a16:creationId xmlns:a16="http://schemas.microsoft.com/office/drawing/2014/main" id="{A0BA488D-752A-EDFC-71F8-FAAAFB47D8DE}"/>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17</a:t>
            </a:fld>
            <a:endParaRPr lang="en-US" sz="1400">
              <a:latin typeface="Calibri" panose="020F0502020204030204" pitchFamily="34" charset="0"/>
              <a:cs typeface="Calibri" panose="020F0502020204030204" pitchFamily="34" charset="0"/>
            </a:endParaRPr>
          </a:p>
        </p:txBody>
      </p:sp>
      <p:sp>
        <p:nvSpPr>
          <p:cNvPr id="15" name="Text Box 2">
            <a:extLst>
              <a:ext uri="{FF2B5EF4-FFF2-40B4-BE49-F238E27FC236}">
                <a16:creationId xmlns:a16="http://schemas.microsoft.com/office/drawing/2014/main" id="{CAFCB60A-EC0B-7B09-4BC0-AAF5426544CA}"/>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pic>
        <p:nvPicPr>
          <p:cNvPr id="16404" name="Graphic 16403" descr="Lights On with solid fill">
            <a:extLst>
              <a:ext uri="{FF2B5EF4-FFF2-40B4-BE49-F238E27FC236}">
                <a16:creationId xmlns:a16="http://schemas.microsoft.com/office/drawing/2014/main" id="{E6D5FC10-A4CB-85F6-DD98-D5A181A2F76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sp>
        <p:nvSpPr>
          <p:cNvPr id="6" name="Text Box 2">
            <a:extLst>
              <a:ext uri="{FF2B5EF4-FFF2-40B4-BE49-F238E27FC236}">
                <a16:creationId xmlns:a16="http://schemas.microsoft.com/office/drawing/2014/main" id="{AC68F4D7-82AC-A170-8EBA-1A3568DAE90C}"/>
              </a:ext>
            </a:extLst>
          </p:cNvPr>
          <p:cNvSpPr txBox="1">
            <a:spLocks noChangeArrowheads="1"/>
          </p:cNvSpPr>
          <p:nvPr/>
        </p:nvSpPr>
        <p:spPr bwMode="auto">
          <a:xfrm>
            <a:off x="34114" y="3180083"/>
            <a:ext cx="3735158"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33:  Debt and rate-exposure detail</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16405" name="Chart"/>
          <p:cNvGraphicFramePr/>
          <p:nvPr/>
        </p:nvGraphicFramePr>
        <p:xfrm>
          <a:off x="139700" y="990600"/>
          <a:ext cx="2895600" cy="21844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6406" name="Chart"/>
          <p:cNvGraphicFramePr/>
          <p:nvPr/>
        </p:nvGraphicFramePr>
        <p:xfrm>
          <a:off x="3175000" y="977900"/>
          <a:ext cx="3733800" cy="218440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6407" name="Chart"/>
          <p:cNvGraphicFramePr/>
          <p:nvPr/>
        </p:nvGraphicFramePr>
        <p:xfrm>
          <a:off x="5600700" y="3441700"/>
          <a:ext cx="3441700" cy="2578100"/>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3" name="Table 2">
            <a:extLst>
              <a:ext uri="{FF2B5EF4-FFF2-40B4-BE49-F238E27FC236}">
                <a16:creationId xmlns:a16="http://schemas.microsoft.com/office/drawing/2014/main" id="{642B1B71-A155-4248-B850-56A8BA5221C6}"/>
              </a:ext>
            </a:extLst>
          </p:cNvPr>
          <p:cNvGraphicFramePr>
            <a:graphicFrameLocks noGrp="1"/>
          </p:cNvGraphicFramePr>
          <p:nvPr/>
        </p:nvGraphicFramePr>
        <p:xfrm>
          <a:off x="127000" y="3479800"/>
          <a:ext cx="5257800" cy="2895600"/>
        </p:xfrm>
        <a:graphic>
          <a:graphicData uri="http://schemas.openxmlformats.org/drawingml/2006/table">
            <a:tbl>
              <a:tblPr/>
              <a:tblGrid>
                <a:gridCol w="1524000">
                  <a:extLst>
                    <a:ext uri="{9D8B030D-6E8A-4147-A177-3AD203B41FA5}">
                      <a16:colId xmlns:a16="http://schemas.microsoft.com/office/drawing/2014/main" val="1078158889"/>
                    </a:ext>
                  </a:extLst>
                </a:gridCol>
                <a:gridCol w="1524000">
                  <a:extLst>
                    <a:ext uri="{9D8B030D-6E8A-4147-A177-3AD203B41FA5}">
                      <a16:colId xmlns:a16="http://schemas.microsoft.com/office/drawing/2014/main" val="82415070"/>
                    </a:ext>
                  </a:extLst>
                </a:gridCol>
                <a:gridCol w="2209800">
                  <a:extLst>
                    <a:ext uri="{9D8B030D-6E8A-4147-A177-3AD203B41FA5}">
                      <a16:colId xmlns:a16="http://schemas.microsoft.com/office/drawing/2014/main" val="2377059804"/>
                    </a:ext>
                  </a:extLst>
                </a:gridCol>
              </a:tblGrid>
              <a:tr h="152400">
                <a:tc>
                  <a:txBody>
                    <a:bodyPr/>
                    <a:lstStyle/>
                    <a:p>
                      <a:pPr algn="l"/>
                      <a:r>
                        <a:rPr lang="en-US" sz="1000" b="1"/>
                        <a:t>Item</a:t>
                      </a:r>
                    </a:p>
                  </a:txBody>
                  <a:tcPr marT="0" marB="0">
                    <a:lnL w="0"/>
                    <a:lnR w="0"/>
                    <a:lnT w="0"/>
                    <a:lnB w="0"/>
                    <a:lnTlToBr w="0"/>
                    <a:lnBlToTr w="0"/>
                  </a:tcPr>
                </a:tc>
                <a:tc>
                  <a:txBody>
                    <a:bodyPr/>
                    <a:lstStyle/>
                    <a:p>
                      <a:pPr algn="r"/>
                      <a:r>
                        <a:rPr lang="en-US" sz="1000" b="1"/>
                        <a:t>Value</a:t>
                      </a:r>
                    </a:p>
                  </a:txBody>
                  <a:tcPr marT="0" marB="0">
                    <a:lnL w="0"/>
                    <a:lnR w="0"/>
                    <a:lnT w="0"/>
                    <a:lnB w="0"/>
                    <a:lnTlToBr w="0"/>
                    <a:lnBlToTr w="0"/>
                  </a:tcPr>
                </a:tc>
                <a:tc>
                  <a:txBody>
                    <a:bodyPr/>
                    <a:lstStyle/>
                    <a:p>
                      <a:pPr algn="l"/>
                      <a:r>
                        <a:rPr lang="en-US" sz="1000" b="1"/>
                        <a:t>Note</a:t>
                      </a:r>
                    </a:p>
                  </a:txBody>
                  <a:tcPr marT="0" marB="0">
                    <a:lnL w="0"/>
                    <a:lnR w="0"/>
                    <a:lnT w="0"/>
                    <a:lnB w="0"/>
                    <a:lnTlToBr w="0"/>
                    <a:lnBlToTr w="0"/>
                  </a:tcPr>
                </a:tc>
                <a:extLst>
                  <a:ext uri="{0D108BD9-81ED-4DB2-BD59-A6C34878D82A}">
                    <a16:rowId xmlns:a16="http://schemas.microsoft.com/office/drawing/2014/main" val="4082185362"/>
                  </a:ext>
                </a:extLst>
              </a:tr>
              <a:tr h="152400">
                <a:tc>
                  <a:txBody>
                    <a:bodyPr/>
                    <a:lstStyle/>
                    <a:p>
                      <a:pPr algn="l"/>
                      <a:r>
                        <a:rPr lang="en-US" sz="1000"/>
                        <a:t>Total debt</a:t>
                      </a:r>
                    </a:p>
                  </a:txBody>
                  <a:tcPr marT="0" marB="0">
                    <a:lnL w="0"/>
                    <a:lnR w="0"/>
                    <a:lnT w="0"/>
                    <a:lnB w="0"/>
                    <a:lnTlToBr w="0"/>
                    <a:lnBlToTr w="0"/>
                  </a:tcPr>
                </a:tc>
                <a:tc>
                  <a:txBody>
                    <a:bodyPr/>
                    <a:lstStyle/>
                    <a:p>
                      <a:pPr algn="r"/>
                      <a:r>
                        <a:rPr lang="en-US" sz="1000"/>
                        <a:t>$12,688M</a:t>
                      </a:r>
                    </a:p>
                  </a:txBody>
                  <a:tcPr marT="0" marB="0">
                    <a:lnL w="0"/>
                    <a:lnR w="0"/>
                    <a:lnT w="0"/>
                    <a:lnB w="0"/>
                    <a:lnTlToBr w="0"/>
                    <a:lnBlToTr w="0"/>
                  </a:tcPr>
                </a:tc>
                <a:tc>
                  <a:txBody>
                    <a:bodyPr/>
                    <a:lstStyle/>
                    <a:p>
                      <a:pPr algn="l"/>
                      <a:r>
                        <a:rPr lang="en-US" sz="1000"/>
                        <a:t>2025-12-31, FactSet, includes revolver</a:t>
                      </a:r>
                    </a:p>
                  </a:txBody>
                  <a:tcPr marT="0" marB="0">
                    <a:lnL w="0"/>
                    <a:lnR w="0"/>
                    <a:lnT w="0"/>
                    <a:lnB w="0"/>
                    <a:lnTlToBr w="0"/>
                    <a:lnBlToTr w="0"/>
                  </a:tcPr>
                </a:tc>
                <a:extLst>
                  <a:ext uri="{0D108BD9-81ED-4DB2-BD59-A6C34878D82A}">
                    <a16:rowId xmlns:a16="http://schemas.microsoft.com/office/drawing/2014/main" val="574298750"/>
                  </a:ext>
                </a:extLst>
              </a:tr>
              <a:tr h="152400">
                <a:tc>
                  <a:txBody>
                    <a:bodyPr/>
                    <a:lstStyle/>
                    <a:p>
                      <a:pPr algn="l"/>
                      <a:r>
                        <a:rPr lang="en-US" sz="1000"/>
                        <a:t>Total equity</a:t>
                      </a:r>
                    </a:p>
                  </a:txBody>
                  <a:tcPr marT="0" marB="0">
                    <a:lnL w="0"/>
                    <a:lnR w="0"/>
                    <a:lnT w="0"/>
                    <a:lnB w="0"/>
                    <a:lnTlToBr w="0"/>
                    <a:lnBlToTr w="0"/>
                  </a:tcPr>
                </a:tc>
                <a:tc>
                  <a:txBody>
                    <a:bodyPr/>
                    <a:lstStyle/>
                    <a:p>
                      <a:pPr algn="r"/>
                      <a:r>
                        <a:rPr lang="en-US" sz="1000"/>
                        <a:t>$2,751M</a:t>
                      </a:r>
                    </a:p>
                  </a:txBody>
                  <a:tcPr marT="0" marB="0">
                    <a:lnL w="0"/>
                    <a:lnR w="0"/>
                    <a:lnT w="0"/>
                    <a:lnB w="0"/>
                    <a:lnTlToBr w="0"/>
                    <a:lnBlToTr w="0"/>
                  </a:tcPr>
                </a:tc>
                <a:tc>
                  <a:txBody>
                    <a:bodyPr/>
                    <a:lstStyle/>
                    <a:p>
                      <a:pPr algn="l"/>
                      <a:r>
                        <a:rPr lang="en-US" sz="1000"/>
                        <a:t>2025-12-31, debt to equity 461%</a:t>
                      </a:r>
                    </a:p>
                  </a:txBody>
                  <a:tcPr marT="0" marB="0">
                    <a:lnL w="0"/>
                    <a:lnR w="0"/>
                    <a:lnT w="0"/>
                    <a:lnB w="0"/>
                    <a:lnTlToBr w="0"/>
                    <a:lnBlToTr w="0"/>
                  </a:tcPr>
                </a:tc>
                <a:extLst>
                  <a:ext uri="{0D108BD9-81ED-4DB2-BD59-A6C34878D82A}">
                    <a16:rowId xmlns:a16="http://schemas.microsoft.com/office/drawing/2014/main" val="487398102"/>
                  </a:ext>
                </a:extLst>
              </a:tr>
              <a:tr h="152400">
                <a:tc>
                  <a:txBody>
                    <a:bodyPr/>
                    <a:lstStyle/>
                    <a:p>
                      <a:pPr algn="l"/>
                      <a:r>
                        <a:rPr lang="en-US" sz="1000"/>
                        <a:t>Floating-rate debt</a:t>
                      </a:r>
                    </a:p>
                  </a:txBody>
                  <a:tcPr marT="0" marB="0">
                    <a:lnL w="0"/>
                    <a:lnR w="0"/>
                    <a:lnT w="0"/>
                    <a:lnB w="0"/>
                    <a:lnTlToBr w="0"/>
                    <a:lnBlToTr w="0"/>
                  </a:tcPr>
                </a:tc>
                <a:tc>
                  <a:txBody>
                    <a:bodyPr/>
                    <a:lstStyle/>
                    <a:p>
                      <a:pPr algn="r"/>
                      <a:r>
                        <a:rPr lang="en-US" sz="1000"/>
                        <a:t>$3,830.5M</a:t>
                      </a:r>
                    </a:p>
                  </a:txBody>
                  <a:tcPr marT="0" marB="0">
                    <a:lnL w="0"/>
                    <a:lnR w="0"/>
                    <a:lnT w="0"/>
                    <a:lnB w="0"/>
                    <a:lnTlToBr w="0"/>
                    <a:lnBlToTr w="0"/>
                  </a:tcPr>
                </a:tc>
                <a:tc>
                  <a:txBody>
                    <a:bodyPr/>
                    <a:lstStyle/>
                    <a:p>
                      <a:pPr algn="l"/>
                      <a:r>
                        <a:rPr lang="en-US" sz="1000"/>
                        <a:t>FY2025 10-K, Note 8</a:t>
                      </a:r>
                    </a:p>
                  </a:txBody>
                  <a:tcPr marT="0" marB="0">
                    <a:lnL w="0"/>
                    <a:lnR w="0"/>
                    <a:lnT w="0"/>
                    <a:lnB w="0"/>
                    <a:lnTlToBr w="0"/>
                    <a:lnBlToTr w="0"/>
                  </a:tcPr>
                </a:tc>
                <a:extLst>
                  <a:ext uri="{0D108BD9-81ED-4DB2-BD59-A6C34878D82A}">
                    <a16:rowId xmlns:a16="http://schemas.microsoft.com/office/drawing/2014/main" val="3855876223"/>
                  </a:ext>
                </a:extLst>
              </a:tr>
              <a:tr h="152400">
                <a:tc>
                  <a:txBody>
                    <a:bodyPr/>
                    <a:lstStyle/>
                    <a:p>
                      <a:pPr algn="l"/>
                      <a:r>
                        <a:rPr lang="en-US" sz="1000"/>
                        <a:t>GABX term loan</a:t>
                      </a:r>
                    </a:p>
                  </a:txBody>
                  <a:tcPr marT="0" marB="0">
                    <a:lnL w="0"/>
                    <a:lnR w="0"/>
                    <a:lnT w="0"/>
                    <a:lnB w="0"/>
                    <a:lnTlToBr w="0"/>
                    <a:lnBlToTr w="0"/>
                  </a:tcPr>
                </a:tc>
                <a:tc>
                  <a:txBody>
                    <a:bodyPr/>
                    <a:lstStyle/>
                    <a:p>
                      <a:pPr algn="r"/>
                      <a:r>
                        <a:rPr lang="en-US" sz="1000"/>
                        <a:t>$2,959M at 5.02%</a:t>
                      </a:r>
                    </a:p>
                  </a:txBody>
                  <a:tcPr marT="0" marB="0">
                    <a:lnL w="0"/>
                    <a:lnR w="0"/>
                    <a:lnT w="0"/>
                    <a:lnB w="0"/>
                    <a:lnTlToBr w="0"/>
                    <a:lnBlToTr w="0"/>
                  </a:tcPr>
                </a:tc>
                <a:tc>
                  <a:txBody>
                    <a:bodyPr/>
                    <a:lstStyle/>
                    <a:p>
                      <a:pPr algn="l"/>
                      <a:r>
                        <a:rPr lang="en-US" sz="1000"/>
                        <a:t>Floating, due Dec 2030</a:t>
                      </a:r>
                    </a:p>
                  </a:txBody>
                  <a:tcPr marT="0" marB="0">
                    <a:lnL w="0"/>
                    <a:lnR w="0"/>
                    <a:lnT w="0"/>
                    <a:lnB w="0"/>
                    <a:lnTlToBr w="0"/>
                    <a:lnBlToTr w="0"/>
                  </a:tcPr>
                </a:tc>
                <a:extLst>
                  <a:ext uri="{0D108BD9-81ED-4DB2-BD59-A6C34878D82A}">
                    <a16:rowId xmlns:a16="http://schemas.microsoft.com/office/drawing/2014/main" val="2410080296"/>
                  </a:ext>
                </a:extLst>
              </a:tr>
              <a:tr h="152400">
                <a:tc>
                  <a:txBody>
                    <a:bodyPr/>
                    <a:lstStyle/>
                    <a:p>
                      <a:pPr algn="l"/>
                      <a:r>
                        <a:rPr lang="en-US" sz="1000"/>
                        <a:t>100bp sensitivity</a:t>
                      </a:r>
                    </a:p>
                  </a:txBody>
                  <a:tcPr marT="0" marB="0">
                    <a:lnL w="0"/>
                    <a:lnR w="0"/>
                    <a:lnT w="0"/>
                    <a:lnB w="0"/>
                    <a:lnTlToBr w="0"/>
                    <a:lnBlToTr w="0"/>
                  </a:tcPr>
                </a:tc>
                <a:tc>
                  <a:txBody>
                    <a:bodyPr/>
                    <a:lstStyle/>
                    <a:p>
                      <a:pPr algn="r"/>
                      <a:r>
                        <a:rPr lang="en-US" sz="1000"/>
                        <a:t>$0.45 net / $0.81 gross</a:t>
                      </a:r>
                    </a:p>
                  </a:txBody>
                  <a:tcPr marT="0" marB="0">
                    <a:lnL w="0"/>
                    <a:lnR w="0"/>
                    <a:lnT w="0"/>
                    <a:lnB w="0"/>
                    <a:lnTlToBr w="0"/>
                    <a:lnBlToTr w="0"/>
                  </a:tcPr>
                </a:tc>
                <a:tc>
                  <a:txBody>
                    <a:bodyPr/>
                    <a:lstStyle/>
                    <a:p>
                      <a:pPr algn="l"/>
                      <a:r>
                        <a:rPr lang="en-US" sz="1000"/>
                        <a:t>About 4.5% of guided EPS, net of hedges</a:t>
                      </a:r>
                    </a:p>
                  </a:txBody>
                  <a:tcPr marT="0" marB="0">
                    <a:lnL w="0"/>
                    <a:lnR w="0"/>
                    <a:lnT w="0"/>
                    <a:lnB w="0"/>
                    <a:lnTlToBr w="0"/>
                    <a:lnBlToTr w="0"/>
                  </a:tcPr>
                </a:tc>
                <a:extLst>
                  <a:ext uri="{0D108BD9-81ED-4DB2-BD59-A6C34878D82A}">
                    <a16:rowId xmlns:a16="http://schemas.microsoft.com/office/drawing/2014/main" val="1431275188"/>
                  </a:ext>
                </a:extLst>
              </a:tr>
              <a:tr h="152400">
                <a:tc>
                  <a:txBody>
                    <a:bodyPr/>
                    <a:lstStyle/>
                    <a:p>
                      <a:pPr algn="l"/>
                      <a:r>
                        <a:rPr lang="en-US" sz="1000"/>
                        <a:t>Cost of debt</a:t>
                      </a:r>
                    </a:p>
                  </a:txBody>
                  <a:tcPr marT="0" marB="0">
                    <a:lnL w="0"/>
                    <a:lnR w="0"/>
                    <a:lnT w="0"/>
                    <a:lnB w="0"/>
                    <a:lnTlToBr w="0"/>
                    <a:lnBlToTr w="0"/>
                  </a:tcPr>
                </a:tc>
                <a:tc>
                  <a:txBody>
                    <a:bodyPr/>
                    <a:lstStyle/>
                    <a:p>
                      <a:pPr algn="r"/>
                      <a:r>
                        <a:rPr lang="en-US" sz="1000"/>
                        <a:t>4.8% blended, 5.30% marginal</a:t>
                      </a:r>
                    </a:p>
                  </a:txBody>
                  <a:tcPr marT="0" marB="0">
                    <a:lnL w="0"/>
                    <a:lnR w="0"/>
                    <a:lnT w="0"/>
                    <a:lnB w="0"/>
                    <a:lnTlToBr w="0"/>
                    <a:lnBlToTr w="0"/>
                  </a:tcPr>
                </a:tc>
                <a:tc>
                  <a:txBody>
                    <a:bodyPr/>
                    <a:lstStyle/>
                    <a:p>
                      <a:pPr algn="l"/>
                      <a:r>
                        <a:rPr lang="en-US" sz="1000"/>
                        <a:t>Ex-GABX; March 2026 issue</a:t>
                      </a:r>
                    </a:p>
                  </a:txBody>
                  <a:tcPr marT="0" marB="0">
                    <a:lnL w="0"/>
                    <a:lnR w="0"/>
                    <a:lnT w="0"/>
                    <a:lnB w="0"/>
                    <a:lnTlToBr w="0"/>
                    <a:lnBlToTr w="0"/>
                  </a:tcPr>
                </a:tc>
                <a:extLst>
                  <a:ext uri="{0D108BD9-81ED-4DB2-BD59-A6C34878D82A}">
                    <a16:rowId xmlns:a16="http://schemas.microsoft.com/office/drawing/2014/main" val="3432918443"/>
                  </a:ext>
                </a:extLst>
              </a:tr>
              <a:tr h="152400">
                <a:tc>
                  <a:txBody>
                    <a:bodyPr/>
                    <a:lstStyle/>
                    <a:p>
                      <a:pPr algn="l"/>
                      <a:r>
                        <a:rPr lang="en-US" sz="1000"/>
                        <a:t>Kill criterion</a:t>
                      </a:r>
                    </a:p>
                  </a:txBody>
                  <a:tcPr marT="0" marB="0">
                    <a:lnL w="0"/>
                    <a:lnR w="0"/>
                    <a:lnT w="0"/>
                    <a:lnB w="0"/>
                    <a:lnTlToBr w="0"/>
                    <a:lnBlToTr w="0"/>
                  </a:tcPr>
                </a:tc>
                <a:tc>
                  <a:txBody>
                    <a:bodyPr/>
                    <a:lstStyle/>
                    <a:p>
                      <a:pPr algn="r"/>
                      <a:r>
                        <a:rPr lang="en-US" sz="1000"/>
                        <a:t>6.00%</a:t>
                      </a:r>
                    </a:p>
                  </a:txBody>
                  <a:tcPr marT="0" marB="0">
                    <a:lnL w="0"/>
                    <a:lnR w="0"/>
                    <a:lnT w="0"/>
                    <a:lnB w="0"/>
                    <a:lnTlToBr w="0"/>
                    <a:lnBlToTr w="0"/>
                  </a:tcPr>
                </a:tc>
                <a:tc>
                  <a:txBody>
                    <a:bodyPr/>
                    <a:lstStyle/>
                    <a:p>
                      <a:pPr algn="l"/>
                      <a:r>
                        <a:rPr lang="en-US" sz="1000"/>
                        <a:t>New 10-year issuance</a:t>
                      </a:r>
                    </a:p>
                  </a:txBody>
                  <a:tcPr marT="0" marB="0">
                    <a:lnL w="0"/>
                    <a:lnR w="0"/>
                    <a:lnT w="0"/>
                    <a:lnB w="0"/>
                    <a:lnTlToBr w="0"/>
                    <a:lnBlToTr w="0"/>
                  </a:tcPr>
                </a:tc>
                <a:extLst>
                  <a:ext uri="{0D108BD9-81ED-4DB2-BD59-A6C34878D82A}">
                    <a16:rowId xmlns:a16="http://schemas.microsoft.com/office/drawing/2014/main" val="3489317112"/>
                  </a:ext>
                </a:extLst>
              </a:tr>
              <a:tr h="152400">
                <a:tc>
                  <a:txBody>
                    <a:bodyPr/>
                    <a:lstStyle/>
                    <a:p>
                      <a:pPr algn="l"/>
                      <a:r>
                        <a:rPr lang="en-US" sz="1000"/>
                        <a:t>Net debt to EBITDA</a:t>
                      </a:r>
                    </a:p>
                  </a:txBody>
                  <a:tcPr marT="0" marB="0">
                    <a:lnL w="0"/>
                    <a:lnR w="0"/>
                    <a:lnT w="0"/>
                    <a:lnB w="0"/>
                    <a:lnTlToBr w="0"/>
                    <a:lnBlToTr w="0"/>
                  </a:tcPr>
                </a:tc>
                <a:tc>
                  <a:txBody>
                    <a:bodyPr/>
                    <a:lstStyle/>
                    <a:p>
                      <a:pPr algn="r"/>
                      <a:r>
                        <a:rPr lang="en-US" sz="1000"/>
                        <a:t>7.65x</a:t>
                      </a:r>
                    </a:p>
                  </a:txBody>
                  <a:tcPr marT="0" marB="0">
                    <a:lnL w="0"/>
                    <a:lnR w="0"/>
                    <a:lnT w="0"/>
                    <a:lnB w="0"/>
                    <a:lnTlToBr w="0"/>
                    <a:lnBlToTr w="0"/>
                  </a:tcPr>
                </a:tc>
                <a:tc>
                  <a:txBody>
                    <a:bodyPr/>
                    <a:lstStyle/>
                    <a:p>
                      <a:pPr algn="l"/>
                      <a:r>
                        <a:rPr lang="en-US" sz="1000"/>
                        <a:t>FY2025; lowest in five years, range 7.65x to 8.91x</a:t>
                      </a:r>
                    </a:p>
                  </a:txBody>
                  <a:tcPr marT="0" marB="0">
                    <a:lnL w="0"/>
                    <a:lnR w="0"/>
                    <a:lnT w="0"/>
                    <a:lnB w="0"/>
                    <a:lnTlToBr w="0"/>
                    <a:lnBlToTr w="0"/>
                  </a:tcPr>
                </a:tc>
                <a:extLst>
                  <a:ext uri="{0D108BD9-81ED-4DB2-BD59-A6C34878D82A}">
                    <a16:rowId xmlns:a16="http://schemas.microsoft.com/office/drawing/2014/main" val="2084016943"/>
                  </a:ext>
                </a:extLst>
              </a:tr>
              <a:tr h="152400">
                <a:tc>
                  <a:txBody>
                    <a:bodyPr/>
                    <a:lstStyle/>
                    <a:p>
                      <a:pPr algn="l"/>
                      <a:r>
                        <a:rPr lang="en-US" sz="1000"/>
                        <a:t>Cash</a:t>
                      </a:r>
                    </a:p>
                  </a:txBody>
                  <a:tcPr marT="0" marB="0">
                    <a:lnL w="0"/>
                    <a:lnR w="0"/>
                    <a:lnT w="0"/>
                    <a:lnB w="0"/>
                    <a:lnTlToBr w="0"/>
                    <a:lnBlToTr w="0"/>
                  </a:tcPr>
                </a:tc>
                <a:tc>
                  <a:txBody>
                    <a:bodyPr/>
                    <a:lstStyle/>
                    <a:p>
                      <a:pPr algn="r"/>
                      <a:r>
                        <a:rPr lang="en-US" sz="1000"/>
                        <a:t>$4,985M</a:t>
                      </a:r>
                    </a:p>
                  </a:txBody>
                  <a:tcPr marT="0" marB="0">
                    <a:lnL w="0"/>
                    <a:lnR w="0"/>
                    <a:lnT w="0"/>
                    <a:lnB w="0"/>
                    <a:lnTlToBr w="0"/>
                    <a:lnBlToTr w="0"/>
                  </a:tcPr>
                </a:tc>
                <a:tc>
                  <a:txBody>
                    <a:bodyPr/>
                    <a:lstStyle/>
                    <a:p>
                      <a:pPr algn="l"/>
                      <a:r>
                        <a:rPr lang="en-US" sz="1000"/>
                        <a:t>2025-12-31, pre-funded for GABX close</a:t>
                      </a:r>
                    </a:p>
                  </a:txBody>
                  <a:tcPr marT="0" marB="0">
                    <a:lnL w="0"/>
                    <a:lnR w="0"/>
                    <a:lnT w="0"/>
                    <a:lnB w="0"/>
                    <a:lnTlToBr w="0"/>
                    <a:lnBlToTr w="0"/>
                  </a:tcPr>
                </a:tc>
                <a:extLst>
                  <a:ext uri="{0D108BD9-81ED-4DB2-BD59-A6C34878D82A}">
                    <a16:rowId xmlns:a16="http://schemas.microsoft.com/office/drawing/2014/main" val="838077905"/>
                  </a:ext>
                </a:extLst>
              </a:tr>
              <a:tr h="152400">
                <a:tc>
                  <a:txBody>
                    <a:bodyPr/>
                    <a:lstStyle/>
                    <a:p>
                      <a:pPr algn="l"/>
                      <a:r>
                        <a:rPr lang="en-US" sz="1000"/>
                        <a:t>Net debt</a:t>
                      </a:r>
                    </a:p>
                  </a:txBody>
                  <a:tcPr marT="0" marB="0">
                    <a:lnL w="0"/>
                    <a:lnR w="0"/>
                    <a:lnT w="0"/>
                    <a:lnB w="0"/>
                    <a:lnTlToBr w="0"/>
                    <a:lnBlToTr w="0"/>
                  </a:tcPr>
                </a:tc>
                <a:tc>
                  <a:txBody>
                    <a:bodyPr/>
                    <a:lstStyle/>
                    <a:p>
                      <a:pPr algn="r"/>
                      <a:r>
                        <a:rPr lang="en-US" sz="1000"/>
                        <a:t>$7,703M</a:t>
                      </a:r>
                    </a:p>
                  </a:txBody>
                  <a:tcPr marT="0" marB="0">
                    <a:lnL w="0"/>
                    <a:lnR w="0"/>
                    <a:lnT w="0"/>
                    <a:lnB w="0"/>
                    <a:lnTlToBr w="0"/>
                    <a:lnBlToTr w="0"/>
                  </a:tcPr>
                </a:tc>
                <a:tc>
                  <a:txBody>
                    <a:bodyPr/>
                    <a:lstStyle/>
                    <a:p>
                      <a:pPr algn="l"/>
                      <a:r>
                        <a:rPr lang="en-US" sz="1000"/>
                        <a:t>Year-end 2025; consensus $11,277M for 2026</a:t>
                      </a:r>
                    </a:p>
                  </a:txBody>
                  <a:tcPr marT="0" marB="0">
                    <a:lnL w="0"/>
                    <a:lnR w="0"/>
                    <a:lnT w="0"/>
                    <a:lnB w="0"/>
                    <a:lnTlToBr w="0"/>
                    <a:lnBlToTr w="0"/>
                  </a:tcPr>
                </a:tc>
                <a:extLst>
                  <a:ext uri="{0D108BD9-81ED-4DB2-BD59-A6C34878D82A}">
                    <a16:rowId xmlns:a16="http://schemas.microsoft.com/office/drawing/2014/main" val="1778419197"/>
                  </a:ext>
                </a:extLst>
              </a:tr>
              <a:tr h="152400">
                <a:tc>
                  <a:txBody>
                    <a:bodyPr/>
                    <a:lstStyle/>
                    <a:p>
                      <a:pPr algn="l"/>
                      <a:r>
                        <a:rPr lang="en-US" sz="1000"/>
                        <a:t>Free cash flow</a:t>
                      </a:r>
                    </a:p>
                  </a:txBody>
                  <a:tcPr marT="0" marB="0">
                    <a:lnL w="0"/>
                    <a:lnR w="0"/>
                    <a:lnT w="0"/>
                    <a:lnB w="0"/>
                    <a:lnTlToBr w="0"/>
                    <a:lnBlToTr w="0"/>
                  </a:tcPr>
                </a:tc>
                <a:tc>
                  <a:txBody>
                    <a:bodyPr/>
                    <a:lstStyle/>
                    <a:p>
                      <a:pPr algn="r"/>
                      <a:r>
                        <a:rPr lang="en-US" sz="1000"/>
                        <a:t>($683.6M)</a:t>
                      </a:r>
                    </a:p>
                  </a:txBody>
                  <a:tcPr marT="0" marB="0">
                    <a:lnL w="0"/>
                    <a:lnR w="0"/>
                    <a:lnT w="0"/>
                    <a:lnB w="0"/>
                    <a:lnTlToBr w="0"/>
                    <a:lnBlToTr w="0"/>
                  </a:tcPr>
                </a:tc>
                <a:tc>
                  <a:txBody>
                    <a:bodyPr/>
                    <a:lstStyle/>
                    <a:p>
                      <a:pPr algn="l"/>
                      <a:r>
                        <a:rPr lang="en-US" sz="1000"/>
                        <a:t>FY2025, FactSet; negative in every year on record, see slide 22.</a:t>
                      </a:r>
                    </a:p>
                  </a:txBody>
                  <a:tcPr marT="0" marB="0">
                    <a:lnL w="0"/>
                    <a:lnR w="0"/>
                    <a:lnT w="0"/>
                    <a:lnB w="0"/>
                    <a:lnTlToBr w="0"/>
                    <a:lnBlToTr w="0"/>
                  </a:tcPr>
                </a:tc>
                <a:extLst>
                  <a:ext uri="{0D108BD9-81ED-4DB2-BD59-A6C34878D82A}">
                    <a16:rowId xmlns:a16="http://schemas.microsoft.com/office/drawing/2014/main" val="2180116780"/>
                  </a:ext>
                </a:extLst>
              </a:tr>
            </a:tbl>
          </a:graphicData>
        </a:graphic>
      </p:graphicFrame>
    </p:spTree>
    <p:extLst>
      <p:ext uri="{BB962C8B-B14F-4D97-AF65-F5344CB8AC3E}">
        <p14:creationId xmlns:p14="http://schemas.microsoft.com/office/powerpoint/2010/main" val="3635993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BB5B4-8DF2-4E62-0D1F-BF7755F34081}"/>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101BC782-6BA7-452A-AE37-802A076E5548}"/>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42175532-9429-9B98-AF20-7595FD88E65A}"/>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000" b="1">
                  <a:solidFill>
                    <a:schemeClr val="tx1"/>
                  </a:solidFill>
                  <a:latin typeface="Calibri" panose="020F0502020204030204" pitchFamily="34" charset="0"/>
                </a:rPr>
                <a:t>Returns on Capital</a:t>
              </a:r>
            </a:p>
          </p:txBody>
        </p:sp>
        <p:grpSp>
          <p:nvGrpSpPr>
            <p:cNvPr id="16397" name="Group 39">
              <a:extLst>
                <a:ext uri="{FF2B5EF4-FFF2-40B4-BE49-F238E27FC236}">
                  <a16:creationId xmlns:a16="http://schemas.microsoft.com/office/drawing/2014/main" id="{90ABFD58-8859-6BF4-1400-6480F3BA1B06}"/>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2D2E6310-E665-2988-91F8-CBEB4D113ADE}"/>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6CD7F468-2A09-E3BD-277D-F3655D5354D9}"/>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pic>
        <p:nvPicPr>
          <p:cNvPr id="16404" name="Graphic 16403" descr="Lights On with solid fill">
            <a:extLst>
              <a:ext uri="{FF2B5EF4-FFF2-40B4-BE49-F238E27FC236}">
                <a16:creationId xmlns:a16="http://schemas.microsoft.com/office/drawing/2014/main" id="{A2C714B2-E2E6-18F0-16E1-2FE2D4B83A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4979" y="6263507"/>
            <a:ext cx="461513" cy="461513"/>
          </a:xfrm>
          <a:prstGeom prst="rect">
            <a:avLst/>
          </a:prstGeom>
        </p:spPr>
      </p:pic>
      <p:sp>
        <p:nvSpPr>
          <p:cNvPr id="19" name="Rectangle 18">
            <a:extLst>
              <a:ext uri="{FF2B5EF4-FFF2-40B4-BE49-F238E27FC236}">
                <a16:creationId xmlns:a16="http://schemas.microsoft.com/office/drawing/2014/main" id="{764EFFD3-222D-237F-7672-7D30F4870CAE}"/>
              </a:ext>
            </a:extLst>
          </p:cNvPr>
          <p:cNvSpPr/>
          <p:nvPr/>
        </p:nvSpPr>
        <p:spPr>
          <a:xfrm>
            <a:off x="5399278" y="1013607"/>
            <a:ext cx="3619303" cy="204056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eaLnBrk="1" hangingPunct="1">
              <a:lnSpc>
                <a:spcPct val="100000"/>
              </a:lnSpc>
              <a:spcAft>
                <a:spcPts val="300"/>
              </a:spcAft>
            </a:pPr>
            <a:r>
              <a:rPr lang="en-US" altLang="en-US" sz="800">
                <a:solidFill>
                  <a:srgbClr val="292934"/>
                </a:solidFill>
                <a:latin typeface="Calibri" panose="020F0502020204030204" pitchFamily="34" charset="0"/>
                <a:ea typeface="Calibri" panose="020F0502020204030204" pitchFamily="34" charset="0"/>
              </a:rPr>
              <a:t>ROIC 3.0% and return on total capital 3.9% (FactSet, FY2025, after-tax).</a:t>
            </a:r>
          </a:p>
          <a:p>
            <a:pPr eaLnBrk="1" hangingPunct="1">
              <a:lnSpc>
                <a:spcPct val="100000"/>
              </a:lnSpc>
              <a:spcAft>
                <a:spcPts val="300"/>
              </a:spcAft>
            </a:pPr>
            <a:r>
              <a:rPr lang="en-US" altLang="en-US" sz="800">
                <a:solidFill>
                  <a:srgbClr val="292934"/>
                </a:solidFill>
                <a:latin typeface="Calibri" panose="020F0502020204030204" pitchFamily="34" charset="0"/>
                <a:ea typeface="Calibri" panose="020F0502020204030204" pitchFamily="34" charset="0"/>
              </a:rPr>
              <a:t>FactSet WACC 5.61% against ROIC 3.0%. On an asset basis GATX earns below its cost of capital; the return to equity comes through 5.95x leverage.</a:t>
            </a:r>
          </a:p>
          <a:p>
            <a:pPr eaLnBrk="1" hangingPunct="1">
              <a:lnSpc>
                <a:spcPct val="100000"/>
              </a:lnSpc>
              <a:spcAft>
                <a:spcPts val="300"/>
              </a:spcAft>
            </a:pPr>
            <a:r>
              <a:rPr lang="en-US" altLang="en-US" sz="800">
                <a:solidFill>
                  <a:srgbClr val="292934"/>
                </a:solidFill>
                <a:latin typeface="Calibri" panose="020F0502020204030204" pitchFamily="34" charset="0"/>
                <a:ea typeface="Calibri" panose="020F0502020204030204" pitchFamily="34" charset="0"/>
              </a:rPr>
              <a:t>GATX paid 1.56x book for the first Brookfield call tranche.</a:t>
            </a:r>
          </a:p>
          <a:p>
            <a:pPr eaLnBrk="1" hangingPunct="1">
              <a:lnSpc>
                <a:spcPct val="100000"/>
              </a:lnSpc>
              <a:spcAft>
                <a:spcPts val="300"/>
              </a:spcAft>
            </a:pPr>
            <a:r>
              <a:rPr lang="en-US" altLang="en-US" sz="800">
                <a:solidFill>
                  <a:srgbClr val="292934"/>
                </a:solidFill>
                <a:latin typeface="Calibri" panose="020F0502020204030204" pitchFamily="34" charset="0"/>
                <a:ea typeface="Calibri" panose="020F0502020204030204" pitchFamily="34" charset="0"/>
              </a:rPr>
              <a:t>Interest coverage 1.27x EBIT/interest, lowest in five years (1.54x in 2022). Normal for a lessor, where interest is the cost of the product.</a:t>
            </a:r>
          </a:p>
        </p:txBody>
      </p:sp>
      <p:sp>
        <p:nvSpPr>
          <p:cNvPr id="10" name="Text Box 2">
            <a:extLst>
              <a:ext uri="{FF2B5EF4-FFF2-40B4-BE49-F238E27FC236}">
                <a16:creationId xmlns:a16="http://schemas.microsoft.com/office/drawing/2014/main" id="{F0BCD3E3-BFFC-3F02-4AEB-A3458CC51F4F}"/>
              </a:ext>
            </a:extLst>
          </p:cNvPr>
          <p:cNvSpPr txBox="1">
            <a:spLocks noChangeArrowheads="1"/>
          </p:cNvSpPr>
          <p:nvPr/>
        </p:nvSpPr>
        <p:spPr bwMode="auto">
          <a:xfrm>
            <a:off x="41880" y="739840"/>
            <a:ext cx="5607367"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a:solidFill>
                  <a:srgbClr val="292934"/>
                </a:solidFill>
                <a:latin typeface="Calibri" panose="020F0502020204030204" pitchFamily="34" charset="0"/>
                <a:ea typeface="Calibri" panose="020F0502020204030204" pitchFamily="34" charset="0"/>
              </a:rPr>
              <a:t>Figure 35: DuPont decomposition, FactSet</a:t>
            </a:r>
          </a:p>
        </p:txBody>
      </p:sp>
      <p:sp>
        <p:nvSpPr>
          <p:cNvPr id="14" name="Text Box 2">
            <a:extLst>
              <a:ext uri="{FF2B5EF4-FFF2-40B4-BE49-F238E27FC236}">
                <a16:creationId xmlns:a16="http://schemas.microsoft.com/office/drawing/2014/main" id="{C981DF11-CA8A-0A51-2B02-020D74652796}"/>
              </a:ext>
            </a:extLst>
          </p:cNvPr>
          <p:cNvSpPr txBox="1">
            <a:spLocks noChangeArrowheads="1"/>
          </p:cNvSpPr>
          <p:nvPr/>
        </p:nvSpPr>
        <p:spPr bwMode="auto">
          <a:xfrm>
            <a:off x="41880" y="3632200"/>
            <a:ext cx="4095946" cy="269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a:ea typeface="Calibri" panose="020F0502020204030204" pitchFamily="34" charset="0"/>
                <a:cs typeface="Times New Roman"/>
              </a:rPr>
              <a:t>Figure 36:  Return on equity, ten years (FactSet, ending equity)</a:t>
            </a:r>
          </a:p>
        </p:txBody>
      </p:sp>
      <p:pic>
        <p:nvPicPr>
          <p:cNvPr id="5" name="Picture 4" descr="A black background with blue text&#10;&#10;Description automatically generated">
            <a:extLst>
              <a:ext uri="{FF2B5EF4-FFF2-40B4-BE49-F238E27FC236}">
                <a16:creationId xmlns:a16="http://schemas.microsoft.com/office/drawing/2014/main" id="{AB83BD4A-92B1-19D4-437B-C6FA6A6A422F}"/>
              </a:ext>
            </a:extLst>
          </p:cNvPr>
          <p:cNvPicPr>
            <a:picLocks noChangeAspect="1"/>
          </p:cNvPicPr>
          <p:nvPr/>
        </p:nvPicPr>
        <p:blipFill>
          <a:blip r:embed="rId4">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3" name="Text Box 2">
            <a:extLst>
              <a:ext uri="{FF2B5EF4-FFF2-40B4-BE49-F238E27FC236}">
                <a16:creationId xmlns:a16="http://schemas.microsoft.com/office/drawing/2014/main" id="{11EE0F8A-7640-3FAA-C94F-CB151C798E51}"/>
              </a:ext>
            </a:extLst>
          </p:cNvPr>
          <p:cNvSpPr txBox="1">
            <a:spLocks noChangeArrowheads="1"/>
          </p:cNvSpPr>
          <p:nvPr/>
        </p:nvSpPr>
        <p:spPr bwMode="auto">
          <a:xfrm>
            <a:off x="4297673" y="3250752"/>
            <a:ext cx="2960557" cy="283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a:ea typeface="Calibri" panose="020F0502020204030204" pitchFamily="34" charset="0"/>
                <a:cs typeface="Times New Roman"/>
              </a:rPr>
              <a:t>Figure 37:  Price paid for the first call tranche</a:t>
            </a:r>
            <a:endParaRPr lang="en-US" altLang="en-US" sz="120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6C40635D-8D72-0017-DDF0-8BE18B6DEED2}"/>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18</a:t>
            </a:fld>
            <a:endParaRPr lang="en-US" sz="1400">
              <a:latin typeface="Calibri" panose="020F0502020204030204" pitchFamily="34" charset="0"/>
              <a:cs typeface="Calibri" panose="020F0502020204030204" pitchFamily="34" charset="0"/>
            </a:endParaRPr>
          </a:p>
        </p:txBody>
      </p:sp>
      <p:sp>
        <p:nvSpPr>
          <p:cNvPr id="13" name="Text Box 2">
            <a:extLst>
              <a:ext uri="{FF2B5EF4-FFF2-40B4-BE49-F238E27FC236}">
                <a16:creationId xmlns:a16="http://schemas.microsoft.com/office/drawing/2014/main" id="{A38A09B2-8A93-C040-87ED-A4BB5941B90A}"/>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pSp>
        <p:nvGrpSpPr>
          <p:cNvPr id="18" name="Group 17">
            <a:extLst>
              <a:ext uri="{FF2B5EF4-FFF2-40B4-BE49-F238E27FC236}">
                <a16:creationId xmlns:a16="http://schemas.microsoft.com/office/drawing/2014/main" id="{6FE170B9-7454-E7F9-8D5B-006EAB94931E}"/>
              </a:ext>
            </a:extLst>
          </p:cNvPr>
          <p:cNvGrpSpPr/>
          <p:nvPr/>
        </p:nvGrpSpPr>
        <p:grpSpPr>
          <a:xfrm>
            <a:off x="0" y="6265664"/>
            <a:ext cx="9144000" cy="457200"/>
            <a:chOff x="0" y="2732884"/>
            <a:chExt cx="9144000" cy="457200"/>
          </a:xfrm>
        </p:grpSpPr>
        <p:sp>
          <p:nvSpPr>
            <p:cNvPr id="20" name="Rectangle 19">
              <a:extLst>
                <a:ext uri="{FF2B5EF4-FFF2-40B4-BE49-F238E27FC236}">
                  <a16:creationId xmlns:a16="http://schemas.microsoft.com/office/drawing/2014/main" id="{63FF9765-ECDC-2C5C-C8AE-8830BF837063}"/>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sp>
          <p:nvSpPr>
            <p:cNvPr id="23" name="Oval 22">
              <a:extLst>
                <a:ext uri="{FF2B5EF4-FFF2-40B4-BE49-F238E27FC236}">
                  <a16:creationId xmlns:a16="http://schemas.microsoft.com/office/drawing/2014/main" id="{4E5E157C-F2A1-0AF8-E97B-EBDFC144690B}"/>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21" name="Group 20">
              <a:extLst>
                <a:ext uri="{FF2B5EF4-FFF2-40B4-BE49-F238E27FC236}">
                  <a16:creationId xmlns:a16="http://schemas.microsoft.com/office/drawing/2014/main" id="{812ED905-2720-3988-9FF3-33B456507EFC}"/>
                </a:ext>
              </a:extLst>
            </p:cNvPr>
            <p:cNvGrpSpPr/>
            <p:nvPr/>
          </p:nvGrpSpPr>
          <p:grpSpPr>
            <a:xfrm>
              <a:off x="5021579" y="2732884"/>
              <a:ext cx="545306" cy="457200"/>
              <a:chOff x="4981575" y="2712036"/>
              <a:chExt cx="545306" cy="457200"/>
            </a:xfrm>
          </p:grpSpPr>
          <p:sp>
            <p:nvSpPr>
              <p:cNvPr id="37" name="Oval 36">
                <a:extLst>
                  <a:ext uri="{FF2B5EF4-FFF2-40B4-BE49-F238E27FC236}">
                    <a16:creationId xmlns:a16="http://schemas.microsoft.com/office/drawing/2014/main" id="{2EC243AF-AB30-65D7-2C3D-595D9039D9CE}"/>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38" name="Picture 37" descr="Related image">
                <a:extLst>
                  <a:ext uri="{FF2B5EF4-FFF2-40B4-BE49-F238E27FC236}">
                    <a16:creationId xmlns:a16="http://schemas.microsoft.com/office/drawing/2014/main" id="{5764BBA7-DBDE-8B2E-0EAA-E5FD07DDEC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22" name="Group 21">
              <a:extLst>
                <a:ext uri="{FF2B5EF4-FFF2-40B4-BE49-F238E27FC236}">
                  <a16:creationId xmlns:a16="http://schemas.microsoft.com/office/drawing/2014/main" id="{B27F85D8-E07E-DE8E-EEFF-9351C7C90156}"/>
                </a:ext>
              </a:extLst>
            </p:cNvPr>
            <p:cNvGrpSpPr/>
            <p:nvPr/>
          </p:nvGrpSpPr>
          <p:grpSpPr>
            <a:xfrm>
              <a:off x="7910513" y="2732884"/>
              <a:ext cx="545306" cy="457200"/>
              <a:chOff x="7731919" y="2712036"/>
              <a:chExt cx="545306" cy="457200"/>
            </a:xfrm>
          </p:grpSpPr>
          <p:sp>
            <p:nvSpPr>
              <p:cNvPr id="35" name="Oval 34">
                <a:extLst>
                  <a:ext uri="{FF2B5EF4-FFF2-40B4-BE49-F238E27FC236}">
                    <a16:creationId xmlns:a16="http://schemas.microsoft.com/office/drawing/2014/main" id="{911BB70E-4530-120D-42FE-EDC099624D33}"/>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36" name="Picture 35" descr="Related image">
                <a:extLst>
                  <a:ext uri="{FF2B5EF4-FFF2-40B4-BE49-F238E27FC236}">
                    <a16:creationId xmlns:a16="http://schemas.microsoft.com/office/drawing/2014/main" id="{A32B88A0-7C03-A158-E072-4ED0A71EB68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24" name="Group 23">
              <a:extLst>
                <a:ext uri="{FF2B5EF4-FFF2-40B4-BE49-F238E27FC236}">
                  <a16:creationId xmlns:a16="http://schemas.microsoft.com/office/drawing/2014/main" id="{C3B133F7-8149-B20E-B358-794BE45D0BF2}"/>
                </a:ext>
              </a:extLst>
            </p:cNvPr>
            <p:cNvGrpSpPr/>
            <p:nvPr/>
          </p:nvGrpSpPr>
          <p:grpSpPr>
            <a:xfrm>
              <a:off x="6466045" y="2732884"/>
              <a:ext cx="545306" cy="457200"/>
              <a:chOff x="6353175" y="2712036"/>
              <a:chExt cx="545306" cy="457200"/>
            </a:xfrm>
          </p:grpSpPr>
          <p:sp>
            <p:nvSpPr>
              <p:cNvPr id="33" name="Oval 32">
                <a:extLst>
                  <a:ext uri="{FF2B5EF4-FFF2-40B4-BE49-F238E27FC236}">
                    <a16:creationId xmlns:a16="http://schemas.microsoft.com/office/drawing/2014/main" id="{2018B679-C9FE-F870-CD48-1E9B4CDB9D02}"/>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34" name="Graphic 14379" descr="Dollar with solid fill">
                <a:extLst>
                  <a:ext uri="{FF2B5EF4-FFF2-40B4-BE49-F238E27FC236}">
                    <a16:creationId xmlns:a16="http://schemas.microsoft.com/office/drawing/2014/main" id="{34877A1A-FA59-99F6-FD3D-AC75DF9F40BB}"/>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25" name="Group 24">
              <a:extLst>
                <a:ext uri="{FF2B5EF4-FFF2-40B4-BE49-F238E27FC236}">
                  <a16:creationId xmlns:a16="http://schemas.microsoft.com/office/drawing/2014/main" id="{A5F50531-A0FF-AB94-1990-A258B0CA104E}"/>
                </a:ext>
              </a:extLst>
            </p:cNvPr>
            <p:cNvGrpSpPr/>
            <p:nvPr/>
          </p:nvGrpSpPr>
          <p:grpSpPr>
            <a:xfrm>
              <a:off x="3577113" y="2732884"/>
              <a:ext cx="545306" cy="457200"/>
              <a:chOff x="3609974" y="2715607"/>
              <a:chExt cx="545306" cy="457200"/>
            </a:xfrm>
          </p:grpSpPr>
          <p:sp>
            <p:nvSpPr>
              <p:cNvPr id="29" name="Oval 28">
                <a:extLst>
                  <a:ext uri="{FF2B5EF4-FFF2-40B4-BE49-F238E27FC236}">
                    <a16:creationId xmlns:a16="http://schemas.microsoft.com/office/drawing/2014/main" id="{1C7EF9A1-2E12-6069-35A0-3607303F985A}"/>
                  </a:ext>
                </a:extLst>
              </p:cNvPr>
              <p:cNvSpPr/>
              <p:nvPr/>
            </p:nvSpPr>
            <p:spPr bwMode="auto">
              <a:xfrm>
                <a:off x="3609974" y="2715607"/>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30" name="Group 29">
                <a:extLst>
                  <a:ext uri="{FF2B5EF4-FFF2-40B4-BE49-F238E27FC236}">
                    <a16:creationId xmlns:a16="http://schemas.microsoft.com/office/drawing/2014/main" id="{5ABE0650-DBA5-AB5F-DF51-22AA19E23895}"/>
                  </a:ext>
                </a:extLst>
              </p:cNvPr>
              <p:cNvGrpSpPr/>
              <p:nvPr/>
            </p:nvGrpSpPr>
            <p:grpSpPr>
              <a:xfrm>
                <a:off x="3769049" y="2811218"/>
                <a:ext cx="227157" cy="265979"/>
                <a:chOff x="3771206" y="2761936"/>
                <a:chExt cx="227157" cy="265979"/>
              </a:xfrm>
            </p:grpSpPr>
            <p:sp>
              <p:nvSpPr>
                <p:cNvPr id="31" name="Freeform: Shape 30">
                  <a:extLst>
                    <a:ext uri="{FF2B5EF4-FFF2-40B4-BE49-F238E27FC236}">
                      <a16:creationId xmlns:a16="http://schemas.microsoft.com/office/drawing/2014/main" id="{D3F06338-0014-0996-4A0E-00958EC4AE9F}"/>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32" name="Freeform: Shape 31">
                  <a:extLst>
                    <a:ext uri="{FF2B5EF4-FFF2-40B4-BE49-F238E27FC236}">
                      <a16:creationId xmlns:a16="http://schemas.microsoft.com/office/drawing/2014/main" id="{E6EC078C-727C-6C64-DC38-C11666C5E603}"/>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26" name="Group 25">
              <a:extLst>
                <a:ext uri="{FF2B5EF4-FFF2-40B4-BE49-F238E27FC236}">
                  <a16:creationId xmlns:a16="http://schemas.microsoft.com/office/drawing/2014/main" id="{6B3EB8B2-3B29-DB57-3787-19A4F227D52B}"/>
                </a:ext>
              </a:extLst>
            </p:cNvPr>
            <p:cNvGrpSpPr/>
            <p:nvPr/>
          </p:nvGrpSpPr>
          <p:grpSpPr>
            <a:xfrm>
              <a:off x="2132647" y="2732884"/>
              <a:ext cx="545306" cy="457200"/>
              <a:chOff x="2238375" y="2712635"/>
              <a:chExt cx="545306" cy="457200"/>
            </a:xfrm>
          </p:grpSpPr>
          <p:sp>
            <p:nvSpPr>
              <p:cNvPr id="27" name="Oval 26">
                <a:extLst>
                  <a:ext uri="{FF2B5EF4-FFF2-40B4-BE49-F238E27FC236}">
                    <a16:creationId xmlns:a16="http://schemas.microsoft.com/office/drawing/2014/main" id="{0A936640-3C98-BAD3-6389-8F15C7CC89BD}"/>
                  </a:ext>
                </a:extLst>
              </p:cNvPr>
              <p:cNvSpPr/>
              <p:nvPr/>
            </p:nvSpPr>
            <p:spPr bwMode="auto">
              <a:xfrm>
                <a:off x="2238375" y="2712635"/>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28" name="Graphic 14377" descr="Board Of Directors with solid fill">
                <a:extLst>
                  <a:ext uri="{FF2B5EF4-FFF2-40B4-BE49-F238E27FC236}">
                    <a16:creationId xmlns:a16="http://schemas.microsoft.com/office/drawing/2014/main" id="{81C8AD49-516E-093D-5CB5-81E012367ED7}"/>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40" name="Graphic 39" descr="Lights On with solid fill">
            <a:extLst>
              <a:ext uri="{FF2B5EF4-FFF2-40B4-BE49-F238E27FC236}">
                <a16:creationId xmlns:a16="http://schemas.microsoft.com/office/drawing/2014/main" id="{0ADCA4DB-6D4E-C124-F147-23F8E1D2B1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4140" y="6266931"/>
            <a:ext cx="461513" cy="461513"/>
          </a:xfrm>
          <a:prstGeom prst="rect">
            <a:avLst/>
          </a:prstGeom>
        </p:spPr>
      </p:pic>
      <p:graphicFrame>
        <p:nvGraphicFramePr>
          <p:cNvPr id="47" name="Table 46">
            <a:extLst>
              <a:ext uri="{FF2B5EF4-FFF2-40B4-BE49-F238E27FC236}">
                <a16:creationId xmlns:a16="http://schemas.microsoft.com/office/drawing/2014/main" id="{77F35B49-2CA0-D89B-F541-4E9AA458F1E4}"/>
              </a:ext>
            </a:extLst>
          </p:cNvPr>
          <p:cNvGraphicFramePr>
            <a:graphicFrameLocks noGrp="1"/>
          </p:cNvGraphicFramePr>
          <p:nvPr/>
        </p:nvGraphicFramePr>
        <p:xfrm>
          <a:off x="125419" y="1013606"/>
          <a:ext cx="5040701" cy="1837360"/>
        </p:xfrm>
        <a:graphic>
          <a:graphicData uri="http://schemas.openxmlformats.org/drawingml/2006/table">
            <a:tbl>
              <a:tblPr/>
              <a:tblGrid>
                <a:gridCol w="1667443">
                  <a:extLst>
                    <a:ext uri="{9D8B030D-6E8A-4147-A177-3AD203B41FA5}">
                      <a16:colId xmlns:a16="http://schemas.microsoft.com/office/drawing/2014/main" val="160615856"/>
                    </a:ext>
                  </a:extLst>
                </a:gridCol>
                <a:gridCol w="669954">
                  <a:extLst>
                    <a:ext uri="{9D8B030D-6E8A-4147-A177-3AD203B41FA5}">
                      <a16:colId xmlns:a16="http://schemas.microsoft.com/office/drawing/2014/main" val="1359435461"/>
                    </a:ext>
                  </a:extLst>
                </a:gridCol>
                <a:gridCol w="669954">
                  <a:extLst>
                    <a:ext uri="{9D8B030D-6E8A-4147-A177-3AD203B41FA5}">
                      <a16:colId xmlns:a16="http://schemas.microsoft.com/office/drawing/2014/main" val="97246235"/>
                    </a:ext>
                  </a:extLst>
                </a:gridCol>
                <a:gridCol w="669954">
                  <a:extLst>
                    <a:ext uri="{9D8B030D-6E8A-4147-A177-3AD203B41FA5}">
                      <a16:colId xmlns:a16="http://schemas.microsoft.com/office/drawing/2014/main" val="1041184948"/>
                    </a:ext>
                  </a:extLst>
                </a:gridCol>
                <a:gridCol w="669954">
                  <a:extLst>
                    <a:ext uri="{9D8B030D-6E8A-4147-A177-3AD203B41FA5}">
                      <a16:colId xmlns:a16="http://schemas.microsoft.com/office/drawing/2014/main" val="3863318451"/>
                    </a:ext>
                  </a:extLst>
                </a:gridCol>
                <a:gridCol w="693442">
                  <a:extLst>
                    <a:ext uri="{9D8B030D-6E8A-4147-A177-3AD203B41FA5}">
                      <a16:colId xmlns:a16="http://schemas.microsoft.com/office/drawing/2014/main" val="463209000"/>
                    </a:ext>
                  </a:extLst>
                </a:gridCol>
              </a:tblGrid>
              <a:tr h="229670">
                <a:tc>
                  <a:txBody>
                    <a:bodyPr/>
                    <a:lstStyle/>
                    <a:p>
                      <a:pPr algn="l" rtl="0" fontAlgn="b"/>
                      <a:r>
                        <a:rPr lang="en-US" sz="1100" b="1" i="0" u="none" strike="noStrike">
                          <a:solidFill>
                            <a:schemeClr val="tx1"/>
                          </a:solidFill>
                          <a:effectLst/>
                          <a:latin typeface="Calibri" panose="020F0502020204030204" pitchFamily="34" charset="0"/>
                        </a:rPr>
                        <a:t>ROE decomposition</a:t>
                      </a:r>
                    </a:p>
                  </a:txBody>
                  <a:tcPr marL="0" marR="0" marT="0"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F2C755"/>
                    </a:solidFill>
                  </a:tcPr>
                </a:tc>
                <a:tc>
                  <a:txBody>
                    <a:bodyPr/>
                    <a:lstStyle/>
                    <a:p>
                      <a:pPr algn="r" rtl="0" fontAlgn="b"/>
                      <a:r>
                        <a:rPr lang="en-US" sz="1100" b="1" i="0" u="none" strike="noStrike">
                          <a:solidFill>
                            <a:schemeClr val="tx1"/>
                          </a:solidFill>
                          <a:effectLst/>
                          <a:latin typeface="Calibri" panose="020F0502020204030204" pitchFamily="34" charset="0"/>
                        </a:rPr>
                        <a:t>2022</a:t>
                      </a:r>
                    </a:p>
                  </a:txBody>
                  <a:tcPr marL="0" marR="0" marT="0" marB="0" anchor="b">
                    <a:lnL>
                      <a:noFill/>
                    </a:lnL>
                    <a:lnR>
                      <a:noFill/>
                    </a:lnR>
                    <a:lnT w="12700" cap="flat" cmpd="sng" algn="ctr">
                      <a:solidFill>
                        <a:schemeClr val="tx1"/>
                      </a:solidFill>
                      <a:prstDash val="solid"/>
                      <a:round/>
                      <a:headEnd type="none" w="med" len="med"/>
                      <a:tailEnd type="none" w="med" len="med"/>
                    </a:lnT>
                    <a:lnB>
                      <a:noFill/>
                    </a:lnB>
                    <a:solidFill>
                      <a:srgbClr val="F2C755"/>
                    </a:solidFill>
                  </a:tcPr>
                </a:tc>
                <a:tc>
                  <a:txBody>
                    <a:bodyPr/>
                    <a:lstStyle/>
                    <a:p>
                      <a:pPr algn="r" rtl="0" fontAlgn="b"/>
                      <a:r>
                        <a:rPr lang="en-US" sz="1100" b="1" i="0" u="none" strike="noStrike">
                          <a:solidFill>
                            <a:schemeClr val="tx1"/>
                          </a:solidFill>
                          <a:effectLst/>
                          <a:latin typeface="Calibri" panose="020F0502020204030204" pitchFamily="34" charset="0"/>
                        </a:rPr>
                        <a:t>2023</a:t>
                      </a:r>
                    </a:p>
                  </a:txBody>
                  <a:tcPr marL="0" marR="0" marT="0" marB="0" anchor="b">
                    <a:lnL>
                      <a:noFill/>
                    </a:lnL>
                    <a:lnR>
                      <a:noFill/>
                    </a:lnR>
                    <a:lnT w="12700" cap="flat" cmpd="sng" algn="ctr">
                      <a:solidFill>
                        <a:schemeClr val="tx1"/>
                      </a:solidFill>
                      <a:prstDash val="solid"/>
                      <a:round/>
                      <a:headEnd type="none" w="med" len="med"/>
                      <a:tailEnd type="none" w="med" len="med"/>
                    </a:lnT>
                    <a:lnB>
                      <a:noFill/>
                    </a:lnB>
                    <a:solidFill>
                      <a:srgbClr val="F2C755"/>
                    </a:solidFill>
                  </a:tcPr>
                </a:tc>
                <a:tc>
                  <a:txBody>
                    <a:bodyPr/>
                    <a:lstStyle/>
                    <a:p>
                      <a:pPr algn="r" rtl="0" fontAlgn="b"/>
                      <a:r>
                        <a:rPr lang="en-US" sz="1100" b="1" i="0" u="none" strike="noStrike">
                          <a:solidFill>
                            <a:schemeClr val="tx1"/>
                          </a:solidFill>
                          <a:effectLst/>
                          <a:latin typeface="Calibri" panose="020F0502020204030204" pitchFamily="34" charset="0"/>
                        </a:rPr>
                        <a:t>2024</a:t>
                      </a:r>
                    </a:p>
                  </a:txBody>
                  <a:tcPr marL="0" marR="0" marT="0" marB="0" anchor="b">
                    <a:lnL>
                      <a:noFill/>
                    </a:lnL>
                    <a:lnR>
                      <a:noFill/>
                    </a:lnR>
                    <a:lnT w="12700" cap="flat" cmpd="sng" algn="ctr">
                      <a:solidFill>
                        <a:schemeClr val="tx1"/>
                      </a:solidFill>
                      <a:prstDash val="solid"/>
                      <a:round/>
                      <a:headEnd type="none" w="med" len="med"/>
                      <a:tailEnd type="none" w="med" len="med"/>
                    </a:lnT>
                    <a:lnB>
                      <a:noFill/>
                    </a:lnB>
                    <a:solidFill>
                      <a:srgbClr val="F2C755"/>
                    </a:solidFill>
                  </a:tcPr>
                </a:tc>
                <a:tc>
                  <a:txBody>
                    <a:bodyPr/>
                    <a:lstStyle/>
                    <a:p>
                      <a:pPr algn="r" rtl="0" fontAlgn="b"/>
                      <a:r>
                        <a:rPr lang="en-US" sz="1100" b="1" i="0" u="none" strike="noStrike">
                          <a:solidFill>
                            <a:schemeClr val="tx1"/>
                          </a:solidFill>
                          <a:effectLst/>
                          <a:latin typeface="Calibri" panose="020F0502020204030204" pitchFamily="34" charset="0"/>
                        </a:rPr>
                        <a:t>2025</a:t>
                      </a:r>
                    </a:p>
                  </a:txBody>
                  <a:tcPr marL="0" marR="0" marT="0" marB="0" anchor="b">
                    <a:lnL>
                      <a:noFill/>
                    </a:lnL>
                    <a:lnR>
                      <a:noFill/>
                    </a:lnR>
                    <a:lnT w="12700" cap="flat" cmpd="sng" algn="ctr">
                      <a:solidFill>
                        <a:schemeClr val="tx1"/>
                      </a:solidFill>
                      <a:prstDash val="solid"/>
                      <a:round/>
                      <a:headEnd type="none" w="med" len="med"/>
                      <a:tailEnd type="none" w="med" len="med"/>
                    </a:lnT>
                    <a:lnB>
                      <a:noFill/>
                    </a:lnB>
                    <a:solidFill>
                      <a:srgbClr val="F2C755"/>
                    </a:solidFill>
                  </a:tcPr>
                </a:tc>
                <a:tc>
                  <a:txBody>
                    <a:bodyPr/>
                    <a:lstStyle/>
                    <a:p>
                      <a:pPr algn="r" rtl="0" fontAlgn="b"/>
                      <a:r>
                        <a:rPr lang="en-US" sz="1100" b="1" i="0" u="none" strike="noStrike">
                          <a:solidFill>
                            <a:schemeClr val="tx1"/>
                          </a:solidFill>
                          <a:effectLst/>
                          <a:latin typeface="Calibri" panose="020F0502020204030204" pitchFamily="34" charset="0"/>
                        </a:rPr>
                        <a:t>2026E</a:t>
                      </a:r>
                    </a:p>
                  </a:txBody>
                  <a:tcPr marL="0" marR="0" marT="0"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2C755"/>
                    </a:solidFill>
                  </a:tcPr>
                </a:tc>
                <a:extLst>
                  <a:ext uri="{0D108BD9-81ED-4DB2-BD59-A6C34878D82A}">
                    <a16:rowId xmlns:a16="http://schemas.microsoft.com/office/drawing/2014/main" val="2109403565"/>
                  </a:ext>
                </a:extLst>
              </a:tr>
              <a:tr h="229670">
                <a:tc>
                  <a:txBody>
                    <a:bodyPr/>
                    <a:lstStyle/>
                    <a:p>
                      <a:pPr algn="l" rtl="0" fontAlgn="b"/>
                      <a:r>
                        <a:rPr lang="en-US" sz="1100" b="0" i="0" u="none" strike="noStrike">
                          <a:solidFill>
                            <a:schemeClr val="tx1"/>
                          </a:solidFill>
                          <a:effectLst/>
                          <a:latin typeface="Calibri" panose="020F0502020204030204" pitchFamily="34" charset="0"/>
                        </a:rPr>
                        <a:t>Asset turnover</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0.127x</a:t>
                      </a:r>
                    </a:p>
                  </a:txBody>
                  <a:tcPr marL="0" marR="0" marT="0" marB="0" anchor="b">
                    <a:lnL>
                      <a:noFill/>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0.129x</a:t>
                      </a:r>
                    </a:p>
                  </a:txBody>
                  <a:tcPr marL="0" marR="0" marT="0" marB="0" anchor="b">
                    <a:lnL>
                      <a:noFill/>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0.131x</a:t>
                      </a:r>
                    </a:p>
                  </a:txBody>
                  <a:tcPr marL="0" marR="0" marT="0" marB="0" anchor="b">
                    <a:lnL>
                      <a:noFill/>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0.113x</a:t>
                      </a:r>
                    </a:p>
                  </a:txBody>
                  <a:tcPr marL="0" marR="0" marT="0" marB="0" anchor="b">
                    <a:lnL>
                      <a:noFill/>
                    </a:lnL>
                    <a:lnR>
                      <a:noFill/>
                    </a:lnR>
                    <a:lnT>
                      <a:noFill/>
                    </a:lnT>
                    <a:lnB>
                      <a:noFill/>
                    </a:lnB>
                    <a:solidFill>
                      <a:srgbClr val="FFFFFF"/>
                    </a:solidFill>
                  </a:tcPr>
                </a:tc>
                <a:tc>
                  <a:txBody>
                    <a:bodyPr/>
                    <a:lstStyle/>
                    <a:p>
                      <a:pPr algn="r" rtl="0" fontAlgn="b"/>
                      <a:endParaRP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473791535"/>
                  </a:ext>
                </a:extLst>
              </a:tr>
              <a:tr h="229670">
                <a:tc>
                  <a:txBody>
                    <a:bodyPr/>
                    <a:lstStyle/>
                    <a:p>
                      <a:pPr algn="l" rtl="0" fontAlgn="b"/>
                      <a:r>
                        <a:rPr lang="en-US" sz="1100" b="0" i="0" u="none" strike="noStrike">
                          <a:solidFill>
                            <a:schemeClr val="tx1"/>
                          </a:solidFill>
                          <a:effectLst/>
                          <a:latin typeface="Calibri" panose="020F0502020204030204" pitchFamily="34" charset="0"/>
                        </a:rPr>
                        <a:t>Pretax margin</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13.9%</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17.4%</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16.5%</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16.0%</a:t>
                      </a:r>
                    </a:p>
                  </a:txBody>
                  <a:tcPr marL="0" marR="0" marT="0" marB="0" anchor="b">
                    <a:lnL>
                      <a:noFill/>
                    </a:lnL>
                    <a:lnR>
                      <a:noFill/>
                    </a:lnR>
                    <a:lnT>
                      <a:noFill/>
                    </a:lnT>
                    <a:lnB>
                      <a:noFill/>
                    </a:lnB>
                    <a:solidFill>
                      <a:srgbClr val="F2F2F2"/>
                    </a:solidFill>
                  </a:tcPr>
                </a:tc>
                <a:tc>
                  <a:txBody>
                    <a:bodyPr/>
                    <a:lstStyle/>
                    <a:p>
                      <a:pPr algn="r" rtl="0" fontAlgn="b"/>
                      <a:endParaRP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735965910"/>
                  </a:ext>
                </a:extLst>
              </a:tr>
              <a:tr h="229670">
                <a:tc>
                  <a:txBody>
                    <a:bodyPr/>
                    <a:lstStyle/>
                    <a:p>
                      <a:pPr algn="l" rtl="0" fontAlgn="b"/>
                      <a:r>
                        <a:rPr lang="en-US" sz="1100" b="0" i="0" u="none" strike="noStrike">
                          <a:solidFill>
                            <a:schemeClr val="tx1"/>
                          </a:solidFill>
                          <a:effectLst/>
                          <a:latin typeface="Calibri" panose="020F0502020204030204" pitchFamily="34" charset="0"/>
                        </a:rPr>
                        <a:t>Pretax ROA (excl. affiliates)</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1.76%</a:t>
                      </a:r>
                    </a:p>
                  </a:txBody>
                  <a:tcPr marL="0" marR="0" marT="0" marB="0" anchor="b">
                    <a:lnL>
                      <a:noFill/>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2.24%</a:t>
                      </a:r>
                    </a:p>
                  </a:txBody>
                  <a:tcPr marL="0" marR="0" marT="0" marB="0" anchor="b">
                    <a:lnL>
                      <a:noFill/>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2.16%</a:t>
                      </a:r>
                    </a:p>
                  </a:txBody>
                  <a:tcPr marL="0" marR="0" marT="0" marB="0" anchor="b">
                    <a:lnL>
                      <a:noFill/>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1.81%</a:t>
                      </a:r>
                    </a:p>
                  </a:txBody>
                  <a:tcPr marL="0" marR="0" marT="0" marB="0" anchor="b">
                    <a:lnL>
                      <a:noFill/>
                    </a:lnL>
                    <a:lnR>
                      <a:noFill/>
                    </a:lnR>
                    <a:lnT>
                      <a:noFill/>
                    </a:lnT>
                    <a:lnB>
                      <a:noFill/>
                    </a:lnB>
                    <a:solidFill>
                      <a:srgbClr val="FFFFFF"/>
                    </a:solidFill>
                  </a:tcPr>
                </a:tc>
                <a:tc>
                  <a:txBody>
                    <a:bodyPr/>
                    <a:lstStyle/>
                    <a:p>
                      <a:pPr algn="r" rtl="0" fontAlgn="b"/>
                      <a:endParaRP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74314517"/>
                  </a:ext>
                </a:extLst>
              </a:tr>
              <a:tr h="229670">
                <a:tc>
                  <a:txBody>
                    <a:bodyPr/>
                    <a:lstStyle/>
                    <a:p>
                      <a:pPr algn="l" rtl="0" fontAlgn="b"/>
                      <a:r>
                        <a:rPr lang="en-US" sz="1100" b="0" i="0" u="none" strike="noStrike">
                          <a:solidFill>
                            <a:schemeClr val="tx1"/>
                          </a:solidFill>
                          <a:effectLst/>
                          <a:latin typeface="Calibri" panose="020F0502020204030204" pitchFamily="34" charset="0"/>
                        </a:rPr>
                        <a:t>ROA</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1.55%</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2.37%</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2.31%</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2.12%</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1.94%</a:t>
                      </a: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543314443"/>
                  </a:ext>
                </a:extLst>
              </a:tr>
              <a:tr h="229670">
                <a:tc>
                  <a:txBody>
                    <a:bodyPr/>
                    <a:lstStyle/>
                    <a:p>
                      <a:pPr algn="l" rtl="0" fontAlgn="b"/>
                      <a:r>
                        <a:rPr lang="en-US" sz="1100" b="0" i="0" u="none" strike="noStrike">
                          <a:solidFill>
                            <a:schemeClr val="tx1"/>
                          </a:solidFill>
                          <a:effectLst/>
                          <a:latin typeface="Calibri" panose="020F0502020204030204" pitchFamily="34" charset="0"/>
                        </a:rPr>
                        <a:t>Equity multiplier</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4.96x</a:t>
                      </a:r>
                    </a:p>
                  </a:txBody>
                  <a:tcPr marL="0" marR="0" marT="0" marB="0" anchor="b">
                    <a:lnL>
                      <a:noFill/>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5.09x</a:t>
                      </a:r>
                    </a:p>
                  </a:txBody>
                  <a:tcPr marL="0" marR="0" marT="0" marB="0" anchor="b">
                    <a:lnL>
                      <a:noFill/>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5.13x</a:t>
                      </a:r>
                    </a:p>
                  </a:txBody>
                  <a:tcPr marL="0" marR="0" marT="0" marB="0" anchor="b">
                    <a:lnL>
                      <a:noFill/>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5.95x</a:t>
                      </a:r>
                    </a:p>
                  </a:txBody>
                  <a:tcPr marL="0" marR="0" marT="0" marB="0" anchor="b">
                    <a:lnL>
                      <a:noFill/>
                    </a:lnL>
                    <a:lnR>
                      <a:noFill/>
                    </a:lnR>
                    <a:lnT>
                      <a:noFill/>
                    </a:lnT>
                    <a:lnB>
                      <a:noFill/>
                    </a:lnB>
                    <a:solidFill>
                      <a:srgbClr val="FFFFFF"/>
                    </a:solidFill>
                  </a:tcPr>
                </a:tc>
                <a:tc>
                  <a:txBody>
                    <a:bodyPr/>
                    <a:lstStyle/>
                    <a:p>
                      <a:pPr algn="r" rtl="0" fontAlgn="b"/>
                      <a:endParaRP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559492970"/>
                  </a:ext>
                </a:extLst>
              </a:tr>
              <a:tr h="229670">
                <a:tc>
                  <a:txBody>
                    <a:bodyPr/>
                    <a:lstStyle/>
                    <a:p>
                      <a:pPr algn="l" rtl="0" fontAlgn="b"/>
                      <a:r>
                        <a:rPr lang="en-US" sz="1100" b="0" i="0" u="none" strike="noStrike">
                          <a:solidFill>
                            <a:schemeClr val="tx1"/>
                          </a:solidFill>
                          <a:effectLst/>
                          <a:latin typeface="Calibri" panose="020F0502020204030204" pitchFamily="34" charset="0"/>
                        </a:rPr>
                        <a:t>ROE</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7.70%</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12.05%</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11.86%</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12.63%</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11.89%</a:t>
                      </a: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4031817497"/>
                  </a:ext>
                </a:extLst>
              </a:tr>
              <a:tr h="229670">
                <a:tc>
                  <a:txBody>
                    <a:bodyPr/>
                    <a:lstStyle/>
                    <a:p>
                      <a:pPr algn="l" rtl="0" fontAlgn="b"/>
                      <a:r>
                        <a:rPr lang="en-US" sz="1100" b="0" i="0" u="none" strike="noStrike">
                          <a:solidFill>
                            <a:schemeClr val="tx1"/>
                          </a:solidFill>
                          <a:effectLst/>
                          <a:latin typeface="Calibri" panose="020F0502020204030204" pitchFamily="34" charset="0"/>
                        </a:rPr>
                        <a:t>Net debt to EBITDA</a:t>
                      </a:r>
                    </a:p>
                  </a:txBody>
                  <a:tcPr marL="0" marR="0" marT="0" marB="0" anchor="b">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8.43x</a:t>
                      </a:r>
                    </a:p>
                  </a:txBody>
                  <a:tcPr marL="0" marR="0" marT="0" marB="0" anchor="b">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8.91x</a:t>
                      </a:r>
                    </a:p>
                  </a:txBody>
                  <a:tcPr marL="0" marR="0" marT="0" marB="0" anchor="b">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8.74x</a:t>
                      </a:r>
                    </a:p>
                  </a:txBody>
                  <a:tcPr marL="0" marR="0" marT="0" marB="0" anchor="b">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7.65x</a:t>
                      </a:r>
                    </a:p>
                  </a:txBody>
                  <a:tcPr marL="0" marR="0" marT="0" marB="0" anchor="b">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6.96x</a:t>
                      </a:r>
                    </a:p>
                  </a:txBody>
                  <a:tcPr marL="0" marR="0" marT="0" marB="0" anchor="b">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999146630"/>
                  </a:ext>
                </a:extLst>
              </a:tr>
            </a:tbl>
          </a:graphicData>
        </a:graphic>
      </p:graphicFrame>
      <p:graphicFrame>
        <p:nvGraphicFramePr>
          <p:cNvPr id="16405" name="Chart"/>
          <p:cNvGraphicFramePr/>
          <p:nvPr/>
        </p:nvGraphicFramePr>
        <p:xfrm>
          <a:off x="127000" y="3911600"/>
          <a:ext cx="3987800" cy="1320800"/>
        </p:xfrm>
        <a:graphic>
          <a:graphicData uri="http://schemas.openxmlformats.org/drawingml/2006/chart">
            <c:chart xmlns:c="http://schemas.openxmlformats.org/drawingml/2006/chart" xmlns:r="http://schemas.openxmlformats.org/officeDocument/2006/relationships" r:id="rId7"/>
          </a:graphicData>
        </a:graphic>
      </p:graphicFrame>
      <p:sp>
        <p:nvSpPr>
          <p:cNvPr id="16406" name="Big number"/>
          <p:cNvSpPr txBox="1"/>
          <p:nvPr/>
        </p:nvSpPr>
        <p:spPr>
          <a:xfrm>
            <a:off x="4292600" y="3530600"/>
            <a:ext cx="4711700" cy="1710436"/>
          </a:xfrm>
          <a:prstGeom prst="rect">
            <a:avLst/>
          </a:prstGeom>
          <a:noFill/>
        </p:spPr>
        <p:txBody>
          <a:bodyPr wrap="square" anchor="ctr">
            <a:normAutofit/>
          </a:bodyPr>
          <a:lstStyle/>
          <a:p>
            <a:pPr algn="ctr"/>
            <a:r>
              <a:rPr lang="en-US" sz="9600" b="1">
                <a:solidFill>
                  <a:srgbClr val="292934"/>
                </a:solidFill>
                <a:latin typeface="Calibri"/>
              </a:rPr>
              <a:t>1.56x</a:t>
            </a:r>
          </a:p>
        </p:txBody>
      </p:sp>
      <p:sp>
        <p:nvSpPr>
          <p:cNvPr id="16407" name="Caption"/>
          <p:cNvSpPr txBox="1"/>
          <p:nvPr/>
        </p:nvSpPr>
        <p:spPr>
          <a:xfrm>
            <a:off x="4292600" y="4940554"/>
            <a:ext cx="4711700" cy="700000"/>
          </a:xfrm>
          <a:prstGeom prst="rect">
            <a:avLst/>
          </a:prstGeom>
          <a:noFill/>
        </p:spPr>
        <p:txBody>
          <a:bodyPr wrap="square" anchor="ctr">
            <a:normAutofit/>
          </a:bodyPr>
          <a:lstStyle/>
          <a:p>
            <a:pPr algn="ctr"/>
            <a:r>
              <a:rPr lang="en-US" sz="2400" b="0">
                <a:solidFill>
                  <a:srgbClr val="595959"/>
                </a:solidFill>
                <a:latin typeface="Calibri"/>
              </a:rPr>
              <a:t>book value paid, first call tranche</a:t>
            </a:r>
          </a:p>
        </p:txBody>
      </p:sp>
      <p:sp>
        <p:nvSpPr>
          <p:cNvPr id="16408" name="Context"/>
          <p:cNvSpPr txBox="1"/>
          <p:nvPr/>
        </p:nvSpPr>
        <p:spPr>
          <a:xfrm>
            <a:off x="4292600" y="5472176"/>
            <a:ext cx="4711700" cy="500000"/>
          </a:xfrm>
          <a:prstGeom prst="rect">
            <a:avLst/>
          </a:prstGeom>
          <a:noFill/>
        </p:spPr>
        <p:txBody>
          <a:bodyPr wrap="square" anchor="ctr">
            <a:normAutofit/>
          </a:bodyPr>
          <a:lstStyle/>
          <a:p>
            <a:pPr algn="ctr"/>
            <a:r>
              <a:rPr lang="en-US" sz="1400" b="0">
                <a:solidFill>
                  <a:srgbClr val="595959"/>
                </a:solidFill>
                <a:latin typeface="Calibri"/>
              </a:rPr>
              <a:t>GATX holds call rights to buy up Brookfield's 70% stake over time.</a:t>
            </a:r>
          </a:p>
        </p:txBody>
      </p:sp>
      <p:sp>
        <p:nvSpPr>
          <p:cNvPr id="902" name="Note 902">
            <a:extLst>
              <a:ext uri="{FF2B5EF4-FFF2-40B4-BE49-F238E27FC236}">
                <a16:creationId xmlns:a16="http://schemas.microsoft.com/office/drawing/2014/main" id="{A38A09B2-8A93-C040-87ED-A4BB5941B90A}"/>
              </a:ext>
            </a:extLst>
          </p:cNvPr>
          <p:cNvSpPr txBox="1">
            <a:spLocks noChangeArrowheads="1"/>
          </p:cNvSpPr>
          <p:nvPr/>
        </p:nvSpPr>
        <p:spPr bwMode="auto">
          <a:xfrm>
            <a:off x="127000" y="2878760"/>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2026E ROA, ROE and net debt/EBITDA are consensus; DuPont components are not forecast.</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970" name="ROE footnote"/>
          <p:cNvSpPr txBox="1"/>
          <p:nvPr/>
        </p:nvSpPr>
        <p:spPr>
          <a:xfrm>
            <a:off x="127000" y="5257800"/>
            <a:ext cx="3987800" cy="228600"/>
          </a:xfrm>
          <a:prstGeom prst="rect">
            <a:avLst/>
          </a:prstGeom>
          <a:noFill/>
          <a:ln>
            <a:noFill/>
          </a:ln>
        </p:spPr>
        <p:txBody>
          <a:bodyPr wrap="square" lIns="0" tIns="0" rIns="0" bIns="0" anchor="t"/>
          <a:lstStyle/>
          <a:p>
            <a:pPr algn="l">
              <a:buNone/>
            </a:pPr>
            <a:r>
              <a:rPr lang="en-US" sz="750">
                <a:solidFill>
                  <a:srgbClr val="595959"/>
                </a:solidFill>
                <a:latin typeface="Calibri"/>
              </a:rPr>
              <a:t>2017 reflects the deferred-tax revaluation from the Tax Cuts and Jobs Act, not operations.</a:t>
            </a:r>
          </a:p>
        </p:txBody>
      </p:sp>
      <p:sp>
        <p:nvSpPr>
          <p:cNvPr id="971" name="ROE callout"/>
          <p:cNvSpPr txBox="1"/>
          <p:nvPr/>
        </p:nvSpPr>
        <p:spPr>
          <a:xfrm>
            <a:off x="127000" y="5511800"/>
            <a:ext cx="3987800" cy="558800"/>
          </a:xfrm>
          <a:prstGeom prst="rect">
            <a:avLst/>
          </a:prstGeom>
          <a:solidFill>
            <a:srgbClr val="F2C755"/>
          </a:solidFill>
          <a:ln w="9525">
            <a:solidFill>
              <a:srgbClr val="292934"/>
            </a:solidFill>
          </a:ln>
        </p:spPr>
        <p:txBody>
          <a:bodyPr wrap="square" lIns="45720" tIns="27432" rIns="45720" bIns="27432" anchor="t"/>
          <a:lstStyle/>
          <a:p>
            <a:pPr algn="l">
              <a:buNone/>
            </a:pPr>
            <a:r>
              <a:rPr lang="en-US" sz="800">
                <a:solidFill>
                  <a:srgbClr val="292934"/>
                </a:solidFill>
                <a:latin typeface="Calibri"/>
              </a:rPr>
              <a:t>ROE troughed at 7.2% in 2021 and recovered to 12.6% by 2025. Consensus holds it near 11.5 to 12% through 2027. The multiple call rests on this level being sustained, not on it rising.</a:t>
            </a:r>
          </a:p>
        </p:txBody>
      </p:sp>
      <p:sp>
        <p:nvSpPr>
          <p:cNvPr id="2" name="DuPont reconciliation footnote">
            <a:extLst>
              <a:ext uri="{FF2B5EF4-FFF2-40B4-BE49-F238E27FC236}">
                <a16:creationId xmlns:a16="http://schemas.microsoft.com/office/drawing/2014/main" id="{739A8880-4B84-431D-971C-91C14E263BFB}"/>
              </a:ext>
            </a:extLst>
          </p:cNvPr>
          <p:cNvSpPr txBox="1"/>
          <p:nvPr/>
        </p:nvSpPr>
        <p:spPr>
          <a:xfrm>
            <a:off x="127000" y="3035300"/>
            <a:ext cx="5041900" cy="558800"/>
          </a:xfrm>
          <a:prstGeom prst="rect">
            <a:avLst/>
          </a:prstGeom>
          <a:noFill/>
        </p:spPr>
        <p:txBody>
          <a:bodyPr vertOverflow="overflow" vert="horz" wrap="square" rtlCol="0" anchor="t" anchorCtr="0">
            <a:noAutofit/>
          </a:bodyPr>
          <a:lstStyle/>
          <a:p>
            <a:pPr algn="l"/>
            <a:r>
              <a:rPr lang="en-US" sz="800">
                <a:solidFill>
                  <a:srgbClr val="292934"/>
                </a:solidFill>
                <a:latin typeface="Calibri"/>
                <a:ea typeface="Calibri"/>
                <a:cs typeface="Calibri"/>
              </a:rPr>
              <a:t>ROA includes after-tax equity-method affiliate earnings (RRPF joint venture) that sit below the pretax line, so pretax ROA times the tax complement does not reconcile to ROA. Each row is FactSet's reported value.</a:t>
            </a:r>
          </a:p>
        </p:txBody>
      </p:sp>
    </p:spTree>
    <p:extLst>
      <p:ext uri="{BB962C8B-B14F-4D97-AF65-F5344CB8AC3E}">
        <p14:creationId xmlns:p14="http://schemas.microsoft.com/office/powerpoint/2010/main" val="4125632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81162-0A22-CC05-B75A-878E38D5EADE}"/>
            </a:ext>
          </a:extLst>
        </p:cNvPr>
        <p:cNvGrpSpPr/>
        <p:nvPr/>
      </p:nvGrpSpPr>
      <p:grpSpPr>
        <a:xfrm>
          <a:off x="0" y="0"/>
          <a:ext cx="0" cy="0"/>
          <a:chOff x="0" y="0"/>
          <a:chExt cx="0" cy="0"/>
        </a:xfrm>
      </p:grpSpPr>
      <p:sp>
        <p:nvSpPr>
          <p:cNvPr id="12292" name="AutoShape 22" descr="Image result for risk black clip art">
            <a:extLst>
              <a:ext uri="{FF2B5EF4-FFF2-40B4-BE49-F238E27FC236}">
                <a16:creationId xmlns:a16="http://schemas.microsoft.com/office/drawing/2014/main" id="{9C8767F2-96A1-E68E-A608-D422ABA173A1}"/>
              </a:ext>
            </a:extLst>
          </p:cNvPr>
          <p:cNvSpPr>
            <a:spLocks noChangeAspect="1" noChangeArrowheads="1"/>
          </p:cNvSpPr>
          <p:nvPr/>
        </p:nvSpPr>
        <p:spPr bwMode="auto">
          <a:xfrm>
            <a:off x="116681" y="748906"/>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400">
              <a:solidFill>
                <a:srgbClr val="292934"/>
              </a:solidFill>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38C321DE-9A41-6AFD-2549-8A214850AAB3}"/>
              </a:ext>
            </a:extLst>
          </p:cNvPr>
          <p:cNvSpPr>
            <a:spLocks noGrp="1"/>
          </p:cNvSpPr>
          <p:nvPr>
            <p:ph type="sldNum" sz="quarter" idx="12"/>
          </p:nvPr>
        </p:nvSpPr>
        <p:spPr/>
        <p:txBody>
          <a:bodyPr/>
          <a:lstStyle/>
          <a:p>
            <a:fld id="{763E63E3-3972-446C-8D4C-DDC4F18578E9}" type="slidenum">
              <a:rPr lang="en-US" altLang="en-US" sz="1400" smtClean="0">
                <a:latin typeface="Calibri" panose="020F0502020204030204" pitchFamily="34" charset="0"/>
                <a:cs typeface="Calibri" panose="020F0502020204030204" pitchFamily="34" charset="0"/>
              </a:rPr>
              <a:pPr/>
              <a:t>19</a:t>
            </a:fld>
            <a:endParaRPr lang="en-US" altLang="en-US" sz="140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EBBC46B2-EC79-B53C-FDBE-BA3060ECDA46}"/>
              </a:ext>
            </a:extLst>
          </p:cNvPr>
          <p:cNvSpPr txBox="1"/>
          <p:nvPr/>
        </p:nvSpPr>
        <p:spPr>
          <a:xfrm>
            <a:off x="8775510" y="6550223"/>
            <a:ext cx="368490"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19</a:t>
            </a:fld>
            <a:endParaRPr lang="en-US" sz="1400">
              <a:latin typeface="Calibri" panose="020F0502020204030204" pitchFamily="34" charset="0"/>
              <a:cs typeface="Calibri" panose="020F0502020204030204" pitchFamily="34" charset="0"/>
            </a:endParaRPr>
          </a:p>
        </p:txBody>
      </p:sp>
      <p:sp>
        <p:nvSpPr>
          <p:cNvPr id="83" name="Left-Right Arrow 2063">
            <a:extLst>
              <a:ext uri="{FF2B5EF4-FFF2-40B4-BE49-F238E27FC236}">
                <a16:creationId xmlns:a16="http://schemas.microsoft.com/office/drawing/2014/main" id="{0443C4F5-FD23-C08B-0DE9-84179F7B85F8}"/>
              </a:ext>
            </a:extLst>
          </p:cNvPr>
          <p:cNvSpPr/>
          <p:nvPr/>
        </p:nvSpPr>
        <p:spPr bwMode="auto">
          <a:xfrm>
            <a:off x="688861" y="4220820"/>
            <a:ext cx="7753471" cy="677315"/>
          </a:xfrm>
          <a:prstGeom prst="leftRight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Key Highlights</a:t>
            </a:r>
          </a:p>
        </p:txBody>
      </p:sp>
      <p:grpSp>
        <p:nvGrpSpPr>
          <p:cNvPr id="34" name="Group 33">
            <a:extLst>
              <a:ext uri="{FF2B5EF4-FFF2-40B4-BE49-F238E27FC236}">
                <a16:creationId xmlns:a16="http://schemas.microsoft.com/office/drawing/2014/main" id="{499A879B-DE80-73B6-3B9A-B9744D9BF753}"/>
              </a:ext>
            </a:extLst>
          </p:cNvPr>
          <p:cNvGrpSpPr/>
          <p:nvPr/>
        </p:nvGrpSpPr>
        <p:grpSpPr>
          <a:xfrm>
            <a:off x="694642" y="739926"/>
            <a:ext cx="7753470" cy="3242764"/>
            <a:chOff x="695702" y="695161"/>
            <a:chExt cx="7753470" cy="3242764"/>
          </a:xfrm>
        </p:grpSpPr>
        <p:sp>
          <p:nvSpPr>
            <p:cNvPr id="29" name="Down Arrow Callout 49">
              <a:extLst>
                <a:ext uri="{FF2B5EF4-FFF2-40B4-BE49-F238E27FC236}">
                  <a16:creationId xmlns:a16="http://schemas.microsoft.com/office/drawing/2014/main" id="{0D340751-37A2-37D2-AC8A-001A3C5F7DE8}"/>
                </a:ext>
              </a:extLst>
            </p:cNvPr>
            <p:cNvSpPr/>
            <p:nvPr/>
          </p:nvSpPr>
          <p:spPr bwMode="auto">
            <a:xfrm>
              <a:off x="2280317"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Drivers</a:t>
              </a:r>
            </a:p>
          </p:txBody>
        </p:sp>
        <p:grpSp>
          <p:nvGrpSpPr>
            <p:cNvPr id="75" name="Group 74">
              <a:extLst>
                <a:ext uri="{FF2B5EF4-FFF2-40B4-BE49-F238E27FC236}">
                  <a16:creationId xmlns:a16="http://schemas.microsoft.com/office/drawing/2014/main" id="{B9C55F6D-3385-86B3-27F0-40DFE677E6DB}"/>
                </a:ext>
              </a:extLst>
            </p:cNvPr>
            <p:cNvGrpSpPr/>
            <p:nvPr/>
          </p:nvGrpSpPr>
          <p:grpSpPr>
            <a:xfrm>
              <a:off x="2281074" y="701514"/>
              <a:ext cx="1435608" cy="1645920"/>
              <a:chOff x="1780524" y="1001320"/>
              <a:chExt cx="1261872" cy="1496616"/>
            </a:xfrm>
          </p:grpSpPr>
          <p:sp>
            <p:nvSpPr>
              <p:cNvPr id="21" name="Rectangle 20">
                <a:extLst>
                  <a:ext uri="{FF2B5EF4-FFF2-40B4-BE49-F238E27FC236}">
                    <a16:creationId xmlns:a16="http://schemas.microsoft.com/office/drawing/2014/main" id="{59DC5041-AF66-50A9-5094-13EE61EE27FC}"/>
                  </a:ext>
                </a:extLst>
              </p:cNvPr>
              <p:cNvSpPr/>
              <p:nvPr/>
            </p:nvSpPr>
            <p:spPr bwMode="auto">
              <a:xfrm>
                <a:off x="1780524" y="1001320"/>
                <a:ext cx="1261872" cy="1496616"/>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6933922D-9278-C906-1FE2-066349353E0F}"/>
                  </a:ext>
                </a:extLst>
              </p:cNvPr>
              <p:cNvGrpSpPr/>
              <p:nvPr/>
            </p:nvGrpSpPr>
            <p:grpSpPr>
              <a:xfrm>
                <a:off x="1839668" y="1178128"/>
                <a:ext cx="1143584" cy="1143000"/>
                <a:chOff x="1839668" y="1142389"/>
                <a:chExt cx="1143584" cy="1143000"/>
              </a:xfrm>
            </p:grpSpPr>
            <p:sp>
              <p:nvSpPr>
                <p:cNvPr id="23" name="Oval 22">
                  <a:extLst>
                    <a:ext uri="{FF2B5EF4-FFF2-40B4-BE49-F238E27FC236}">
                      <a16:creationId xmlns:a16="http://schemas.microsoft.com/office/drawing/2014/main" id="{06F72974-9BB5-DE93-CC1A-89D6EADA9958}"/>
                    </a:ext>
                  </a:extLst>
                </p:cNvPr>
                <p:cNvSpPr/>
                <p:nvPr/>
              </p:nvSpPr>
              <p:spPr bwMode="auto">
                <a:xfrm>
                  <a:off x="1839668" y="1142389"/>
                  <a:ext cx="1143584"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33" name="Graphic 5" descr="Board Of Directors with solid fill">
                  <a:extLst>
                    <a:ext uri="{FF2B5EF4-FFF2-40B4-BE49-F238E27FC236}">
                      <a16:creationId xmlns:a16="http://schemas.microsoft.com/office/drawing/2014/main" id="{F93C51C5-D9EC-1D03-806E-C93537774ABE}"/>
                    </a:ext>
                  </a:extLst>
                </p:cNvPr>
                <p:cNvSpPr/>
                <p:nvPr/>
              </p:nvSpPr>
              <p:spPr>
                <a:xfrm>
                  <a:off x="2054844" y="1406926"/>
                  <a:ext cx="713232" cy="613927"/>
                </a:xfrm>
                <a:custGeom>
                  <a:avLst/>
                  <a:gdLst>
                    <a:gd name="connsiteX0" fmla="*/ 745496 w 784462"/>
                    <a:gd name="connsiteY0" fmla="*/ 435333 h 613927"/>
                    <a:gd name="connsiteX1" fmla="*/ 764008 w 784462"/>
                    <a:gd name="connsiteY1" fmla="*/ 413769 h 613927"/>
                    <a:gd name="connsiteX2" fmla="*/ 784276 w 784462"/>
                    <a:gd name="connsiteY2" fmla="*/ 244885 h 613927"/>
                    <a:gd name="connsiteX3" fmla="*/ 761982 w 784462"/>
                    <a:gd name="connsiteY3" fmla="*/ 216486 h 613927"/>
                    <a:gd name="connsiteX4" fmla="*/ 760401 w 784462"/>
                    <a:gd name="connsiteY4" fmla="*/ 216345 h 613927"/>
                    <a:gd name="connsiteX5" fmla="*/ 666554 w 784462"/>
                    <a:gd name="connsiteY5" fmla="*/ 210820 h 613927"/>
                    <a:gd name="connsiteX6" fmla="*/ 639720 w 784462"/>
                    <a:gd name="connsiteY6" fmla="*/ 233049 h 613927"/>
                    <a:gd name="connsiteX7" fmla="*/ 633904 w 784462"/>
                    <a:gd name="connsiteY7" fmla="*/ 278140 h 613927"/>
                    <a:gd name="connsiteX8" fmla="*/ 619571 w 784462"/>
                    <a:gd name="connsiteY8" fmla="*/ 256191 h 613927"/>
                    <a:gd name="connsiteX9" fmla="*/ 622836 w 784462"/>
                    <a:gd name="connsiteY9" fmla="*/ 230875 h 613927"/>
                    <a:gd name="connsiteX10" fmla="*/ 665096 w 784462"/>
                    <a:gd name="connsiteY10" fmla="*/ 193757 h 613927"/>
                    <a:gd name="connsiteX11" fmla="*/ 667654 w 784462"/>
                    <a:gd name="connsiteY11" fmla="*/ 193834 h 613927"/>
                    <a:gd name="connsiteX12" fmla="*/ 708191 w 784462"/>
                    <a:gd name="connsiteY12" fmla="*/ 196213 h 613927"/>
                    <a:gd name="connsiteX13" fmla="*/ 714049 w 784462"/>
                    <a:gd name="connsiteY13" fmla="*/ 160255 h 613927"/>
                    <a:gd name="connsiteX14" fmla="*/ 692851 w 784462"/>
                    <a:gd name="connsiteY14" fmla="*/ 130939 h 613927"/>
                    <a:gd name="connsiteX15" fmla="*/ 690540 w 784462"/>
                    <a:gd name="connsiteY15" fmla="*/ 130675 h 613927"/>
                    <a:gd name="connsiteX16" fmla="*/ 614233 w 784462"/>
                    <a:gd name="connsiteY16" fmla="*/ 125559 h 613927"/>
                    <a:gd name="connsiteX17" fmla="*/ 587296 w 784462"/>
                    <a:gd name="connsiteY17" fmla="*/ 147149 h 613927"/>
                    <a:gd name="connsiteX18" fmla="*/ 579827 w 784462"/>
                    <a:gd name="connsiteY18" fmla="*/ 195232 h 613927"/>
                    <a:gd name="connsiteX19" fmla="*/ 565894 w 784462"/>
                    <a:gd name="connsiteY19" fmla="*/ 173915 h 613927"/>
                    <a:gd name="connsiteX20" fmla="*/ 570413 w 784462"/>
                    <a:gd name="connsiteY20" fmla="*/ 144599 h 613927"/>
                    <a:gd name="connsiteX21" fmla="*/ 612468 w 784462"/>
                    <a:gd name="connsiteY21" fmla="*/ 108522 h 613927"/>
                    <a:gd name="connsiteX22" fmla="*/ 615316 w 784462"/>
                    <a:gd name="connsiteY22" fmla="*/ 108624 h 613927"/>
                    <a:gd name="connsiteX23" fmla="*/ 632148 w 784462"/>
                    <a:gd name="connsiteY23" fmla="*/ 109741 h 613927"/>
                    <a:gd name="connsiteX24" fmla="*/ 634800 w 784462"/>
                    <a:gd name="connsiteY24" fmla="*/ 85866 h 613927"/>
                    <a:gd name="connsiteX25" fmla="*/ 612162 w 784462"/>
                    <a:gd name="connsiteY25" fmla="*/ 57648 h 613927"/>
                    <a:gd name="connsiteX26" fmla="*/ 611376 w 784462"/>
                    <a:gd name="connsiteY26" fmla="*/ 57574 h 613927"/>
                    <a:gd name="connsiteX27" fmla="*/ 551807 w 784462"/>
                    <a:gd name="connsiteY27" fmla="*/ 52995 h 613927"/>
                    <a:gd name="connsiteX28" fmla="*/ 524402 w 784462"/>
                    <a:gd name="connsiteY28" fmla="*/ 75787 h 613927"/>
                    <a:gd name="connsiteX29" fmla="*/ 520539 w 784462"/>
                    <a:gd name="connsiteY29" fmla="*/ 112504 h 613927"/>
                    <a:gd name="connsiteX30" fmla="*/ 466342 w 784462"/>
                    <a:gd name="connsiteY30" fmla="*/ 93660 h 613927"/>
                    <a:gd name="connsiteX31" fmla="*/ 458898 w 784462"/>
                    <a:gd name="connsiteY31" fmla="*/ 93660 h 613927"/>
                    <a:gd name="connsiteX32" fmla="*/ 458898 w 784462"/>
                    <a:gd name="connsiteY32" fmla="*/ 33971 h 613927"/>
                    <a:gd name="connsiteX33" fmla="*/ 452076 w 784462"/>
                    <a:gd name="connsiteY33" fmla="*/ 17506 h 613927"/>
                    <a:gd name="connsiteX34" fmla="*/ 441691 w 784462"/>
                    <a:gd name="connsiteY34" fmla="*/ 11102 h 613927"/>
                    <a:gd name="connsiteX35" fmla="*/ 342446 w 784462"/>
                    <a:gd name="connsiteY35" fmla="*/ 10676 h 613927"/>
                    <a:gd name="connsiteX36" fmla="*/ 330124 w 784462"/>
                    <a:gd name="connsiteY36" fmla="*/ 17497 h 613927"/>
                    <a:gd name="connsiteX37" fmla="*/ 323303 w 784462"/>
                    <a:gd name="connsiteY37" fmla="*/ 33963 h 613927"/>
                    <a:gd name="connsiteX38" fmla="*/ 323303 w 784462"/>
                    <a:gd name="connsiteY38" fmla="*/ 93651 h 613927"/>
                    <a:gd name="connsiteX39" fmla="*/ 315100 w 784462"/>
                    <a:gd name="connsiteY39" fmla="*/ 93651 h 613927"/>
                    <a:gd name="connsiteX40" fmla="*/ 263683 w 784462"/>
                    <a:gd name="connsiteY40" fmla="*/ 110355 h 613927"/>
                    <a:gd name="connsiteX41" fmla="*/ 260067 w 784462"/>
                    <a:gd name="connsiteY41" fmla="*/ 75787 h 613927"/>
                    <a:gd name="connsiteX42" fmla="*/ 232713 w 784462"/>
                    <a:gd name="connsiteY42" fmla="*/ 52995 h 613927"/>
                    <a:gd name="connsiteX43" fmla="*/ 173144 w 784462"/>
                    <a:gd name="connsiteY43" fmla="*/ 57574 h 613927"/>
                    <a:gd name="connsiteX44" fmla="*/ 149646 w 784462"/>
                    <a:gd name="connsiteY44" fmla="*/ 85081 h 613927"/>
                    <a:gd name="connsiteX45" fmla="*/ 149720 w 784462"/>
                    <a:gd name="connsiteY45" fmla="*/ 85866 h 613927"/>
                    <a:gd name="connsiteX46" fmla="*/ 152372 w 784462"/>
                    <a:gd name="connsiteY46" fmla="*/ 109741 h 613927"/>
                    <a:gd name="connsiteX47" fmla="*/ 169204 w 784462"/>
                    <a:gd name="connsiteY47" fmla="*/ 108624 h 613927"/>
                    <a:gd name="connsiteX48" fmla="*/ 172052 w 784462"/>
                    <a:gd name="connsiteY48" fmla="*/ 108522 h 613927"/>
                    <a:gd name="connsiteX49" fmla="*/ 214099 w 784462"/>
                    <a:gd name="connsiteY49" fmla="*/ 144599 h 613927"/>
                    <a:gd name="connsiteX50" fmla="*/ 218064 w 784462"/>
                    <a:gd name="connsiteY50" fmla="*/ 170231 h 613927"/>
                    <a:gd name="connsiteX51" fmla="*/ 204131 w 784462"/>
                    <a:gd name="connsiteY51" fmla="*/ 191549 h 613927"/>
                    <a:gd name="connsiteX52" fmla="*/ 197309 w 784462"/>
                    <a:gd name="connsiteY52" fmla="*/ 147158 h 613927"/>
                    <a:gd name="connsiteX53" fmla="*/ 170373 w 784462"/>
                    <a:gd name="connsiteY53" fmla="*/ 125567 h 613927"/>
                    <a:gd name="connsiteX54" fmla="*/ 94065 w 784462"/>
                    <a:gd name="connsiteY54" fmla="*/ 130684 h 613927"/>
                    <a:gd name="connsiteX55" fmla="*/ 70292 w 784462"/>
                    <a:gd name="connsiteY55" fmla="*/ 157953 h 613927"/>
                    <a:gd name="connsiteX56" fmla="*/ 70557 w 784462"/>
                    <a:gd name="connsiteY56" fmla="*/ 160263 h 613927"/>
                    <a:gd name="connsiteX57" fmla="*/ 76415 w 784462"/>
                    <a:gd name="connsiteY57" fmla="*/ 196221 h 613927"/>
                    <a:gd name="connsiteX58" fmla="*/ 116951 w 784462"/>
                    <a:gd name="connsiteY58" fmla="*/ 193842 h 613927"/>
                    <a:gd name="connsiteX59" fmla="*/ 119510 w 784462"/>
                    <a:gd name="connsiteY59" fmla="*/ 193766 h 613927"/>
                    <a:gd name="connsiteX60" fmla="*/ 161701 w 784462"/>
                    <a:gd name="connsiteY60" fmla="*/ 230883 h 613927"/>
                    <a:gd name="connsiteX61" fmla="*/ 164481 w 784462"/>
                    <a:gd name="connsiteY61" fmla="*/ 252465 h 613927"/>
                    <a:gd name="connsiteX62" fmla="*/ 150070 w 784462"/>
                    <a:gd name="connsiteY62" fmla="*/ 274422 h 613927"/>
                    <a:gd name="connsiteX63" fmla="*/ 144732 w 784462"/>
                    <a:gd name="connsiteY63" fmla="*/ 233049 h 613927"/>
                    <a:gd name="connsiteX64" fmla="*/ 117898 w 784462"/>
                    <a:gd name="connsiteY64" fmla="*/ 210820 h 613927"/>
                    <a:gd name="connsiteX65" fmla="*/ 24059 w 784462"/>
                    <a:gd name="connsiteY65" fmla="*/ 216345 h 613927"/>
                    <a:gd name="connsiteX66" fmla="*/ 43 w 784462"/>
                    <a:gd name="connsiteY66" fmla="*/ 243303 h 613927"/>
                    <a:gd name="connsiteX67" fmla="*/ 184 w 784462"/>
                    <a:gd name="connsiteY67" fmla="*/ 244885 h 613927"/>
                    <a:gd name="connsiteX68" fmla="*/ 20461 w 784462"/>
                    <a:gd name="connsiteY68" fmla="*/ 413769 h 613927"/>
                    <a:gd name="connsiteX69" fmla="*/ 38981 w 784462"/>
                    <a:gd name="connsiteY69" fmla="*/ 435333 h 613927"/>
                    <a:gd name="connsiteX70" fmla="*/ 74419 w 784462"/>
                    <a:gd name="connsiteY70" fmla="*/ 445182 h 613927"/>
                    <a:gd name="connsiteX71" fmla="*/ 74419 w 784462"/>
                    <a:gd name="connsiteY71" fmla="*/ 480995 h 613927"/>
                    <a:gd name="connsiteX72" fmla="*/ 44643 w 784462"/>
                    <a:gd name="connsiteY72" fmla="*/ 480995 h 613927"/>
                    <a:gd name="connsiteX73" fmla="*/ 14850 w 784462"/>
                    <a:gd name="connsiteY73" fmla="*/ 510779 h 613927"/>
                    <a:gd name="connsiteX74" fmla="*/ 14850 w 784462"/>
                    <a:gd name="connsiteY74" fmla="*/ 516646 h 613927"/>
                    <a:gd name="connsiteX75" fmla="*/ 16360 w 784462"/>
                    <a:gd name="connsiteY75" fmla="*/ 540717 h 613927"/>
                    <a:gd name="connsiteX76" fmla="*/ 40431 w 784462"/>
                    <a:gd name="connsiteY76" fmla="*/ 539206 h 613927"/>
                    <a:gd name="connsiteX77" fmla="*/ 40431 w 784462"/>
                    <a:gd name="connsiteY77" fmla="*/ 516646 h 613927"/>
                    <a:gd name="connsiteX78" fmla="*/ 40431 w 784462"/>
                    <a:gd name="connsiteY78" fmla="*/ 510779 h 613927"/>
                    <a:gd name="connsiteX79" fmla="*/ 44694 w 784462"/>
                    <a:gd name="connsiteY79" fmla="*/ 506516 h 613927"/>
                    <a:gd name="connsiteX80" fmla="*/ 74436 w 784462"/>
                    <a:gd name="connsiteY80" fmla="*/ 506516 h 613927"/>
                    <a:gd name="connsiteX81" fmla="*/ 74436 w 784462"/>
                    <a:gd name="connsiteY81" fmla="*/ 516637 h 613927"/>
                    <a:gd name="connsiteX82" fmla="*/ 75901 w 784462"/>
                    <a:gd name="connsiteY82" fmla="*/ 540711 h 613927"/>
                    <a:gd name="connsiteX83" fmla="*/ 99974 w 784462"/>
                    <a:gd name="connsiteY83" fmla="*/ 539246 h 613927"/>
                    <a:gd name="connsiteX84" fmla="*/ 99974 w 784462"/>
                    <a:gd name="connsiteY84" fmla="*/ 516637 h 613927"/>
                    <a:gd name="connsiteX85" fmla="*/ 99974 w 784462"/>
                    <a:gd name="connsiteY85" fmla="*/ 506516 h 613927"/>
                    <a:gd name="connsiteX86" fmla="*/ 129767 w 784462"/>
                    <a:gd name="connsiteY86" fmla="*/ 506516 h 613927"/>
                    <a:gd name="connsiteX87" fmla="*/ 134031 w 784462"/>
                    <a:gd name="connsiteY87" fmla="*/ 510779 h 613927"/>
                    <a:gd name="connsiteX88" fmla="*/ 134031 w 784462"/>
                    <a:gd name="connsiteY88" fmla="*/ 516646 h 613927"/>
                    <a:gd name="connsiteX89" fmla="*/ 135541 w 784462"/>
                    <a:gd name="connsiteY89" fmla="*/ 540717 h 613927"/>
                    <a:gd name="connsiteX90" fmla="*/ 159612 w 784462"/>
                    <a:gd name="connsiteY90" fmla="*/ 539206 h 613927"/>
                    <a:gd name="connsiteX91" fmla="*/ 159612 w 784462"/>
                    <a:gd name="connsiteY91" fmla="*/ 516646 h 613927"/>
                    <a:gd name="connsiteX92" fmla="*/ 159612 w 784462"/>
                    <a:gd name="connsiteY92" fmla="*/ 510779 h 613927"/>
                    <a:gd name="connsiteX93" fmla="*/ 129819 w 784462"/>
                    <a:gd name="connsiteY93" fmla="*/ 480986 h 613927"/>
                    <a:gd name="connsiteX94" fmla="*/ 99974 w 784462"/>
                    <a:gd name="connsiteY94" fmla="*/ 480986 h 613927"/>
                    <a:gd name="connsiteX95" fmla="*/ 99974 w 784462"/>
                    <a:gd name="connsiteY95" fmla="*/ 456830 h 613927"/>
                    <a:gd name="connsiteX96" fmla="*/ 117173 w 784462"/>
                    <a:gd name="connsiteY96" fmla="*/ 464564 h 613927"/>
                    <a:gd name="connsiteX97" fmla="*/ 172052 w 784462"/>
                    <a:gd name="connsiteY97" fmla="*/ 479230 h 613927"/>
                    <a:gd name="connsiteX98" fmla="*/ 254627 w 784462"/>
                    <a:gd name="connsiteY98" fmla="*/ 496906 h 613927"/>
                    <a:gd name="connsiteX99" fmla="*/ 254627 w 784462"/>
                    <a:gd name="connsiteY99" fmla="*/ 576104 h 613927"/>
                    <a:gd name="connsiteX100" fmla="*/ 273975 w 784462"/>
                    <a:gd name="connsiteY100" fmla="*/ 600832 h 613927"/>
                    <a:gd name="connsiteX101" fmla="*/ 286808 w 784462"/>
                    <a:gd name="connsiteY101" fmla="*/ 604038 h 613927"/>
                    <a:gd name="connsiteX102" fmla="*/ 494447 w 784462"/>
                    <a:gd name="connsiteY102" fmla="*/ 602418 h 613927"/>
                    <a:gd name="connsiteX103" fmla="*/ 499563 w 784462"/>
                    <a:gd name="connsiteY103" fmla="*/ 601054 h 613927"/>
                    <a:gd name="connsiteX104" fmla="*/ 518527 w 784462"/>
                    <a:gd name="connsiteY104" fmla="*/ 576437 h 613927"/>
                    <a:gd name="connsiteX105" fmla="*/ 518527 w 784462"/>
                    <a:gd name="connsiteY105" fmla="*/ 498117 h 613927"/>
                    <a:gd name="connsiteX106" fmla="*/ 608238 w 784462"/>
                    <a:gd name="connsiteY106" fmla="*/ 479486 h 613927"/>
                    <a:gd name="connsiteX107" fmla="*/ 664388 w 784462"/>
                    <a:gd name="connsiteY107" fmla="*/ 464546 h 613927"/>
                    <a:gd name="connsiteX108" fmla="*/ 684520 w 784462"/>
                    <a:gd name="connsiteY108" fmla="*/ 454860 h 613927"/>
                    <a:gd name="connsiteX109" fmla="*/ 684520 w 784462"/>
                    <a:gd name="connsiteY109" fmla="*/ 480986 h 613927"/>
                    <a:gd name="connsiteX110" fmla="*/ 654727 w 784462"/>
                    <a:gd name="connsiteY110" fmla="*/ 480986 h 613927"/>
                    <a:gd name="connsiteX111" fmla="*/ 624934 w 784462"/>
                    <a:gd name="connsiteY111" fmla="*/ 510779 h 613927"/>
                    <a:gd name="connsiteX112" fmla="*/ 624934 w 784462"/>
                    <a:gd name="connsiteY112" fmla="*/ 516646 h 613927"/>
                    <a:gd name="connsiteX113" fmla="*/ 626399 w 784462"/>
                    <a:gd name="connsiteY113" fmla="*/ 540719 h 613927"/>
                    <a:gd name="connsiteX114" fmla="*/ 650472 w 784462"/>
                    <a:gd name="connsiteY114" fmla="*/ 539254 h 613927"/>
                    <a:gd name="connsiteX115" fmla="*/ 650472 w 784462"/>
                    <a:gd name="connsiteY115" fmla="*/ 516646 h 613927"/>
                    <a:gd name="connsiteX116" fmla="*/ 650472 w 784462"/>
                    <a:gd name="connsiteY116" fmla="*/ 510779 h 613927"/>
                    <a:gd name="connsiteX117" fmla="*/ 654736 w 784462"/>
                    <a:gd name="connsiteY117" fmla="*/ 506516 h 613927"/>
                    <a:gd name="connsiteX118" fmla="*/ 684529 w 784462"/>
                    <a:gd name="connsiteY118" fmla="*/ 506516 h 613927"/>
                    <a:gd name="connsiteX119" fmla="*/ 684529 w 784462"/>
                    <a:gd name="connsiteY119" fmla="*/ 516637 h 613927"/>
                    <a:gd name="connsiteX120" fmla="*/ 685994 w 784462"/>
                    <a:gd name="connsiteY120" fmla="*/ 540711 h 613927"/>
                    <a:gd name="connsiteX121" fmla="*/ 710067 w 784462"/>
                    <a:gd name="connsiteY121" fmla="*/ 539246 h 613927"/>
                    <a:gd name="connsiteX122" fmla="*/ 710067 w 784462"/>
                    <a:gd name="connsiteY122" fmla="*/ 516637 h 613927"/>
                    <a:gd name="connsiteX123" fmla="*/ 710067 w 784462"/>
                    <a:gd name="connsiteY123" fmla="*/ 506516 h 613927"/>
                    <a:gd name="connsiteX124" fmla="*/ 739860 w 784462"/>
                    <a:gd name="connsiteY124" fmla="*/ 506516 h 613927"/>
                    <a:gd name="connsiteX125" fmla="*/ 744123 w 784462"/>
                    <a:gd name="connsiteY125" fmla="*/ 510779 h 613927"/>
                    <a:gd name="connsiteX126" fmla="*/ 744123 w 784462"/>
                    <a:gd name="connsiteY126" fmla="*/ 516646 h 613927"/>
                    <a:gd name="connsiteX127" fmla="*/ 745633 w 784462"/>
                    <a:gd name="connsiteY127" fmla="*/ 540717 h 613927"/>
                    <a:gd name="connsiteX128" fmla="*/ 769704 w 784462"/>
                    <a:gd name="connsiteY128" fmla="*/ 539206 h 613927"/>
                    <a:gd name="connsiteX129" fmla="*/ 769704 w 784462"/>
                    <a:gd name="connsiteY129" fmla="*/ 516646 h 613927"/>
                    <a:gd name="connsiteX130" fmla="*/ 769704 w 784462"/>
                    <a:gd name="connsiteY130" fmla="*/ 510779 h 613927"/>
                    <a:gd name="connsiteX131" fmla="*/ 739860 w 784462"/>
                    <a:gd name="connsiteY131" fmla="*/ 480986 h 613927"/>
                    <a:gd name="connsiteX132" fmla="*/ 710058 w 784462"/>
                    <a:gd name="connsiteY132" fmla="*/ 480986 h 613927"/>
                    <a:gd name="connsiteX133" fmla="*/ 710058 w 784462"/>
                    <a:gd name="connsiteY133" fmla="*/ 445173 h 613927"/>
                    <a:gd name="connsiteX134" fmla="*/ 599481 w 784462"/>
                    <a:gd name="connsiteY134" fmla="*/ 446580 h 613927"/>
                    <a:gd name="connsiteX135" fmla="*/ 390631 w 784462"/>
                    <a:gd name="connsiteY135" fmla="*/ 473866 h 613927"/>
                    <a:gd name="connsiteX136" fmla="*/ 180869 w 784462"/>
                    <a:gd name="connsiteY136" fmla="*/ 446316 h 613927"/>
                    <a:gd name="connsiteX137" fmla="*/ 125990 w 784462"/>
                    <a:gd name="connsiteY137" fmla="*/ 431650 h 613927"/>
                    <a:gd name="connsiteX138" fmla="*/ 108141 w 784462"/>
                    <a:gd name="connsiteY138" fmla="*/ 403859 h 613927"/>
                    <a:gd name="connsiteX139" fmla="*/ 111554 w 784462"/>
                    <a:gd name="connsiteY139" fmla="*/ 395837 h 613927"/>
                    <a:gd name="connsiteX140" fmla="*/ 272193 w 784462"/>
                    <a:gd name="connsiteY140" fmla="*/ 149545 h 613927"/>
                    <a:gd name="connsiteX141" fmla="*/ 315117 w 784462"/>
                    <a:gd name="connsiteY141" fmla="*/ 127708 h 613927"/>
                    <a:gd name="connsiteX142" fmla="*/ 466419 w 784462"/>
                    <a:gd name="connsiteY142" fmla="*/ 127708 h 613927"/>
                    <a:gd name="connsiteX143" fmla="*/ 509343 w 784462"/>
                    <a:gd name="connsiteY143" fmla="*/ 149528 h 613927"/>
                    <a:gd name="connsiteX144" fmla="*/ 670093 w 784462"/>
                    <a:gd name="connsiteY144" fmla="*/ 395802 h 613927"/>
                    <a:gd name="connsiteX145" fmla="*/ 663692 w 784462"/>
                    <a:gd name="connsiteY145" fmla="*/ 428194 h 613927"/>
                    <a:gd name="connsiteX146" fmla="*/ 655639 w 784462"/>
                    <a:gd name="connsiteY146" fmla="*/ 431616 h 61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784462" h="613927">
                      <a:moveTo>
                        <a:pt x="745496" y="435333"/>
                      </a:moveTo>
                      <a:cubicBezTo>
                        <a:pt x="755467" y="432562"/>
                        <a:pt x="762778" y="424044"/>
                        <a:pt x="764008" y="413769"/>
                      </a:cubicBezTo>
                      <a:lnTo>
                        <a:pt x="784276" y="244885"/>
                      </a:lnTo>
                      <a:cubicBezTo>
                        <a:pt x="785962" y="230886"/>
                        <a:pt x="775981" y="218171"/>
                        <a:pt x="761982" y="216486"/>
                      </a:cubicBezTo>
                      <a:cubicBezTo>
                        <a:pt x="761457" y="216423"/>
                        <a:pt x="760930" y="216376"/>
                        <a:pt x="760401" y="216345"/>
                      </a:cubicBezTo>
                      <a:lnTo>
                        <a:pt x="666554" y="210820"/>
                      </a:lnTo>
                      <a:cubicBezTo>
                        <a:pt x="653165" y="210050"/>
                        <a:pt x="641454" y="219751"/>
                        <a:pt x="639720" y="233049"/>
                      </a:cubicBezTo>
                      <a:lnTo>
                        <a:pt x="633904" y="278140"/>
                      </a:lnTo>
                      <a:lnTo>
                        <a:pt x="619571" y="256191"/>
                      </a:lnTo>
                      <a:lnTo>
                        <a:pt x="622836" y="230875"/>
                      </a:lnTo>
                      <a:cubicBezTo>
                        <a:pt x="625607" y="209647"/>
                        <a:pt x="643688" y="193766"/>
                        <a:pt x="665096" y="193757"/>
                      </a:cubicBezTo>
                      <a:cubicBezTo>
                        <a:pt x="665948" y="193757"/>
                        <a:pt x="666801" y="193757"/>
                        <a:pt x="667654" y="193834"/>
                      </a:cubicBezTo>
                      <a:lnTo>
                        <a:pt x="708191" y="196213"/>
                      </a:lnTo>
                      <a:lnTo>
                        <a:pt x="714049" y="160255"/>
                      </a:lnTo>
                      <a:cubicBezTo>
                        <a:pt x="716291" y="146306"/>
                        <a:pt x="706800" y="133181"/>
                        <a:pt x="692851" y="130939"/>
                      </a:cubicBezTo>
                      <a:cubicBezTo>
                        <a:pt x="692085" y="130817"/>
                        <a:pt x="691314" y="130728"/>
                        <a:pt x="690540" y="130675"/>
                      </a:cubicBezTo>
                      <a:lnTo>
                        <a:pt x="614233" y="125559"/>
                      </a:lnTo>
                      <a:cubicBezTo>
                        <a:pt x="601019" y="124699"/>
                        <a:pt x="589334" y="134065"/>
                        <a:pt x="587296" y="147149"/>
                      </a:cubicBezTo>
                      <a:lnTo>
                        <a:pt x="579827" y="195232"/>
                      </a:lnTo>
                      <a:lnTo>
                        <a:pt x="565894" y="173915"/>
                      </a:lnTo>
                      <a:lnTo>
                        <a:pt x="570413" y="144599"/>
                      </a:lnTo>
                      <a:cubicBezTo>
                        <a:pt x="573523" y="123796"/>
                        <a:pt x="591433" y="108431"/>
                        <a:pt x="612468" y="108522"/>
                      </a:cubicBezTo>
                      <a:cubicBezTo>
                        <a:pt x="613406" y="108522"/>
                        <a:pt x="614361" y="108522"/>
                        <a:pt x="615316" y="108624"/>
                      </a:cubicBezTo>
                      <a:lnTo>
                        <a:pt x="632148" y="109741"/>
                      </a:lnTo>
                      <a:lnTo>
                        <a:pt x="634800" y="85866"/>
                      </a:lnTo>
                      <a:cubicBezTo>
                        <a:pt x="636340" y="71822"/>
                        <a:pt x="626205" y="59189"/>
                        <a:pt x="612162" y="57648"/>
                      </a:cubicBezTo>
                      <a:cubicBezTo>
                        <a:pt x="611901" y="57619"/>
                        <a:pt x="611639" y="57594"/>
                        <a:pt x="611376" y="57574"/>
                      </a:cubicBezTo>
                      <a:lnTo>
                        <a:pt x="551807" y="52995"/>
                      </a:lnTo>
                      <a:cubicBezTo>
                        <a:pt x="538011" y="51930"/>
                        <a:pt x="525869" y="62028"/>
                        <a:pt x="524402" y="75787"/>
                      </a:cubicBezTo>
                      <a:lnTo>
                        <a:pt x="520539" y="112504"/>
                      </a:lnTo>
                      <a:cubicBezTo>
                        <a:pt x="505125" y="100272"/>
                        <a:pt x="486019" y="93630"/>
                        <a:pt x="466342" y="93660"/>
                      </a:cubicBezTo>
                      <a:lnTo>
                        <a:pt x="458898" y="93660"/>
                      </a:lnTo>
                      <a:lnTo>
                        <a:pt x="458898" y="33971"/>
                      </a:lnTo>
                      <a:cubicBezTo>
                        <a:pt x="458891" y="27797"/>
                        <a:pt x="456438" y="21877"/>
                        <a:pt x="452076" y="17506"/>
                      </a:cubicBezTo>
                      <a:cubicBezTo>
                        <a:pt x="448944" y="14878"/>
                        <a:pt x="445445" y="12720"/>
                        <a:pt x="441691" y="11102"/>
                      </a:cubicBezTo>
                      <a:cubicBezTo>
                        <a:pt x="410264" y="-3551"/>
                        <a:pt x="373997" y="-3706"/>
                        <a:pt x="342446" y="10676"/>
                      </a:cubicBezTo>
                      <a:cubicBezTo>
                        <a:pt x="338067" y="12421"/>
                        <a:pt x="333927" y="14713"/>
                        <a:pt x="330124" y="17497"/>
                      </a:cubicBezTo>
                      <a:cubicBezTo>
                        <a:pt x="325763" y="21868"/>
                        <a:pt x="323310" y="27788"/>
                        <a:pt x="323303" y="33963"/>
                      </a:cubicBezTo>
                      <a:lnTo>
                        <a:pt x="323303" y="93651"/>
                      </a:lnTo>
                      <a:lnTo>
                        <a:pt x="315100" y="93651"/>
                      </a:lnTo>
                      <a:cubicBezTo>
                        <a:pt x="296624" y="93630"/>
                        <a:pt x="278618" y="99479"/>
                        <a:pt x="263683" y="110355"/>
                      </a:cubicBezTo>
                      <a:lnTo>
                        <a:pt x="260067" y="75787"/>
                      </a:lnTo>
                      <a:cubicBezTo>
                        <a:pt x="258601" y="62050"/>
                        <a:pt x="246490" y="51959"/>
                        <a:pt x="232713" y="52995"/>
                      </a:cubicBezTo>
                      <a:lnTo>
                        <a:pt x="173144" y="57574"/>
                      </a:lnTo>
                      <a:cubicBezTo>
                        <a:pt x="159059" y="58681"/>
                        <a:pt x="148539" y="70996"/>
                        <a:pt x="149646" y="85081"/>
                      </a:cubicBezTo>
                      <a:cubicBezTo>
                        <a:pt x="149667" y="85343"/>
                        <a:pt x="149691" y="85604"/>
                        <a:pt x="149720" y="85866"/>
                      </a:cubicBezTo>
                      <a:lnTo>
                        <a:pt x="152372" y="109741"/>
                      </a:lnTo>
                      <a:lnTo>
                        <a:pt x="169204" y="108624"/>
                      </a:lnTo>
                      <a:cubicBezTo>
                        <a:pt x="170159" y="108556"/>
                        <a:pt x="171114" y="108522"/>
                        <a:pt x="172052" y="108522"/>
                      </a:cubicBezTo>
                      <a:cubicBezTo>
                        <a:pt x="193086" y="108427"/>
                        <a:pt x="210997" y="123796"/>
                        <a:pt x="214099" y="144599"/>
                      </a:cubicBezTo>
                      <a:lnTo>
                        <a:pt x="218064" y="170231"/>
                      </a:lnTo>
                      <a:lnTo>
                        <a:pt x="204131" y="191549"/>
                      </a:lnTo>
                      <a:lnTo>
                        <a:pt x="197309" y="147158"/>
                      </a:lnTo>
                      <a:cubicBezTo>
                        <a:pt x="195271" y="134074"/>
                        <a:pt x="183586" y="124708"/>
                        <a:pt x="170373" y="125567"/>
                      </a:cubicBezTo>
                      <a:lnTo>
                        <a:pt x="94065" y="130684"/>
                      </a:lnTo>
                      <a:cubicBezTo>
                        <a:pt x="79970" y="131649"/>
                        <a:pt x="69327" y="143858"/>
                        <a:pt x="70292" y="157953"/>
                      </a:cubicBezTo>
                      <a:cubicBezTo>
                        <a:pt x="70345" y="158726"/>
                        <a:pt x="70434" y="159498"/>
                        <a:pt x="70557" y="160263"/>
                      </a:cubicBezTo>
                      <a:lnTo>
                        <a:pt x="76415" y="196221"/>
                      </a:lnTo>
                      <a:lnTo>
                        <a:pt x="116951" y="193842"/>
                      </a:lnTo>
                      <a:cubicBezTo>
                        <a:pt x="117804" y="193791"/>
                        <a:pt x="118657" y="193766"/>
                        <a:pt x="119510" y="193766"/>
                      </a:cubicBezTo>
                      <a:cubicBezTo>
                        <a:pt x="140891" y="193808"/>
                        <a:pt x="158934" y="209682"/>
                        <a:pt x="161701" y="230883"/>
                      </a:cubicBezTo>
                      <a:lnTo>
                        <a:pt x="164481" y="252465"/>
                      </a:lnTo>
                      <a:lnTo>
                        <a:pt x="150070" y="274422"/>
                      </a:lnTo>
                      <a:lnTo>
                        <a:pt x="144732" y="233049"/>
                      </a:lnTo>
                      <a:cubicBezTo>
                        <a:pt x="142998" y="219751"/>
                        <a:pt x="131287" y="210050"/>
                        <a:pt x="117898" y="210820"/>
                      </a:cubicBezTo>
                      <a:lnTo>
                        <a:pt x="24059" y="216345"/>
                      </a:lnTo>
                      <a:cubicBezTo>
                        <a:pt x="9983" y="217158"/>
                        <a:pt x="-769" y="229227"/>
                        <a:pt x="43" y="243303"/>
                      </a:cubicBezTo>
                      <a:cubicBezTo>
                        <a:pt x="74" y="243831"/>
                        <a:pt x="121" y="244359"/>
                        <a:pt x="184" y="244885"/>
                      </a:cubicBezTo>
                      <a:lnTo>
                        <a:pt x="20461" y="413769"/>
                      </a:lnTo>
                      <a:cubicBezTo>
                        <a:pt x="21691" y="424047"/>
                        <a:pt x="29007" y="432565"/>
                        <a:pt x="38981" y="435333"/>
                      </a:cubicBezTo>
                      <a:lnTo>
                        <a:pt x="74419" y="445182"/>
                      </a:lnTo>
                      <a:lnTo>
                        <a:pt x="74419" y="480995"/>
                      </a:lnTo>
                      <a:lnTo>
                        <a:pt x="44643" y="480995"/>
                      </a:lnTo>
                      <a:cubicBezTo>
                        <a:pt x="28204" y="481023"/>
                        <a:pt x="14883" y="494340"/>
                        <a:pt x="14850" y="510779"/>
                      </a:cubicBezTo>
                      <a:lnTo>
                        <a:pt x="14850" y="516646"/>
                      </a:lnTo>
                      <a:cubicBezTo>
                        <a:pt x="8620" y="523710"/>
                        <a:pt x="9297" y="534487"/>
                        <a:pt x="16360" y="540717"/>
                      </a:cubicBezTo>
                      <a:cubicBezTo>
                        <a:pt x="23424" y="546946"/>
                        <a:pt x="34201" y="546270"/>
                        <a:pt x="40431" y="539206"/>
                      </a:cubicBezTo>
                      <a:cubicBezTo>
                        <a:pt x="46116" y="532760"/>
                        <a:pt x="46116" y="523091"/>
                        <a:pt x="40431" y="516646"/>
                      </a:cubicBezTo>
                      <a:lnTo>
                        <a:pt x="40431" y="510779"/>
                      </a:lnTo>
                      <a:cubicBezTo>
                        <a:pt x="40431" y="508425"/>
                        <a:pt x="42340" y="506516"/>
                        <a:pt x="44694" y="506516"/>
                      </a:cubicBezTo>
                      <a:lnTo>
                        <a:pt x="74436" y="506516"/>
                      </a:lnTo>
                      <a:lnTo>
                        <a:pt x="74436" y="516637"/>
                      </a:lnTo>
                      <a:cubicBezTo>
                        <a:pt x="68193" y="523689"/>
                        <a:pt x="68849" y="534467"/>
                        <a:pt x="75901" y="540711"/>
                      </a:cubicBezTo>
                      <a:cubicBezTo>
                        <a:pt x="82953" y="546954"/>
                        <a:pt x="93731" y="546298"/>
                        <a:pt x="99974" y="539246"/>
                      </a:cubicBezTo>
                      <a:cubicBezTo>
                        <a:pt x="105687" y="532792"/>
                        <a:pt x="105687" y="523091"/>
                        <a:pt x="99974" y="516637"/>
                      </a:cubicBezTo>
                      <a:lnTo>
                        <a:pt x="99974" y="506516"/>
                      </a:lnTo>
                      <a:lnTo>
                        <a:pt x="129767" y="506516"/>
                      </a:lnTo>
                      <a:cubicBezTo>
                        <a:pt x="132122" y="506516"/>
                        <a:pt x="134031" y="508425"/>
                        <a:pt x="134031" y="510779"/>
                      </a:cubicBezTo>
                      <a:lnTo>
                        <a:pt x="134031" y="516646"/>
                      </a:lnTo>
                      <a:cubicBezTo>
                        <a:pt x="127801" y="523710"/>
                        <a:pt x="128477" y="534487"/>
                        <a:pt x="135541" y="540717"/>
                      </a:cubicBezTo>
                      <a:cubicBezTo>
                        <a:pt x="142606" y="546946"/>
                        <a:pt x="153382" y="546270"/>
                        <a:pt x="159612" y="539206"/>
                      </a:cubicBezTo>
                      <a:cubicBezTo>
                        <a:pt x="165297" y="532760"/>
                        <a:pt x="165297" y="523091"/>
                        <a:pt x="159612" y="516646"/>
                      </a:cubicBezTo>
                      <a:lnTo>
                        <a:pt x="159612" y="510779"/>
                      </a:lnTo>
                      <a:cubicBezTo>
                        <a:pt x="159583" y="494337"/>
                        <a:pt x="146261" y="481015"/>
                        <a:pt x="129819" y="480986"/>
                      </a:cubicBezTo>
                      <a:lnTo>
                        <a:pt x="99974" y="480986"/>
                      </a:lnTo>
                      <a:lnTo>
                        <a:pt x="99974" y="456830"/>
                      </a:lnTo>
                      <a:cubicBezTo>
                        <a:pt x="105266" y="460293"/>
                        <a:pt x="111070" y="462902"/>
                        <a:pt x="117173" y="464564"/>
                      </a:cubicBezTo>
                      <a:lnTo>
                        <a:pt x="172052" y="479230"/>
                      </a:lnTo>
                      <a:cubicBezTo>
                        <a:pt x="199287" y="486501"/>
                        <a:pt x="226812" y="492393"/>
                        <a:pt x="254627" y="496906"/>
                      </a:cubicBezTo>
                      <a:lnTo>
                        <a:pt x="254627" y="576104"/>
                      </a:lnTo>
                      <a:cubicBezTo>
                        <a:pt x="254665" y="587801"/>
                        <a:pt x="262630" y="597982"/>
                        <a:pt x="273975" y="600832"/>
                      </a:cubicBezTo>
                      <a:lnTo>
                        <a:pt x="286808" y="604038"/>
                      </a:lnTo>
                      <a:cubicBezTo>
                        <a:pt x="355399" y="617749"/>
                        <a:pt x="426078" y="617197"/>
                        <a:pt x="494447" y="602418"/>
                      </a:cubicBezTo>
                      <a:lnTo>
                        <a:pt x="499563" y="601054"/>
                      </a:lnTo>
                      <a:cubicBezTo>
                        <a:pt x="510715" y="598068"/>
                        <a:pt x="518485" y="587981"/>
                        <a:pt x="518527" y="576437"/>
                      </a:cubicBezTo>
                      <a:lnTo>
                        <a:pt x="518527" y="498117"/>
                      </a:lnTo>
                      <a:cubicBezTo>
                        <a:pt x="548744" y="493526"/>
                        <a:pt x="578692" y="487307"/>
                        <a:pt x="608238" y="479486"/>
                      </a:cubicBezTo>
                      <a:lnTo>
                        <a:pt x="664388" y="464546"/>
                      </a:lnTo>
                      <a:cubicBezTo>
                        <a:pt x="671646" y="462607"/>
                        <a:pt x="678475" y="459321"/>
                        <a:pt x="684520" y="454860"/>
                      </a:cubicBezTo>
                      <a:lnTo>
                        <a:pt x="684520" y="480986"/>
                      </a:lnTo>
                      <a:lnTo>
                        <a:pt x="654727" y="480986"/>
                      </a:lnTo>
                      <a:cubicBezTo>
                        <a:pt x="638285" y="481015"/>
                        <a:pt x="624962" y="494337"/>
                        <a:pt x="624934" y="510779"/>
                      </a:cubicBezTo>
                      <a:lnTo>
                        <a:pt x="624934" y="516646"/>
                      </a:lnTo>
                      <a:cubicBezTo>
                        <a:pt x="618691" y="523698"/>
                        <a:pt x="619347" y="534476"/>
                        <a:pt x="626399" y="540719"/>
                      </a:cubicBezTo>
                      <a:cubicBezTo>
                        <a:pt x="633451" y="546963"/>
                        <a:pt x="644229" y="546307"/>
                        <a:pt x="650472" y="539254"/>
                      </a:cubicBezTo>
                      <a:cubicBezTo>
                        <a:pt x="656185" y="532801"/>
                        <a:pt x="656185" y="523099"/>
                        <a:pt x="650472" y="516646"/>
                      </a:cubicBezTo>
                      <a:lnTo>
                        <a:pt x="650472" y="510779"/>
                      </a:lnTo>
                      <a:cubicBezTo>
                        <a:pt x="650472" y="508425"/>
                        <a:pt x="652381" y="506516"/>
                        <a:pt x="654736" y="506516"/>
                      </a:cubicBezTo>
                      <a:lnTo>
                        <a:pt x="684529" y="506516"/>
                      </a:lnTo>
                      <a:lnTo>
                        <a:pt x="684529" y="516637"/>
                      </a:lnTo>
                      <a:cubicBezTo>
                        <a:pt x="678285" y="523689"/>
                        <a:pt x="678941" y="534467"/>
                        <a:pt x="685994" y="540711"/>
                      </a:cubicBezTo>
                      <a:cubicBezTo>
                        <a:pt x="693045" y="546954"/>
                        <a:pt x="703823" y="546298"/>
                        <a:pt x="710067" y="539246"/>
                      </a:cubicBezTo>
                      <a:cubicBezTo>
                        <a:pt x="715780" y="532792"/>
                        <a:pt x="715780" y="523091"/>
                        <a:pt x="710067" y="516637"/>
                      </a:cubicBezTo>
                      <a:lnTo>
                        <a:pt x="710067" y="506516"/>
                      </a:lnTo>
                      <a:lnTo>
                        <a:pt x="739860" y="506516"/>
                      </a:lnTo>
                      <a:cubicBezTo>
                        <a:pt x="742214" y="506516"/>
                        <a:pt x="744123" y="508425"/>
                        <a:pt x="744123" y="510779"/>
                      </a:cubicBezTo>
                      <a:lnTo>
                        <a:pt x="744123" y="516646"/>
                      </a:lnTo>
                      <a:cubicBezTo>
                        <a:pt x="737893" y="523710"/>
                        <a:pt x="738570" y="534487"/>
                        <a:pt x="745633" y="540717"/>
                      </a:cubicBezTo>
                      <a:cubicBezTo>
                        <a:pt x="752698" y="546946"/>
                        <a:pt x="763474" y="546270"/>
                        <a:pt x="769704" y="539206"/>
                      </a:cubicBezTo>
                      <a:cubicBezTo>
                        <a:pt x="775389" y="532760"/>
                        <a:pt x="775389" y="523091"/>
                        <a:pt x="769704" y="516646"/>
                      </a:cubicBezTo>
                      <a:lnTo>
                        <a:pt x="769704" y="510779"/>
                      </a:lnTo>
                      <a:cubicBezTo>
                        <a:pt x="769676" y="494316"/>
                        <a:pt x="756323" y="480986"/>
                        <a:pt x="739860" y="480986"/>
                      </a:cubicBezTo>
                      <a:lnTo>
                        <a:pt x="710058" y="480986"/>
                      </a:lnTo>
                      <a:lnTo>
                        <a:pt x="710058" y="445173"/>
                      </a:lnTo>
                      <a:close/>
                      <a:moveTo>
                        <a:pt x="599481" y="446580"/>
                      </a:moveTo>
                      <a:cubicBezTo>
                        <a:pt x="531343" y="464701"/>
                        <a:pt x="461137" y="473873"/>
                        <a:pt x="390631" y="473866"/>
                      </a:cubicBezTo>
                      <a:cubicBezTo>
                        <a:pt x="319809" y="473860"/>
                        <a:pt x="249291" y="464598"/>
                        <a:pt x="180869" y="446316"/>
                      </a:cubicBezTo>
                      <a:lnTo>
                        <a:pt x="125990" y="431650"/>
                      </a:lnTo>
                      <a:cubicBezTo>
                        <a:pt x="113387" y="428904"/>
                        <a:pt x="105396" y="416461"/>
                        <a:pt x="108141" y="403859"/>
                      </a:cubicBezTo>
                      <a:cubicBezTo>
                        <a:pt x="108766" y="400994"/>
                        <a:pt x="109923" y="398273"/>
                        <a:pt x="111554" y="395837"/>
                      </a:cubicBezTo>
                      <a:lnTo>
                        <a:pt x="272193" y="149545"/>
                      </a:lnTo>
                      <a:cubicBezTo>
                        <a:pt x="282073" y="135690"/>
                        <a:pt x="298100" y="127535"/>
                        <a:pt x="315117" y="127708"/>
                      </a:cubicBezTo>
                      <a:lnTo>
                        <a:pt x="466419" y="127708"/>
                      </a:lnTo>
                      <a:cubicBezTo>
                        <a:pt x="483432" y="127536"/>
                        <a:pt x="499456" y="135682"/>
                        <a:pt x="509343" y="149528"/>
                      </a:cubicBezTo>
                      <a:lnTo>
                        <a:pt x="670093" y="395802"/>
                      </a:lnTo>
                      <a:cubicBezTo>
                        <a:pt x="677270" y="406514"/>
                        <a:pt x="674405" y="421017"/>
                        <a:pt x="663692" y="428194"/>
                      </a:cubicBezTo>
                      <a:cubicBezTo>
                        <a:pt x="661248" y="429832"/>
                        <a:pt x="658516" y="430992"/>
                        <a:pt x="655639" y="431616"/>
                      </a:cubicBezTo>
                      <a:close/>
                    </a:path>
                  </a:pathLst>
                </a:custGeom>
                <a:solidFill>
                  <a:srgbClr val="000000"/>
                </a:solidFill>
                <a:ln w="8434" cap="flat">
                  <a:solidFill>
                    <a:srgbClr val="000000"/>
                  </a:solid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44" name="Down Arrow Callout 60">
              <a:extLst>
                <a:ext uri="{FF2B5EF4-FFF2-40B4-BE49-F238E27FC236}">
                  <a16:creationId xmlns:a16="http://schemas.microsoft.com/office/drawing/2014/main" id="{B51B64B1-EE9F-E578-0840-012D87BFC50E}"/>
                </a:ext>
              </a:extLst>
            </p:cNvPr>
            <p:cNvSpPr/>
            <p:nvPr/>
          </p:nvSpPr>
          <p:spPr bwMode="auto">
            <a:xfrm>
              <a:off x="3854196" y="2474885"/>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Financial Analysis</a:t>
              </a:r>
            </a:p>
          </p:txBody>
        </p:sp>
        <p:grpSp>
          <p:nvGrpSpPr>
            <p:cNvPr id="73" name="Group 72">
              <a:extLst>
                <a:ext uri="{FF2B5EF4-FFF2-40B4-BE49-F238E27FC236}">
                  <a16:creationId xmlns:a16="http://schemas.microsoft.com/office/drawing/2014/main" id="{78ECC053-E0FE-1C7B-A1D3-B56F98636B4F}"/>
                </a:ext>
              </a:extLst>
            </p:cNvPr>
            <p:cNvGrpSpPr/>
            <p:nvPr/>
          </p:nvGrpSpPr>
          <p:grpSpPr>
            <a:xfrm>
              <a:off x="3848853" y="695161"/>
              <a:ext cx="1435608" cy="1645920"/>
              <a:chOff x="4614673" y="998939"/>
              <a:chExt cx="1261872" cy="1497294"/>
            </a:xfrm>
          </p:grpSpPr>
          <p:sp>
            <p:nvSpPr>
              <p:cNvPr id="42" name="Rectangle 41">
                <a:extLst>
                  <a:ext uri="{FF2B5EF4-FFF2-40B4-BE49-F238E27FC236}">
                    <a16:creationId xmlns:a16="http://schemas.microsoft.com/office/drawing/2014/main" id="{BE34B168-0BDB-CCB7-C8A9-1319C1CC4000}"/>
                  </a:ext>
                </a:extLst>
              </p:cNvPr>
              <p:cNvSpPr/>
              <p:nvPr/>
            </p:nvSpPr>
            <p:spPr bwMode="auto">
              <a:xfrm>
                <a:off x="4614673"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4" name="Group 63">
                <a:extLst>
                  <a:ext uri="{FF2B5EF4-FFF2-40B4-BE49-F238E27FC236}">
                    <a16:creationId xmlns:a16="http://schemas.microsoft.com/office/drawing/2014/main" id="{004296BE-CFDD-2354-8EE3-10DA901C3677}"/>
                  </a:ext>
                </a:extLst>
              </p:cNvPr>
              <p:cNvGrpSpPr/>
              <p:nvPr/>
            </p:nvGrpSpPr>
            <p:grpSpPr>
              <a:xfrm>
                <a:off x="4674035" y="1176086"/>
                <a:ext cx="1143149" cy="1143000"/>
                <a:chOff x="4674035" y="1142389"/>
                <a:chExt cx="1143149" cy="1143000"/>
              </a:xfrm>
            </p:grpSpPr>
            <p:sp>
              <p:nvSpPr>
                <p:cNvPr id="43" name="Oval 42">
                  <a:extLst>
                    <a:ext uri="{FF2B5EF4-FFF2-40B4-BE49-F238E27FC236}">
                      <a16:creationId xmlns:a16="http://schemas.microsoft.com/office/drawing/2014/main" id="{C7564F56-6502-861B-7A39-77CD4C2CA536}"/>
                    </a:ext>
                  </a:extLst>
                </p:cNvPr>
                <p:cNvSpPr/>
                <p:nvPr/>
              </p:nvSpPr>
              <p:spPr bwMode="auto">
                <a:xfrm>
                  <a:off x="4674035" y="1142389"/>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45" name="Picture 18" descr="Related image">
                  <a:extLst>
                    <a:ext uri="{FF2B5EF4-FFF2-40B4-BE49-F238E27FC236}">
                      <a16:creationId xmlns:a16="http://schemas.microsoft.com/office/drawing/2014/main" id="{A9B54AA6-0D52-7268-7C6A-0125B9C501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93" y="1353410"/>
                  <a:ext cx="713232" cy="720959"/>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sp>
          <p:nvSpPr>
            <p:cNvPr id="49" name="Down Arrow Callout 69">
              <a:extLst>
                <a:ext uri="{FF2B5EF4-FFF2-40B4-BE49-F238E27FC236}">
                  <a16:creationId xmlns:a16="http://schemas.microsoft.com/office/drawing/2014/main" id="{9E4276C4-DB46-6C33-FA7C-9F81C505DA54}"/>
                </a:ext>
              </a:extLst>
            </p:cNvPr>
            <p:cNvSpPr/>
            <p:nvPr/>
          </p:nvSpPr>
          <p:spPr bwMode="auto">
            <a:xfrm>
              <a:off x="5433880" y="2474509"/>
              <a:ext cx="1435608" cy="1463040"/>
            </a:xfrm>
            <a:prstGeom prst="downArrowCallou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Valuation</a:t>
              </a:r>
            </a:p>
          </p:txBody>
        </p:sp>
        <p:grpSp>
          <p:nvGrpSpPr>
            <p:cNvPr id="69" name="Group 68">
              <a:extLst>
                <a:ext uri="{FF2B5EF4-FFF2-40B4-BE49-F238E27FC236}">
                  <a16:creationId xmlns:a16="http://schemas.microsoft.com/office/drawing/2014/main" id="{6CB57112-6113-4FFC-3F9B-865BEED2BED2}"/>
                </a:ext>
              </a:extLst>
            </p:cNvPr>
            <p:cNvGrpSpPr/>
            <p:nvPr/>
          </p:nvGrpSpPr>
          <p:grpSpPr>
            <a:xfrm>
              <a:off x="5433880" y="695162"/>
              <a:ext cx="1435608" cy="1645920"/>
              <a:chOff x="6031705" y="998939"/>
              <a:chExt cx="1261872" cy="1497294"/>
            </a:xfrm>
          </p:grpSpPr>
          <p:sp>
            <p:nvSpPr>
              <p:cNvPr id="47" name="Rectangle 46">
                <a:extLst>
                  <a:ext uri="{FF2B5EF4-FFF2-40B4-BE49-F238E27FC236}">
                    <a16:creationId xmlns:a16="http://schemas.microsoft.com/office/drawing/2014/main" id="{61F62661-66AF-C489-7A8A-53C138CE6596}"/>
                  </a:ext>
                </a:extLst>
              </p:cNvPr>
              <p:cNvSpPr/>
              <p:nvPr/>
            </p:nvSpPr>
            <p:spPr bwMode="auto">
              <a:xfrm>
                <a:off x="6031705" y="998939"/>
                <a:ext cx="1261872" cy="1497294"/>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5" name="Group 64">
                <a:extLst>
                  <a:ext uri="{FF2B5EF4-FFF2-40B4-BE49-F238E27FC236}">
                    <a16:creationId xmlns:a16="http://schemas.microsoft.com/office/drawing/2014/main" id="{914E4067-B199-81C5-1C43-44BB5170C7C4}"/>
                  </a:ext>
                </a:extLst>
              </p:cNvPr>
              <p:cNvGrpSpPr/>
              <p:nvPr/>
            </p:nvGrpSpPr>
            <p:grpSpPr>
              <a:xfrm>
                <a:off x="6091067" y="1176086"/>
                <a:ext cx="1143149" cy="1143000"/>
                <a:chOff x="6091067" y="1176086"/>
                <a:chExt cx="1143149" cy="1143000"/>
              </a:xfrm>
            </p:grpSpPr>
            <p:sp>
              <p:nvSpPr>
                <p:cNvPr id="48" name="Oval 47">
                  <a:extLst>
                    <a:ext uri="{FF2B5EF4-FFF2-40B4-BE49-F238E27FC236}">
                      <a16:creationId xmlns:a16="http://schemas.microsoft.com/office/drawing/2014/main" id="{AE7BB434-CCAB-6F98-8E9F-E0439EC6B29B}"/>
                    </a:ext>
                  </a:extLst>
                </p:cNvPr>
                <p:cNvSpPr/>
                <p:nvPr/>
              </p:nvSpPr>
              <p:spPr bwMode="auto">
                <a:xfrm>
                  <a:off x="6091067" y="1176086"/>
                  <a:ext cx="1143149" cy="1143000"/>
                </a:xfrm>
                <a:prstGeom prst="ellipse">
                  <a:avLst/>
                </a:prstGeom>
                <a:solidFill>
                  <a:srgbClr val="F2C755"/>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2" name="Graphic 11" descr="Dollar with solid fill">
                  <a:extLst>
                    <a:ext uri="{FF2B5EF4-FFF2-40B4-BE49-F238E27FC236}">
                      <a16:creationId xmlns:a16="http://schemas.microsoft.com/office/drawing/2014/main" id="{2423B490-0799-3CB0-86F4-1207E659CF82}"/>
                    </a:ext>
                  </a:extLst>
                </p:cNvPr>
                <p:cNvSpPr/>
                <p:nvPr/>
              </p:nvSpPr>
              <p:spPr>
                <a:xfrm>
                  <a:off x="6497831" y="1441262"/>
                  <a:ext cx="329621" cy="612648"/>
                </a:xfrm>
                <a:custGeom>
                  <a:avLst/>
                  <a:gdLst>
                    <a:gd name="connsiteX0" fmla="*/ 284667 w 329621"/>
                    <a:gd name="connsiteY0" fmla="*/ 371951 h 710840"/>
                    <a:gd name="connsiteX1" fmla="*/ 186058 w 329621"/>
                    <a:gd name="connsiteY1" fmla="*/ 326243 h 710840"/>
                    <a:gd name="connsiteX2" fmla="*/ 186058 w 329621"/>
                    <a:gd name="connsiteY2" fmla="*/ 126381 h 710840"/>
                    <a:gd name="connsiteX3" fmla="*/ 274169 w 329621"/>
                    <a:gd name="connsiteY3" fmla="*/ 168287 h 710840"/>
                    <a:gd name="connsiteX4" fmla="*/ 313844 w 329621"/>
                    <a:gd name="connsiteY4" fmla="*/ 130266 h 710840"/>
                    <a:gd name="connsiteX5" fmla="*/ 186058 w 329621"/>
                    <a:gd name="connsiteY5" fmla="*/ 71828 h 710840"/>
                    <a:gd name="connsiteX6" fmla="*/ 186058 w 329621"/>
                    <a:gd name="connsiteY6" fmla="*/ 0 h 710840"/>
                    <a:gd name="connsiteX7" fmla="*/ 136465 w 329621"/>
                    <a:gd name="connsiteY7" fmla="*/ 0 h 710840"/>
                    <a:gd name="connsiteX8" fmla="*/ 136465 w 329621"/>
                    <a:gd name="connsiteY8" fmla="*/ 74969 h 710840"/>
                    <a:gd name="connsiteX9" fmla="*/ 87863 w 329621"/>
                    <a:gd name="connsiteY9" fmla="*/ 92327 h 710840"/>
                    <a:gd name="connsiteX10" fmla="*/ 18928 w 329621"/>
                    <a:gd name="connsiteY10" fmla="*/ 274169 h 710840"/>
                    <a:gd name="connsiteX11" fmla="*/ 136465 w 329621"/>
                    <a:gd name="connsiteY11" fmla="*/ 366909 h 710840"/>
                    <a:gd name="connsiteX12" fmla="*/ 136465 w 329621"/>
                    <a:gd name="connsiteY12" fmla="*/ 583302 h 710840"/>
                    <a:gd name="connsiteX13" fmla="*/ 39675 w 329621"/>
                    <a:gd name="connsiteY13" fmla="*/ 528997 h 710840"/>
                    <a:gd name="connsiteX14" fmla="*/ 0 w 329621"/>
                    <a:gd name="connsiteY14" fmla="*/ 566936 h 710840"/>
                    <a:gd name="connsiteX15" fmla="*/ 66538 w 329621"/>
                    <a:gd name="connsiteY15" fmla="*/ 619919 h 710840"/>
                    <a:gd name="connsiteX16" fmla="*/ 136465 w 329621"/>
                    <a:gd name="connsiteY16" fmla="*/ 638351 h 710840"/>
                    <a:gd name="connsiteX17" fmla="*/ 136465 w 329621"/>
                    <a:gd name="connsiteY17" fmla="*/ 710840 h 710840"/>
                    <a:gd name="connsiteX18" fmla="*/ 186058 w 329621"/>
                    <a:gd name="connsiteY18" fmla="*/ 710840 h 710840"/>
                    <a:gd name="connsiteX19" fmla="*/ 186058 w 329621"/>
                    <a:gd name="connsiteY19" fmla="*/ 636450 h 710840"/>
                    <a:gd name="connsiteX20" fmla="*/ 317646 w 329621"/>
                    <a:gd name="connsiteY20" fmla="*/ 537263 h 710840"/>
                    <a:gd name="connsiteX21" fmla="*/ 284667 w 329621"/>
                    <a:gd name="connsiteY21" fmla="*/ 371951 h 710840"/>
                    <a:gd name="connsiteX22" fmla="*/ 95137 w 329621"/>
                    <a:gd name="connsiteY22" fmla="*/ 287064 h 710840"/>
                    <a:gd name="connsiteX23" fmla="*/ 108940 w 329621"/>
                    <a:gd name="connsiteY23" fmla="*/ 143738 h 710840"/>
                    <a:gd name="connsiteX24" fmla="*/ 136465 w 329621"/>
                    <a:gd name="connsiteY24" fmla="*/ 131092 h 710840"/>
                    <a:gd name="connsiteX25" fmla="*/ 136465 w 329621"/>
                    <a:gd name="connsiteY25" fmla="*/ 310373 h 710840"/>
                    <a:gd name="connsiteX26" fmla="*/ 95137 w 329621"/>
                    <a:gd name="connsiteY26" fmla="*/ 287064 h 710840"/>
                    <a:gd name="connsiteX27" fmla="*/ 244661 w 329621"/>
                    <a:gd name="connsiteY27" fmla="*/ 550075 h 710840"/>
                    <a:gd name="connsiteX28" fmla="*/ 186058 w 329621"/>
                    <a:gd name="connsiteY28" fmla="*/ 581071 h 710840"/>
                    <a:gd name="connsiteX29" fmla="*/ 186058 w 329621"/>
                    <a:gd name="connsiteY29" fmla="*/ 383606 h 710840"/>
                    <a:gd name="connsiteX30" fmla="*/ 270533 w 329621"/>
                    <a:gd name="connsiteY30" fmla="*/ 444523 h 710840"/>
                    <a:gd name="connsiteX31" fmla="*/ 244661 w 329621"/>
                    <a:gd name="connsiteY31" fmla="*/ 550075 h 71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9621" h="710840">
                      <a:moveTo>
                        <a:pt x="284667" y="371951"/>
                      </a:moveTo>
                      <a:cubicBezTo>
                        <a:pt x="256729" y="348146"/>
                        <a:pt x="220443" y="336988"/>
                        <a:pt x="186058" y="326243"/>
                      </a:cubicBezTo>
                      <a:lnTo>
                        <a:pt x="186058" y="126381"/>
                      </a:lnTo>
                      <a:cubicBezTo>
                        <a:pt x="219443" y="129553"/>
                        <a:pt x="250641" y="144391"/>
                        <a:pt x="274169" y="168287"/>
                      </a:cubicBezTo>
                      <a:lnTo>
                        <a:pt x="313844" y="130266"/>
                      </a:lnTo>
                      <a:cubicBezTo>
                        <a:pt x="279891" y="95726"/>
                        <a:pt x="234393" y="74919"/>
                        <a:pt x="186058" y="71828"/>
                      </a:cubicBezTo>
                      <a:lnTo>
                        <a:pt x="186058" y="0"/>
                      </a:lnTo>
                      <a:lnTo>
                        <a:pt x="136465" y="0"/>
                      </a:lnTo>
                      <a:lnTo>
                        <a:pt x="136465" y="74969"/>
                      </a:lnTo>
                      <a:cubicBezTo>
                        <a:pt x="119482" y="78274"/>
                        <a:pt x="103097" y="84126"/>
                        <a:pt x="87863" y="92327"/>
                      </a:cubicBezTo>
                      <a:cubicBezTo>
                        <a:pt x="25210" y="126463"/>
                        <a:pt x="-6778" y="206640"/>
                        <a:pt x="18928" y="274169"/>
                      </a:cubicBezTo>
                      <a:cubicBezTo>
                        <a:pt x="38848" y="326243"/>
                        <a:pt x="86871" y="349469"/>
                        <a:pt x="136465" y="366909"/>
                      </a:cubicBezTo>
                      <a:lnTo>
                        <a:pt x="136465" y="583302"/>
                      </a:lnTo>
                      <a:cubicBezTo>
                        <a:pt x="98030" y="578591"/>
                        <a:pt x="66125" y="556522"/>
                        <a:pt x="39675" y="528997"/>
                      </a:cubicBezTo>
                      <a:lnTo>
                        <a:pt x="0" y="566936"/>
                      </a:lnTo>
                      <a:cubicBezTo>
                        <a:pt x="18891" y="588372"/>
                        <a:pt x="41416" y="606309"/>
                        <a:pt x="66538" y="619919"/>
                      </a:cubicBezTo>
                      <a:cubicBezTo>
                        <a:pt x="88495" y="630364"/>
                        <a:pt x="112211" y="636615"/>
                        <a:pt x="136465" y="638351"/>
                      </a:cubicBezTo>
                      <a:lnTo>
                        <a:pt x="136465" y="710840"/>
                      </a:lnTo>
                      <a:lnTo>
                        <a:pt x="186058" y="710840"/>
                      </a:lnTo>
                      <a:lnTo>
                        <a:pt x="186058" y="636450"/>
                      </a:lnTo>
                      <a:cubicBezTo>
                        <a:pt x="242926" y="626945"/>
                        <a:pt x="295164" y="591981"/>
                        <a:pt x="317646" y="537263"/>
                      </a:cubicBezTo>
                      <a:cubicBezTo>
                        <a:pt x="340129" y="482545"/>
                        <a:pt x="331946" y="412370"/>
                        <a:pt x="284667" y="371951"/>
                      </a:cubicBezTo>
                      <a:close/>
                      <a:moveTo>
                        <a:pt x="95137" y="287064"/>
                      </a:moveTo>
                      <a:cubicBezTo>
                        <a:pt x="49676" y="248711"/>
                        <a:pt x="60752" y="174486"/>
                        <a:pt x="108940" y="143738"/>
                      </a:cubicBezTo>
                      <a:cubicBezTo>
                        <a:pt x="117481" y="138261"/>
                        <a:pt x="126745" y="134004"/>
                        <a:pt x="136465" y="131092"/>
                      </a:cubicBezTo>
                      <a:lnTo>
                        <a:pt x="136465" y="310373"/>
                      </a:lnTo>
                      <a:cubicBezTo>
                        <a:pt x="121500" y="304930"/>
                        <a:pt x="107537" y="297054"/>
                        <a:pt x="95137" y="287064"/>
                      </a:cubicBezTo>
                      <a:close/>
                      <a:moveTo>
                        <a:pt x="244661" y="550075"/>
                      </a:moveTo>
                      <a:cubicBezTo>
                        <a:pt x="228529" y="565846"/>
                        <a:pt x="208175" y="576611"/>
                        <a:pt x="186058" y="581071"/>
                      </a:cubicBezTo>
                      <a:lnTo>
                        <a:pt x="186058" y="383606"/>
                      </a:lnTo>
                      <a:cubicBezTo>
                        <a:pt x="219121" y="394930"/>
                        <a:pt x="257060" y="409312"/>
                        <a:pt x="270533" y="444523"/>
                      </a:cubicBezTo>
                      <a:cubicBezTo>
                        <a:pt x="284005" y="479734"/>
                        <a:pt x="270450" y="523790"/>
                        <a:pt x="244661" y="550075"/>
                      </a:cubicBezTo>
                      <a:close/>
                    </a:path>
                  </a:pathLst>
                </a:custGeom>
                <a:solidFill>
                  <a:srgbClr val="000000"/>
                </a:solidFill>
                <a:ln w="8235"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55" name="Down Arrow Callout 69">
              <a:extLst>
                <a:ext uri="{FF2B5EF4-FFF2-40B4-BE49-F238E27FC236}">
                  <a16:creationId xmlns:a16="http://schemas.microsoft.com/office/drawing/2014/main" id="{A24273D9-4C29-C4F2-6D73-3DA5A2CBEF3D}"/>
                </a:ext>
              </a:extLst>
            </p:cNvPr>
            <p:cNvSpPr/>
            <p:nvPr/>
          </p:nvSpPr>
          <p:spPr bwMode="auto">
            <a:xfrm>
              <a:off x="7013564"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Risks</a:t>
              </a:r>
            </a:p>
          </p:txBody>
        </p:sp>
        <p:grpSp>
          <p:nvGrpSpPr>
            <p:cNvPr id="68" name="Group 67">
              <a:extLst>
                <a:ext uri="{FF2B5EF4-FFF2-40B4-BE49-F238E27FC236}">
                  <a16:creationId xmlns:a16="http://schemas.microsoft.com/office/drawing/2014/main" id="{BD706722-550E-C319-3061-4F4E281607B1}"/>
                </a:ext>
              </a:extLst>
            </p:cNvPr>
            <p:cNvGrpSpPr/>
            <p:nvPr/>
          </p:nvGrpSpPr>
          <p:grpSpPr>
            <a:xfrm>
              <a:off x="7013564" y="701514"/>
              <a:ext cx="1435608" cy="1645920"/>
              <a:chOff x="7417254" y="998937"/>
              <a:chExt cx="1264787" cy="1497293"/>
            </a:xfrm>
          </p:grpSpPr>
          <p:sp>
            <p:nvSpPr>
              <p:cNvPr id="54" name="Rectangle 53">
                <a:extLst>
                  <a:ext uri="{FF2B5EF4-FFF2-40B4-BE49-F238E27FC236}">
                    <a16:creationId xmlns:a16="http://schemas.microsoft.com/office/drawing/2014/main" id="{3DAEBF19-DC5D-2CAC-FF3F-85D3303E1E3D}"/>
                  </a:ext>
                </a:extLst>
              </p:cNvPr>
              <p:cNvSpPr/>
              <p:nvPr/>
            </p:nvSpPr>
            <p:spPr bwMode="auto">
              <a:xfrm>
                <a:off x="7417254" y="998937"/>
                <a:ext cx="1264787" cy="1497293"/>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7" name="Group 66">
                <a:extLst>
                  <a:ext uri="{FF2B5EF4-FFF2-40B4-BE49-F238E27FC236}">
                    <a16:creationId xmlns:a16="http://schemas.microsoft.com/office/drawing/2014/main" id="{AE3DBCEF-56E1-EB48-8699-D97889D060B5}"/>
                  </a:ext>
                </a:extLst>
              </p:cNvPr>
              <p:cNvGrpSpPr/>
              <p:nvPr/>
            </p:nvGrpSpPr>
            <p:grpSpPr>
              <a:xfrm>
                <a:off x="7478147" y="1176083"/>
                <a:ext cx="1143000" cy="1143000"/>
                <a:chOff x="7474569" y="1120998"/>
                <a:chExt cx="1143000" cy="1143000"/>
              </a:xfrm>
            </p:grpSpPr>
            <p:sp>
              <p:nvSpPr>
                <p:cNvPr id="56" name="Oval 55">
                  <a:extLst>
                    <a:ext uri="{FF2B5EF4-FFF2-40B4-BE49-F238E27FC236}">
                      <a16:creationId xmlns:a16="http://schemas.microsoft.com/office/drawing/2014/main" id="{691AF8DD-4E61-E7B8-DED4-261B34601D38}"/>
                    </a:ext>
                  </a:extLst>
                </p:cNvPr>
                <p:cNvSpPr/>
                <p:nvPr/>
              </p:nvSpPr>
              <p:spPr bwMode="auto">
                <a:xfrm>
                  <a:off x="7474569" y="1120998"/>
                  <a:ext cx="1143000"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7" name="Graphic 20" descr="Warning with solid fill">
                  <a:extLst>
                    <a:ext uri="{FF2B5EF4-FFF2-40B4-BE49-F238E27FC236}">
                      <a16:creationId xmlns:a16="http://schemas.microsoft.com/office/drawing/2014/main" id="{C6B8C098-8DD4-508C-6A0B-B59CC20E733B}"/>
                    </a:ext>
                  </a:extLst>
                </p:cNvPr>
                <p:cNvSpPr/>
                <p:nvPr/>
              </p:nvSpPr>
              <p:spPr>
                <a:xfrm>
                  <a:off x="7689453" y="1355694"/>
                  <a:ext cx="713232" cy="612648"/>
                </a:xfrm>
                <a:custGeom>
                  <a:avLst/>
                  <a:gdLst>
                    <a:gd name="connsiteX0" fmla="*/ 612383 w 616118"/>
                    <a:gd name="connsiteY0" fmla="*/ 500241 h 543103"/>
                    <a:gd name="connsiteX1" fmla="*/ 333062 w 616118"/>
                    <a:gd name="connsiteY1" fmla="*/ 14466 h 543103"/>
                    <a:gd name="connsiteX2" fmla="*/ 283770 w 616118"/>
                    <a:gd name="connsiteY2" fmla="*/ 14466 h 543103"/>
                    <a:gd name="connsiteX3" fmla="*/ 3735 w 616118"/>
                    <a:gd name="connsiteY3" fmla="*/ 500241 h 543103"/>
                    <a:gd name="connsiteX4" fmla="*/ 28739 w 616118"/>
                    <a:gd name="connsiteY4" fmla="*/ 543104 h 543103"/>
                    <a:gd name="connsiteX5" fmla="*/ 308059 w 616118"/>
                    <a:gd name="connsiteY5" fmla="*/ 543104 h 543103"/>
                    <a:gd name="connsiteX6" fmla="*/ 587380 w 616118"/>
                    <a:gd name="connsiteY6" fmla="*/ 543104 h 543103"/>
                    <a:gd name="connsiteX7" fmla="*/ 612383 w 616118"/>
                    <a:gd name="connsiteY7" fmla="*/ 500241 h 543103"/>
                    <a:gd name="connsiteX8" fmla="*/ 286628 w 616118"/>
                    <a:gd name="connsiteY8" fmla="*/ 128766 h 543103"/>
                    <a:gd name="connsiteX9" fmla="*/ 329490 w 616118"/>
                    <a:gd name="connsiteY9" fmla="*/ 128766 h 543103"/>
                    <a:gd name="connsiteX10" fmla="*/ 329490 w 616118"/>
                    <a:gd name="connsiteY10" fmla="*/ 378797 h 543103"/>
                    <a:gd name="connsiteX11" fmla="*/ 286628 w 616118"/>
                    <a:gd name="connsiteY11" fmla="*/ 378797 h 543103"/>
                    <a:gd name="connsiteX12" fmla="*/ 286628 w 616118"/>
                    <a:gd name="connsiteY12" fmla="*/ 128766 h 543103"/>
                    <a:gd name="connsiteX13" fmla="*/ 308059 w 616118"/>
                    <a:gd name="connsiteY13" fmla="*/ 478810 h 543103"/>
                    <a:gd name="connsiteX14" fmla="*/ 272340 w 616118"/>
                    <a:gd name="connsiteY14" fmla="*/ 443091 h 543103"/>
                    <a:gd name="connsiteX15" fmla="*/ 308059 w 616118"/>
                    <a:gd name="connsiteY15" fmla="*/ 407372 h 543103"/>
                    <a:gd name="connsiteX16" fmla="*/ 343778 w 616118"/>
                    <a:gd name="connsiteY16" fmla="*/ 443091 h 543103"/>
                    <a:gd name="connsiteX17" fmla="*/ 308059 w 616118"/>
                    <a:gd name="connsiteY17" fmla="*/ 478810 h 54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6118" h="543103">
                      <a:moveTo>
                        <a:pt x="612383" y="500241"/>
                      </a:moveTo>
                      <a:lnTo>
                        <a:pt x="333062" y="14466"/>
                      </a:lnTo>
                      <a:cubicBezTo>
                        <a:pt x="322347" y="-4822"/>
                        <a:pt x="294486" y="-4822"/>
                        <a:pt x="283770" y="14466"/>
                      </a:cubicBezTo>
                      <a:lnTo>
                        <a:pt x="3735" y="500241"/>
                      </a:lnTo>
                      <a:cubicBezTo>
                        <a:pt x="-6980" y="519529"/>
                        <a:pt x="6593" y="543104"/>
                        <a:pt x="28739" y="543104"/>
                      </a:cubicBezTo>
                      <a:lnTo>
                        <a:pt x="308059" y="543104"/>
                      </a:lnTo>
                      <a:lnTo>
                        <a:pt x="587380" y="543104"/>
                      </a:lnTo>
                      <a:cubicBezTo>
                        <a:pt x="609525" y="543104"/>
                        <a:pt x="623099" y="519529"/>
                        <a:pt x="612383" y="500241"/>
                      </a:cubicBezTo>
                      <a:close/>
                      <a:moveTo>
                        <a:pt x="286628" y="128766"/>
                      </a:moveTo>
                      <a:lnTo>
                        <a:pt x="329490" y="128766"/>
                      </a:lnTo>
                      <a:lnTo>
                        <a:pt x="329490" y="378797"/>
                      </a:lnTo>
                      <a:lnTo>
                        <a:pt x="286628" y="378797"/>
                      </a:lnTo>
                      <a:lnTo>
                        <a:pt x="286628" y="128766"/>
                      </a:lnTo>
                      <a:close/>
                      <a:moveTo>
                        <a:pt x="308059" y="478810"/>
                      </a:moveTo>
                      <a:cubicBezTo>
                        <a:pt x="288057" y="478810"/>
                        <a:pt x="272340" y="463094"/>
                        <a:pt x="272340" y="443091"/>
                      </a:cubicBezTo>
                      <a:cubicBezTo>
                        <a:pt x="272340" y="423089"/>
                        <a:pt x="288057" y="407372"/>
                        <a:pt x="308059" y="407372"/>
                      </a:cubicBezTo>
                      <a:cubicBezTo>
                        <a:pt x="328062" y="407372"/>
                        <a:pt x="343778" y="423089"/>
                        <a:pt x="343778" y="443091"/>
                      </a:cubicBezTo>
                      <a:cubicBezTo>
                        <a:pt x="343778" y="463094"/>
                        <a:pt x="328062" y="478810"/>
                        <a:pt x="308059" y="478810"/>
                      </a:cubicBezTo>
                      <a:close/>
                    </a:path>
                  </a:pathLst>
                </a:custGeom>
                <a:solidFill>
                  <a:srgbClr val="000000"/>
                </a:solidFill>
                <a:ln w="7144"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10" name="Down Arrow Callout 26">
              <a:extLst>
                <a:ext uri="{FF2B5EF4-FFF2-40B4-BE49-F238E27FC236}">
                  <a16:creationId xmlns:a16="http://schemas.microsoft.com/office/drawing/2014/main" id="{AA659ABC-409A-2D98-884F-3083B7BFA274}"/>
                </a:ext>
              </a:extLst>
            </p:cNvPr>
            <p:cNvSpPr/>
            <p:nvPr/>
          </p:nvSpPr>
          <p:spPr bwMode="auto">
            <a:xfrm>
              <a:off x="704167" y="2474509"/>
              <a:ext cx="1435608" cy="1463040"/>
            </a:xfrm>
            <a:prstGeom prst="downArrowCallou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Business Description</a:t>
              </a:r>
            </a:p>
          </p:txBody>
        </p:sp>
        <p:grpSp>
          <p:nvGrpSpPr>
            <p:cNvPr id="32" name="Group 31">
              <a:extLst>
                <a:ext uri="{FF2B5EF4-FFF2-40B4-BE49-F238E27FC236}">
                  <a16:creationId xmlns:a16="http://schemas.microsoft.com/office/drawing/2014/main" id="{623AAAF0-3E65-0F2A-0A31-4F99E2A68BFC}"/>
                </a:ext>
              </a:extLst>
            </p:cNvPr>
            <p:cNvGrpSpPr/>
            <p:nvPr/>
          </p:nvGrpSpPr>
          <p:grpSpPr>
            <a:xfrm>
              <a:off x="695702" y="701514"/>
              <a:ext cx="1435608" cy="1645920"/>
              <a:chOff x="676875" y="701139"/>
              <a:chExt cx="1435608" cy="1645920"/>
            </a:xfrm>
          </p:grpSpPr>
          <p:sp>
            <p:nvSpPr>
              <p:cNvPr id="3" name="Rectangle 2">
                <a:extLst>
                  <a:ext uri="{FF2B5EF4-FFF2-40B4-BE49-F238E27FC236}">
                    <a16:creationId xmlns:a16="http://schemas.microsoft.com/office/drawing/2014/main" id="{CBD056DB-8FE8-0522-4010-185B7D37942F}"/>
                  </a:ext>
                </a:extLst>
              </p:cNvPr>
              <p:cNvSpPr/>
              <p:nvPr/>
            </p:nvSpPr>
            <p:spPr bwMode="auto">
              <a:xfrm>
                <a:off x="676875" y="701139"/>
                <a:ext cx="1435608" cy="1645920"/>
              </a:xfrm>
              <a:prstGeom prst="rec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4" name="Oval 3">
                <a:extLst>
                  <a:ext uri="{FF2B5EF4-FFF2-40B4-BE49-F238E27FC236}">
                    <a16:creationId xmlns:a16="http://schemas.microsoft.com/office/drawing/2014/main" id="{A399D1E2-2F39-CD05-AC69-ABBE330855B2}"/>
                  </a:ext>
                </a:extLst>
              </p:cNvPr>
              <p:cNvSpPr/>
              <p:nvPr/>
            </p:nvSpPr>
            <p:spPr bwMode="auto">
              <a:xfrm>
                <a:off x="744824" y="895586"/>
                <a:ext cx="1299710" cy="1257027"/>
              </a:xfrm>
              <a:prstGeom prst="ellipse">
                <a:avLst/>
              </a:prstGeom>
              <a:solidFill>
                <a:srgbClr val="BFBFBF"/>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7" name="Graphic 6" descr="Lights On with solid fill">
                <a:extLst>
                  <a:ext uri="{FF2B5EF4-FFF2-40B4-BE49-F238E27FC236}">
                    <a16:creationId xmlns:a16="http://schemas.microsoft.com/office/drawing/2014/main" id="{F83EE324-CA44-6D5E-B23F-8992012F14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5940" y="984359"/>
                <a:ext cx="1117478" cy="1091784"/>
              </a:xfrm>
              <a:prstGeom prst="rect">
                <a:avLst/>
              </a:prstGeom>
            </p:spPr>
          </p:pic>
        </p:grpSp>
      </p:grpSp>
      <p:grpSp>
        <p:nvGrpSpPr>
          <p:cNvPr id="16" name="Group 15">
            <a:extLst>
              <a:ext uri="{FF2B5EF4-FFF2-40B4-BE49-F238E27FC236}">
                <a16:creationId xmlns:a16="http://schemas.microsoft.com/office/drawing/2014/main" id="{71F59F57-D193-11F0-7641-2B1273AE2608}"/>
              </a:ext>
            </a:extLst>
          </p:cNvPr>
          <p:cNvGrpSpPr/>
          <p:nvPr/>
        </p:nvGrpSpPr>
        <p:grpSpPr>
          <a:xfrm>
            <a:off x="715915" y="5163690"/>
            <a:ext cx="7726417" cy="882926"/>
            <a:chOff x="-160039" y="5179526"/>
            <a:chExt cx="7517329" cy="882926"/>
          </a:xfrm>
        </p:grpSpPr>
        <p:grpSp>
          <p:nvGrpSpPr>
            <p:cNvPr id="17" name="Group 16">
              <a:extLst>
                <a:ext uri="{FF2B5EF4-FFF2-40B4-BE49-F238E27FC236}">
                  <a16:creationId xmlns:a16="http://schemas.microsoft.com/office/drawing/2014/main" id="{BD672217-D336-4C1C-6AFF-D48652DFCA83}"/>
                </a:ext>
              </a:extLst>
            </p:cNvPr>
            <p:cNvGrpSpPr/>
            <p:nvPr/>
          </p:nvGrpSpPr>
          <p:grpSpPr>
            <a:xfrm>
              <a:off x="2489704" y="5179526"/>
              <a:ext cx="4867586" cy="882924"/>
              <a:chOff x="2579522" y="5179526"/>
              <a:chExt cx="4867586" cy="882924"/>
            </a:xfrm>
          </p:grpSpPr>
          <p:sp>
            <p:nvSpPr>
              <p:cNvPr id="19" name="Rectangle 18">
                <a:extLst>
                  <a:ext uri="{FF2B5EF4-FFF2-40B4-BE49-F238E27FC236}">
                    <a16:creationId xmlns:a16="http://schemas.microsoft.com/office/drawing/2014/main" id="{9E6DF484-1FC5-D0DD-8340-882412D348F0}"/>
                  </a:ext>
                </a:extLst>
              </p:cNvPr>
              <p:cNvSpPr/>
              <p:nvPr/>
            </p:nvSpPr>
            <p:spPr bwMode="auto">
              <a:xfrm>
                <a:off x="2579522" y="5179526"/>
                <a:ext cx="2217841" cy="88292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Non-Circular Inversion</a:t>
                </a:r>
              </a:p>
            </p:txBody>
          </p:sp>
          <p:sp>
            <p:nvSpPr>
              <p:cNvPr id="20" name="Rectangle 19">
                <a:extLst>
                  <a:ext uri="{FF2B5EF4-FFF2-40B4-BE49-F238E27FC236}">
                    <a16:creationId xmlns:a16="http://schemas.microsoft.com/office/drawing/2014/main" id="{FB85DCD9-CBB1-41B1-8D7D-992826DC9DD0}"/>
                  </a:ext>
                </a:extLst>
              </p:cNvPr>
              <p:cNvSpPr/>
              <p:nvPr/>
            </p:nvSpPr>
            <p:spPr bwMode="auto">
              <a:xfrm>
                <a:off x="5229268" y="5179527"/>
                <a:ext cx="2217840" cy="88292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Target and Four Methods</a:t>
                </a:r>
              </a:p>
            </p:txBody>
          </p:sp>
        </p:grpSp>
        <p:sp>
          <p:nvSpPr>
            <p:cNvPr id="18" name="Rectangle 17">
              <a:extLst>
                <a:ext uri="{FF2B5EF4-FFF2-40B4-BE49-F238E27FC236}">
                  <a16:creationId xmlns:a16="http://schemas.microsoft.com/office/drawing/2014/main" id="{7436DA68-B9F4-2F43-A0A5-098C96F5250C}"/>
                </a:ext>
              </a:extLst>
            </p:cNvPr>
            <p:cNvSpPr/>
            <p:nvPr/>
          </p:nvSpPr>
          <p:spPr bwMode="auto">
            <a:xfrm>
              <a:off x="-160039" y="5179529"/>
              <a:ext cx="2217840" cy="88292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Historical Multiple</a:t>
              </a:r>
            </a:p>
          </p:txBody>
        </p:sp>
      </p:grpSp>
    </p:spTree>
    <p:extLst>
      <p:ext uri="{BB962C8B-B14F-4D97-AF65-F5344CB8AC3E}">
        <p14:creationId xmlns:p14="http://schemas.microsoft.com/office/powerpoint/2010/main" val="2564451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A6410-1ED8-B227-2D47-09214A747776}"/>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AE3C58F5-8B3D-7678-C1A7-E33BFE4163AD}"/>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8D88592F-B90A-810F-FEEC-E946E3DC597B}"/>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pPr>
              <a:r>
                <a:rPr lang="en-US" sz="3000" b="1">
                  <a:solidFill>
                    <a:srgbClr val="000000"/>
                  </a:solidFill>
                  <a:latin typeface="Calibri" panose="020F0502020204030204" pitchFamily="34" charset="0"/>
                </a:rPr>
                <a:t>GATX Has Lessor Leverage and a Railroad Multiple</a:t>
              </a:r>
            </a:p>
          </p:txBody>
        </p:sp>
        <p:grpSp>
          <p:nvGrpSpPr>
            <p:cNvPr id="16397" name="Group 39">
              <a:extLst>
                <a:ext uri="{FF2B5EF4-FFF2-40B4-BE49-F238E27FC236}">
                  <a16:creationId xmlns:a16="http://schemas.microsoft.com/office/drawing/2014/main" id="{5699067B-DB86-F08D-D11C-2EDA00535806}"/>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4D88BE81-74EB-91D0-C1F0-7DBDE7AD200A}"/>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5EA8AF6C-7E92-8CB0-BA55-44812885A83B}"/>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347D35E5-5B19-1693-7807-4860DD15D05A}"/>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5F5247B8-43D5-38CA-4476-B7B81A02097E}"/>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F4F4D785-76B9-B3E7-F8DC-ABC19D4D2770}"/>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DD9BE1EA-9E97-CD66-6080-59917A88BBD6}"/>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955D3E85-0C3F-8F9D-9A41-F641256828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EFB64800-6881-DB9D-AAEB-67719A9458A4}"/>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0B51D07D-38D3-1E9C-A826-BC9FE80FF1FA}"/>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1F6D2AF6-6E7F-C1FD-20E2-3236D3007B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DE8D8A64-DCC5-71FC-BF82-C7C2148BBCCD}"/>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F9A558F7-59BC-3A7C-114B-31B82FC7EE4F}"/>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4FD95F2D-1729-E54F-7606-A7D19AC2198D}"/>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B19C3EDD-5249-733C-DBEE-FCC30E3DAE86}"/>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10AA6DA2-6FB1-DEBA-FA4C-12922C43D0F2}"/>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9A8A0183-37ED-5D7D-2153-34893EA49DB4}"/>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2948EFEC-8123-4B1D-DAEC-32E0AE254FD2}"/>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60EAB548-5CCB-9496-D2E2-AEAFD9280A24}"/>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B5F8B8F1-FD82-413D-D5E9-16DF1056FB6F}"/>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4A00484D-77DE-40E6-4FFF-23365D3D22FD}"/>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505B24FE-B19B-1718-BA7D-7220511DEBD2}"/>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623C47C6-7A22-7225-283D-7DF5F929A482}"/>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61C49F27-9A2C-B014-C55F-EBD45C7E319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pic>
        <p:nvPicPr>
          <p:cNvPr id="2" name="Picture 1" descr="A black background with blue text&#10;&#10;Description automatically generated">
            <a:extLst>
              <a:ext uri="{FF2B5EF4-FFF2-40B4-BE49-F238E27FC236}">
                <a16:creationId xmlns:a16="http://schemas.microsoft.com/office/drawing/2014/main" id="{FE07E1F0-F05C-DCE8-D287-762750FABD75}"/>
              </a:ext>
            </a:extLst>
          </p:cNvPr>
          <p:cNvPicPr>
            <a:picLocks noChangeAspect="1"/>
          </p:cNvPicPr>
          <p:nvPr/>
        </p:nvPicPr>
        <p:blipFill>
          <a:blip r:embed="rId7">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6" name="Text Box 2">
            <a:extLst>
              <a:ext uri="{FF2B5EF4-FFF2-40B4-BE49-F238E27FC236}">
                <a16:creationId xmlns:a16="http://schemas.microsoft.com/office/drawing/2014/main" id="{18225EE4-5950-4FE9-DA1B-48D97632A059}"/>
              </a:ext>
            </a:extLst>
          </p:cNvPr>
          <p:cNvSpPr txBox="1">
            <a:spLocks noChangeArrowheads="1"/>
          </p:cNvSpPr>
          <p:nvPr/>
        </p:nvSpPr>
        <p:spPr bwMode="auto">
          <a:xfrm>
            <a:off x="132418" y="3000256"/>
            <a:ext cx="5567503"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a:ea typeface="Calibri" panose="020F0502020204030204" pitchFamily="34" charset="0"/>
                <a:cs typeface="Times New Roman"/>
              </a:rPr>
              <a:t>Figure 38:  Comparable companies, FactSet pulled 2026-09-21, prices as of 2026-09-18</a:t>
            </a:r>
            <a:endParaRPr lang="en-US" altLang="en-US" sz="120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109D08B4-E532-D9A6-E63C-01F7B81595EE}"/>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20</a:t>
            </a:fld>
            <a:endParaRPr lang="en-US" sz="1400">
              <a:latin typeface="Calibri" panose="020F0502020204030204" pitchFamily="34" charset="0"/>
              <a:cs typeface="Calibri" panose="020F0502020204030204" pitchFamily="34" charset="0"/>
            </a:endParaRPr>
          </a:p>
        </p:txBody>
      </p:sp>
      <p:sp>
        <p:nvSpPr>
          <p:cNvPr id="21" name="Text Box 2">
            <a:extLst>
              <a:ext uri="{FF2B5EF4-FFF2-40B4-BE49-F238E27FC236}">
                <a16:creationId xmlns:a16="http://schemas.microsoft.com/office/drawing/2014/main" id="{6D653B6B-0953-305C-0567-E4C36751BF52}"/>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pSp>
        <p:nvGrpSpPr>
          <p:cNvPr id="5" name="Group 4">
            <a:extLst>
              <a:ext uri="{FF2B5EF4-FFF2-40B4-BE49-F238E27FC236}">
                <a16:creationId xmlns:a16="http://schemas.microsoft.com/office/drawing/2014/main" id="{68E79B64-B8D2-A6B3-2EC4-5E435B07C91F}"/>
              </a:ext>
            </a:extLst>
          </p:cNvPr>
          <p:cNvGrpSpPr/>
          <p:nvPr/>
        </p:nvGrpSpPr>
        <p:grpSpPr>
          <a:xfrm>
            <a:off x="132418" y="1017560"/>
            <a:ext cx="8885797" cy="1826703"/>
            <a:chOff x="292665" y="1443262"/>
            <a:chExt cx="8422735" cy="3931167"/>
          </a:xfrm>
        </p:grpSpPr>
        <p:sp>
          <p:nvSpPr>
            <p:cNvPr id="7" name="Rectangle 6">
              <a:extLst>
                <a:ext uri="{FF2B5EF4-FFF2-40B4-BE49-F238E27FC236}">
                  <a16:creationId xmlns:a16="http://schemas.microsoft.com/office/drawing/2014/main" id="{2EEB78C5-91A0-A98B-7807-FBD81609A501}"/>
                </a:ext>
              </a:extLst>
            </p:cNvPr>
            <p:cNvSpPr/>
            <p:nvPr/>
          </p:nvSpPr>
          <p:spPr>
            <a:xfrm>
              <a:off x="292665" y="1443271"/>
              <a:ext cx="2578963" cy="3931158"/>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l">
                <a:spcBef>
                  <a:spcPts val="0"/>
                </a:spcBef>
                <a:spcAft>
                  <a:spcPts val="600"/>
                </a:spcAft>
                <a:buNone/>
              </a:pPr>
              <a:r>
                <a:rPr lang="en-US" sz="1100">
                  <a:solidFill>
                    <a:srgbClr val="000000"/>
                  </a:solidFill>
                  <a:latin typeface="Calibri" panose="020F0502020204030204" pitchFamily="34" charset="0"/>
                  <a:ea typeface="Calibri" panose="020F0502020204030204" pitchFamily="34" charset="0"/>
                  <a:cs typeface="Calibri" panose="020F0502020204030204" pitchFamily="34" charset="0"/>
                </a:rPr>
                <a:t>GATX's debt/EV of 69% matches AerCap (69%) and Trinity (72%). Its P/E of 17.6x sits between the lessor cluster (7 to 14x) and the Class I rails (22 to 27x). The market prices GATX's balance sheet as a lessor and its earnings as rail infrastructure.</a:t>
              </a:r>
            </a:p>
          </p:txBody>
        </p:sp>
        <p:sp>
          <p:nvSpPr>
            <p:cNvPr id="8" name="Rectangle 7">
              <a:extLst>
                <a:ext uri="{FF2B5EF4-FFF2-40B4-BE49-F238E27FC236}">
                  <a16:creationId xmlns:a16="http://schemas.microsoft.com/office/drawing/2014/main" id="{D634D399-A184-F9D0-BF8F-CDB83AA55C54}"/>
                </a:ext>
              </a:extLst>
            </p:cNvPr>
            <p:cNvSpPr/>
            <p:nvPr/>
          </p:nvSpPr>
          <p:spPr>
            <a:xfrm>
              <a:off x="3214551" y="1443262"/>
              <a:ext cx="2578963" cy="3931164"/>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l">
                <a:spcBef>
                  <a:spcPts val="0"/>
                </a:spcBef>
                <a:spcAft>
                  <a:spcPts val="600"/>
                </a:spcAft>
                <a:buNone/>
              </a:pPr>
              <a:r>
                <a:rPr lang="en-US" sz="1100">
                  <a:solidFill>
                    <a:srgbClr val="000000"/>
                  </a:solidFill>
                  <a:latin typeface="Calibri" panose="020F0502020204030204" pitchFamily="34" charset="0"/>
                  <a:ea typeface="Calibri" panose="020F0502020204030204" pitchFamily="34" charset="0"/>
                  <a:cs typeface="Calibri" panose="020F0502020204030204" pitchFamily="34" charset="0"/>
                </a:rPr>
                <a:t>AerCap earns an 18.7% ROE at 6.9x earnings and 1.2x book. GATX earns 13.3% at 17.6x and 2.3x book. The premium rests on railcar asset life (40+ years vs 25 for aircraft), residual-value stability, and domestic-only exposure. BMG holds the multiple at GATX's own median; the disagreement with the Street is the earnings.</a:t>
              </a:r>
            </a:p>
          </p:txBody>
        </p:sp>
        <p:sp>
          <p:nvSpPr>
            <p:cNvPr id="9" name="Rectangle 8">
              <a:extLst>
                <a:ext uri="{FF2B5EF4-FFF2-40B4-BE49-F238E27FC236}">
                  <a16:creationId xmlns:a16="http://schemas.microsoft.com/office/drawing/2014/main" id="{3DA364F2-7A4A-86E4-486A-FDFA18E172C7}"/>
                </a:ext>
              </a:extLst>
            </p:cNvPr>
            <p:cNvSpPr/>
            <p:nvPr/>
          </p:nvSpPr>
          <p:spPr>
            <a:xfrm>
              <a:off x="6136437" y="1443271"/>
              <a:ext cx="2578963" cy="3931155"/>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l">
                <a:spcBef>
                  <a:spcPts val="0"/>
                </a:spcBef>
                <a:spcAft>
                  <a:spcPts val="600"/>
                </a:spcAft>
                <a:buNone/>
              </a:pPr>
              <a:r>
                <a:rPr lang="en-US" sz="1100">
                  <a:solidFill>
                    <a:srgbClr val="000000"/>
                  </a:solidFill>
                  <a:latin typeface="Calibri" panose="020F0502020204030204" pitchFamily="34" charset="0"/>
                  <a:ea typeface="Calibri" panose="020F0502020204030204" pitchFamily="34" charset="0"/>
                  <a:cs typeface="Calibri" panose="020F0502020204030204" pitchFamily="34" charset="0"/>
                </a:rPr>
                <a:t>GATX funds 13.4% of capital expenditure from operating cash flow, the lowest in the group (FactSet internal funding ratio). The rails fund over 100%. This is why free cash flow is negative and why the deck values on multiples.</a:t>
              </a:r>
            </a:p>
          </p:txBody>
        </p:sp>
      </p:grpSp>
      <p:graphicFrame>
        <p:nvGraphicFramePr>
          <p:cNvPr id="19" name="Table 18">
            <a:extLst>
              <a:ext uri="{FF2B5EF4-FFF2-40B4-BE49-F238E27FC236}">
                <a16:creationId xmlns:a16="http://schemas.microsoft.com/office/drawing/2014/main" id="{9F396CD8-2CBB-7182-FC67-266B8435F075}"/>
              </a:ext>
            </a:extLst>
          </p:cNvPr>
          <p:cNvGraphicFramePr>
            <a:graphicFrameLocks noGrp="1"/>
          </p:cNvGraphicFramePr>
          <p:nvPr>
            <p:custDataLst>
              <p:tags r:id="rId1"/>
            </p:custDataLst>
          </p:nvPr>
        </p:nvGraphicFramePr>
        <p:xfrm>
          <a:off x="132418" y="3310298"/>
          <a:ext cx="8885797" cy="2524800"/>
        </p:xfrm>
        <a:graphic>
          <a:graphicData uri="http://schemas.openxmlformats.org/drawingml/2006/table">
            <a:tbl>
              <a:tblPr/>
              <a:tblGrid>
                <a:gridCol w="620000">
                  <a:extLst>
                    <a:ext uri="{9D8B030D-6E8A-4147-A177-3AD203B41FA5}">
                      <a16:colId xmlns:a16="http://schemas.microsoft.com/office/drawing/2014/main" val="20000"/>
                    </a:ext>
                  </a:extLst>
                </a:gridCol>
                <a:gridCol w="751436">
                  <a:extLst>
                    <a:ext uri="{9D8B030D-6E8A-4147-A177-3AD203B41FA5}">
                      <a16:colId xmlns:a16="http://schemas.microsoft.com/office/drawing/2014/main" val="20001"/>
                    </a:ext>
                  </a:extLst>
                </a:gridCol>
                <a:gridCol w="751436">
                  <a:extLst>
                    <a:ext uri="{9D8B030D-6E8A-4147-A177-3AD203B41FA5}">
                      <a16:colId xmlns:a16="http://schemas.microsoft.com/office/drawing/2014/main" val="20002"/>
                    </a:ext>
                  </a:extLst>
                </a:gridCol>
                <a:gridCol w="751436">
                  <a:extLst>
                    <a:ext uri="{9D8B030D-6E8A-4147-A177-3AD203B41FA5}">
                      <a16:colId xmlns:a16="http://schemas.microsoft.com/office/drawing/2014/main" val="20003"/>
                    </a:ext>
                  </a:extLst>
                </a:gridCol>
                <a:gridCol w="751436">
                  <a:extLst>
                    <a:ext uri="{9D8B030D-6E8A-4147-A177-3AD203B41FA5}">
                      <a16:colId xmlns:a16="http://schemas.microsoft.com/office/drawing/2014/main" val="20004"/>
                    </a:ext>
                  </a:extLst>
                </a:gridCol>
                <a:gridCol w="751436">
                  <a:extLst>
                    <a:ext uri="{9D8B030D-6E8A-4147-A177-3AD203B41FA5}">
                      <a16:colId xmlns:a16="http://schemas.microsoft.com/office/drawing/2014/main" val="20005"/>
                    </a:ext>
                  </a:extLst>
                </a:gridCol>
                <a:gridCol w="751436">
                  <a:extLst>
                    <a:ext uri="{9D8B030D-6E8A-4147-A177-3AD203B41FA5}">
                      <a16:colId xmlns:a16="http://schemas.microsoft.com/office/drawing/2014/main" val="20006"/>
                    </a:ext>
                  </a:extLst>
                </a:gridCol>
                <a:gridCol w="751436">
                  <a:extLst>
                    <a:ext uri="{9D8B030D-6E8A-4147-A177-3AD203B41FA5}">
                      <a16:colId xmlns:a16="http://schemas.microsoft.com/office/drawing/2014/main" val="20007"/>
                    </a:ext>
                  </a:extLst>
                </a:gridCol>
                <a:gridCol w="751436">
                  <a:extLst>
                    <a:ext uri="{9D8B030D-6E8A-4147-A177-3AD203B41FA5}">
                      <a16:colId xmlns:a16="http://schemas.microsoft.com/office/drawing/2014/main" val="20008"/>
                    </a:ext>
                  </a:extLst>
                </a:gridCol>
                <a:gridCol w="751436">
                  <a:extLst>
                    <a:ext uri="{9D8B030D-6E8A-4147-A177-3AD203B41FA5}">
                      <a16:colId xmlns:a16="http://schemas.microsoft.com/office/drawing/2014/main" val="20009"/>
                    </a:ext>
                  </a:extLst>
                </a:gridCol>
                <a:gridCol w="751436">
                  <a:extLst>
                    <a:ext uri="{9D8B030D-6E8A-4147-A177-3AD203B41FA5}">
                      <a16:colId xmlns:a16="http://schemas.microsoft.com/office/drawing/2014/main" val="20010"/>
                    </a:ext>
                  </a:extLst>
                </a:gridCol>
                <a:gridCol w="751437">
                  <a:extLst>
                    <a:ext uri="{9D8B030D-6E8A-4147-A177-3AD203B41FA5}">
                      <a16:colId xmlns:a16="http://schemas.microsoft.com/office/drawing/2014/main" val="20011"/>
                    </a:ext>
                  </a:extLst>
                </a:gridCol>
              </a:tblGrid>
              <a:tr h="185000">
                <a:tc>
                  <a:txBody>
                    <a:bodyPr/>
                    <a:lstStyle/>
                    <a:p>
                      <a:pPr algn="l"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Ticker</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Price</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Mkt Cap ($M)</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EV ($M)</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EV/EBITDA</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P/E LTM</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P/E FY1</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P/BV</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ROE</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ROA</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Net Margin</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Div Yield</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extLst>
                  <a:ext uri="{0D108BD9-81ED-4DB2-BD59-A6C34878D82A}">
                    <a16:rowId xmlns:a16="http://schemas.microsoft.com/office/drawing/2014/main" val="10000"/>
                  </a:ext>
                </a:extLst>
              </a:tr>
              <a:tr h="180000">
                <a:tc>
                  <a:txBody>
                    <a:bodyPr/>
                    <a:lstStyle/>
                    <a:p>
                      <a:pPr algn="l"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GATX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177.89</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6,436</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18,106</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14.7x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17.6x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17.4x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2.26x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13.3%</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2.3%</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17.6%</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1.48%</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01"/>
                  </a:ext>
                </a:extLst>
              </a:tr>
              <a:tr h="140000">
                <a:tc gridSpan="12">
                  <a:txBody>
                    <a:bodyPr/>
                    <a:lstStyle/>
                    <a:p>
                      <a:pPr algn="l" fontAlgn="b"/>
                      <a:r>
                        <a:rPr lang="en-US" sz="900" b="0" i="1"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Lessors</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02"/>
                  </a:ext>
                </a:extLst>
              </a:tr>
              <a:tr h="180000">
                <a:tc>
                  <a:txBody>
                    <a:bodyPr/>
                    <a:lstStyle/>
                    <a:p>
                      <a:pPr algn="l"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AER</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141.64</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22,761</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62,322</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a:endParaRPr lang="en-US" sz="1000"/>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6.9x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7.6x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1.21x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18.7%</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4.7%</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45.0%</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1.04%</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03"/>
                  </a:ext>
                </a:extLst>
              </a:tr>
              <a:tr h="180000">
                <a:tc>
                  <a:txBody>
                    <a:bodyPr/>
                    <a:lstStyle/>
                    <a:p>
                      <a:pPr algn="l"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WLFC</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54.32</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1,621</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3,614</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9.6x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13.6x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8.8x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1.75x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12.6%</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2.4%</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13.2%</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0.98%</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0004"/>
                  </a:ext>
                </a:extLst>
              </a:tr>
              <a:tr h="140000">
                <a:tc gridSpan="12">
                  <a:txBody>
                    <a:bodyPr/>
                    <a:lstStyle/>
                    <a:p>
                      <a:pPr algn="l" fontAlgn="b"/>
                      <a:r>
                        <a:rPr lang="en-US" sz="900" b="0" i="1"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Manufacturers</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05"/>
                  </a:ext>
                </a:extLst>
              </a:tr>
              <a:tr h="180000">
                <a:tc>
                  <a:txBody>
                    <a:bodyPr/>
                    <a:lstStyle/>
                    <a:p>
                      <a:pPr algn="l"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TRN</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28.00</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2,313</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7,245</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11.1x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6.7x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12.6x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1.95x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32.4%</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4.1%</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17.1%</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4.43%</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06"/>
                  </a:ext>
                </a:extLst>
              </a:tr>
              <a:tr h="180000">
                <a:tc>
                  <a:txBody>
                    <a:bodyPr/>
                    <a:lstStyle/>
                    <a:p>
                      <a:pPr algn="l"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GBX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41.82</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1,294</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2,835</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6.8x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12.3x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13.8x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0.82x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7.0%</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2.5%</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4.1%</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3.25%</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0007"/>
                  </a:ext>
                </a:extLst>
              </a:tr>
              <a:tr h="140000">
                <a:tc gridSpan="12">
                  <a:txBody>
                    <a:bodyPr/>
                    <a:lstStyle/>
                    <a:p>
                      <a:pPr algn="l" fontAlgn="b"/>
                      <a:r>
                        <a:rPr lang="en-US" sz="900" b="0" i="1"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Rental and rails</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08"/>
                  </a:ext>
                </a:extLst>
              </a:tr>
              <a:tr h="180000">
                <a:tc>
                  <a:txBody>
                    <a:bodyPr/>
                    <a:lstStyle/>
                    <a:p>
                      <a:pPr algn="l"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URI</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1,013.91</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63,297</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77,415</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a:endParaRPr lang="en-US" sz="1000"/>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24.4x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20.5x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6.85x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28.9%</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8.7%</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15.7%</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0.76%</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09"/>
                  </a:ext>
                </a:extLst>
              </a:tr>
              <a:tr h="180000">
                <a:tc>
                  <a:txBody>
                    <a:bodyPr/>
                    <a:lstStyle/>
                    <a:p>
                      <a:pPr algn="l"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UNP</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279.37</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166,472</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194,683</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13.7x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22.6x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21.4x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8.03x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39.7%</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10.5%</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28.8%</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2.03%</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0010"/>
                  </a:ext>
                </a:extLst>
              </a:tr>
              <a:tr h="180000">
                <a:tc>
                  <a:txBody>
                    <a:bodyPr/>
                    <a:lstStyle/>
                    <a:p>
                      <a:pPr algn="l"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CSX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47.10</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87,531</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102,336</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13.4x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27.2x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23.5x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6.20x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24.4%</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7.4%</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22.2%</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1.19%</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0011"/>
                  </a:ext>
                </a:extLst>
              </a:tr>
              <a:tr h="180000">
                <a:tc>
                  <a:txBody>
                    <a:bodyPr/>
                    <a:lstStyle/>
                    <a:p>
                      <a:pPr algn="l"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NSC</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314.16</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70,804</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84,451</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15.2x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26.8x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24.2x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4.34x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17.0%</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5.9%</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21.0%</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1.72%</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0012"/>
                  </a:ext>
                </a:extLst>
              </a:tr>
              <a:tr h="180000">
                <a:tc>
                  <a:txBody>
                    <a:bodyPr/>
                    <a:lstStyle/>
                    <a:p>
                      <a:pPr algn="l"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Median</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a:endParaRPr lang="en-US" sz="1000"/>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a:endParaRPr lang="en-US" sz="1000"/>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a:endParaRPr lang="en-US" sz="1000"/>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a:endParaRPr lang="en-US" sz="1000"/>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17.6x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17.4x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2.26x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18.7%</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4.7%</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17.6%</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1.48%</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0013"/>
                  </a:ext>
                </a:extLst>
              </a:tr>
            </a:tbl>
          </a:graphicData>
        </a:graphic>
      </p:graphicFrame>
      <p:sp>
        <p:nvSpPr>
          <p:cNvPr id="903" name="Comps note">
            <a:extLst>
              <a:ext uri="{FF2B5EF4-FFF2-40B4-BE49-F238E27FC236}">
                <a16:creationId xmlns:a16="http://schemas.microsoft.com/office/drawing/2014/main" id="{6D653B6B-0953-305C-0567-E4C36751BF52}"/>
              </a:ext>
            </a:extLst>
          </p:cNvPr>
          <p:cNvSpPr txBox="1">
            <a:spLocks noChangeArrowheads="1"/>
          </p:cNvSpPr>
          <p:nvPr/>
        </p:nvSpPr>
        <p:spPr bwMode="auto">
          <a:xfrm>
            <a:off x="127000" y="5867400"/>
            <a:ext cx="88900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a:buNone/>
            </a:pPr>
            <a:r>
              <a:rPr lang="en-US" sz="900" i="1">
                <a:solidFill>
                  <a:srgbClr val="404040"/>
                </a:solidFill>
                <a:latin typeface="Calibri" panose="020F0502020204030204" pitchFamily="34" charset="0"/>
              </a:rPr>
              <a:t>EV/EBITDA is FactSet's comps-page figure (GATX EV $14,677M); the EV column uses the enterprise value bridge on the same date, $18,106M. The two differ on unconsolidated investments and non-controlling interest.</a:t>
            </a:r>
          </a:p>
        </p:txBody>
      </p:sp>
    </p:spTree>
    <p:extLst>
      <p:ext uri="{BB962C8B-B14F-4D97-AF65-F5344CB8AC3E}">
        <p14:creationId xmlns:p14="http://schemas.microsoft.com/office/powerpoint/2010/main" val="506643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0A909-DF15-CABB-7E05-8813FB8A5D2E}"/>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C4BA6010-2039-B0B2-A09D-EC35141B2F09}"/>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3CA6555D-40A9-E7D1-04DD-0209E7FBDCFA}"/>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000" b="1">
                  <a:solidFill>
                    <a:srgbClr val="000000"/>
                  </a:solidFill>
                  <a:latin typeface="Calibri" panose="020F0502020204030204" pitchFamily="34" charset="0"/>
                </a:rPr>
                <a:t>Historical Multiple Distribution</a:t>
              </a:r>
            </a:p>
          </p:txBody>
        </p:sp>
        <p:grpSp>
          <p:nvGrpSpPr>
            <p:cNvPr id="16397" name="Group 39">
              <a:extLst>
                <a:ext uri="{FF2B5EF4-FFF2-40B4-BE49-F238E27FC236}">
                  <a16:creationId xmlns:a16="http://schemas.microsoft.com/office/drawing/2014/main" id="{93F4EADB-BF28-D950-CCD7-9A1A31E04D08}"/>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C47B9E0B-8C36-C3D2-FB11-191B3CB3E80C}"/>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29F3A5AA-828F-5B1F-B04F-5ECABBC1C8A7}"/>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794A4630-E3FE-8171-8BC7-424C3A8B979C}"/>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09F84594-9165-F7F6-C20C-FA9D94143378}"/>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70BE4A69-2FF5-A3DA-8FA9-53E6258BA599}"/>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952316C8-52F6-9FFB-2B06-6A93944BC656}"/>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498F6B1E-383B-0933-10D3-57170C0CE1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E8464240-54ED-7472-9D5C-322D829E220E}"/>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B5A0A873-9526-5831-31FB-BA70C987C188}"/>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7BB53766-D9A9-7F75-EA65-F6ECCBB591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4BAB57CA-0415-2CCC-91FB-3D1AD33ED810}"/>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696F12C5-1E41-2D48-C5EB-DA79C0F44334}"/>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897321FE-91E0-9C2C-193A-8611220B2E2D}"/>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1B5E131B-3A51-548F-7097-C72092F9855C}"/>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AF4C5F76-7F13-8683-C105-3B5AE3C9D193}"/>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E357DBA5-407A-A742-EF2D-E72DA6D2483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21DEC872-6B55-2BD4-7138-0095C6EB30E6}"/>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D9931160-689F-4460-0800-4F2346FA03CD}"/>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3B455C79-DFA3-9C32-6368-E115F28EA07E}"/>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BF3923AF-F5EE-BF9B-A407-94E05B8214A3}"/>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1B92EFFC-B536-B0BE-9640-EAA2099B8BD7}"/>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60AB8D1E-3ED5-FC18-E5D0-97BE40B798C4}"/>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977B2826-5CF6-BA5C-E2FE-FE996F724E9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979" y="6263507"/>
            <a:ext cx="461513" cy="461513"/>
          </a:xfrm>
          <a:prstGeom prst="rect">
            <a:avLst/>
          </a:prstGeom>
        </p:spPr>
      </p:pic>
      <p:pic>
        <p:nvPicPr>
          <p:cNvPr id="2" name="Picture 1" descr="A black background with blue text&#10;&#10;Description automatically generated">
            <a:extLst>
              <a:ext uri="{FF2B5EF4-FFF2-40B4-BE49-F238E27FC236}">
                <a16:creationId xmlns:a16="http://schemas.microsoft.com/office/drawing/2014/main" id="{654000EB-1D9B-2135-D72D-9439E1BBA983}"/>
              </a:ext>
            </a:extLst>
          </p:cNvPr>
          <p:cNvPicPr>
            <a:picLocks noChangeAspect="1"/>
          </p:cNvPicPr>
          <p:nvPr/>
        </p:nvPicPr>
        <p:blipFill>
          <a:blip r:embed="rId6">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9" name="Text Box 2">
            <a:extLst>
              <a:ext uri="{FF2B5EF4-FFF2-40B4-BE49-F238E27FC236}">
                <a16:creationId xmlns:a16="http://schemas.microsoft.com/office/drawing/2014/main" id="{99D19F96-13E3-C573-51FE-EB9643C0F0EE}"/>
              </a:ext>
            </a:extLst>
          </p:cNvPr>
          <p:cNvSpPr txBox="1">
            <a:spLocks noChangeArrowheads="1"/>
          </p:cNvSpPr>
          <p:nvPr/>
        </p:nvSpPr>
        <p:spPr bwMode="auto">
          <a:xfrm>
            <a:off x="4775200" y="736600"/>
            <a:ext cx="4229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00000"/>
              </a:lnSpc>
              <a:buNone/>
            </a:pPr>
            <a:r>
              <a:rPr lang="en-US" sz="1100">
                <a:solidFill>
                  <a:srgbClr val="292934"/>
                </a:solidFill>
                <a:latin typeface="Calibri"/>
              </a:rPr>
              <a:t>Figure 39:  GATX NTM P/E, ten years; median and current on BMG EPS</a:t>
            </a:r>
          </a:p>
          <a:p>
            <a:pPr>
              <a:lnSpc>
                <a:spcPct val="100000"/>
              </a:lnSpc>
              <a:buNone/>
            </a:pPr>
            <a:r>
              <a:rPr lang="en-US" sz="750">
                <a:solidFill>
                  <a:srgbClr val="595959"/>
                </a:solidFill>
                <a:latin typeface="Calibri"/>
              </a:rPr>
              <a:t>FactSet daily NTM P/E, month-end values, 2016-09 to 2026-09. Daily series n=2,606.</a:t>
            </a:r>
          </a:p>
        </p:txBody>
      </p:sp>
      <p:sp>
        <p:nvSpPr>
          <p:cNvPr id="10" name="TextBox 9">
            <a:extLst>
              <a:ext uri="{FF2B5EF4-FFF2-40B4-BE49-F238E27FC236}">
                <a16:creationId xmlns:a16="http://schemas.microsoft.com/office/drawing/2014/main" id="{2E879AE4-FA79-6019-1D1A-C5B11AE46F38}"/>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21</a:t>
            </a:fld>
            <a:endParaRPr lang="en-US" sz="1400">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373D53EB-D581-37A3-4910-3383A5B8D655}"/>
              </a:ext>
            </a:extLst>
          </p:cNvPr>
          <p:cNvSpPr/>
          <p:nvPr/>
        </p:nvSpPr>
        <p:spPr>
          <a:xfrm>
            <a:off x="959614" y="816560"/>
            <a:ext cx="3242129" cy="1534896"/>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marL="171450" indent="-171450">
              <a:buFont typeface="Arial" panose="020B0604020202020204" pitchFamily="34" charset="0"/>
              <a:buChar char="•"/>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BMG's target multiple is the ten-year median, 16.34x. On consensus EPS the stock trades at 16.45x; on BMG's 2027E of $10.47 it trades at 17.5x, above the five-year median of 17.08x. There is no multiple-expansion case on BMG's earnings.</a:t>
            </a:r>
          </a:p>
        </p:txBody>
      </p:sp>
      <p:sp>
        <p:nvSpPr>
          <p:cNvPr id="16" name="Text Box 2">
            <a:extLst>
              <a:ext uri="{FF2B5EF4-FFF2-40B4-BE49-F238E27FC236}">
                <a16:creationId xmlns:a16="http://schemas.microsoft.com/office/drawing/2014/main" id="{3F95500D-DE35-6564-B0EA-7F4D89F16847}"/>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A5FD403E-44A9-08CA-7711-959392381C89}"/>
              </a:ext>
            </a:extLst>
          </p:cNvPr>
          <p:cNvSpPr/>
          <p:nvPr/>
        </p:nvSpPr>
        <p:spPr>
          <a:xfrm>
            <a:off x="960834" y="2474327"/>
            <a:ext cx="3242129" cy="581589"/>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On BMG's earnings the stock already trades above its five-year median multiple. The call is on the earnings, not the multiple.</a:t>
            </a:r>
          </a:p>
        </p:txBody>
      </p:sp>
      <p:sp>
        <p:nvSpPr>
          <p:cNvPr id="5" name="Rectangle 4">
            <a:extLst>
              <a:ext uri="{FF2B5EF4-FFF2-40B4-BE49-F238E27FC236}">
                <a16:creationId xmlns:a16="http://schemas.microsoft.com/office/drawing/2014/main" id="{14FD2656-1C9A-44C5-3C74-5F780E025118}"/>
              </a:ext>
            </a:extLst>
          </p:cNvPr>
          <p:cNvSpPr/>
          <p:nvPr/>
        </p:nvSpPr>
        <p:spPr>
          <a:xfrm>
            <a:off x="181471" y="5105400"/>
            <a:ext cx="8821128" cy="73825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b="1">
                <a:solidFill>
                  <a:srgbClr val="292934"/>
                </a:solidFill>
                <a:latin typeface="Calibri" panose="020F0502020204030204" pitchFamily="34" charset="0"/>
              </a:rPr>
              <a:t>On FactSet's NTM basis GATX trades at 16.45x, the 52nd percentile of its ten-year daily distribution. That multiple is applied to a 2027 consensus of $11.27 that BMG's model does not support. Re-based to BMG's $10.47, the same price is 17.5x, the 76th percentile. GATX has closed at or above that level on roughly a quarter to a third of trading days in 2024 to 2026 and on none from 2016 to 2019. BMG does not pay above the ten-year median for earnings that depend on asset sales, so the target multiple is the median.</a:t>
            </a:r>
          </a:p>
        </p:txBody>
      </p:sp>
      <p:graphicFrame>
        <p:nvGraphicFramePr>
          <p:cNvPr id="16405" name="Chart"/>
          <p:cNvGraphicFramePr/>
          <p:nvPr/>
        </p:nvGraphicFramePr>
        <p:xfrm>
          <a:off x="4775200" y="1054100"/>
          <a:ext cx="4229100" cy="20701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 name="Table 6">
            <a:extLst>
              <a:ext uri="{FF2B5EF4-FFF2-40B4-BE49-F238E27FC236}">
                <a16:creationId xmlns:a16="http://schemas.microsoft.com/office/drawing/2014/main" id="{22DEB892-0FCE-4FAD-8F19-E7A1A64DFA57}"/>
              </a:ext>
            </a:extLst>
          </p:cNvPr>
          <p:cNvGraphicFramePr>
            <a:graphicFrameLocks noGrp="1"/>
          </p:cNvGraphicFramePr>
          <p:nvPr/>
        </p:nvGraphicFramePr>
        <p:xfrm>
          <a:off x="965200" y="3352800"/>
          <a:ext cx="4191000" cy="1219200"/>
        </p:xfrm>
        <a:graphic>
          <a:graphicData uri="http://schemas.openxmlformats.org/drawingml/2006/table">
            <a:tbl>
              <a:tblPr/>
              <a:tblGrid>
                <a:gridCol w="2260600">
                  <a:extLst>
                    <a:ext uri="{9D8B030D-6E8A-4147-A177-3AD203B41FA5}">
                      <a16:colId xmlns:a16="http://schemas.microsoft.com/office/drawing/2014/main" val="2051605161"/>
                    </a:ext>
                  </a:extLst>
                </a:gridCol>
                <a:gridCol w="914400">
                  <a:extLst>
                    <a:ext uri="{9D8B030D-6E8A-4147-A177-3AD203B41FA5}">
                      <a16:colId xmlns:a16="http://schemas.microsoft.com/office/drawing/2014/main" val="1476975263"/>
                    </a:ext>
                  </a:extLst>
                </a:gridCol>
                <a:gridCol w="1016000">
                  <a:extLst>
                    <a:ext uri="{9D8B030D-6E8A-4147-A177-3AD203B41FA5}">
                      <a16:colId xmlns:a16="http://schemas.microsoft.com/office/drawing/2014/main" val="439379058"/>
                    </a:ext>
                  </a:extLst>
                </a:gridCol>
              </a:tblGrid>
              <a:tr h="152400">
                <a:tc>
                  <a:txBody>
                    <a:bodyPr/>
                    <a:lstStyle/>
                    <a:p>
                      <a:pPr algn="l"/>
                      <a:r>
                        <a:rPr lang="en-US" sz="1000" b="1"/>
                        <a:t>Statistic</a:t>
                      </a:r>
                    </a:p>
                  </a:txBody>
                  <a:tcPr marT="0" marB="0">
                    <a:lnL w="0"/>
                    <a:lnR w="0"/>
                    <a:lnT w="0"/>
                    <a:lnB w="0"/>
                    <a:lnTlToBr w="0"/>
                    <a:lnBlToTr w="0"/>
                  </a:tcPr>
                </a:tc>
                <a:tc>
                  <a:txBody>
                    <a:bodyPr/>
                    <a:lstStyle/>
                    <a:p>
                      <a:pPr algn="r"/>
                      <a:r>
                        <a:rPr lang="en-US" sz="1000" b="1"/>
                        <a:t>Multiple</a:t>
                      </a:r>
                    </a:p>
                  </a:txBody>
                  <a:tcPr marT="0" marB="0">
                    <a:lnL w="0"/>
                    <a:lnR w="0"/>
                    <a:lnT w="0"/>
                    <a:lnB w="0"/>
                    <a:lnTlToBr w="0"/>
                    <a:lnBlToTr w="0"/>
                  </a:tcPr>
                </a:tc>
                <a:tc>
                  <a:txBody>
                    <a:bodyPr/>
                    <a:lstStyle/>
                    <a:p>
                      <a:pPr algn="l"/>
                      <a:r>
                        <a:rPr lang="en-US" sz="1000" b="1"/>
                        <a:t>Implied price</a:t>
                      </a:r>
                    </a:p>
                  </a:txBody>
                  <a:tcPr marT="0" marB="0">
                    <a:lnL w="0"/>
                    <a:lnR w="0"/>
                    <a:lnT w="0"/>
                    <a:lnB w="0"/>
                    <a:lnTlToBr w="0"/>
                    <a:lnBlToTr w="0"/>
                  </a:tcPr>
                </a:tc>
                <a:extLst>
                  <a:ext uri="{0D108BD9-81ED-4DB2-BD59-A6C34878D82A}">
                    <a16:rowId xmlns:a16="http://schemas.microsoft.com/office/drawing/2014/main" val="1880376394"/>
                  </a:ext>
                </a:extLst>
              </a:tr>
              <a:tr h="152400">
                <a:tc>
                  <a:txBody>
                    <a:bodyPr/>
                    <a:lstStyle/>
                    <a:p>
                      <a:pPr algn="l"/>
                      <a:r>
                        <a:rPr lang="en-US" sz="1000"/>
                        <a:t>10-year median NTM P/E</a:t>
                      </a:r>
                    </a:p>
                  </a:txBody>
                  <a:tcPr marT="0" marB="0">
                    <a:lnL w="0"/>
                    <a:lnR w="0"/>
                    <a:lnT w="0"/>
                    <a:lnB w="0"/>
                    <a:lnTlToBr w="0"/>
                    <a:lnBlToTr w="0"/>
                  </a:tcPr>
                </a:tc>
                <a:tc>
                  <a:txBody>
                    <a:bodyPr/>
                    <a:lstStyle/>
                    <a:p>
                      <a:pPr algn="r"/>
                      <a:r>
                        <a:rPr lang="en-US" sz="1000"/>
                        <a:t>16.34x</a:t>
                      </a:r>
                    </a:p>
                  </a:txBody>
                  <a:tcPr marT="0" marB="0">
                    <a:lnL w="0"/>
                    <a:lnR w="0"/>
                    <a:lnT w="0"/>
                    <a:lnB w="0"/>
                    <a:lnTlToBr w="0"/>
                    <a:lnBlToTr w="0"/>
                  </a:tcPr>
                </a:tc>
                <a:tc>
                  <a:txBody>
                    <a:bodyPr/>
                    <a:lstStyle/>
                    <a:p>
                      <a:pPr algn="l"/>
                      <a:r>
                        <a:rPr lang="en-US" sz="1000"/>
                        <a:t>$171.08</a:t>
                      </a:r>
                    </a:p>
                  </a:txBody>
                  <a:tcPr marT="0" marB="0">
                    <a:lnL w="0"/>
                    <a:lnR w="0"/>
                    <a:lnT w="0"/>
                    <a:lnB w="0"/>
                    <a:lnTlToBr w="0"/>
                    <a:lnBlToTr w="0"/>
                  </a:tcPr>
                </a:tc>
                <a:extLst>
                  <a:ext uri="{0D108BD9-81ED-4DB2-BD59-A6C34878D82A}">
                    <a16:rowId xmlns:a16="http://schemas.microsoft.com/office/drawing/2014/main" val="1902149856"/>
                  </a:ext>
                </a:extLst>
              </a:tr>
              <a:tr h="152400">
                <a:tc>
                  <a:txBody>
                    <a:bodyPr/>
                    <a:lstStyle/>
                    <a:p>
                      <a:pPr algn="l"/>
                      <a:r>
                        <a:rPr lang="en-US" sz="1000"/>
                        <a:t>5-year median NTM P/E</a:t>
                      </a:r>
                    </a:p>
                  </a:txBody>
                  <a:tcPr marT="0" marB="0">
                    <a:lnL w="0"/>
                    <a:lnR w="0"/>
                    <a:lnT w="0"/>
                    <a:lnB w="0"/>
                    <a:lnTlToBr w="0"/>
                    <a:lnBlToTr w="0"/>
                  </a:tcPr>
                </a:tc>
                <a:tc>
                  <a:txBody>
                    <a:bodyPr/>
                    <a:lstStyle/>
                    <a:p>
                      <a:pPr algn="r"/>
                      <a:r>
                        <a:rPr lang="en-US" sz="1000"/>
                        <a:t>17.08x</a:t>
                      </a:r>
                    </a:p>
                  </a:txBody>
                  <a:tcPr marT="0" marB="0">
                    <a:lnL w="0"/>
                    <a:lnR w="0"/>
                    <a:lnT w="0"/>
                    <a:lnB w="0"/>
                    <a:lnTlToBr w="0"/>
                    <a:lnBlToTr w="0"/>
                  </a:tcPr>
                </a:tc>
                <a:tc>
                  <a:txBody>
                    <a:bodyPr/>
                    <a:lstStyle/>
                    <a:p>
                      <a:pPr algn="l"/>
                      <a:r>
                        <a:rPr lang="en-US" sz="1000"/>
                        <a:t>$178.83</a:t>
                      </a:r>
                    </a:p>
                  </a:txBody>
                  <a:tcPr marT="0" marB="0">
                    <a:lnL w="0"/>
                    <a:lnR w="0"/>
                    <a:lnT w="0"/>
                    <a:lnB w="0"/>
                    <a:lnTlToBr w="0"/>
                    <a:lnBlToTr w="0"/>
                  </a:tcPr>
                </a:tc>
                <a:extLst>
                  <a:ext uri="{0D108BD9-81ED-4DB2-BD59-A6C34878D82A}">
                    <a16:rowId xmlns:a16="http://schemas.microsoft.com/office/drawing/2014/main" val="377803439"/>
                  </a:ext>
                </a:extLst>
              </a:tr>
              <a:tr h="152400">
                <a:tc>
                  <a:txBody>
                    <a:bodyPr/>
                    <a:lstStyle/>
                    <a:p>
                      <a:pPr algn="l"/>
                      <a:r>
                        <a:rPr lang="en-US" sz="1000"/>
                        <a:t>5-year 75th percentile</a:t>
                      </a:r>
                    </a:p>
                  </a:txBody>
                  <a:tcPr marT="0" marB="0">
                    <a:lnL w="0"/>
                    <a:lnR w="0"/>
                    <a:lnT w="0"/>
                    <a:lnB w="0"/>
                    <a:lnTlToBr w="0"/>
                    <a:lnBlToTr w="0"/>
                  </a:tcPr>
                </a:tc>
                <a:tc>
                  <a:txBody>
                    <a:bodyPr/>
                    <a:lstStyle/>
                    <a:p>
                      <a:pPr algn="r"/>
                      <a:r>
                        <a:rPr lang="en-US" sz="1000"/>
                        <a:t>18.11x</a:t>
                      </a:r>
                    </a:p>
                  </a:txBody>
                  <a:tcPr marT="0" marB="0">
                    <a:lnL w="0"/>
                    <a:lnR w="0"/>
                    <a:lnT w="0"/>
                    <a:lnB w="0"/>
                    <a:lnTlToBr w="0"/>
                    <a:lnBlToTr w="0"/>
                  </a:tcPr>
                </a:tc>
                <a:tc>
                  <a:txBody>
                    <a:bodyPr/>
                    <a:lstStyle/>
                    <a:p>
                      <a:pPr algn="l"/>
                      <a:r>
                        <a:rPr lang="en-US" sz="1000"/>
                        <a:t>$189.61</a:t>
                      </a:r>
                    </a:p>
                  </a:txBody>
                  <a:tcPr marT="0" marB="0">
                    <a:lnL w="0"/>
                    <a:lnR w="0"/>
                    <a:lnT w="0"/>
                    <a:lnB w="0"/>
                    <a:lnTlToBr w="0"/>
                    <a:lnBlToTr w="0"/>
                  </a:tcPr>
                </a:tc>
                <a:extLst>
                  <a:ext uri="{0D108BD9-81ED-4DB2-BD59-A6C34878D82A}">
                    <a16:rowId xmlns:a16="http://schemas.microsoft.com/office/drawing/2014/main" val="2533414287"/>
                  </a:ext>
                </a:extLst>
              </a:tr>
              <a:tr h="152400">
                <a:tc>
                  <a:txBody>
                    <a:bodyPr/>
                    <a:lstStyle/>
                    <a:p>
                      <a:pPr algn="l"/>
                      <a:r>
                        <a:rPr lang="en-US" sz="1000"/>
                        <a:t>Current NTM, consensus / BMG EPS basis</a:t>
                      </a:r>
                    </a:p>
                  </a:txBody>
                  <a:tcPr marT="0" marB="0">
                    <a:lnL w="0"/>
                    <a:lnR w="0"/>
                    <a:lnT w="0"/>
                    <a:lnB w="0"/>
                    <a:lnTlToBr w="0"/>
                    <a:lnBlToTr w="0"/>
                  </a:tcPr>
                </a:tc>
                <a:tc>
                  <a:txBody>
                    <a:bodyPr/>
                    <a:lstStyle/>
                    <a:p>
                      <a:pPr algn="r"/>
                      <a:r>
                        <a:rPr lang="en-US" sz="1000"/>
                        <a:t>16.45x / 17.55x</a:t>
                      </a:r>
                    </a:p>
                  </a:txBody>
                  <a:tcPr marT="0" marB="0">
                    <a:lnL w="0"/>
                    <a:lnR w="0"/>
                    <a:lnT w="0"/>
                    <a:lnB w="0"/>
                    <a:lnTlToBr w="0"/>
                    <a:lnBlToTr w="0"/>
                  </a:tcPr>
                </a:tc>
                <a:tc>
                  <a:txBody>
                    <a:bodyPr/>
                    <a:lstStyle/>
                    <a:p>
                      <a:pPr algn="l"/>
                      <a:r>
                        <a:rPr lang="en-US" sz="1000"/>
                        <a:t>n/a</a:t>
                      </a:r>
                    </a:p>
                  </a:txBody>
                  <a:tcPr marT="0" marB="0">
                    <a:lnL w="0"/>
                    <a:lnR w="0"/>
                    <a:lnT w="0"/>
                    <a:lnB w="0"/>
                    <a:lnTlToBr w="0"/>
                    <a:lnBlToTr w="0"/>
                  </a:tcPr>
                </a:tc>
                <a:extLst>
                  <a:ext uri="{0D108BD9-81ED-4DB2-BD59-A6C34878D82A}">
                    <a16:rowId xmlns:a16="http://schemas.microsoft.com/office/drawing/2014/main" val="531915613"/>
                  </a:ext>
                </a:extLst>
              </a:tr>
              <a:tr h="152400">
                <a:tc>
                  <a:txBody>
                    <a:bodyPr/>
                    <a:lstStyle/>
                    <a:p>
                      <a:pPr algn="l"/>
                      <a:r>
                        <a:rPr lang="en-US" sz="1000"/>
                        <a:t>P/E leg: 10-yr median, probability-weighted</a:t>
                      </a:r>
                    </a:p>
                  </a:txBody>
                  <a:tcPr marT="0" marB="0">
                    <a:lnL w="0"/>
                    <a:lnR w="0"/>
                    <a:lnT w="0"/>
                    <a:lnB w="0"/>
                    <a:lnTlToBr w="0"/>
                    <a:lnBlToTr w="0"/>
                  </a:tcPr>
                </a:tc>
                <a:tc>
                  <a:txBody>
                    <a:bodyPr/>
                    <a:lstStyle/>
                    <a:p>
                      <a:pPr algn="r"/>
                      <a:r>
                        <a:rPr lang="en-US" sz="1000"/>
                        <a:t>16.34x</a:t>
                      </a:r>
                    </a:p>
                  </a:txBody>
                  <a:tcPr marT="0" marB="0">
                    <a:lnL w="0"/>
                    <a:lnR w="0"/>
                    <a:lnT w="0"/>
                    <a:lnB w="0"/>
                    <a:lnTlToBr w="0"/>
                    <a:lnBlToTr w="0"/>
                  </a:tcPr>
                </a:tc>
                <a:tc>
                  <a:txBody>
                    <a:bodyPr/>
                    <a:lstStyle/>
                    <a:p>
                      <a:pPr algn="l"/>
                      <a:r>
                        <a:rPr lang="en-US" sz="1000"/>
                        <a:t>$169.76</a:t>
                      </a:r>
                    </a:p>
                  </a:txBody>
                  <a:tcPr marT="0" marB="0">
                    <a:lnL w="0"/>
                    <a:lnR w="0"/>
                    <a:lnT w="0"/>
                    <a:lnB w="0"/>
                    <a:lnTlToBr w="0"/>
                    <a:lnBlToTr w="0"/>
                  </a:tcPr>
                </a:tc>
                <a:extLst>
                  <a:ext uri="{0D108BD9-81ED-4DB2-BD59-A6C34878D82A}">
                    <a16:rowId xmlns:a16="http://schemas.microsoft.com/office/drawing/2014/main" val="2507163709"/>
                  </a:ext>
                </a:extLst>
              </a:tr>
              <a:tr h="152400">
                <a:tc>
                  <a:txBody>
                    <a:bodyPr/>
                    <a:lstStyle/>
                    <a:p>
                      <a:pPr algn="l"/>
                      <a:r>
                        <a:rPr lang="en-US" sz="1000"/>
                        <a:t>2027E EPS used (BMG)</a:t>
                      </a:r>
                    </a:p>
                  </a:txBody>
                  <a:tcPr marT="0" marB="0">
                    <a:lnL w="0"/>
                    <a:lnR w="0"/>
                    <a:lnT w="0"/>
                    <a:lnB w="0"/>
                    <a:lnTlToBr w="0"/>
                    <a:lnBlToTr w="0"/>
                  </a:tcPr>
                </a:tc>
                <a:tc>
                  <a:txBody>
                    <a:bodyPr/>
                    <a:lstStyle/>
                    <a:p>
                      <a:pPr algn="r"/>
                      <a:r>
                        <a:rPr lang="en-US" sz="1000"/>
                        <a:t>$10.47</a:t>
                      </a:r>
                    </a:p>
                  </a:txBody>
                  <a:tcPr marT="0" marB="0">
                    <a:lnL w="0"/>
                    <a:lnR w="0"/>
                    <a:lnT w="0"/>
                    <a:lnB w="0"/>
                    <a:lnTlToBr w="0"/>
                    <a:lnBlToTr w="0"/>
                  </a:tcPr>
                </a:tc>
                <a:tc>
                  <a:txBody>
                    <a:bodyPr/>
                    <a:lstStyle/>
                    <a:p>
                      <a:pPr algn="l"/>
                      <a:r>
                        <a:rPr lang="en-US" sz="1000"/>
                        <a:t>n/a</a:t>
                      </a:r>
                    </a:p>
                  </a:txBody>
                  <a:tcPr marT="0" marB="0">
                    <a:lnL w="0"/>
                    <a:lnR w="0"/>
                    <a:lnT w="0"/>
                    <a:lnB w="0"/>
                    <a:lnTlToBr w="0"/>
                    <a:lnBlToTr w="0"/>
                  </a:tcPr>
                </a:tc>
                <a:extLst>
                  <a:ext uri="{0D108BD9-81ED-4DB2-BD59-A6C34878D82A}">
                    <a16:rowId xmlns:a16="http://schemas.microsoft.com/office/drawing/2014/main" val="1858144690"/>
                  </a:ext>
                </a:extLst>
              </a:tr>
              <a:tr h="152400">
                <a:tc>
                  <a:txBody>
                    <a:bodyPr/>
                    <a:lstStyle/>
                    <a:p>
                      <a:pPr algn="l"/>
                      <a:r>
                        <a:rPr lang="en-US" sz="1000"/>
                        <a:t>Conviction</a:t>
                      </a:r>
                    </a:p>
                  </a:txBody>
                  <a:tcPr marT="0" marB="0">
                    <a:lnL w="0"/>
                    <a:lnR w="0"/>
                    <a:lnT w="0"/>
                    <a:lnB w="0"/>
                    <a:lnTlToBr w="0"/>
                    <a:lnBlToTr w="0"/>
                  </a:tcPr>
                </a:tc>
                <a:tc>
                  <a:txBody>
                    <a:bodyPr/>
                    <a:lstStyle/>
                    <a:p>
                      <a:pPr algn="r"/>
                      <a:r>
                        <a:rPr lang="en-US" sz="1000"/>
                        <a:t>3 of 5</a:t>
                      </a:r>
                    </a:p>
                  </a:txBody>
                  <a:tcPr marT="0" marB="0">
                    <a:lnL w="0"/>
                    <a:lnR w="0"/>
                    <a:lnT w="0"/>
                    <a:lnB w="0"/>
                    <a:lnTlToBr w="0"/>
                    <a:lnBlToTr w="0"/>
                  </a:tcPr>
                </a:tc>
                <a:tc>
                  <a:txBody>
                    <a:bodyPr/>
                    <a:lstStyle/>
                    <a:p>
                      <a:pPr algn="l"/>
                      <a:r>
                        <a:rPr lang="en-US" sz="1000"/>
                        <a:t>n/a</a:t>
                      </a:r>
                    </a:p>
                  </a:txBody>
                  <a:tcPr marT="0" marB="0">
                    <a:lnL w="0"/>
                    <a:lnR w="0"/>
                    <a:lnT w="0"/>
                    <a:lnB w="0"/>
                    <a:lnTlToBr w="0"/>
                    <a:lnBlToTr w="0"/>
                  </a:tcPr>
                </a:tc>
                <a:extLst>
                  <a:ext uri="{0D108BD9-81ED-4DB2-BD59-A6C34878D82A}">
                    <a16:rowId xmlns:a16="http://schemas.microsoft.com/office/drawing/2014/main" val="1037737008"/>
                  </a:ext>
                </a:extLst>
              </a:tr>
            </a:tbl>
          </a:graphicData>
        </a:graphic>
      </p:graphicFrame>
      <p:graphicFrame>
        <p:nvGraphicFramePr>
          <p:cNvPr id="950" name="Table 949">
            <a:extLst>
              <a:ext uri="{FF2B5EF4-FFF2-40B4-BE49-F238E27FC236}">
                <a16:creationId xmlns:a16="http://schemas.microsoft.com/office/drawing/2014/main" id="{22DEB892-0FCE-4FAD-8F19-E7A1A64DFA57}"/>
              </a:ext>
            </a:extLst>
          </p:cNvPr>
          <p:cNvGraphicFramePr>
            <a:graphicFrameLocks noGrp="1"/>
          </p:cNvGraphicFramePr>
          <p:nvPr/>
        </p:nvGraphicFramePr>
        <p:xfrm>
          <a:off x="5334000" y="3352800"/>
          <a:ext cx="3670300" cy="1625600"/>
        </p:xfrm>
        <a:graphic>
          <a:graphicData uri="http://schemas.openxmlformats.org/drawingml/2006/table">
            <a:tbl>
              <a:tblPr/>
              <a:tblGrid>
                <a:gridCol w="1397000">
                  <a:extLst>
                    <a:ext uri="{9D8B030D-6E8A-4147-A177-3AD203B41FA5}">
                      <a16:colId xmlns:a16="http://schemas.microsoft.com/office/drawing/2014/main" val="2051605161"/>
                    </a:ext>
                  </a:extLst>
                </a:gridCol>
                <a:gridCol w="1066800">
                  <a:extLst>
                    <a:ext uri="{9D8B030D-6E8A-4147-A177-3AD203B41FA5}">
                      <a16:colId xmlns:a16="http://schemas.microsoft.com/office/drawing/2014/main" val="1476975263"/>
                    </a:ext>
                  </a:extLst>
                </a:gridCol>
                <a:gridCol w="1206500">
                  <a:extLst>
                    <a:ext uri="{9D8B030D-6E8A-4147-A177-3AD203B41FA5}">
                      <a16:colId xmlns:a16="http://schemas.microsoft.com/office/drawing/2014/main" val="439379058"/>
                    </a:ext>
                  </a:extLst>
                </a:gridCol>
              </a:tblGrid>
              <a:tr h="165100">
                <a:tc>
                  <a:txBody>
                    <a:bodyPr/>
                    <a:lstStyle/>
                    <a:p>
                      <a:pPr algn="l"/>
                      <a:r>
                        <a:rPr lang="en-US" sz="1000" b="1"/>
                        <a:t>Period</a:t>
                      </a:r>
                    </a:p>
                  </a:txBody>
                  <a:tcPr marT="0" marB="0">
                    <a:lnL w="0"/>
                    <a:lnR w="0"/>
                    <a:lnT w="0"/>
                    <a:lnB w="0"/>
                    <a:lnTlToBr w="0"/>
                    <a:lnBlToTr w="0"/>
                  </a:tcPr>
                </a:tc>
                <a:tc>
                  <a:txBody>
                    <a:bodyPr/>
                    <a:lstStyle/>
                    <a:p>
                      <a:pPr algn="r"/>
                      <a:r>
                        <a:rPr lang="en-US" sz="1000" b="1"/>
                        <a:t>Median NTM P/E</a:t>
                      </a:r>
                    </a:p>
                  </a:txBody>
                  <a:tcPr marT="0" marB="0">
                    <a:lnL w="0"/>
                    <a:lnR w="0"/>
                    <a:lnT w="0"/>
                    <a:lnB w="0"/>
                    <a:lnTlToBr w="0"/>
                    <a:lnBlToTr w="0"/>
                  </a:tcPr>
                </a:tc>
                <a:tc>
                  <a:txBody>
                    <a:bodyPr/>
                    <a:lstStyle/>
                    <a:p>
                      <a:pPr algn="l"/>
                      <a:r>
                        <a:rPr lang="en-US" sz="1000" b="1"/>
                        <a:t>Days at or above 17.8x</a:t>
                      </a:r>
                    </a:p>
                  </a:txBody>
                  <a:tcPr marT="0" marB="0">
                    <a:lnL w="0"/>
                    <a:lnR w="0"/>
                    <a:lnT w="0"/>
                    <a:lnB w="0"/>
                    <a:lnTlToBr w="0"/>
                    <a:lnBlToTr w="0"/>
                  </a:tcPr>
                </a:tc>
                <a:extLst>
                  <a:ext uri="{0D108BD9-81ED-4DB2-BD59-A6C34878D82A}">
                    <a16:rowId xmlns:a16="http://schemas.microsoft.com/office/drawing/2014/main" val="1880376394"/>
                  </a:ext>
                </a:extLst>
              </a:tr>
              <a:tr h="165100">
                <a:tc>
                  <a:txBody>
                    <a:bodyPr/>
                    <a:lstStyle/>
                    <a:p>
                      <a:pPr algn="l"/>
                      <a:r>
                        <a:rPr lang="en-US" sz="1000"/>
                        <a:t>2016 to 2019</a:t>
                      </a:r>
                    </a:p>
                  </a:txBody>
                  <a:tcPr marT="0" marB="0">
                    <a:lnL w="0"/>
                    <a:lnR w="0"/>
                    <a:lnT w="0"/>
                    <a:lnB w="0"/>
                    <a:lnTlToBr w="0"/>
                    <a:lnBlToTr w="0"/>
                  </a:tcPr>
                </a:tc>
                <a:tc>
                  <a:txBody>
                    <a:bodyPr/>
                    <a:lstStyle/>
                    <a:p>
                      <a:pPr algn="r"/>
                      <a:r>
                        <a:rPr lang="en-US" sz="1000"/>
                        <a:t>10.8x to 15.2x</a:t>
                      </a:r>
                    </a:p>
                  </a:txBody>
                  <a:tcPr marT="0" marB="0">
                    <a:lnL w="0"/>
                    <a:lnR w="0"/>
                    <a:lnT w="0"/>
                    <a:lnB w="0"/>
                    <a:lnTlToBr w="0"/>
                    <a:lnBlToTr w="0"/>
                  </a:tcPr>
                </a:tc>
                <a:tc>
                  <a:txBody>
                    <a:bodyPr/>
                    <a:lstStyle/>
                    <a:p>
                      <a:pPr algn="l"/>
                      <a:r>
                        <a:rPr lang="en-US" sz="1000"/>
                        <a:t>0%</a:t>
                      </a:r>
                    </a:p>
                  </a:txBody>
                  <a:tcPr marT="0" marB="0">
                    <a:lnL w="0"/>
                    <a:lnR w="0"/>
                    <a:lnT w="0"/>
                    <a:lnB w="0"/>
                    <a:lnTlToBr w="0"/>
                    <a:lnBlToTr w="0"/>
                  </a:tcPr>
                </a:tc>
                <a:extLst>
                  <a:ext uri="{0D108BD9-81ED-4DB2-BD59-A6C34878D82A}">
                    <a16:rowId xmlns:a16="http://schemas.microsoft.com/office/drawing/2014/main" val="1902149856"/>
                  </a:ext>
                </a:extLst>
              </a:tr>
              <a:tr h="165100">
                <a:tc>
                  <a:txBody>
                    <a:bodyPr/>
                    <a:lstStyle/>
                    <a:p>
                      <a:pPr algn="l"/>
                      <a:r>
                        <a:rPr lang="en-US" sz="1000"/>
                        <a:t>2020</a:t>
                      </a:r>
                    </a:p>
                  </a:txBody>
                  <a:tcPr marT="0" marB="0">
                    <a:lnL w="0"/>
                    <a:lnR w="0"/>
                    <a:lnT w="0"/>
                    <a:lnB w="0"/>
                    <a:lnTlToBr w="0"/>
                    <a:lnBlToTr w="0"/>
                  </a:tcPr>
                </a:tc>
                <a:tc>
                  <a:txBody>
                    <a:bodyPr/>
                    <a:lstStyle/>
                    <a:p>
                      <a:pPr algn="r"/>
                      <a:r>
                        <a:rPr lang="en-US" sz="1000"/>
                        <a:t>15.1x</a:t>
                      </a:r>
                    </a:p>
                  </a:txBody>
                  <a:tcPr marT="0" marB="0">
                    <a:lnL w="0"/>
                    <a:lnR w="0"/>
                    <a:lnT w="0"/>
                    <a:lnB w="0"/>
                    <a:lnTlToBr w="0"/>
                    <a:lnBlToTr w="0"/>
                  </a:tcPr>
                </a:tc>
                <a:tc>
                  <a:txBody>
                    <a:bodyPr/>
                    <a:lstStyle/>
                    <a:p>
                      <a:pPr algn="l"/>
                      <a:r>
                        <a:rPr lang="en-US" sz="1000"/>
                        <a:t>15%</a:t>
                      </a:r>
                    </a:p>
                  </a:txBody>
                  <a:tcPr marT="0" marB="0">
                    <a:lnL w="0"/>
                    <a:lnR w="0"/>
                    <a:lnT w="0"/>
                    <a:lnB w="0"/>
                    <a:lnTlToBr w="0"/>
                    <a:lnBlToTr w="0"/>
                  </a:tcPr>
                </a:tc>
                <a:extLst>
                  <a:ext uri="{0D108BD9-81ED-4DB2-BD59-A6C34878D82A}">
                    <a16:rowId xmlns:a16="http://schemas.microsoft.com/office/drawing/2014/main" val="377803439"/>
                  </a:ext>
                </a:extLst>
              </a:tr>
              <a:tr h="165100">
                <a:tc>
                  <a:txBody>
                    <a:bodyPr/>
                    <a:lstStyle/>
                    <a:p>
                      <a:pPr algn="l"/>
                      <a:r>
                        <a:rPr lang="en-US" sz="1000"/>
                        <a:t>2021</a:t>
                      </a:r>
                    </a:p>
                  </a:txBody>
                  <a:tcPr marT="0" marB="0">
                    <a:lnL w="0"/>
                    <a:lnR w="0"/>
                    <a:lnT w="0"/>
                    <a:lnB w="0"/>
                    <a:lnTlToBr w="0"/>
                    <a:lnBlToTr w="0"/>
                  </a:tcPr>
                </a:tc>
                <a:tc>
                  <a:txBody>
                    <a:bodyPr/>
                    <a:lstStyle/>
                    <a:p>
                      <a:pPr algn="r"/>
                      <a:r>
                        <a:rPr lang="en-US" sz="1000"/>
                        <a:t>20.3x</a:t>
                      </a:r>
                    </a:p>
                  </a:txBody>
                  <a:tcPr marT="0" marB="0">
                    <a:lnL w="0"/>
                    <a:lnR w="0"/>
                    <a:lnT w="0"/>
                    <a:lnB w="0"/>
                    <a:lnTlToBr w="0"/>
                    <a:lnBlToTr w="0"/>
                  </a:tcPr>
                </a:tc>
                <a:tc>
                  <a:txBody>
                    <a:bodyPr/>
                    <a:lstStyle/>
                    <a:p>
                      <a:pPr algn="l"/>
                      <a:r>
                        <a:rPr lang="en-US" sz="1000"/>
                        <a:t>95%</a:t>
                      </a:r>
                    </a:p>
                  </a:txBody>
                  <a:tcPr marT="0" marB="0">
                    <a:lnL w="0"/>
                    <a:lnR w="0"/>
                    <a:lnT w="0"/>
                    <a:lnB w="0"/>
                    <a:lnTlToBr w="0"/>
                    <a:lnBlToTr w="0"/>
                  </a:tcPr>
                </a:tc>
                <a:extLst>
                  <a:ext uri="{0D108BD9-81ED-4DB2-BD59-A6C34878D82A}">
                    <a16:rowId xmlns:a16="http://schemas.microsoft.com/office/drawing/2014/main" val="2533414287"/>
                  </a:ext>
                </a:extLst>
              </a:tr>
              <a:tr h="165100">
                <a:tc>
                  <a:txBody>
                    <a:bodyPr/>
                    <a:lstStyle/>
                    <a:p>
                      <a:pPr algn="l"/>
                      <a:r>
                        <a:rPr lang="en-US" sz="1000"/>
                        <a:t>2022</a:t>
                      </a:r>
                    </a:p>
                  </a:txBody>
                  <a:tcPr marT="0" marB="0">
                    <a:lnL w="0"/>
                    <a:lnR w="0"/>
                    <a:lnT w="0"/>
                    <a:lnB w="0"/>
                    <a:lnTlToBr w="0"/>
                    <a:lnBlToTr w="0"/>
                  </a:tcPr>
                </a:tc>
                <a:tc>
                  <a:txBody>
                    <a:bodyPr/>
                    <a:lstStyle/>
                    <a:p>
                      <a:pPr algn="r"/>
                      <a:r>
                        <a:rPr lang="en-US" sz="1000"/>
                        <a:t>16.9x</a:t>
                      </a:r>
                    </a:p>
                  </a:txBody>
                  <a:tcPr marT="0" marB="0">
                    <a:lnL w="0"/>
                    <a:lnR w="0"/>
                    <a:lnT w="0"/>
                    <a:lnB w="0"/>
                    <a:lnTlToBr w="0"/>
                    <a:lnBlToTr w="0"/>
                  </a:tcPr>
                </a:tc>
                <a:tc>
                  <a:txBody>
                    <a:bodyPr/>
                    <a:lstStyle/>
                    <a:p>
                      <a:pPr algn="l"/>
                      <a:r>
                        <a:rPr lang="en-US" sz="1000"/>
                        <a:t>32%</a:t>
                      </a:r>
                    </a:p>
                  </a:txBody>
                  <a:tcPr marT="0" marB="0">
                    <a:lnL w="0"/>
                    <a:lnR w="0"/>
                    <a:lnT w="0"/>
                    <a:lnB w="0"/>
                    <a:lnTlToBr w="0"/>
                    <a:lnBlToTr w="0"/>
                  </a:tcPr>
                </a:tc>
                <a:extLst>
                  <a:ext uri="{0D108BD9-81ED-4DB2-BD59-A6C34878D82A}">
                    <a16:rowId xmlns:a16="http://schemas.microsoft.com/office/drawing/2014/main" val="531915613"/>
                  </a:ext>
                </a:extLst>
              </a:tr>
              <a:tr h="165100">
                <a:tc>
                  <a:txBody>
                    <a:bodyPr/>
                    <a:lstStyle/>
                    <a:p>
                      <a:pPr algn="l"/>
                      <a:r>
                        <a:rPr lang="en-US" sz="1000"/>
                        <a:t>2023</a:t>
                      </a:r>
                    </a:p>
                  </a:txBody>
                  <a:tcPr marT="0" marB="0">
                    <a:lnL w="0"/>
                    <a:lnR w="0"/>
                    <a:lnT w="0"/>
                    <a:lnB w="0"/>
                    <a:lnTlToBr w="0"/>
                    <a:lnBlToTr w="0"/>
                  </a:tcPr>
                </a:tc>
                <a:tc>
                  <a:txBody>
                    <a:bodyPr/>
                    <a:lstStyle/>
                    <a:p>
                      <a:pPr algn="r"/>
                      <a:r>
                        <a:rPr lang="en-US" sz="1000"/>
                        <a:t>16.5x</a:t>
                      </a:r>
                    </a:p>
                  </a:txBody>
                  <a:tcPr marT="0" marB="0">
                    <a:lnL w="0"/>
                    <a:lnR w="0"/>
                    <a:lnT w="0"/>
                    <a:lnB w="0"/>
                    <a:lnTlToBr w="0"/>
                    <a:lnBlToTr w="0"/>
                  </a:tcPr>
                </a:tc>
                <a:tc>
                  <a:txBody>
                    <a:bodyPr/>
                    <a:lstStyle/>
                    <a:p>
                      <a:pPr algn="l"/>
                      <a:r>
                        <a:rPr lang="en-US" sz="1000"/>
                        <a:t>15%</a:t>
                      </a:r>
                    </a:p>
                  </a:txBody>
                  <a:tcPr marT="0" marB="0">
                    <a:lnL w="0"/>
                    <a:lnR w="0"/>
                    <a:lnT w="0"/>
                    <a:lnB w="0"/>
                    <a:lnTlToBr w="0"/>
                    <a:lnBlToTr w="0"/>
                  </a:tcPr>
                </a:tc>
                <a:extLst>
                  <a:ext uri="{0D108BD9-81ED-4DB2-BD59-A6C34878D82A}">
                    <a16:rowId xmlns:a16="http://schemas.microsoft.com/office/drawing/2014/main" val="2507163709"/>
                  </a:ext>
                </a:extLst>
              </a:tr>
              <a:tr h="165100">
                <a:tc>
                  <a:txBody>
                    <a:bodyPr/>
                    <a:lstStyle/>
                    <a:p>
                      <a:pPr algn="l"/>
                      <a:r>
                        <a:rPr lang="en-US" sz="1000"/>
                        <a:t>2024</a:t>
                      </a:r>
                    </a:p>
                  </a:txBody>
                  <a:tcPr marT="0" marB="0">
                    <a:lnL w="0"/>
                    <a:lnR w="0"/>
                    <a:lnT w="0"/>
                    <a:lnB w="0"/>
                    <a:lnTlToBr w="0"/>
                    <a:lnBlToTr w="0"/>
                  </a:tcPr>
                </a:tc>
                <a:tc>
                  <a:txBody>
                    <a:bodyPr/>
                    <a:lstStyle/>
                    <a:p>
                      <a:pPr algn="r"/>
                      <a:r>
                        <a:rPr lang="en-US" sz="1000"/>
                        <a:t>17.2x</a:t>
                      </a:r>
                    </a:p>
                  </a:txBody>
                  <a:tcPr marT="0" marB="0">
                    <a:lnL w="0"/>
                    <a:lnR w="0"/>
                    <a:lnT w="0"/>
                    <a:lnB w="0"/>
                    <a:lnTlToBr w="0"/>
                    <a:lnBlToTr w="0"/>
                  </a:tcPr>
                </a:tc>
                <a:tc>
                  <a:txBody>
                    <a:bodyPr/>
                    <a:lstStyle/>
                    <a:p>
                      <a:pPr algn="l"/>
                      <a:r>
                        <a:rPr lang="en-US" sz="1000"/>
                        <a:t>23%</a:t>
                      </a:r>
                    </a:p>
                  </a:txBody>
                  <a:tcPr marT="0" marB="0">
                    <a:lnL w="0"/>
                    <a:lnR w="0"/>
                    <a:lnT w="0"/>
                    <a:lnB w="0"/>
                    <a:lnTlToBr w="0"/>
                    <a:lnBlToTr w="0"/>
                  </a:tcPr>
                </a:tc>
                <a:extLst>
                  <a:ext uri="{0D108BD9-81ED-4DB2-BD59-A6C34878D82A}">
                    <a16:rowId xmlns:a16="http://schemas.microsoft.com/office/drawing/2014/main" val="1858144690"/>
                  </a:ext>
                </a:extLst>
              </a:tr>
              <a:tr h="165100">
                <a:tc>
                  <a:txBody>
                    <a:bodyPr/>
                    <a:lstStyle/>
                    <a:p>
                      <a:pPr algn="l"/>
                      <a:r>
                        <a:rPr lang="en-US" sz="1000"/>
                        <a:t>2025</a:t>
                      </a:r>
                    </a:p>
                  </a:txBody>
                  <a:tcPr marT="0" marB="0">
                    <a:lnL w="0"/>
                    <a:lnR w="0"/>
                    <a:lnT w="0"/>
                    <a:lnB w="0"/>
                    <a:lnTlToBr w="0"/>
                    <a:lnBlToTr w="0"/>
                  </a:tcPr>
                </a:tc>
                <a:tc>
                  <a:txBody>
                    <a:bodyPr/>
                    <a:lstStyle/>
                    <a:p>
                      <a:pPr algn="r"/>
                      <a:r>
                        <a:rPr lang="en-US" sz="1000"/>
                        <a:t>17.3x</a:t>
                      </a:r>
                    </a:p>
                  </a:txBody>
                  <a:tcPr marT="0" marB="0">
                    <a:lnL w="0"/>
                    <a:lnR w="0"/>
                    <a:lnT w="0"/>
                    <a:lnB w="0"/>
                    <a:lnTlToBr w="0"/>
                    <a:lnBlToTr w="0"/>
                  </a:tcPr>
                </a:tc>
                <a:tc>
                  <a:txBody>
                    <a:bodyPr/>
                    <a:lstStyle/>
                    <a:p>
                      <a:pPr algn="l"/>
                      <a:r>
                        <a:rPr lang="en-US" sz="1000"/>
                        <a:t>35%</a:t>
                      </a:r>
                    </a:p>
                  </a:txBody>
                  <a:tcPr marT="0" marB="0">
                    <a:lnL w="0"/>
                    <a:lnR w="0"/>
                    <a:lnT w="0"/>
                    <a:lnB w="0"/>
                    <a:lnTlToBr w="0"/>
                    <a:lnBlToTr w="0"/>
                  </a:tcPr>
                </a:tc>
                <a:extLst>
                  <a:ext uri="{0D108BD9-81ED-4DB2-BD59-A6C34878D82A}">
                    <a16:rowId xmlns:a16="http://schemas.microsoft.com/office/drawing/2014/main" val="1037737008"/>
                  </a:ext>
                </a:extLst>
              </a:tr>
              <a:tr h="165100">
                <a:tc>
                  <a:txBody>
                    <a:bodyPr/>
                    <a:lstStyle/>
                    <a:p>
                      <a:pPr algn="l"/>
                      <a:r>
                        <a:rPr lang="en-US" sz="1000"/>
                        <a:t>2026 YTD</a:t>
                      </a:r>
                    </a:p>
                  </a:txBody>
                  <a:tcPr marT="0" marB="0">
                    <a:lnL w="0"/>
                    <a:lnR w="0"/>
                    <a:lnT w="0"/>
                    <a:lnB w="0"/>
                    <a:lnTlToBr w="0"/>
                    <a:lnBlToTr w="0"/>
                  </a:tcPr>
                </a:tc>
                <a:tc>
                  <a:txBody>
                    <a:bodyPr/>
                    <a:lstStyle/>
                    <a:p>
                      <a:pPr algn="r"/>
                      <a:r>
                        <a:rPr lang="en-US" sz="1000"/>
                        <a:t>16.8x</a:t>
                      </a:r>
                    </a:p>
                  </a:txBody>
                  <a:tcPr marT="0" marB="0">
                    <a:lnL w="0"/>
                    <a:lnR w="0"/>
                    <a:lnT w="0"/>
                    <a:lnB w="0"/>
                    <a:lnTlToBr w="0"/>
                    <a:lnBlToTr w="0"/>
                  </a:tcPr>
                </a:tc>
                <a:tc>
                  <a:txBody>
                    <a:bodyPr/>
                    <a:lstStyle/>
                    <a:p>
                      <a:pPr algn="l"/>
                      <a:r>
                        <a:rPr lang="en-US" sz="1000"/>
                        <a:t>33%</a:t>
                      </a:r>
                    </a:p>
                  </a:txBody>
                  <a:tcPr marT="0" marB="0">
                    <a:lnL w="0"/>
                    <a:lnR w="0"/>
                    <a:lnT w="0"/>
                    <a:lnB w="0"/>
                    <a:lnTlToBr w="0"/>
                    <a:lnBlToTr w="0"/>
                  </a:tcPr>
                </a:tc>
                <a:extLst>
                  <a:ext uri="{0D108BD9-81ED-4DB2-BD59-A6C34878D82A}">
                    <a16:rowId xmlns:a16="http://schemas.microsoft.com/office/drawing/2014/main" val="1873842182"/>
                  </a:ext>
                </a:extLst>
              </a:tr>
            </a:tbl>
          </a:graphicData>
        </a:graphic>
      </p:graphicFrame>
      <p:sp>
        <p:nvSpPr>
          <p:cNvPr id="6" name="Text Box 2">
            <a:extLst>
              <a:ext uri="{FF2B5EF4-FFF2-40B4-BE49-F238E27FC236}">
                <a16:creationId xmlns:a16="http://schemas.microsoft.com/office/drawing/2014/main" id="{C62AEACA-B868-639F-938B-56EFE78110B9}"/>
              </a:ext>
            </a:extLst>
          </p:cNvPr>
          <p:cNvSpPr txBox="1">
            <a:spLocks noChangeArrowheads="1"/>
          </p:cNvSpPr>
          <p:nvPr/>
        </p:nvSpPr>
        <p:spPr bwMode="auto">
          <a:xfrm>
            <a:off x="959614" y="3098800"/>
            <a:ext cx="5607367"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a:solidFill>
                  <a:srgbClr val="292934"/>
                </a:solidFill>
                <a:latin typeface="Calibri" panose="020F0502020204030204" pitchFamily="34" charset="0"/>
                <a:ea typeface="Calibri" panose="020F0502020204030204" pitchFamily="34" charset="0"/>
              </a:rPr>
              <a:t>Figure 40: GATX NTM P/E distribution</a:t>
            </a:r>
          </a:p>
        </p:txBody>
      </p:sp>
      <p:sp>
        <p:nvSpPr>
          <p:cNvPr id="951" name="Text Box 950">
            <a:extLst>
              <a:ext uri="{FF2B5EF4-FFF2-40B4-BE49-F238E27FC236}">
                <a16:creationId xmlns:a16="http://schemas.microsoft.com/office/drawing/2014/main" id="{C62AEACA-B868-639F-938B-56EFE78110B9}"/>
              </a:ext>
            </a:extLst>
          </p:cNvPr>
          <p:cNvSpPr txBox="1">
            <a:spLocks noChangeArrowheads="1"/>
          </p:cNvSpPr>
          <p:nvPr/>
        </p:nvSpPr>
        <p:spPr bwMode="auto">
          <a:xfrm>
            <a:off x="5334000" y="3098800"/>
            <a:ext cx="5607367"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a:solidFill>
                  <a:srgbClr val="292934"/>
                </a:solidFill>
                <a:latin typeface="Calibri" panose="020F0502020204030204" pitchFamily="34" charset="0"/>
                <a:ea typeface="Calibri" panose="020F0502020204030204" pitchFamily="34" charset="0"/>
              </a:rPr>
              <a:t>Figure 41: Median NTM P/E and days at or above 17.8x, by year</a:t>
            </a:r>
          </a:p>
        </p:txBody>
      </p:sp>
    </p:spTree>
    <p:extLst>
      <p:ext uri="{BB962C8B-B14F-4D97-AF65-F5344CB8AC3E}">
        <p14:creationId xmlns:p14="http://schemas.microsoft.com/office/powerpoint/2010/main" val="4402693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E825B-28CA-A472-DB93-3C47F6CCF356}"/>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E57A746A-C38E-B1EA-0846-C98AF15174D9}"/>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0410F76B-7672-1649-42E8-080BD128152A}"/>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000" b="1">
                  <a:solidFill>
                    <a:schemeClr val="tx1"/>
                  </a:solidFill>
                  <a:latin typeface="Calibri" panose="020F0502020204030204" pitchFamily="34" charset="0"/>
                </a:rPr>
                <a:t>Why Multiples, Not DCF</a:t>
              </a:r>
            </a:p>
          </p:txBody>
        </p:sp>
        <p:grpSp>
          <p:nvGrpSpPr>
            <p:cNvPr id="16397" name="Group 39">
              <a:extLst>
                <a:ext uri="{FF2B5EF4-FFF2-40B4-BE49-F238E27FC236}">
                  <a16:creationId xmlns:a16="http://schemas.microsoft.com/office/drawing/2014/main" id="{5AAC6B99-A0FD-EBE7-10CA-1F74F0281CDB}"/>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F42C067F-48FB-EF16-928A-3AAEE2544C96}"/>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9CEB36DF-6FA6-722D-2583-5C945B566868}"/>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7ABEFAA1-263D-FA2D-4C90-A93D50A4618D}"/>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1D758D70-F9D8-B253-4180-C4B1FBBD314C}"/>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AECE28FC-088C-6577-C4B4-A028D068856F}"/>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43796656-8692-44C2-946F-F2E8588D4C51}"/>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0948CAD9-173D-8A3B-50AE-93A5942D2E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F0F9AF20-9453-D305-A0BA-C6962CC4DA1B}"/>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73780E7E-FB8A-526F-2A36-2A34B77F7630}"/>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8D8B4AD3-633E-FA6C-EC49-585FF8A21C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5E4F54F8-5FF9-C714-F9B6-E95C1E6A54DC}"/>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D97E686F-0A05-6333-5806-9FBEDA0A741A}"/>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96755F93-423E-3339-100C-7DB843B3195B}"/>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7313D56E-71BC-733D-975D-ED0A38BA5E98}"/>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228402DF-4D41-58B2-5A2D-DE7128A9FC63}"/>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D670666A-6760-35D1-656D-8D096DB263B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AA8FA77C-6732-4C9D-6A3C-E99A9E96C20B}"/>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D0BD533D-01BE-0F49-13CF-D1CAE5B2BF44}"/>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1CCC8869-7801-2DD2-8ED9-399E6F47A36A}"/>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7220DA0A-4F7D-D520-43D0-480BC2C83D46}"/>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2900280A-608C-D732-9F2F-07865A378340}"/>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6028CD7D-1C5B-7EB2-12CF-8B6C7F6D7286}"/>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58E3FEBC-13EE-5FA5-E514-4C0FA4645E6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pic>
        <p:nvPicPr>
          <p:cNvPr id="5" name="Picture 4" descr="A black background with blue text&#10;&#10;Description automatically generated">
            <a:extLst>
              <a:ext uri="{FF2B5EF4-FFF2-40B4-BE49-F238E27FC236}">
                <a16:creationId xmlns:a16="http://schemas.microsoft.com/office/drawing/2014/main" id="{30A88B07-6315-8790-36D1-A2843E070DFA}"/>
              </a:ext>
            </a:extLst>
          </p:cNvPr>
          <p:cNvPicPr>
            <a:picLocks noChangeAspect="1"/>
          </p:cNvPicPr>
          <p:nvPr/>
        </p:nvPicPr>
        <p:blipFill>
          <a:blip r:embed="rId7">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7" name="TextBox 6">
            <a:extLst>
              <a:ext uri="{FF2B5EF4-FFF2-40B4-BE49-F238E27FC236}">
                <a16:creationId xmlns:a16="http://schemas.microsoft.com/office/drawing/2014/main" id="{F32C997D-CB07-BDBA-A23F-C3BEEDF1E21E}"/>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22</a:t>
            </a:fld>
            <a:endParaRPr lang="en-US" sz="1400">
              <a:latin typeface="Calibri" panose="020F0502020204030204" pitchFamily="34" charset="0"/>
              <a:cs typeface="Calibri" panose="020F0502020204030204" pitchFamily="34" charset="0"/>
            </a:endParaRPr>
          </a:p>
        </p:txBody>
      </p:sp>
      <p:sp>
        <p:nvSpPr>
          <p:cNvPr id="12" name="Text Box 2">
            <a:extLst>
              <a:ext uri="{FF2B5EF4-FFF2-40B4-BE49-F238E27FC236}">
                <a16:creationId xmlns:a16="http://schemas.microsoft.com/office/drawing/2014/main" id="{3F978FF4-1AF1-64A7-4531-545438A27FEA}"/>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11D77892-03B3-4FD6-8177-D152CFB6AB67}"/>
              </a:ext>
            </a:extLst>
          </p:cNvPr>
          <p:cNvSpPr/>
          <p:nvPr/>
        </p:nvSpPr>
        <p:spPr>
          <a:xfrm>
            <a:off x="134275" y="5161140"/>
            <a:ext cx="8861670" cy="971125"/>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eaLnBrk="1" hangingPunct="1">
              <a:lnSpc>
                <a:spcPct val="100000"/>
              </a:lnSpc>
              <a:spcAft>
                <a:spcPts val="400"/>
              </a:spcAft>
            </a:pPr>
            <a:r>
              <a:rPr lang="en-US" altLang="en-US" sz="1200">
                <a:solidFill>
                  <a:srgbClr val="292934"/>
                </a:solidFill>
                <a:latin typeface="Calibri" panose="020F0502020204030204" pitchFamily="34" charset="0"/>
                <a:ea typeface="Calibri" panose="020F0502020204030204" pitchFamily="34" charset="0"/>
              </a:rPr>
              <a:t>At the ten-year median of 16.34x, the price of $183.73 implies 2027 EPS of $11.24, in line with consensus $11.27 and $0.77 above BMG's $10.47. The price is discounting the Street's earnings at the median multiple. The gap between price and target is the earnings, not the multiple.</a:t>
            </a:r>
          </a:p>
          <a:p>
            <a:pPr eaLnBrk="1" hangingPunct="1">
              <a:lnSpc>
                <a:spcPct val="100000"/>
              </a:lnSpc>
              <a:spcAft>
                <a:spcPts val="400"/>
              </a:spcAft>
            </a:pPr>
            <a:r>
              <a:rPr lang="en-US" altLang="en-US" sz="1200">
                <a:solidFill>
                  <a:srgbClr val="292934"/>
                </a:solidFill>
                <a:latin typeface="Calibri" panose="020F0502020204030204" pitchFamily="34" charset="0"/>
                <a:ea typeface="Calibri" panose="020F0502020204030204" pitchFamily="34" charset="0"/>
              </a:rPr>
              <a:t>Inverting at the median the market set is the honest test: it says the stock is priced for consensus, and BMG's work says consensus is $0.80 too high.</a:t>
            </a:r>
          </a:p>
        </p:txBody>
      </p:sp>
      <p:sp>
        <p:nvSpPr>
          <p:cNvPr id="14" name="Rectangle 13">
            <a:extLst>
              <a:ext uri="{FF2B5EF4-FFF2-40B4-BE49-F238E27FC236}">
                <a16:creationId xmlns:a16="http://schemas.microsoft.com/office/drawing/2014/main" id="{F27B259C-5B83-97DB-BB6D-EE5826FD45F1}"/>
              </a:ext>
            </a:extLst>
          </p:cNvPr>
          <p:cNvSpPr/>
          <p:nvPr/>
        </p:nvSpPr>
        <p:spPr>
          <a:xfrm>
            <a:off x="6919573" y="4345369"/>
            <a:ext cx="2080738" cy="737807"/>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 did not choose the median. The market's own history did.</a:t>
            </a:r>
          </a:p>
        </p:txBody>
      </p:sp>
      <p:graphicFrame>
        <p:nvGraphicFramePr>
          <p:cNvPr id="15" name="Table 14">
            <a:extLst>
              <a:ext uri="{FF2B5EF4-FFF2-40B4-BE49-F238E27FC236}">
                <a16:creationId xmlns:a16="http://schemas.microsoft.com/office/drawing/2014/main" id="{75724965-7751-58FE-08F5-41614025083A}"/>
              </a:ext>
            </a:extLst>
          </p:cNvPr>
          <p:cNvGraphicFramePr>
            <a:graphicFrameLocks noGrp="1"/>
          </p:cNvGraphicFramePr>
          <p:nvPr>
            <p:custDataLst>
              <p:tags r:id="rId1"/>
            </p:custDataLst>
          </p:nvPr>
        </p:nvGraphicFramePr>
        <p:xfrm>
          <a:off x="6945258" y="3157848"/>
          <a:ext cx="2050688" cy="664843"/>
        </p:xfrm>
        <a:graphic>
          <a:graphicData uri="http://schemas.openxmlformats.org/drawingml/2006/table">
            <a:tbl>
              <a:tblPr/>
              <a:tblGrid>
                <a:gridCol w="911418">
                  <a:extLst>
                    <a:ext uri="{9D8B030D-6E8A-4147-A177-3AD203B41FA5}">
                      <a16:colId xmlns:a16="http://schemas.microsoft.com/office/drawing/2014/main" val="2782735703"/>
                    </a:ext>
                  </a:extLst>
                </a:gridCol>
                <a:gridCol w="569635">
                  <a:extLst>
                    <a:ext uri="{9D8B030D-6E8A-4147-A177-3AD203B41FA5}">
                      <a16:colId xmlns:a16="http://schemas.microsoft.com/office/drawing/2014/main" val="3057689284"/>
                    </a:ext>
                  </a:extLst>
                </a:gridCol>
                <a:gridCol w="569635">
                  <a:extLst>
                    <a:ext uri="{9D8B030D-6E8A-4147-A177-3AD203B41FA5}">
                      <a16:colId xmlns:a16="http://schemas.microsoft.com/office/drawing/2014/main" val="623394214"/>
                    </a:ext>
                  </a:extLst>
                </a:gridCol>
              </a:tblGrid>
              <a:tr h="152992">
                <a:tc>
                  <a:txBody>
                    <a:bodyPr/>
                    <a:lstStyle/>
                    <a:p>
                      <a:pPr algn="l" fontAlgn="b"/>
                      <a:r>
                        <a:rPr lang="en-US" sz="1000" b="1" i="0" u="none" strike="noStrike">
                          <a:solidFill>
                            <a:srgbClr val="FFFFFF"/>
                          </a:solidFill>
                          <a:effectLst/>
                          <a:latin typeface="Calibri" panose="020F0502020204030204" pitchFamily="34" charset="0"/>
                        </a:rPr>
                        <a:t>Target math</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0000"/>
                    </a:solidFill>
                  </a:tcPr>
                </a:tc>
                <a:tc>
                  <a:txBody>
                    <a:bodyPr/>
                    <a:lstStyle/>
                    <a:p>
                      <a:pPr algn="l" fontAlgn="b"/>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000000"/>
                    </a:solidFill>
                  </a:tcPr>
                </a:tc>
                <a:tc>
                  <a:txBody>
                    <a:bodyPr/>
                    <a:lstStyle/>
                    <a:p>
                      <a:pPr algn="l" fontAlgn="b"/>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0000"/>
                    </a:solidFill>
                  </a:tcPr>
                </a:tc>
                <a:extLst>
                  <a:ext uri="{0D108BD9-81ED-4DB2-BD59-A6C34878D82A}">
                    <a16:rowId xmlns:a16="http://schemas.microsoft.com/office/drawing/2014/main" val="2274955219"/>
                  </a:ext>
                </a:extLst>
              </a:tr>
              <a:tr h="152992">
                <a:tc>
                  <a:txBody>
                    <a:bodyPr/>
                    <a:lstStyle/>
                    <a:p>
                      <a:pPr algn="l" fontAlgn="b"/>
                      <a:r>
                        <a:rPr lang="en-US" sz="1000" b="0" i="0" u="none" strike="noStrike">
                          <a:solidFill>
                            <a:srgbClr val="000000"/>
                          </a:solidFill>
                          <a:effectLst/>
                          <a:latin typeface="Calibri" panose="020F0502020204030204" pitchFamily="34" charset="0"/>
                        </a:rPr>
                        <a:t>2027E EPS (BMG)</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r" fontAlgn="b"/>
                      <a:r>
                        <a:rPr lang="en-US" sz="1000" b="0" i="0" u="none" strike="noStrike">
                          <a:solidFill>
                            <a:srgbClr val="000000"/>
                          </a:solidFill>
                          <a:effectLst/>
                          <a:latin typeface="Calibri" panose="020F0502020204030204" pitchFamily="34" charset="0"/>
                        </a:rPr>
                        <a:t>$10.47</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9308761"/>
                  </a:ext>
                </a:extLst>
              </a:tr>
              <a:tr h="152992">
                <a:tc>
                  <a:txBody>
                    <a:bodyPr/>
                    <a:lstStyle/>
                    <a:p>
                      <a:pPr algn="l" fontAlgn="b"/>
                      <a:r>
                        <a:rPr lang="en-US" sz="1000" b="0" i="0" u="none" strike="noStrike">
                          <a:solidFill>
                            <a:srgbClr val="000000"/>
                          </a:solidFill>
                          <a:effectLst/>
                          <a:latin typeface="Calibri" panose="020F0502020204030204" pitchFamily="34" charset="0"/>
                        </a:rPr>
                        <a:t>Target multiple (10-yr median, base)</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r" fontAlgn="b"/>
                      <a:r>
                        <a:rPr lang="en-US" sz="1000" b="0" i="0" u="none" strike="noStrike">
                          <a:solidFill>
                            <a:srgbClr val="000000"/>
                          </a:solidFill>
                          <a:effectLst/>
                          <a:latin typeface="Calibri" panose="020F0502020204030204" pitchFamily="34" charset="0"/>
                        </a:rPr>
                        <a:t>16.34x</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1530101"/>
                  </a:ext>
                </a:extLst>
              </a:tr>
              <a:tr h="152992">
                <a:tc gridSpan="2">
                  <a:txBody>
                    <a:bodyPr/>
                    <a:lstStyle/>
                    <a:p>
                      <a:pPr algn="l" fontAlgn="b"/>
                      <a:r>
                        <a:rPr lang="en-US" sz="1000" b="0" i="0" u="none" strike="noStrike">
                          <a:solidFill>
                            <a:srgbClr val="000000"/>
                          </a:solidFill>
                          <a:effectLst/>
                          <a:latin typeface="Calibri" panose="020F0502020204030204" pitchFamily="34" charset="0"/>
                        </a:rPr>
                        <a:t>P/E leg (prob-weighted)</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r" fontAlgn="b"/>
                      <a:r>
                        <a:rPr lang="en-US" sz="1000" b="0" i="0" u="none" strike="noStrike">
                          <a:solidFill>
                            <a:srgbClr val="000000"/>
                          </a:solidFill>
                          <a:effectLst/>
                          <a:latin typeface="Calibri" panose="020F0502020204030204" pitchFamily="34" charset="0"/>
                        </a:rPr>
                        <a:t>$169.76</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859520333"/>
                  </a:ext>
                </a:extLst>
              </a:tr>
            </a:tbl>
          </a:graphicData>
        </a:graphic>
      </p:graphicFrame>
      <p:graphicFrame>
        <p:nvGraphicFramePr>
          <p:cNvPr id="16" name="Table 15">
            <a:extLst>
              <a:ext uri="{FF2B5EF4-FFF2-40B4-BE49-F238E27FC236}">
                <a16:creationId xmlns:a16="http://schemas.microsoft.com/office/drawing/2014/main" id="{8A3F5EEF-7447-C1BF-B917-D7504DA3C54C}"/>
              </a:ext>
            </a:extLst>
          </p:cNvPr>
          <p:cNvGraphicFramePr>
            <a:graphicFrameLocks noGrp="1"/>
          </p:cNvGraphicFramePr>
          <p:nvPr/>
        </p:nvGraphicFramePr>
        <p:xfrm>
          <a:off x="6946900" y="1270000"/>
          <a:ext cx="2058464" cy="1133147"/>
        </p:xfrm>
        <a:graphic>
          <a:graphicData uri="http://schemas.openxmlformats.org/drawingml/2006/table">
            <a:tbl>
              <a:tblPr/>
              <a:tblGrid>
                <a:gridCol w="1278549">
                  <a:extLst>
                    <a:ext uri="{9D8B030D-6E8A-4147-A177-3AD203B41FA5}">
                      <a16:colId xmlns:a16="http://schemas.microsoft.com/office/drawing/2014/main" val="3515177858"/>
                    </a:ext>
                  </a:extLst>
                </a:gridCol>
                <a:gridCol w="779915">
                  <a:extLst>
                    <a:ext uri="{9D8B030D-6E8A-4147-A177-3AD203B41FA5}">
                      <a16:colId xmlns:a16="http://schemas.microsoft.com/office/drawing/2014/main" val="3838563642"/>
                    </a:ext>
                  </a:extLst>
                </a:gridCol>
              </a:tblGrid>
              <a:tr h="185456">
                <a:tc>
                  <a:txBody>
                    <a:bodyPr/>
                    <a:lstStyle/>
                    <a:p>
                      <a:pPr algn="l" fontAlgn="b"/>
                      <a:r>
                        <a:rPr lang="en-US" sz="1000" b="0" i="0" u="none" strike="noStrike">
                          <a:solidFill>
                            <a:srgbClr val="FFFFFF"/>
                          </a:solidFill>
                          <a:effectLst/>
                          <a:latin typeface="Calibri" panose="020F0502020204030204" pitchFamily="34" charset="0"/>
                        </a:rPr>
                        <a:t>Inversion check</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r" fontAlgn="b"/>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963326220"/>
                  </a:ext>
                </a:extLst>
              </a:tr>
              <a:tr h="185456">
                <a:tc>
                  <a:txBody>
                    <a:bodyPr/>
                    <a:lstStyle/>
                    <a:p>
                      <a:pPr algn="l" fontAlgn="b"/>
                      <a:r>
                        <a:rPr lang="en-US" sz="1000" b="0" i="0" u="none" strike="noStrike">
                          <a:solidFill>
                            <a:srgbClr val="000000"/>
                          </a:solidFill>
                          <a:effectLst/>
                          <a:latin typeface="Calibri" panose="020F0502020204030204" pitchFamily="34" charset="0"/>
                        </a:rPr>
                        <a:t>Price, 2026-09-25 close</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r>
                        <a:rPr lang="en-US" sz="1000" b="0" i="0" u="none" strike="noStrike">
                          <a:solidFill>
                            <a:srgbClr val="000000"/>
                          </a:solidFill>
                          <a:effectLst/>
                          <a:latin typeface="Calibri" panose="020F0502020204030204" pitchFamily="34" charset="0"/>
                        </a:rPr>
                        <a:t>$183.73</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034124589"/>
                  </a:ext>
                </a:extLst>
              </a:tr>
              <a:tr h="185456">
                <a:tc>
                  <a:txBody>
                    <a:bodyPr/>
                    <a:lstStyle/>
                    <a:p>
                      <a:pPr algn="l" fontAlgn="b"/>
                      <a:r>
                        <a:rPr lang="en-US" sz="1000" b="0" i="0" u="none" strike="noStrike">
                          <a:solidFill>
                            <a:srgbClr val="000000"/>
                          </a:solidFill>
                          <a:effectLst/>
                          <a:latin typeface="Calibri" panose="020F0502020204030204" pitchFamily="34" charset="0"/>
                        </a:rPr>
                        <a:t>10-yr median multiple</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r>
                        <a:rPr lang="en-US" sz="1000" b="0" i="0" u="none" strike="noStrike">
                          <a:solidFill>
                            <a:srgbClr val="000000"/>
                          </a:solidFill>
                          <a:effectLst/>
                          <a:latin typeface="Calibri" panose="020F0502020204030204" pitchFamily="34" charset="0"/>
                        </a:rPr>
                        <a:t>16.34x</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735954592"/>
                  </a:ext>
                </a:extLst>
              </a:tr>
              <a:tr h="185456">
                <a:tc>
                  <a:txBody>
                    <a:bodyPr/>
                    <a:lstStyle/>
                    <a:p>
                      <a:pPr algn="l" fontAlgn="b"/>
                      <a:r>
                        <a:rPr lang="en-US" sz="1000" b="0" i="0" u="none" strike="noStrike">
                          <a:solidFill>
                            <a:srgbClr val="000000"/>
                          </a:solidFill>
                          <a:effectLst/>
                          <a:latin typeface="Calibri" panose="020F0502020204030204" pitchFamily="34" charset="0"/>
                        </a:rPr>
                        <a:t>Implied 2027 EPS</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r>
                        <a:rPr lang="en-US" sz="1000" b="0" i="0" u="none" strike="noStrike">
                          <a:solidFill>
                            <a:srgbClr val="000000"/>
                          </a:solidFill>
                          <a:effectLst/>
                          <a:latin typeface="Calibri" panose="020F0502020204030204" pitchFamily="34" charset="0"/>
                        </a:rPr>
                        <a:t>$11.24</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994208760"/>
                  </a:ext>
                </a:extLst>
              </a:tr>
              <a:tr h="185456">
                <a:tc>
                  <a:txBody>
                    <a:bodyPr/>
                    <a:lstStyle/>
                    <a:p>
                      <a:pPr algn="l" fontAlgn="b"/>
                      <a:r>
                        <a:rPr lang="en-US" sz="1000" b="0" i="0" u="none" strike="noStrike">
                          <a:solidFill>
                            <a:srgbClr val="000000"/>
                          </a:solidFill>
                          <a:effectLst/>
                          <a:latin typeface="Calibri" panose="020F0502020204030204" pitchFamily="34" charset="0"/>
                        </a:rPr>
                        <a:t>2027E consensus / BMG</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r>
                        <a:rPr lang="en-US" sz="1000" b="0" i="0" u="none" strike="noStrike">
                          <a:solidFill>
                            <a:srgbClr val="000000"/>
                          </a:solidFill>
                          <a:effectLst/>
                          <a:latin typeface="Calibri" panose="020F0502020204030204" pitchFamily="34" charset="0"/>
                        </a:rPr>
                        <a:t>$11.27 / $10.47</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926039552"/>
                  </a:ext>
                </a:extLst>
              </a:tr>
              <a:tr h="185456">
                <a:tc>
                  <a:txBody>
                    <a:bodyPr/>
                    <a:lstStyle/>
                    <a:p>
                      <a:pPr algn="l" fontAlgn="b"/>
                      <a:r>
                        <a:rPr lang="en-US" sz="1000" b="0" i="0" u="none" strike="noStrike">
                          <a:solidFill>
                            <a:srgbClr val="000000"/>
                          </a:solidFill>
                          <a:effectLst/>
                          <a:latin typeface="Calibri" panose="020F0502020204030204" pitchFamily="34" charset="0"/>
                        </a:rPr>
                        <a:t>Gap to target</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r>
                        <a:rPr lang="en-US" sz="1000" b="0" i="0" u="none" strike="noStrike">
                          <a:solidFill>
                            <a:srgbClr val="000000"/>
                          </a:solidFill>
                          <a:effectLst/>
                          <a:latin typeface="Calibri" panose="020F0502020204030204" pitchFamily="34" charset="0"/>
                        </a:rPr>
                        <a:t>The earnings</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534011749"/>
                  </a:ext>
                </a:extLst>
              </a:tr>
            </a:tbl>
          </a:graphicData>
        </a:graphic>
      </p:graphicFrame>
      <p:sp>
        <p:nvSpPr>
          <p:cNvPr id="17" name="Text Box 2">
            <a:extLst>
              <a:ext uri="{FF2B5EF4-FFF2-40B4-BE49-F238E27FC236}">
                <a16:creationId xmlns:a16="http://schemas.microsoft.com/office/drawing/2014/main" id="{B1AB8DEF-E052-BD12-DC96-A5673D49E362}"/>
              </a:ext>
            </a:extLst>
          </p:cNvPr>
          <p:cNvSpPr txBox="1">
            <a:spLocks noChangeArrowheads="1"/>
          </p:cNvSpPr>
          <p:nvPr/>
        </p:nvSpPr>
        <p:spPr bwMode="auto">
          <a:xfrm>
            <a:off x="57024" y="714318"/>
            <a:ext cx="5607367" cy="248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a:ea typeface="Calibri" panose="020F0502020204030204" pitchFamily="34" charset="0"/>
                <a:cs typeface="Times New Roman"/>
              </a:rPr>
              <a:t>Figure 42:  Why a multiple, not a DCF</a:t>
            </a:r>
            <a:endParaRPr lang="en-US" altLang="en-US" sz="120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 Box 2">
            <a:extLst>
              <a:ext uri="{FF2B5EF4-FFF2-40B4-BE49-F238E27FC236}">
                <a16:creationId xmlns:a16="http://schemas.microsoft.com/office/drawing/2014/main" id="{CFA8BF61-6319-FA81-C9FE-D3297DA7D5BC}"/>
              </a:ext>
            </a:extLst>
          </p:cNvPr>
          <p:cNvSpPr txBox="1">
            <a:spLocks noChangeArrowheads="1"/>
          </p:cNvSpPr>
          <p:nvPr/>
        </p:nvSpPr>
        <p:spPr bwMode="auto">
          <a:xfrm>
            <a:off x="6854930" y="2900463"/>
            <a:ext cx="5607367"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a:ea typeface="Calibri" panose="020F0502020204030204" pitchFamily="34" charset="0"/>
                <a:cs typeface="Times New Roman"/>
              </a:rPr>
              <a:t>Figure 44:  Target math</a:t>
            </a:r>
            <a:endParaRPr lang="en-US" altLang="en-US" sz="120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9" name="Text Box 2">
            <a:extLst>
              <a:ext uri="{FF2B5EF4-FFF2-40B4-BE49-F238E27FC236}">
                <a16:creationId xmlns:a16="http://schemas.microsoft.com/office/drawing/2014/main" id="{AAD53107-DF31-51C7-59BF-BF150C2D9C5E}"/>
              </a:ext>
            </a:extLst>
          </p:cNvPr>
          <p:cNvSpPr txBox="1">
            <a:spLocks noChangeArrowheads="1"/>
          </p:cNvSpPr>
          <p:nvPr/>
        </p:nvSpPr>
        <p:spPr bwMode="auto">
          <a:xfrm>
            <a:off x="6854930" y="717750"/>
            <a:ext cx="5607367"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a:ea typeface="Calibri" panose="020F0502020204030204" pitchFamily="34" charset="0"/>
                <a:cs typeface="Times New Roman"/>
              </a:rPr>
              <a:t>Figure 43:  Inversion at the 10-year median</a:t>
            </a:r>
            <a:endParaRPr lang="en-US" altLang="en-US" sz="120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10" name="WhyMultiples">
            <a:extLst>
              <a:ext uri="{FF2B5EF4-FFF2-40B4-BE49-F238E27FC236}">
                <a16:creationId xmlns:a16="http://schemas.microsoft.com/office/drawing/2014/main" id="{11D77892-03B3-4FD6-8177-D152CFB6AB67}"/>
              </a:ext>
            </a:extLst>
          </p:cNvPr>
          <p:cNvSpPr/>
          <p:nvPr/>
        </p:nvSpPr>
        <p:spPr>
          <a:xfrm>
            <a:off x="127000" y="1016000"/>
            <a:ext cx="6629400" cy="381000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Three reasons a multiple is the right tool for GATX, and an unlevered DCF is not:</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One: as a lessor with about $12.5B of debt, equity is a thin slice on a large asset base; BMG built the DCF anyway and 75 to 87% of the value sits in the terminal year, with the answer swinging from $97 to $477 a share depending on the terminal method. It is a diagnostic, weighted zero.</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Two: earnings are contractual and visible, four to five year leases on a 278,000 car fleet, so the work is in the earnings and the multiple is anchored to history.</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Three: lessors are valued on what the assets are worth. BMG's net asset value, marking the fleet by vintage, gives $169 a share, which agrees with the P/E target from an independent direction (next slide).</a:t>
            </a:r>
          </a:p>
        </p:txBody>
      </p:sp>
    </p:spTree>
    <p:extLst>
      <p:ext uri="{BB962C8B-B14F-4D97-AF65-F5344CB8AC3E}">
        <p14:creationId xmlns:p14="http://schemas.microsoft.com/office/powerpoint/2010/main" val="1244219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E83DF-0EA4-684F-45BC-652BA54A3671}"/>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13EBC2E6-F22D-DED6-9C4D-6DEF5865CA93}"/>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D9B083D4-D144-589C-991E-8A8D55A0700C}"/>
                </a:ext>
              </a:extLst>
            </p:cNvPr>
            <p:cNvSpPr txBox="1">
              <a:spLocks/>
            </p:cNvSpPr>
            <p:nvPr/>
          </p:nvSpPr>
          <p:spPr>
            <a:xfrm>
              <a:off x="-1" y="-17873"/>
              <a:ext cx="9723399"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pPr>
              <a:r>
                <a:rPr lang="en-US" sz="3000" b="1">
                  <a:solidFill>
                    <a:schemeClr val="tx1"/>
                  </a:solidFill>
                  <a:latin typeface="Calibri"/>
                </a:rPr>
                <a:t>Justifying 16.34x</a:t>
              </a:r>
            </a:p>
          </p:txBody>
        </p:sp>
        <p:grpSp>
          <p:nvGrpSpPr>
            <p:cNvPr id="16397" name="Group 39">
              <a:extLst>
                <a:ext uri="{FF2B5EF4-FFF2-40B4-BE49-F238E27FC236}">
                  <a16:creationId xmlns:a16="http://schemas.microsoft.com/office/drawing/2014/main" id="{A025BC8A-CA36-7126-2F79-144DEECE93F0}"/>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FC1378D5-22A5-7458-094B-BA60D43A71D2}"/>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90292FE9-93F6-E2E2-FD3A-F91ED7809F43}"/>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B760119C-95ED-72D8-F6BC-8DF5B104DBCC}"/>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ABFBD260-F3FE-020A-4850-B74D75677CA1}"/>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E53F55DE-DDC9-A195-3A5C-A9EC83AF712D}"/>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27EB1C20-00BD-FF59-5CB7-965BF446B2F7}"/>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F3E9C759-6F69-C37A-C384-21146C74B5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8169FF31-4B5D-3285-B75E-E223A00F92CD}"/>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AD508247-C542-F6D6-E8A5-A2ABDB93EE6F}"/>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62DD943F-07B7-31B8-45D2-0B05055BC3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E7E07E48-11F6-CE35-B1C1-19CCFD9E9549}"/>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CF695A1F-6F31-91CD-9E3F-A1A0504C5B7B}"/>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03717852-CA87-170F-CF1A-457D2796EAD8}"/>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E000888C-09C2-2E16-406E-4EA519DC5E56}"/>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06BABAE9-D557-6179-9D3E-D0968C4DD4EC}"/>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BC429D1C-6929-F082-57DA-03A356703D14}"/>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04F6227D-1770-E7E5-2739-10E1B66F3770}"/>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47E8C316-77DB-B80C-505A-7A2A3B54617E}"/>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6A6CAD7B-1DA2-36D4-794C-DAF2589ACB4D}"/>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D9C1E31F-3E5A-5F30-4CF0-2AD126D876D8}"/>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CD0D060E-CCE1-29C2-6056-87E1E120E858}"/>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8FCFA30F-646F-E836-6757-5EDC79CB6644}"/>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ED2C4EF1-0EBA-A024-3A3D-1502E318D16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979" y="6263507"/>
            <a:ext cx="461513" cy="461513"/>
          </a:xfrm>
          <a:prstGeom prst="rect">
            <a:avLst/>
          </a:prstGeom>
        </p:spPr>
      </p:pic>
      <p:pic>
        <p:nvPicPr>
          <p:cNvPr id="5" name="Picture 4" descr="A black background with blue text&#10;&#10;Description automatically generated">
            <a:extLst>
              <a:ext uri="{FF2B5EF4-FFF2-40B4-BE49-F238E27FC236}">
                <a16:creationId xmlns:a16="http://schemas.microsoft.com/office/drawing/2014/main" id="{D626372C-D468-C00F-6E9B-9F0BA4A081A2}"/>
              </a:ext>
            </a:extLst>
          </p:cNvPr>
          <p:cNvPicPr>
            <a:picLocks noChangeAspect="1"/>
          </p:cNvPicPr>
          <p:nvPr/>
        </p:nvPicPr>
        <p:blipFill>
          <a:blip r:embed="rId6">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7" name="TextBox 6">
            <a:extLst>
              <a:ext uri="{FF2B5EF4-FFF2-40B4-BE49-F238E27FC236}">
                <a16:creationId xmlns:a16="http://schemas.microsoft.com/office/drawing/2014/main" id="{40ACB273-920A-47A9-1620-C82236458264}"/>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23</a:t>
            </a:fld>
            <a:endParaRPr lang="en-US" sz="1400">
              <a:latin typeface="Calibri" panose="020F0502020204030204" pitchFamily="34" charset="0"/>
              <a:cs typeface="Calibri" panose="020F0502020204030204" pitchFamily="34" charset="0"/>
            </a:endParaRPr>
          </a:p>
        </p:txBody>
      </p:sp>
      <p:sp>
        <p:nvSpPr>
          <p:cNvPr id="12" name="Text Box 2">
            <a:extLst>
              <a:ext uri="{FF2B5EF4-FFF2-40B4-BE49-F238E27FC236}">
                <a16:creationId xmlns:a16="http://schemas.microsoft.com/office/drawing/2014/main" id="{7D36ECD3-DB24-39F4-77E9-D9D81A0B145B}"/>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17" name="Text Box 2">
            <a:extLst>
              <a:ext uri="{FF2B5EF4-FFF2-40B4-BE49-F238E27FC236}">
                <a16:creationId xmlns:a16="http://schemas.microsoft.com/office/drawing/2014/main" id="{AF6F8915-D4F7-F28E-0023-2C66C23B2CE2}"/>
              </a:ext>
            </a:extLst>
          </p:cNvPr>
          <p:cNvSpPr txBox="1">
            <a:spLocks noChangeArrowheads="1"/>
          </p:cNvSpPr>
          <p:nvPr/>
        </p:nvSpPr>
        <p:spPr bwMode="auto">
          <a:xfrm>
            <a:off x="139700" y="711200"/>
            <a:ext cx="43180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pPr>
            <a:r>
              <a:rPr lang="en-US" sz="1200">
                <a:solidFill>
                  <a:srgbClr val="292934"/>
                </a:solidFill>
                <a:latin typeface="Calibri"/>
              </a:rPr>
              <a:t>Figure 45: Target math, 2027E EPS times target multiple</a:t>
            </a:r>
          </a:p>
        </p:txBody>
      </p:sp>
      <p:sp>
        <p:nvSpPr>
          <p:cNvPr id="37" name="Rectangle 36">
            <a:extLst>
              <a:ext uri="{FF2B5EF4-FFF2-40B4-BE49-F238E27FC236}">
                <a16:creationId xmlns:a16="http://schemas.microsoft.com/office/drawing/2014/main" id="{82466499-2124-8CAE-2BEE-5B6BBDFAEC17}"/>
              </a:ext>
            </a:extLst>
          </p:cNvPr>
          <p:cNvSpPr/>
          <p:nvPr/>
        </p:nvSpPr>
        <p:spPr>
          <a:xfrm>
            <a:off x="139700" y="4470400"/>
            <a:ext cx="4318000" cy="157480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eaLnBrk="1" hangingPunct="1">
              <a:lnSpc>
                <a:spcPct val="100000"/>
              </a:lnSpc>
              <a:spcAft>
                <a:spcPts val="400"/>
              </a:spcAft>
            </a:pPr>
            <a:r>
              <a:rPr lang="en-US" altLang="en-US" sz="1200">
                <a:solidFill>
                  <a:srgbClr val="292934"/>
                </a:solidFill>
                <a:latin typeface="Calibri" panose="020F0502020204030204" pitchFamily="34" charset="0"/>
                <a:ea typeface="Calibri" panose="020F0502020204030204" pitchFamily="34" charset="0"/>
              </a:rPr>
              <a:t>At the ten-year median the target is $171. At the five-year median of 17.08x it is $179, still below the price. At the five-year 75th percentile of 18.11x it is $190, +3%. No multiple in GATX's own ten-year range gets to a BUY on BMG's earnings.</a:t>
            </a:r>
          </a:p>
        </p:txBody>
      </p:sp>
      <p:sp>
        <p:nvSpPr>
          <p:cNvPr id="40" name="Rectangle 39">
            <a:extLst>
              <a:ext uri="{FF2B5EF4-FFF2-40B4-BE49-F238E27FC236}">
                <a16:creationId xmlns:a16="http://schemas.microsoft.com/office/drawing/2014/main" id="{BE9110BD-4F55-F70C-BC7D-C0D007609B79}"/>
              </a:ext>
            </a:extLst>
          </p:cNvPr>
          <p:cNvSpPr/>
          <p:nvPr/>
        </p:nvSpPr>
        <p:spPr>
          <a:xfrm>
            <a:off x="4686300" y="4470400"/>
            <a:ext cx="4318000" cy="157480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eaLnBrk="1" hangingPunct="1">
              <a:lnSpc>
                <a:spcPct val="100000"/>
              </a:lnSpc>
              <a:spcAft>
                <a:spcPts val="400"/>
              </a:spcAft>
            </a:pPr>
            <a:r>
              <a:rPr lang="en-US" altLang="en-US" sz="1200">
                <a:solidFill>
                  <a:srgbClr val="292934"/>
                </a:solidFill>
                <a:latin typeface="Calibri" panose="020F0502020204030204" pitchFamily="34" charset="0"/>
                <a:ea typeface="Calibri" panose="020F0502020204030204" pitchFamily="34" charset="0"/>
              </a:rPr>
              <a:t>Why 16.34x: it is the multiple GATX's own ten-year history set, and BMG does not pay above it for earnings where roughly 40% of pretax income is disposition gains. The P/E leg weights three full-model scenarios: bear 25% ($10.12 at the 25th percentile 14.78x), base 50% ($10.43 at 16.34x), bull 25% ($10.66 at the 75th percentile 17.69x), which gives $169.76. That leg is 30% of the target; NAV and justified P/B are the rest (next slide).</a:t>
            </a:r>
          </a:p>
        </p:txBody>
      </p:sp>
      <p:sp>
        <p:nvSpPr>
          <p:cNvPr id="2" name="TextBox 1">
            <a:extLst>
              <a:ext uri="{FF2B5EF4-FFF2-40B4-BE49-F238E27FC236}">
                <a16:creationId xmlns:a16="http://schemas.microsoft.com/office/drawing/2014/main" id="{8BFA6137-F4D6-4D1E-8127-72376E68D826}"/>
              </a:ext>
            </a:extLst>
          </p:cNvPr>
          <p:cNvSpPr txBox="1"/>
          <p:nvPr/>
        </p:nvSpPr>
        <p:spPr>
          <a:xfrm>
            <a:off x="139700" y="2438400"/>
            <a:ext cx="4318000" cy="254000"/>
          </a:xfrm>
          <a:prstGeom prst="rect">
            <a:avLst/>
          </a:prstGeom>
          <a:noFill/>
        </p:spPr>
        <p:txBody>
          <a:bodyPr vertOverflow="overflow" vert="horz" wrap="square" rtlCol="0" anchor="t">
            <a:spAutoFit/>
          </a:bodyPr>
          <a:lstStyle/>
          <a:p>
            <a:pPr algn="l"/>
            <a:r>
              <a:rPr lang="en-US" sz="1200">
                <a:solidFill>
                  <a:srgbClr val="292934"/>
                </a:solidFill>
                <a:latin typeface="Calibri"/>
                <a:ea typeface="Calibri"/>
                <a:cs typeface="Calibri"/>
              </a:rPr>
              <a:t>Figure 47: Target price and return at alternative multiples</a:t>
            </a:r>
          </a:p>
        </p:txBody>
      </p:sp>
      <p:sp>
        <p:nvSpPr>
          <p:cNvPr id="3" name="TextBox 2">
            <a:extLst>
              <a:ext uri="{FF2B5EF4-FFF2-40B4-BE49-F238E27FC236}">
                <a16:creationId xmlns:a16="http://schemas.microsoft.com/office/drawing/2014/main" id="{1ADC732A-5E6E-4916-802A-D4516A716728}"/>
              </a:ext>
            </a:extLst>
          </p:cNvPr>
          <p:cNvSpPr txBox="1"/>
          <p:nvPr/>
        </p:nvSpPr>
        <p:spPr>
          <a:xfrm>
            <a:off x="4686300" y="711200"/>
            <a:ext cx="4318000" cy="254000"/>
          </a:xfrm>
          <a:prstGeom prst="rect">
            <a:avLst/>
          </a:prstGeom>
          <a:noFill/>
        </p:spPr>
        <p:txBody>
          <a:bodyPr vertOverflow="overflow" vert="horz" wrap="square" rtlCol="0" anchor="t">
            <a:spAutoFit/>
          </a:bodyPr>
          <a:lstStyle/>
          <a:p>
            <a:pPr algn="l"/>
            <a:r>
              <a:rPr lang="en-US" sz="1200">
                <a:solidFill>
                  <a:srgbClr val="292934"/>
                </a:solidFill>
                <a:latin typeface="Calibri"/>
                <a:ea typeface="Calibri"/>
                <a:cs typeface="Calibri"/>
              </a:rPr>
              <a:t>Figure 46: Target price by multiple on BMG 2027E EPS ($)</a:t>
            </a:r>
          </a:p>
        </p:txBody>
      </p:sp>
      <p:graphicFrame>
        <p:nvGraphicFramePr>
          <p:cNvPr id="6" name="Table 5">
            <a:extLst>
              <a:ext uri="{FF2B5EF4-FFF2-40B4-BE49-F238E27FC236}">
                <a16:creationId xmlns:a16="http://schemas.microsoft.com/office/drawing/2014/main" id="{1429F882-F14B-40EA-A84E-0C321E0947D0}"/>
              </a:ext>
            </a:extLst>
          </p:cNvPr>
          <p:cNvGraphicFramePr>
            <a:graphicFrameLocks noGrp="1"/>
          </p:cNvGraphicFramePr>
          <p:nvPr/>
        </p:nvGraphicFramePr>
        <p:xfrm>
          <a:off x="139700" y="990600"/>
          <a:ext cx="4318000" cy="1270000"/>
        </p:xfrm>
        <a:graphic>
          <a:graphicData uri="http://schemas.openxmlformats.org/drawingml/2006/table">
            <a:tbl>
              <a:tblPr/>
              <a:tblGrid>
                <a:gridCol w="2667000">
                  <a:extLst>
                    <a:ext uri="{9D8B030D-6E8A-4147-A177-3AD203B41FA5}">
                      <a16:colId xmlns:a16="http://schemas.microsoft.com/office/drawing/2014/main" val="469409133"/>
                    </a:ext>
                  </a:extLst>
                </a:gridCol>
                <a:gridCol w="1651000">
                  <a:extLst>
                    <a:ext uri="{9D8B030D-6E8A-4147-A177-3AD203B41FA5}">
                      <a16:colId xmlns:a16="http://schemas.microsoft.com/office/drawing/2014/main" val="1778633571"/>
                    </a:ext>
                  </a:extLst>
                </a:gridCol>
              </a:tblGrid>
              <a:tr h="254000">
                <a:tc>
                  <a:txBody>
                    <a:bodyPr/>
                    <a:lstStyle/>
                    <a:p>
                      <a:pPr algn="l"/>
                      <a:r>
                        <a:rPr lang="en-US" sz="1100" b="1">
                          <a:solidFill>
                            <a:srgbClr val="292934"/>
                          </a:solidFill>
                          <a:latin typeface="Calibri"/>
                          <a:ea typeface="Calibri"/>
                          <a:cs typeface="Calibri"/>
                        </a:rPr>
                        <a:t>Target math</a:t>
                      </a:r>
                    </a:p>
                  </a:txBody>
                  <a:tcPr marT="19050" marB="19050" anchor="ctr">
                    <a:lnL w="0"/>
                    <a:lnR w="0"/>
                    <a:lnT w="0"/>
                    <a:lnB w="0"/>
                    <a:lnTlToBr w="0"/>
                    <a:lnBlToTr w="0"/>
                  </a:tcPr>
                </a:tc>
                <a:tc>
                  <a:txBody>
                    <a:bodyPr/>
                    <a:lstStyle/>
                    <a:p>
                      <a:pPr algn="r"/>
                      <a:endParaRPr lang="en-US" sz="1100" b="1">
                        <a:solidFill>
                          <a:srgbClr val="292934"/>
                        </a:solidFill>
                        <a:latin typeface="Calibri"/>
                        <a:ea typeface="Calibri"/>
                        <a:cs typeface="Calibri"/>
                      </a:endParaRPr>
                    </a:p>
                  </a:txBody>
                  <a:tcPr marT="19050" marB="19050" anchor="ctr">
                    <a:lnL w="0"/>
                    <a:lnR w="0"/>
                    <a:lnT w="0"/>
                    <a:lnB w="0"/>
                    <a:lnTlToBr w="0"/>
                    <a:lnBlToTr w="0"/>
                  </a:tcPr>
                </a:tc>
                <a:extLst>
                  <a:ext uri="{0D108BD9-81ED-4DB2-BD59-A6C34878D82A}">
                    <a16:rowId xmlns:a16="http://schemas.microsoft.com/office/drawing/2014/main" val="2211870101"/>
                  </a:ext>
                </a:extLst>
              </a:tr>
              <a:tr h="254000">
                <a:tc>
                  <a:txBody>
                    <a:bodyPr/>
                    <a:lstStyle/>
                    <a:p>
                      <a:pPr algn="l"/>
                      <a:r>
                        <a:rPr lang="en-US" sz="1100" b="0">
                          <a:solidFill>
                            <a:srgbClr val="292934"/>
                          </a:solidFill>
                          <a:latin typeface="Calibri"/>
                          <a:ea typeface="Calibri"/>
                          <a:cs typeface="Calibri"/>
                        </a:rPr>
                        <a:t>2027E BMG EPS</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$10.47</a:t>
                      </a:r>
                    </a:p>
                  </a:txBody>
                  <a:tcPr marT="19050" marB="19050" anchor="ctr">
                    <a:lnL w="0"/>
                    <a:lnR w="0"/>
                    <a:lnT w="0"/>
                    <a:lnB w="0"/>
                    <a:lnTlToBr w="0"/>
                    <a:lnBlToTr w="0"/>
                  </a:tcPr>
                </a:tc>
                <a:extLst>
                  <a:ext uri="{0D108BD9-81ED-4DB2-BD59-A6C34878D82A}">
                    <a16:rowId xmlns:a16="http://schemas.microsoft.com/office/drawing/2014/main" val="2597637941"/>
                  </a:ext>
                </a:extLst>
              </a:tr>
              <a:tr h="254000">
                <a:tc>
                  <a:txBody>
                    <a:bodyPr/>
                    <a:lstStyle/>
                    <a:p>
                      <a:pPr algn="l"/>
                      <a:r>
                        <a:rPr lang="en-US" sz="1100" b="0">
                          <a:solidFill>
                            <a:srgbClr val="292934"/>
                          </a:solidFill>
                          <a:latin typeface="Calibri"/>
                          <a:ea typeface="Calibri"/>
                          <a:cs typeface="Calibri"/>
                        </a:rPr>
                        <a:t>P/E leg, 16.34x (10-yr median), 30% weight</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$169.76</a:t>
                      </a:r>
                    </a:p>
                  </a:txBody>
                  <a:tcPr marT="19050" marB="19050" anchor="ctr">
                    <a:lnL w="0"/>
                    <a:lnR w="0"/>
                    <a:lnT w="0"/>
                    <a:lnB w="0"/>
                    <a:lnTlToBr w="0"/>
                    <a:lnBlToTr w="0"/>
                  </a:tcPr>
                </a:tc>
                <a:extLst>
                  <a:ext uri="{0D108BD9-81ED-4DB2-BD59-A6C34878D82A}">
                    <a16:rowId xmlns:a16="http://schemas.microsoft.com/office/drawing/2014/main" val="3856006512"/>
                  </a:ext>
                </a:extLst>
              </a:tr>
              <a:tr h="254000">
                <a:tc>
                  <a:txBody>
                    <a:bodyPr/>
                    <a:lstStyle/>
                    <a:p>
                      <a:pPr algn="l"/>
                      <a:r>
                        <a:rPr lang="en-US" sz="1100" b="0">
                          <a:solidFill>
                            <a:srgbClr val="292934"/>
                          </a:solidFill>
                          <a:latin typeface="Calibri"/>
                          <a:ea typeface="Calibri"/>
                          <a:cs typeface="Calibri"/>
                        </a:rPr>
                        <a:t>Price target, weighted: P/E 30% / NAV 35% / justified P/B 35%</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$165.54</a:t>
                      </a:r>
                    </a:p>
                  </a:txBody>
                  <a:tcPr marT="19050" marB="19050" anchor="ctr">
                    <a:lnL w="0"/>
                    <a:lnR w="0"/>
                    <a:lnT w="0"/>
                    <a:lnB w="0"/>
                    <a:lnTlToBr w="0"/>
                    <a:lnBlToTr w="0"/>
                  </a:tcPr>
                </a:tc>
                <a:extLst>
                  <a:ext uri="{0D108BD9-81ED-4DB2-BD59-A6C34878D82A}">
                    <a16:rowId xmlns:a16="http://schemas.microsoft.com/office/drawing/2014/main" val="3005584483"/>
                  </a:ext>
                </a:extLst>
              </a:tr>
              <a:tr h="254000">
                <a:tc>
                  <a:txBody>
                    <a:bodyPr/>
                    <a:lstStyle/>
                    <a:p>
                      <a:pPr algn="l"/>
                      <a:r>
                        <a:rPr lang="en-US" sz="1100" b="0">
                          <a:solidFill>
                            <a:srgbClr val="292934"/>
                          </a:solidFill>
                          <a:latin typeface="Calibri"/>
                          <a:ea typeface="Calibri"/>
                          <a:cs typeface="Calibri"/>
                        </a:rPr>
                        <a:t>Expected 12-month total return</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-8.4% (incl. $2.76 dividend)</a:t>
                      </a:r>
                    </a:p>
                  </a:txBody>
                  <a:tcPr marT="19050" marB="19050" anchor="ctr">
                    <a:lnL w="0"/>
                    <a:lnR w="0"/>
                    <a:lnT w="0"/>
                    <a:lnB w="0"/>
                    <a:lnTlToBr w="0"/>
                    <a:lnBlToTr w="0"/>
                  </a:tcPr>
                </a:tc>
                <a:extLst>
                  <a:ext uri="{0D108BD9-81ED-4DB2-BD59-A6C34878D82A}">
                    <a16:rowId xmlns:a16="http://schemas.microsoft.com/office/drawing/2014/main" val="1500106363"/>
                  </a:ext>
                </a:extLst>
              </a:tr>
            </a:tbl>
          </a:graphicData>
        </a:graphic>
      </p:graphicFrame>
      <p:graphicFrame>
        <p:nvGraphicFramePr>
          <p:cNvPr id="9" name="Table 8">
            <a:extLst>
              <a:ext uri="{FF2B5EF4-FFF2-40B4-BE49-F238E27FC236}">
                <a16:creationId xmlns:a16="http://schemas.microsoft.com/office/drawing/2014/main" id="{5AF367F5-50CB-4910-A18C-CD1C63F5212E}"/>
              </a:ext>
            </a:extLst>
          </p:cNvPr>
          <p:cNvGraphicFramePr>
            <a:graphicFrameLocks noGrp="1"/>
          </p:cNvGraphicFramePr>
          <p:nvPr/>
        </p:nvGraphicFramePr>
        <p:xfrm>
          <a:off x="139700" y="2717800"/>
          <a:ext cx="4318000" cy="1270000"/>
        </p:xfrm>
        <a:graphic>
          <a:graphicData uri="http://schemas.openxmlformats.org/drawingml/2006/table">
            <a:tbl>
              <a:tblPr/>
              <a:tblGrid>
                <a:gridCol w="2159000">
                  <a:extLst>
                    <a:ext uri="{9D8B030D-6E8A-4147-A177-3AD203B41FA5}">
                      <a16:colId xmlns:a16="http://schemas.microsoft.com/office/drawing/2014/main" val="2296121717"/>
                    </a:ext>
                  </a:extLst>
                </a:gridCol>
                <a:gridCol w="1079500">
                  <a:extLst>
                    <a:ext uri="{9D8B030D-6E8A-4147-A177-3AD203B41FA5}">
                      <a16:colId xmlns:a16="http://schemas.microsoft.com/office/drawing/2014/main" val="2195023007"/>
                    </a:ext>
                  </a:extLst>
                </a:gridCol>
                <a:gridCol w="1079500">
                  <a:extLst>
                    <a:ext uri="{9D8B030D-6E8A-4147-A177-3AD203B41FA5}">
                      <a16:colId xmlns:a16="http://schemas.microsoft.com/office/drawing/2014/main" val="1160226652"/>
                    </a:ext>
                  </a:extLst>
                </a:gridCol>
              </a:tblGrid>
              <a:tr h="254000">
                <a:tc>
                  <a:txBody>
                    <a:bodyPr/>
                    <a:lstStyle/>
                    <a:p>
                      <a:pPr algn="l"/>
                      <a:r>
                        <a:rPr lang="en-US" sz="1100" b="1">
                          <a:solidFill>
                            <a:srgbClr val="292934"/>
                          </a:solidFill>
                          <a:latin typeface="Calibri"/>
                          <a:ea typeface="Calibri"/>
                          <a:cs typeface="Calibri"/>
                        </a:rPr>
                        <a:t>Multiple</a:t>
                      </a:r>
                    </a:p>
                  </a:txBody>
                  <a:tcPr marT="19050" marB="19050" anchor="ctr">
                    <a:lnL w="0"/>
                    <a:lnR w="0"/>
                    <a:lnT w="0"/>
                    <a:lnB w="0"/>
                    <a:lnTlToBr w="0"/>
                    <a:lnBlToTr w="0"/>
                  </a:tcPr>
                </a:tc>
                <a:tc>
                  <a:txBody>
                    <a:bodyPr/>
                    <a:lstStyle/>
                    <a:p>
                      <a:pPr algn="r"/>
                      <a:r>
                        <a:rPr lang="en-US" sz="1100" b="1">
                          <a:solidFill>
                            <a:srgbClr val="292934"/>
                          </a:solidFill>
                          <a:latin typeface="Calibri"/>
                          <a:ea typeface="Calibri"/>
                          <a:cs typeface="Calibri"/>
                        </a:rPr>
                        <a:t>Target price</a:t>
                      </a:r>
                    </a:p>
                  </a:txBody>
                  <a:tcPr marT="19050" marB="19050" anchor="ctr">
                    <a:lnL w="0"/>
                    <a:lnR w="0"/>
                    <a:lnT w="0"/>
                    <a:lnB w="0"/>
                    <a:lnTlToBr w="0"/>
                    <a:lnBlToTr w="0"/>
                  </a:tcPr>
                </a:tc>
                <a:tc>
                  <a:txBody>
                    <a:bodyPr/>
                    <a:lstStyle/>
                    <a:p>
                      <a:pPr algn="r"/>
                      <a:r>
                        <a:rPr lang="en-US" sz="1100" b="1">
                          <a:solidFill>
                            <a:srgbClr val="292934"/>
                          </a:solidFill>
                          <a:latin typeface="Calibri"/>
                          <a:ea typeface="Calibri"/>
                          <a:cs typeface="Calibri"/>
                        </a:rPr>
                        <a:t>Return</a:t>
                      </a:r>
                    </a:p>
                  </a:txBody>
                  <a:tcPr marT="19050" marB="19050" anchor="ctr">
                    <a:lnL w="0"/>
                    <a:lnR w="0"/>
                    <a:lnT w="0"/>
                    <a:lnB w="0"/>
                    <a:lnTlToBr w="0"/>
                    <a:lnBlToTr w="0"/>
                  </a:tcPr>
                </a:tc>
                <a:extLst>
                  <a:ext uri="{0D108BD9-81ED-4DB2-BD59-A6C34878D82A}">
                    <a16:rowId xmlns:a16="http://schemas.microsoft.com/office/drawing/2014/main" val="4285555377"/>
                  </a:ext>
                </a:extLst>
              </a:tr>
              <a:tr h="254000">
                <a:tc>
                  <a:txBody>
                    <a:bodyPr/>
                    <a:lstStyle/>
                    <a:p>
                      <a:pPr algn="l"/>
                      <a:r>
                        <a:rPr lang="en-US" sz="1100" b="0">
                          <a:solidFill>
                            <a:srgbClr val="292934"/>
                          </a:solidFill>
                          <a:latin typeface="Calibri"/>
                          <a:ea typeface="Calibri"/>
                          <a:cs typeface="Calibri"/>
                        </a:rPr>
                        <a:t>16.34x (10-yr median)</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$171.08</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-7%</a:t>
                      </a:r>
                    </a:p>
                  </a:txBody>
                  <a:tcPr marT="19050" marB="19050" anchor="ctr">
                    <a:lnL w="0"/>
                    <a:lnR w="0"/>
                    <a:lnT w="0"/>
                    <a:lnB w="0"/>
                    <a:lnTlToBr w="0"/>
                    <a:lnBlToTr w="0"/>
                  </a:tcPr>
                </a:tc>
                <a:extLst>
                  <a:ext uri="{0D108BD9-81ED-4DB2-BD59-A6C34878D82A}">
                    <a16:rowId xmlns:a16="http://schemas.microsoft.com/office/drawing/2014/main" val="1810462652"/>
                  </a:ext>
                </a:extLst>
              </a:tr>
              <a:tr h="254000">
                <a:tc>
                  <a:txBody>
                    <a:bodyPr/>
                    <a:lstStyle/>
                    <a:p>
                      <a:pPr algn="l"/>
                      <a:r>
                        <a:rPr lang="en-US" sz="1100" b="0">
                          <a:solidFill>
                            <a:srgbClr val="292934"/>
                          </a:solidFill>
                          <a:latin typeface="Calibri"/>
                          <a:ea typeface="Calibri"/>
                          <a:cs typeface="Calibri"/>
                        </a:rPr>
                        <a:t>17.08x (5-yr median)</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$178.83</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-3%</a:t>
                      </a:r>
                    </a:p>
                  </a:txBody>
                  <a:tcPr marT="19050" marB="19050" anchor="ctr">
                    <a:lnL w="0"/>
                    <a:lnR w="0"/>
                    <a:lnT w="0"/>
                    <a:lnB w="0"/>
                    <a:lnTlToBr w="0"/>
                    <a:lnBlToTr w="0"/>
                  </a:tcPr>
                </a:tc>
                <a:extLst>
                  <a:ext uri="{0D108BD9-81ED-4DB2-BD59-A6C34878D82A}">
                    <a16:rowId xmlns:a16="http://schemas.microsoft.com/office/drawing/2014/main" val="2658126896"/>
                  </a:ext>
                </a:extLst>
              </a:tr>
              <a:tr h="254000">
                <a:tc>
                  <a:txBody>
                    <a:bodyPr/>
                    <a:lstStyle/>
                    <a:p>
                      <a:pPr algn="l"/>
                      <a:r>
                        <a:rPr lang="en-US" sz="1100" b="0">
                          <a:solidFill>
                            <a:srgbClr val="292934"/>
                          </a:solidFill>
                          <a:latin typeface="Calibri"/>
                          <a:ea typeface="Calibri"/>
                          <a:cs typeface="Calibri"/>
                        </a:rPr>
                        <a:t>17.55x, current on BMG EPS</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$183.73</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0%</a:t>
                      </a:r>
                    </a:p>
                  </a:txBody>
                  <a:tcPr marT="19050" marB="19050" anchor="ctr">
                    <a:lnL w="0"/>
                    <a:lnR w="0"/>
                    <a:lnT w="0"/>
                    <a:lnB w="0"/>
                    <a:lnTlToBr w="0"/>
                    <a:lnBlToTr w="0"/>
                  </a:tcPr>
                </a:tc>
                <a:extLst>
                  <a:ext uri="{0D108BD9-81ED-4DB2-BD59-A6C34878D82A}">
                    <a16:rowId xmlns:a16="http://schemas.microsoft.com/office/drawing/2014/main" val="594671125"/>
                  </a:ext>
                </a:extLst>
              </a:tr>
              <a:tr h="254000">
                <a:tc>
                  <a:txBody>
                    <a:bodyPr/>
                    <a:lstStyle/>
                    <a:p>
                      <a:pPr algn="l"/>
                      <a:r>
                        <a:rPr lang="en-US" sz="1100" b="0">
                          <a:solidFill>
                            <a:srgbClr val="292934"/>
                          </a:solidFill>
                          <a:latin typeface="Calibri"/>
                          <a:ea typeface="Calibri"/>
                          <a:cs typeface="Calibri"/>
                        </a:rPr>
                        <a:t>18.11x (5-yr 75th pct)</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$189.61</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+3%</a:t>
                      </a:r>
                    </a:p>
                  </a:txBody>
                  <a:tcPr marT="19050" marB="19050" anchor="ctr">
                    <a:lnL w="0"/>
                    <a:lnR w="0"/>
                    <a:lnT w="0"/>
                    <a:lnB w="0"/>
                    <a:lnTlToBr w="0"/>
                    <a:lnBlToTr w="0"/>
                  </a:tcPr>
                </a:tc>
                <a:extLst>
                  <a:ext uri="{0D108BD9-81ED-4DB2-BD59-A6C34878D82A}">
                    <a16:rowId xmlns:a16="http://schemas.microsoft.com/office/drawing/2014/main" val="4130407352"/>
                  </a:ext>
                </a:extLst>
              </a:tr>
            </a:tbl>
          </a:graphicData>
        </a:graphic>
      </p:graphicFrame>
      <p:graphicFrame>
        <p:nvGraphicFramePr>
          <p:cNvPr id="16405" name="Chart"/>
          <p:cNvGraphicFramePr/>
          <p:nvPr/>
        </p:nvGraphicFramePr>
        <p:xfrm>
          <a:off x="4686300" y="990600"/>
          <a:ext cx="4318000" cy="3530600"/>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3233622094"/>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392" name="Group 37">
            <a:extLst>
              <a:ext uri="{FF2B5EF4-FFF2-40B4-BE49-F238E27FC236}">
                <a16:creationId xmlns:a16="http://schemas.microsoft.com/office/drawing/2014/main" id="{13EBC2E6-F22D-DED6-9C4D-6DEF5865CA93}"/>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D9B083D4-D144-589C-991E-8A8D55A0700C}"/>
                </a:ext>
              </a:extLst>
            </p:cNvPr>
            <p:cNvSpPr txBox="1">
              <a:spLocks/>
            </p:cNvSpPr>
            <p:nvPr/>
          </p:nvSpPr>
          <p:spPr>
            <a:xfrm>
              <a:off x="-1" y="-17873"/>
              <a:ext cx="9723399"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pPr>
              <a:r>
                <a:rPr lang="en-US" sz="3000" b="1">
                  <a:solidFill>
                    <a:schemeClr val="tx1"/>
                  </a:solidFill>
                  <a:latin typeface="Calibri"/>
                </a:rPr>
                <a:t>Four Ways to Value a Lessor</a:t>
              </a:r>
            </a:p>
          </p:txBody>
        </p:sp>
        <p:grpSp>
          <p:nvGrpSpPr>
            <p:cNvPr id="16397" name="Group 39">
              <a:extLst>
                <a:ext uri="{FF2B5EF4-FFF2-40B4-BE49-F238E27FC236}">
                  <a16:creationId xmlns:a16="http://schemas.microsoft.com/office/drawing/2014/main" id="{A025BC8A-CA36-7126-2F79-144DEECE93F0}"/>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FC1378D5-22A5-7458-094B-BA60D43A71D2}"/>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90292FE9-93F6-E2E2-FD3A-F91ED7809F43}"/>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B760119C-95ED-72D8-F6BC-8DF5B104DBCC}"/>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ABFBD260-F3FE-020A-4850-B74D75677CA1}"/>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E53F55DE-DDC9-A195-3A5C-A9EC83AF712D}"/>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27EB1C20-00BD-FF59-5CB7-965BF446B2F7}"/>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F3E9C759-6F69-C37A-C384-21146C74B5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8169FF31-4B5D-3285-B75E-E223A00F92CD}"/>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AD508247-C542-F6D6-E8A5-A2ABDB93EE6F}"/>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62DD943F-07B7-31B8-45D2-0B05055BC3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E7E07E48-11F6-CE35-B1C1-19CCFD9E9549}"/>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CF695A1F-6F31-91CD-9E3F-A1A0504C5B7B}"/>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03717852-CA87-170F-CF1A-457D2796EAD8}"/>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E000888C-09C2-2E16-406E-4EA519DC5E56}"/>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06BABAE9-D557-6179-9D3E-D0968C4DD4EC}"/>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BC429D1C-6929-F082-57DA-03A356703D14}"/>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04F6227D-1770-E7E5-2739-10E1B66F3770}"/>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47E8C316-77DB-B80C-505A-7A2A3B54617E}"/>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6A6CAD7B-1DA2-36D4-794C-DAF2589ACB4D}"/>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D9C1E31F-3E5A-5F30-4CF0-2AD126D876D8}"/>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CD0D060E-CCE1-29C2-6056-87E1E120E858}"/>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8FCFA30F-646F-E836-6757-5EDC79CB6644}"/>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ED2C4EF1-0EBA-A024-3A3D-1502E318D16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979" y="6263507"/>
            <a:ext cx="461513" cy="461513"/>
          </a:xfrm>
          <a:prstGeom prst="rect">
            <a:avLst/>
          </a:prstGeom>
        </p:spPr>
      </p:pic>
      <p:pic>
        <p:nvPicPr>
          <p:cNvPr id="5" name="Picture 4" descr="A black background with blue text&#10;&#10;Description automatically generated">
            <a:extLst>
              <a:ext uri="{FF2B5EF4-FFF2-40B4-BE49-F238E27FC236}">
                <a16:creationId xmlns:a16="http://schemas.microsoft.com/office/drawing/2014/main" id="{D626372C-D468-C00F-6E9B-9F0BA4A081A2}"/>
              </a:ext>
            </a:extLst>
          </p:cNvPr>
          <p:cNvPicPr>
            <a:picLocks noChangeAspect="1"/>
          </p:cNvPicPr>
          <p:nvPr/>
        </p:nvPicPr>
        <p:blipFill>
          <a:blip r:embed="rId4">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7" name="TextBox 6">
            <a:extLst>
              <a:ext uri="{FF2B5EF4-FFF2-40B4-BE49-F238E27FC236}">
                <a16:creationId xmlns:a16="http://schemas.microsoft.com/office/drawing/2014/main" id="{40ACB273-920A-47A9-1620-C82236458264}"/>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23</a:t>
            </a:fld>
            <a:endParaRPr lang="en-US" sz="1400">
              <a:latin typeface="Calibri" panose="020F0502020204030204" pitchFamily="34" charset="0"/>
              <a:cs typeface="Calibri" panose="020F0502020204030204" pitchFamily="34" charset="0"/>
            </a:endParaRPr>
          </a:p>
        </p:txBody>
      </p:sp>
      <p:sp>
        <p:nvSpPr>
          <p:cNvPr id="12" name="Text Box 2">
            <a:extLst>
              <a:ext uri="{FF2B5EF4-FFF2-40B4-BE49-F238E27FC236}">
                <a16:creationId xmlns:a16="http://schemas.microsoft.com/office/drawing/2014/main" id="{7D36ECD3-DB24-39F4-77E9-D9D81A0B145B}"/>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16405" name="TextBox 16404"/>
          <p:cNvSpPr txBox="1"/>
          <p:nvPr/>
        </p:nvSpPr>
        <p:spPr>
          <a:xfrm>
            <a:off x="139700" y="711200"/>
            <a:ext cx="8864600" cy="254000"/>
          </a:xfrm>
          <a:prstGeom prst="rect">
            <a:avLst/>
          </a:prstGeom>
          <a:noFill/>
        </p:spPr>
        <p:txBody>
          <a:bodyPr wrap="square">
            <a:spAutoFit/>
          </a:bodyPr>
          <a:lstStyle/>
          <a:p>
            <a:r>
              <a:rPr sz="1200" b="0">
                <a:solidFill>
                  <a:srgbClr val="292934"/>
                </a:solidFill>
                <a:latin typeface="Calibri"/>
              </a:rPr>
              <a:t>Figure 48: Four ways to value a lessor, $ per share, GATX-FSM-v32 (weights: justified P/B 35%, NAV 35%, P/E 30%)</a:t>
            </a:r>
          </a:p>
        </p:txBody>
      </p:sp>
      <p:graphicFrame>
        <p:nvGraphicFramePr>
          <p:cNvPr id="16406" name="Table 16405"/>
          <p:cNvGraphicFramePr>
            <a:graphicFrameLocks noGrp="1"/>
          </p:cNvGraphicFramePr>
          <p:nvPr/>
        </p:nvGraphicFramePr>
        <p:xfrm>
          <a:off x="139700" y="990600"/>
          <a:ext cx="8864600" cy="2414016"/>
        </p:xfrm>
        <a:graphic>
          <a:graphicData uri="http://schemas.openxmlformats.org/drawingml/2006/table">
            <a:tbl>
              <a:tblPr firstRow="1" bandRow="1">
                <a:tableStyleId>{5C22544A-7EE6-4342-B048-85BDC9FD1C3A}</a:tableStyleId>
              </a:tblPr>
              <a:tblGrid>
                <a:gridCol w="3000000"/>
                <a:gridCol w="1000000"/>
                <a:gridCol w="900000"/>
                <a:gridCol w="3964600"/>
              </a:tblGrid>
              <a:tr h="301752">
                <a:tc>
                  <a:txBody>
                    <a:bodyPr/>
                    <a:lstStyle/>
                    <a:p>
                      <a:r>
                        <a:rPr sz="800" b="1">
                          <a:solidFill>
                            <a:srgbClr val="292934"/>
                          </a:solidFill>
                          <a:latin typeface="Calibri"/>
                        </a:rPr>
                        <a:t>Method</a:t>
                      </a:r>
                    </a:p>
                  </a:txBody>
                  <a:tcPr marL="45720" marR="45720" marT="20000" marB="20000">
                    <a:solidFill>
                      <a:srgbClr val="F2C755"/>
                    </a:solidFill>
                  </a:tcPr>
                </a:tc>
                <a:tc>
                  <a:txBody>
                    <a:bodyPr/>
                    <a:lstStyle/>
                    <a:p>
                      <a:r>
                        <a:rPr sz="800" b="1">
                          <a:solidFill>
                            <a:srgbClr val="292934"/>
                          </a:solidFill>
                          <a:latin typeface="Calibri"/>
                        </a:rPr>
                        <a:t>Value / share</a:t>
                      </a:r>
                    </a:p>
                  </a:txBody>
                  <a:tcPr marL="45720" marR="45720" marT="20000" marB="20000">
                    <a:solidFill>
                      <a:srgbClr val="F2C755"/>
                    </a:solidFill>
                  </a:tcPr>
                </a:tc>
                <a:tc>
                  <a:txBody>
                    <a:bodyPr/>
                    <a:lstStyle/>
                    <a:p>
                      <a:r>
                        <a:rPr sz="800" b="1">
                          <a:solidFill>
                            <a:srgbClr val="292934"/>
                          </a:solidFill>
                          <a:latin typeface="Calibri"/>
                        </a:rPr>
                        <a:t>vs $183.73</a:t>
                      </a:r>
                    </a:p>
                  </a:txBody>
                  <a:tcPr marL="45720" marR="45720" marT="20000" marB="20000">
                    <a:solidFill>
                      <a:srgbClr val="F2C755"/>
                    </a:solidFill>
                  </a:tcPr>
                </a:tc>
                <a:tc>
                  <a:txBody>
                    <a:bodyPr/>
                    <a:lstStyle/>
                    <a:p>
                      <a:r>
                        <a:rPr sz="800" b="1">
                          <a:solidFill>
                            <a:srgbClr val="292934"/>
                          </a:solidFill>
                          <a:latin typeface="Calibri"/>
                        </a:rPr>
                        <a:t>What it says</a:t>
                      </a:r>
                    </a:p>
                  </a:txBody>
                  <a:tcPr marL="45720" marR="45720" marT="20000" marB="20000">
                    <a:solidFill>
                      <a:srgbClr val="F2C755"/>
                    </a:solidFill>
                  </a:tcPr>
                </a:tc>
              </a:tr>
              <a:tr h="301752">
                <a:tc>
                  <a:txBody>
                    <a:bodyPr/>
                    <a:lstStyle/>
                    <a:p>
                      <a:r>
                        <a:rPr sz="800" b="0">
                          <a:solidFill>
                            <a:srgbClr val="292934"/>
                          </a:solidFill>
                          <a:latin typeface="Calibri"/>
                        </a:rPr>
                        <a:t>P/E, probability-weighted (bear 25 / base 50 / bull 25), weight 30%</a:t>
                      </a:r>
                    </a:p>
                  </a:txBody>
                  <a:tcPr marL="45720" marR="45720" marT="20000" marB="20000">
                    <a:solidFill>
                      <a:srgbClr val="F7F7F7"/>
                    </a:solidFill>
                  </a:tcPr>
                </a:tc>
                <a:tc>
                  <a:txBody>
                    <a:bodyPr/>
                    <a:lstStyle/>
                    <a:p>
                      <a:r>
                        <a:rPr sz="800" b="0">
                          <a:solidFill>
                            <a:srgbClr val="292934"/>
                          </a:solidFill>
                          <a:latin typeface="Calibri"/>
                        </a:rPr>
                        <a:t>$169.76</a:t>
                      </a:r>
                    </a:p>
                  </a:txBody>
                  <a:tcPr marL="45720" marR="45720" marT="20000" marB="20000">
                    <a:solidFill>
                      <a:srgbClr val="F7F7F7"/>
                    </a:solidFill>
                  </a:tcPr>
                </a:tc>
                <a:tc>
                  <a:txBody>
                    <a:bodyPr/>
                    <a:lstStyle/>
                    <a:p>
                      <a:r>
                        <a:rPr sz="800" b="0">
                          <a:solidFill>
                            <a:srgbClr val="292934"/>
                          </a:solidFill>
                          <a:latin typeface="Calibri"/>
                        </a:rPr>
                        <a:t>-8%</a:t>
                      </a:r>
                    </a:p>
                  </a:txBody>
                  <a:tcPr marL="45720" marR="45720" marT="20000" marB="20000">
                    <a:solidFill>
                      <a:srgbClr val="F7F7F7"/>
                    </a:solidFill>
                  </a:tcPr>
                </a:tc>
                <a:tc>
                  <a:txBody>
                    <a:bodyPr/>
                    <a:lstStyle/>
                    <a:p>
                      <a:r>
                        <a:rPr sz="800" b="0">
                          <a:solidFill>
                            <a:srgbClr val="292934"/>
                          </a:solidFill>
                          <a:latin typeface="Calibri"/>
                        </a:rPr>
                        <a:t>Ten-year median on BMG 2027E EPS $10.47. The market's own pricing of GATX.</a:t>
                      </a:r>
                    </a:p>
                  </a:txBody>
                  <a:tcPr marL="45720" marR="45720" marT="20000" marB="20000">
                    <a:solidFill>
                      <a:srgbClr val="F7F7F7"/>
                    </a:solidFill>
                  </a:tcPr>
                </a:tc>
              </a:tr>
              <a:tr h="301752">
                <a:tc>
                  <a:txBody>
                    <a:bodyPr/>
                    <a:lstStyle/>
                    <a:p>
                      <a:r>
                        <a:rPr sz="800" b="0">
                          <a:solidFill>
                            <a:srgbClr val="292934"/>
                          </a:solidFill>
                          <a:latin typeface="Calibri"/>
                        </a:rPr>
                        <a:t>Net asset value, fleet marked by vintage, after deferred tax, weight 35%</a:t>
                      </a:r>
                    </a:p>
                  </a:txBody>
                  <a:tcPr marL="45720" marR="45720" marT="20000" marB="20000">
                    <a:solidFill>
                      <a:srgbClr val="FFFFFF"/>
                    </a:solidFill>
                  </a:tcPr>
                </a:tc>
                <a:tc>
                  <a:txBody>
                    <a:bodyPr/>
                    <a:lstStyle/>
                    <a:p>
                      <a:r>
                        <a:rPr sz="800" b="0">
                          <a:solidFill>
                            <a:srgbClr val="292934"/>
                          </a:solidFill>
                          <a:latin typeface="Calibri"/>
                        </a:rPr>
                        <a:t>$169.91</a:t>
                      </a:r>
                    </a:p>
                  </a:txBody>
                  <a:tcPr marL="45720" marR="45720" marT="20000" marB="20000">
                    <a:solidFill>
                      <a:srgbClr val="FFFFFF"/>
                    </a:solidFill>
                  </a:tcPr>
                </a:tc>
                <a:tc>
                  <a:txBody>
                    <a:bodyPr/>
                    <a:lstStyle/>
                    <a:p>
                      <a:r>
                        <a:rPr sz="800" b="0">
                          <a:solidFill>
                            <a:srgbClr val="292934"/>
                          </a:solidFill>
                          <a:latin typeface="Calibri"/>
                        </a:rPr>
                        <a:t>-8%</a:t>
                      </a:r>
                    </a:p>
                  </a:txBody>
                  <a:tcPr marL="45720" marR="45720" marT="20000" marB="20000">
                    <a:solidFill>
                      <a:srgbClr val="FFFFFF"/>
                    </a:solidFill>
                  </a:tcPr>
                </a:tc>
                <a:tc>
                  <a:txBody>
                    <a:bodyPr/>
                    <a:lstStyle/>
                    <a:p>
                      <a:r>
                        <a:rPr sz="800" b="0">
                          <a:solidFill>
                            <a:srgbClr val="292934"/>
                          </a:solidFill>
                          <a:latin typeface="Calibri"/>
                        </a:rPr>
                        <a:t>Vintage marks 1.02x to 1.27x; fleet-wide 1.04x. At a 1.14x mark the target is $177 (HOLD); HOLD returns near 1.09x.</a:t>
                      </a:r>
                    </a:p>
                  </a:txBody>
                  <a:tcPr marL="45720" marR="45720" marT="20000" marB="20000">
                    <a:solidFill>
                      <a:srgbClr val="FFFFFF"/>
                    </a:solidFill>
                  </a:tcPr>
                </a:tc>
              </a:tr>
              <a:tr h="301752">
                <a:tc>
                  <a:txBody>
                    <a:bodyPr/>
                    <a:lstStyle/>
                    <a:p>
                      <a:r>
                        <a:rPr sz="800" b="0">
                          <a:solidFill>
                            <a:srgbClr val="292934"/>
                          </a:solidFill>
                          <a:latin typeface="Calibri"/>
                        </a:rPr>
                        <a:t>Justified P/B x 2027E book: (12.2% - 5.0%) / (9.0% - 5.0%) = 1.80x, weight 35%</a:t>
                      </a:r>
                    </a:p>
                  </a:txBody>
                  <a:tcPr marL="45720" marR="45720" marT="20000" marB="20000">
                    <a:solidFill>
                      <a:srgbClr val="FFFFFF"/>
                    </a:solidFill>
                  </a:tcPr>
                </a:tc>
                <a:tc>
                  <a:txBody>
                    <a:bodyPr/>
                    <a:lstStyle/>
                    <a:p>
                      <a:r>
                        <a:rPr sz="800" b="0">
                          <a:solidFill>
                            <a:srgbClr val="292934"/>
                          </a:solidFill>
                          <a:latin typeface="Calibri"/>
                        </a:rPr>
                        <a:t>$157.56</a:t>
                      </a:r>
                    </a:p>
                  </a:txBody>
                  <a:tcPr marL="45720" marR="45720" marT="20000" marB="20000">
                    <a:solidFill>
                      <a:srgbClr val="FFFFFF"/>
                    </a:solidFill>
                  </a:tcPr>
                </a:tc>
                <a:tc>
                  <a:txBody>
                    <a:bodyPr/>
                    <a:lstStyle/>
                    <a:p>
                      <a:r>
                        <a:rPr sz="800" b="0">
                          <a:solidFill>
                            <a:srgbClr val="292934"/>
                          </a:solidFill>
                          <a:latin typeface="Calibri"/>
                        </a:rPr>
                        <a:t>-14%</a:t>
                      </a:r>
                    </a:p>
                  </a:txBody>
                  <a:tcPr marL="45720" marR="45720" marT="20000" marB="20000">
                    <a:solidFill>
                      <a:srgbClr val="FFFFFF"/>
                    </a:solidFill>
                  </a:tcPr>
                </a:tc>
                <a:tc>
                  <a:txBody>
                    <a:bodyPr/>
                    <a:lstStyle/>
                    <a:p>
                      <a:r>
                        <a:rPr sz="800" b="0">
                          <a:solidFill>
                            <a:srgbClr val="292934"/>
                          </a:solidFill>
                          <a:latin typeface="Calibri"/>
                        </a:rPr>
                        <a:t>The buy-side lens. g = sustainable growth (retention x ROE, capped). At g 2% this leg is $127; at 4%, $143.</a:t>
                      </a:r>
                    </a:p>
                  </a:txBody>
                  <a:tcPr marL="45720" marR="45720" marT="20000" marB="20000">
                    <a:solidFill>
                      <a:srgbClr val="FFFFFF"/>
                    </a:solidFill>
                  </a:tcPr>
                </a:tc>
              </a:tr>
              <a:tr h="301752">
                <a:tc>
                  <a:txBody>
                    <a:bodyPr/>
                    <a:lstStyle/>
                    <a:p>
                      <a:r>
                        <a:rPr sz="800" b="0">
                          <a:solidFill>
                            <a:srgbClr val="292934"/>
                          </a:solidFill>
                          <a:latin typeface="Calibri"/>
                        </a:rPr>
                        <a:t>Residual income, ROE minus cost of equity, 10-year fade, weight 0%</a:t>
                      </a:r>
                    </a:p>
                  </a:txBody>
                  <a:tcPr marL="45720" marR="45720" marT="20000" marB="20000">
                    <a:solidFill>
                      <a:srgbClr val="F7F7F7"/>
                    </a:solidFill>
                  </a:tcPr>
                </a:tc>
                <a:tc>
                  <a:txBody>
                    <a:bodyPr/>
                    <a:lstStyle/>
                    <a:p>
                      <a:r>
                        <a:rPr sz="800" b="0">
                          <a:solidFill>
                            <a:srgbClr val="292934"/>
                          </a:solidFill>
                          <a:latin typeface="Calibri"/>
                        </a:rPr>
                        <a:t>$99.17</a:t>
                      </a:r>
                    </a:p>
                  </a:txBody>
                  <a:tcPr marL="45720" marR="45720" marT="20000" marB="20000">
                    <a:solidFill>
                      <a:srgbClr val="F7F7F7"/>
                    </a:solidFill>
                  </a:tcPr>
                </a:tc>
                <a:tc>
                  <a:txBody>
                    <a:bodyPr/>
                    <a:lstStyle/>
                    <a:p>
                      <a:r>
                        <a:rPr sz="800" b="0">
                          <a:solidFill>
                            <a:srgbClr val="292934"/>
                          </a:solidFill>
                          <a:latin typeface="Calibri"/>
                        </a:rPr>
                        <a:t>-46%</a:t>
                      </a:r>
                    </a:p>
                  </a:txBody>
                  <a:tcPr marL="45720" marR="45720" marT="20000" marB="20000">
                    <a:solidFill>
                      <a:srgbClr val="F7F7F7"/>
                    </a:solidFill>
                  </a:tcPr>
                </a:tc>
                <a:tc>
                  <a:txBody>
                    <a:bodyPr/>
                    <a:lstStyle/>
                    <a:p>
                      <a:r>
                        <a:rPr sz="800" b="0">
                          <a:solidFill>
                            <a:srgbClr val="292934"/>
                          </a:solidFill>
                          <a:latin typeface="Calibri"/>
                        </a:rPr>
                        <a:t>Same math as justified P/B; shown, not weighted, to avoid double counting.</a:t>
                      </a:r>
                    </a:p>
                  </a:txBody>
                  <a:tcPr marL="45720" marR="45720" marT="20000" marB="20000">
                    <a:solidFill>
                      <a:srgbClr val="F7F7F7"/>
                    </a:solidFill>
                  </a:tcPr>
                </a:tc>
              </a:tr>
              <a:tr h="301752">
                <a:tc>
                  <a:txBody>
                    <a:bodyPr/>
                    <a:lstStyle/>
                    <a:p>
                      <a:r>
                        <a:rPr sz="800" b="0">
                          <a:solidFill>
                            <a:srgbClr val="292934"/>
                          </a:solidFill>
                          <a:latin typeface="Calibri"/>
                        </a:rPr>
                        <a:t>Peer P/B on ROE, nine lessors, filings-sourced, weight 0%</a:t>
                      </a:r>
                    </a:p>
                  </a:txBody>
                  <a:tcPr marL="45720" marR="45720" marT="20000" marB="20000">
                    <a:solidFill>
                      <a:srgbClr val="FFFFFF"/>
                    </a:solidFill>
                  </a:tcPr>
                </a:tc>
                <a:tc>
                  <a:txBody>
                    <a:bodyPr/>
                    <a:lstStyle/>
                    <a:p>
                      <a:r>
                        <a:rPr sz="800" b="0">
                          <a:solidFill>
                            <a:srgbClr val="292934"/>
                          </a:solidFill>
                          <a:latin typeface="Calibri"/>
                        </a:rPr>
                        <a:t>$161.97</a:t>
                      </a:r>
                    </a:p>
                  </a:txBody>
                  <a:tcPr marL="45720" marR="45720" marT="20000" marB="20000">
                    <a:solidFill>
                      <a:srgbClr val="FFFFFF"/>
                    </a:solidFill>
                  </a:tcPr>
                </a:tc>
                <a:tc>
                  <a:txBody>
                    <a:bodyPr/>
                    <a:lstStyle/>
                    <a:p>
                      <a:r>
                        <a:rPr sz="800" b="0">
                          <a:solidFill>
                            <a:srgbClr val="292934"/>
                          </a:solidFill>
                          <a:latin typeface="Calibri"/>
                        </a:rPr>
                        <a:t>-12%</a:t>
                      </a:r>
                    </a:p>
                  </a:txBody>
                  <a:tcPr marL="45720" marR="45720" marT="20000" marB="20000">
                    <a:solidFill>
                      <a:srgbClr val="FFFFFF"/>
                    </a:solidFill>
                  </a:tcPr>
                </a:tc>
                <a:tc>
                  <a:txBody>
                    <a:bodyPr/>
                    <a:lstStyle/>
                    <a:p>
                      <a:r>
                        <a:rPr sz="800" b="0">
                          <a:solidFill>
                            <a:srgbClr val="292934"/>
                          </a:solidFill>
                          <a:latin typeface="Calibri"/>
                        </a:rPr>
                        <a:t>R-squared 0.03: noise. Shown, not weighted.</a:t>
                      </a:r>
                    </a:p>
                  </a:txBody>
                  <a:tcPr marL="45720" marR="45720" marT="20000" marB="20000">
                    <a:solidFill>
                      <a:srgbClr val="FFFFFF"/>
                    </a:solidFill>
                  </a:tcPr>
                </a:tc>
              </a:tr>
              <a:tr h="301752">
                <a:tc>
                  <a:txBody>
                    <a:bodyPr/>
                    <a:lstStyle/>
                    <a:p>
                      <a:r>
                        <a:rPr sz="800" b="0">
                          <a:solidFill>
                            <a:srgbClr val="292934"/>
                          </a:solidFill>
                          <a:latin typeface="Calibri"/>
                        </a:rPr>
                        <a:t>Unlevered DCF, Gordon / exit multiple, weight 0%</a:t>
                      </a:r>
                    </a:p>
                  </a:txBody>
                  <a:tcPr marL="45720" marR="45720" marT="20000" marB="20000">
                    <a:solidFill>
                      <a:srgbClr val="F7F7F7"/>
                    </a:solidFill>
                  </a:tcPr>
                </a:tc>
                <a:tc>
                  <a:txBody>
                    <a:bodyPr/>
                    <a:lstStyle/>
                    <a:p>
                      <a:r>
                        <a:rPr sz="800" b="0">
                          <a:solidFill>
                            <a:srgbClr val="292934"/>
                          </a:solidFill>
                          <a:latin typeface="Calibri"/>
                        </a:rPr>
                        <a:t>$470 / $97</a:t>
                      </a:r>
                    </a:p>
                  </a:txBody>
                  <a:tcPr marL="45720" marR="45720" marT="20000" marB="20000">
                    <a:solidFill>
                      <a:srgbClr val="F7F7F7"/>
                    </a:solidFill>
                  </a:tcPr>
                </a:tc>
                <a:tc>
                  <a:txBody>
                    <a:bodyPr/>
                    <a:lstStyle/>
                    <a:p>
                      <a:r>
                        <a:rPr sz="800" b="0">
                          <a:solidFill>
                            <a:srgbClr val="292934"/>
                          </a:solidFill>
                          <a:latin typeface="Calibri"/>
                        </a:rPr>
                        <a:t>n/a</a:t>
                      </a:r>
                    </a:p>
                  </a:txBody>
                  <a:tcPr marL="45720" marR="45720" marT="20000" marB="20000">
                    <a:solidFill>
                      <a:srgbClr val="F7F7F7"/>
                    </a:solidFill>
                  </a:tcPr>
                </a:tc>
                <a:tc>
                  <a:txBody>
                    <a:bodyPr/>
                    <a:lstStyle/>
                    <a:p>
                      <a:r>
                        <a:rPr sz="800" b="0">
                          <a:solidFill>
                            <a:srgbClr val="292934"/>
                          </a:solidFill>
                          <a:latin typeface="Calibri"/>
                        </a:rPr>
                        <a:t>75 to 87% of value in the terminal year. Wrong tool for a lessor.</a:t>
                      </a:r>
                    </a:p>
                  </a:txBody>
                  <a:tcPr marL="45720" marR="45720" marT="20000" marB="20000">
                    <a:solidFill>
                      <a:srgbClr val="F7F7F7"/>
                    </a:solidFill>
                  </a:tcPr>
                </a:tc>
              </a:tr>
              <a:tr h="301752">
                <a:tc>
                  <a:txBody>
                    <a:bodyPr/>
                    <a:lstStyle/>
                    <a:p>
                      <a:r>
                        <a:rPr sz="800" b="0">
                          <a:solidFill>
                            <a:srgbClr val="292934"/>
                          </a:solidFill>
                          <a:latin typeface="Calibri"/>
                        </a:rPr>
                        <a:t>Weighted target</a:t>
                      </a:r>
                    </a:p>
                  </a:txBody>
                  <a:tcPr marL="45720" marR="45720" marT="20000" marB="20000">
                    <a:solidFill>
                      <a:srgbClr val="F7F7F7"/>
                    </a:solidFill>
                  </a:tcPr>
                </a:tc>
                <a:tc>
                  <a:txBody>
                    <a:bodyPr/>
                    <a:lstStyle/>
                    <a:p>
                      <a:r>
                        <a:rPr sz="800" b="0">
                          <a:solidFill>
                            <a:srgbClr val="292934"/>
                          </a:solidFill>
                          <a:latin typeface="Calibri"/>
                        </a:rPr>
                        <a:t>$165.54</a:t>
                      </a:r>
                    </a:p>
                  </a:txBody>
                  <a:tcPr marL="45720" marR="45720" marT="20000" marB="20000">
                    <a:solidFill>
                      <a:srgbClr val="F7F7F7"/>
                    </a:solidFill>
                  </a:tcPr>
                </a:tc>
                <a:tc>
                  <a:txBody>
                    <a:bodyPr/>
                    <a:lstStyle/>
                    <a:p>
                      <a:r>
                        <a:rPr sz="800" b="0">
                          <a:solidFill>
                            <a:srgbClr val="292934"/>
                          </a:solidFill>
                          <a:latin typeface="Calibri"/>
                        </a:rPr>
                        <a:t>-10%</a:t>
                      </a:r>
                    </a:p>
                  </a:txBody>
                  <a:tcPr marL="45720" marR="45720" marT="20000" marB="20000">
                    <a:solidFill>
                      <a:srgbClr val="F7F7F7"/>
                    </a:solidFill>
                  </a:tcPr>
                </a:tc>
                <a:tc>
                  <a:txBody>
                    <a:bodyPr/>
                    <a:lstStyle/>
                    <a:p>
                      <a:r>
                        <a:rPr sz="800" b="0">
                          <a:solidFill>
                            <a:srgbClr val="292934"/>
                          </a:solidFill>
                          <a:latin typeface="Calibri"/>
                        </a:rPr>
                        <a:t>0.30 x 169.76 + 0.35 x 169.91 + 0.35 x 157.56. Return -8.4% with the $2.76 dividend. Weights set 2026-10-01; growth input corrected 2026-10-02.</a:t>
                      </a:r>
                    </a:p>
                  </a:txBody>
                  <a:tcPr marL="45720" marR="45720" marT="20000" marB="20000">
                    <a:solidFill>
                      <a:srgbClr val="F7F7F7"/>
                    </a:solidFill>
                  </a:tcPr>
                </a:tc>
              </a:tr>
            </a:tbl>
          </a:graphicData>
        </a:graphic>
      </p:graphicFrame>
      <p:sp>
        <p:nvSpPr>
          <p:cNvPr id="16407" name="TextBox 16406"/>
          <p:cNvSpPr txBox="1"/>
          <p:nvPr/>
        </p:nvSpPr>
        <p:spPr>
          <a:xfrm>
            <a:off x="139700" y="3550000"/>
            <a:ext cx="4318000" cy="254000"/>
          </a:xfrm>
          <a:prstGeom prst="rect">
            <a:avLst/>
          </a:prstGeom>
          <a:noFill/>
        </p:spPr>
        <p:txBody>
          <a:bodyPr wrap="square">
            <a:spAutoFit/>
          </a:bodyPr>
          <a:lstStyle/>
          <a:p>
            <a:r>
              <a:rPr sz="1200" b="0">
                <a:solidFill>
                  <a:srgbClr val="292934"/>
                </a:solidFill>
                <a:latin typeface="Calibri"/>
              </a:rPr>
              <a:t>Figure 49: Earnings quality, 2027E</a:t>
            </a:r>
          </a:p>
        </p:txBody>
      </p:sp>
      <p:graphicFrame>
        <p:nvGraphicFramePr>
          <p:cNvPr id="16408" name="Table 16407"/>
          <p:cNvGraphicFramePr>
            <a:graphicFrameLocks noGrp="1"/>
          </p:cNvGraphicFramePr>
          <p:nvPr/>
        </p:nvGraphicFramePr>
        <p:xfrm>
          <a:off x="139700" y="3830000"/>
          <a:ext cx="4318000" cy="1300000"/>
        </p:xfrm>
        <a:graphic>
          <a:graphicData uri="http://schemas.openxmlformats.org/drawingml/2006/table">
            <a:tbl>
              <a:tblPr firstRow="1" bandRow="1">
                <a:tableStyleId>{5C22544A-7EE6-4342-B048-85BDC9FD1C3A}</a:tableStyleId>
              </a:tblPr>
              <a:tblGrid>
                <a:gridCol w="3200000"/>
                <a:gridCol w="1118000"/>
              </a:tblGrid>
              <a:tr h="260000">
                <a:tc>
                  <a:txBody>
                    <a:bodyPr/>
                    <a:lstStyle/>
                    <a:p>
                      <a:r>
                        <a:rPr sz="1000" b="0">
                          <a:solidFill>
                            <a:srgbClr val="292934"/>
                          </a:solidFill>
                          <a:latin typeface="Calibri"/>
                        </a:rPr>
                        <a:t>Diluted EPS (BMG)</a:t>
                      </a:r>
                    </a:p>
                  </a:txBody>
                  <a:tcPr marL="45720" marR="45720" marT="20000" marB="20000">
                    <a:solidFill>
                      <a:srgbClr val="FFFFFF"/>
                    </a:solidFill>
                  </a:tcPr>
                </a:tc>
                <a:tc>
                  <a:txBody>
                    <a:bodyPr/>
                    <a:lstStyle/>
                    <a:p>
                      <a:r>
                        <a:rPr sz="1000" b="1">
                          <a:solidFill>
                            <a:srgbClr val="292934"/>
                          </a:solidFill>
                          <a:latin typeface="Calibri"/>
                        </a:rPr>
                        <a:t>$10.47</a:t>
                      </a:r>
                    </a:p>
                  </a:txBody>
                  <a:tcPr marL="45720" marR="45720" marT="20000" marB="20000">
                    <a:solidFill>
                      <a:srgbClr val="FFFFFF"/>
                    </a:solidFill>
                  </a:tcPr>
                </a:tc>
              </a:tr>
              <a:tr h="260000">
                <a:tc>
                  <a:txBody>
                    <a:bodyPr/>
                    <a:lstStyle/>
                    <a:p>
                      <a:r>
                        <a:rPr sz="1000" b="0">
                          <a:solidFill>
                            <a:srgbClr val="292934"/>
                          </a:solidFill>
                          <a:latin typeface="Calibri"/>
                        </a:rPr>
                        <a:t>Core EPS ex-disposition gains (floor)</a:t>
                      </a:r>
                    </a:p>
                  </a:txBody>
                  <a:tcPr marL="45720" marR="45720" marT="20000" marB="20000">
                    <a:solidFill>
                      <a:srgbClr val="F7F7F7"/>
                    </a:solidFill>
                  </a:tcPr>
                </a:tc>
                <a:tc>
                  <a:txBody>
                    <a:bodyPr/>
                    <a:lstStyle/>
                    <a:p>
                      <a:r>
                        <a:rPr sz="1000" b="1">
                          <a:solidFill>
                            <a:srgbClr val="292934"/>
                          </a:solidFill>
                          <a:latin typeface="Calibri"/>
                        </a:rPr>
                        <a:t>$5.57</a:t>
                      </a:r>
                    </a:p>
                  </a:txBody>
                  <a:tcPr marL="45720" marR="45720" marT="20000" marB="20000">
                    <a:solidFill>
                      <a:srgbClr val="F7F7F7"/>
                    </a:solidFill>
                  </a:tcPr>
                </a:tc>
              </a:tr>
              <a:tr h="260000">
                <a:tc>
                  <a:txBody>
                    <a:bodyPr/>
                    <a:lstStyle/>
                    <a:p>
                      <a:r>
                        <a:rPr sz="1000" b="0">
                          <a:solidFill>
                            <a:srgbClr val="292934"/>
                          </a:solidFill>
                          <a:latin typeface="Calibri"/>
                        </a:rPr>
                        <a:t>EPS at normalized gains (6-yr avg $105M)</a:t>
                      </a:r>
                    </a:p>
                  </a:txBody>
                  <a:tcPr marL="45720" marR="45720" marT="20000" marB="20000">
                    <a:solidFill>
                      <a:srgbClr val="FFFFFF"/>
                    </a:solidFill>
                  </a:tcPr>
                </a:tc>
                <a:tc>
                  <a:txBody>
                    <a:bodyPr/>
                    <a:lstStyle/>
                    <a:p>
                      <a:r>
                        <a:rPr sz="1000" b="1">
                          <a:solidFill>
                            <a:srgbClr val="292934"/>
                          </a:solidFill>
                          <a:latin typeface="Calibri"/>
                        </a:rPr>
                        <a:t>$7.81</a:t>
                      </a:r>
                    </a:p>
                  </a:txBody>
                  <a:tcPr marL="45720" marR="45720" marT="20000" marB="20000">
                    <a:solidFill>
                      <a:srgbClr val="FFFFFF"/>
                    </a:solidFill>
                  </a:tcPr>
                </a:tc>
              </a:tr>
              <a:tr h="260000">
                <a:tc>
                  <a:txBody>
                    <a:bodyPr/>
                    <a:lstStyle/>
                    <a:p>
                      <a:r>
                        <a:rPr sz="1000" b="0">
                          <a:solidFill>
                            <a:srgbClr val="292934"/>
                          </a:solidFill>
                          <a:latin typeface="Calibri"/>
                        </a:rPr>
                        <a:t>P/E on normalized-gains EPS at $183.73</a:t>
                      </a:r>
                    </a:p>
                  </a:txBody>
                  <a:tcPr marL="45720" marR="45720" marT="20000" marB="20000">
                    <a:solidFill>
                      <a:srgbClr val="F7F7F7"/>
                    </a:solidFill>
                  </a:tcPr>
                </a:tc>
                <a:tc>
                  <a:txBody>
                    <a:bodyPr/>
                    <a:lstStyle/>
                    <a:p>
                      <a:r>
                        <a:rPr sz="1000" b="1">
                          <a:solidFill>
                            <a:srgbClr val="292934"/>
                          </a:solidFill>
                          <a:latin typeface="Calibri"/>
                        </a:rPr>
                        <a:t>23.5x</a:t>
                      </a:r>
                    </a:p>
                  </a:txBody>
                  <a:tcPr marL="45720" marR="45720" marT="20000" marB="20000">
                    <a:solidFill>
                      <a:srgbClr val="F7F7F7"/>
                    </a:solidFill>
                  </a:tcPr>
                </a:tc>
              </a:tr>
              <a:tr h="260000">
                <a:tc>
                  <a:txBody>
                    <a:bodyPr/>
                    <a:lstStyle/>
                    <a:p>
                      <a:r>
                        <a:rPr sz="1000" b="0">
                          <a:solidFill>
                            <a:srgbClr val="292934"/>
                          </a:solidFill>
                          <a:latin typeface="Calibri"/>
                        </a:rPr>
                        <a:t>Disposition gains as % of pretax income</a:t>
                      </a:r>
                    </a:p>
                  </a:txBody>
                  <a:tcPr marL="45720" marR="45720" marT="20000" marB="20000">
                    <a:solidFill>
                      <a:srgbClr val="FFFFFF"/>
                    </a:solidFill>
                  </a:tcPr>
                </a:tc>
                <a:tc>
                  <a:txBody>
                    <a:bodyPr/>
                    <a:lstStyle/>
                    <a:p>
                      <a:r>
                        <a:rPr sz="1000" b="1">
                          <a:solidFill>
                            <a:srgbClr val="292934"/>
                          </a:solidFill>
                          <a:latin typeface="Calibri"/>
                        </a:rPr>
                        <a:t>~40%</a:t>
                      </a:r>
                    </a:p>
                  </a:txBody>
                  <a:tcPr marL="45720" marR="45720" marT="20000" marB="20000">
                    <a:solidFill>
                      <a:srgbClr val="FFFFFF"/>
                    </a:solidFill>
                  </a:tcPr>
                </a:tc>
              </a:tr>
            </a:tbl>
          </a:graphicData>
        </a:graphic>
      </p:graphicFrame>
      <p:sp>
        <p:nvSpPr>
          <p:cNvPr id="16409" name="TextBox 16408"/>
          <p:cNvSpPr txBox="1"/>
          <p:nvPr/>
        </p:nvSpPr>
        <p:spPr>
          <a:xfrm>
            <a:off x="4686300" y="3550000"/>
            <a:ext cx="4318000" cy="254000"/>
          </a:xfrm>
          <a:prstGeom prst="rect">
            <a:avLst/>
          </a:prstGeom>
          <a:noFill/>
        </p:spPr>
        <p:txBody>
          <a:bodyPr wrap="square">
            <a:spAutoFit/>
          </a:bodyPr>
          <a:lstStyle/>
          <a:p>
            <a:r>
              <a:rPr sz="1200" b="0">
                <a:solidFill>
                  <a:srgbClr val="292934"/>
                </a:solidFill>
                <a:latin typeface="Calibri"/>
              </a:rPr>
              <a:t>Figure 50: What the four methods say together</a:t>
            </a:r>
          </a:p>
        </p:txBody>
      </p:sp>
      <p:sp>
        <p:nvSpPr>
          <p:cNvPr id="16410" name="Rectangle 16409"/>
          <p:cNvSpPr/>
          <p:nvPr/>
        </p:nvSpPr>
        <p:spPr>
          <a:xfrm>
            <a:off x="4686300" y="3830000"/>
            <a:ext cx="4318000" cy="2300000"/>
          </a:xfrm>
          <a:prstGeom prst="rect">
            <a:avLst/>
          </a:prstGeom>
          <a:solidFill>
            <a:srgbClr val="F2C75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0">
                <a:solidFill>
                  <a:srgbClr val="292934"/>
                </a:solidFill>
                <a:latin typeface="Calibri"/>
              </a:rPr>
              <a:t>Every method that does not start from "the market is right" lands below $183.73. P/E and NAV agree near $170. Justified P/B at $158 is the buy-side lens: at 2.1x book the price needs a return on equity near 16%; the filings show 12 to 13% with gains included.</a:t>
            </a:r>
          </a:p>
          <a:p>
            <a:pPr algn="l"/>
            <a:r>
              <a:rPr sz="1100" b="0">
                <a:solidFill>
                  <a:srgbClr val="292934"/>
                </a:solidFill>
                <a:latin typeface="Calibri"/>
              </a:rPr>
              <a:t/>
            </a:r>
          </a:p>
          <a:p>
            <a:pPr algn="l"/>
            <a:r>
              <a:rPr sz="1100" b="0">
                <a:solidFill>
                  <a:srgbClr val="292934"/>
                </a:solidFill>
                <a:latin typeface="Calibri"/>
              </a:rPr>
              <a:t>The bull's best argument is the fleet mark. GATX sells its oldest cars at 1.76x book, so book understates the fleet. The model marks it at 1.04x; at 1.14x the target is $177 and the call is a HOLD; HOLD returns near 1.09x. That is the assumption to attack, and it is on the page.</a:t>
            </a:r>
          </a:p>
          <a:p>
            <a:pPr algn="l"/>
            <a:r>
              <a:rPr sz="1100" b="0">
                <a:solidFill>
                  <a:srgbClr val="292934"/>
                </a:solidFill>
                <a:latin typeface="Calibri"/>
              </a:rPr>
              <a:t/>
            </a:r>
          </a:p>
          <a:p>
            <a:pPr algn="l"/>
            <a:r>
              <a:rPr sz="1100" b="0">
                <a:solidFill>
                  <a:srgbClr val="292934"/>
                </a:solidFill>
                <a:latin typeface="Calibri"/>
              </a:rPr>
              <a:t>Gains are a real business line (about $105M a year for six years), so core EPS ex-gains is a floor, not a base. At normalized gains the stock trades at 23.5x.</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C31D0-8257-858E-830F-1ED3CFDEB10D}"/>
            </a:ext>
          </a:extLst>
        </p:cNvPr>
        <p:cNvGrpSpPr/>
        <p:nvPr/>
      </p:nvGrpSpPr>
      <p:grpSpPr>
        <a:xfrm>
          <a:off x="0" y="0"/>
          <a:ext cx="0" cy="0"/>
          <a:chOff x="0" y="0"/>
          <a:chExt cx="0" cy="0"/>
        </a:xfrm>
      </p:grpSpPr>
      <p:sp>
        <p:nvSpPr>
          <p:cNvPr id="12292" name="AutoShape 22" descr="Image result for risk black clip art">
            <a:extLst>
              <a:ext uri="{FF2B5EF4-FFF2-40B4-BE49-F238E27FC236}">
                <a16:creationId xmlns:a16="http://schemas.microsoft.com/office/drawing/2014/main" id="{E684EC6A-9EED-6677-85C3-221C20AB1880}"/>
              </a:ext>
            </a:extLst>
          </p:cNvPr>
          <p:cNvSpPr>
            <a:spLocks noChangeAspect="1" noChangeArrowheads="1"/>
          </p:cNvSpPr>
          <p:nvPr/>
        </p:nvSpPr>
        <p:spPr bwMode="auto">
          <a:xfrm>
            <a:off x="116681" y="748906"/>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400">
              <a:solidFill>
                <a:srgbClr val="292934"/>
              </a:solidFill>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95838B60-A888-4D5D-54E1-0CA4B4CAB8E8}"/>
              </a:ext>
            </a:extLst>
          </p:cNvPr>
          <p:cNvSpPr>
            <a:spLocks noGrp="1"/>
          </p:cNvSpPr>
          <p:nvPr>
            <p:ph type="sldNum" sz="quarter" idx="12"/>
          </p:nvPr>
        </p:nvSpPr>
        <p:spPr/>
        <p:txBody>
          <a:bodyPr/>
          <a:lstStyle/>
          <a:p>
            <a:fld id="{763E63E3-3972-446C-8D4C-DDC4F18578E9}" type="slidenum">
              <a:rPr lang="en-US" altLang="en-US" sz="1400" smtClean="0">
                <a:latin typeface="Calibri" panose="020F0502020204030204" pitchFamily="34" charset="0"/>
                <a:cs typeface="Calibri" panose="020F0502020204030204" pitchFamily="34" charset="0"/>
              </a:rPr>
              <a:pPr/>
              <a:t>24</a:t>
            </a:fld>
            <a:endParaRPr lang="en-US" altLang="en-US" sz="1400">
              <a:latin typeface="Calibri" panose="020F0502020204030204" pitchFamily="34" charset="0"/>
              <a:cs typeface="Calibri" panose="020F0502020204030204" pitchFamily="34" charset="0"/>
            </a:endParaRPr>
          </a:p>
        </p:txBody>
      </p:sp>
      <p:sp>
        <p:nvSpPr>
          <p:cNvPr id="83" name="Left-Right Arrow 2063">
            <a:extLst>
              <a:ext uri="{FF2B5EF4-FFF2-40B4-BE49-F238E27FC236}">
                <a16:creationId xmlns:a16="http://schemas.microsoft.com/office/drawing/2014/main" id="{FBBABEA7-F25C-4B31-A672-942C65C060ED}"/>
              </a:ext>
            </a:extLst>
          </p:cNvPr>
          <p:cNvSpPr/>
          <p:nvPr/>
        </p:nvSpPr>
        <p:spPr bwMode="auto">
          <a:xfrm>
            <a:off x="688861" y="4220820"/>
            <a:ext cx="7753471" cy="677315"/>
          </a:xfrm>
          <a:prstGeom prst="leftRight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Key Highlights</a:t>
            </a:r>
          </a:p>
        </p:txBody>
      </p:sp>
      <p:grpSp>
        <p:nvGrpSpPr>
          <p:cNvPr id="34" name="Group 33">
            <a:extLst>
              <a:ext uri="{FF2B5EF4-FFF2-40B4-BE49-F238E27FC236}">
                <a16:creationId xmlns:a16="http://schemas.microsoft.com/office/drawing/2014/main" id="{267C24C5-5E26-1E9C-535B-661F1AFE532F}"/>
              </a:ext>
            </a:extLst>
          </p:cNvPr>
          <p:cNvGrpSpPr/>
          <p:nvPr/>
        </p:nvGrpSpPr>
        <p:grpSpPr>
          <a:xfrm>
            <a:off x="694642" y="739926"/>
            <a:ext cx="7753470" cy="3242764"/>
            <a:chOff x="695702" y="695161"/>
            <a:chExt cx="7753470" cy="3242764"/>
          </a:xfrm>
        </p:grpSpPr>
        <p:sp>
          <p:nvSpPr>
            <p:cNvPr id="29" name="Down Arrow Callout 49">
              <a:extLst>
                <a:ext uri="{FF2B5EF4-FFF2-40B4-BE49-F238E27FC236}">
                  <a16:creationId xmlns:a16="http://schemas.microsoft.com/office/drawing/2014/main" id="{C4D7852E-276D-D6F7-2E0F-E5F2A3526742}"/>
                </a:ext>
              </a:extLst>
            </p:cNvPr>
            <p:cNvSpPr/>
            <p:nvPr/>
          </p:nvSpPr>
          <p:spPr bwMode="auto">
            <a:xfrm>
              <a:off x="2280317"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Drivers</a:t>
              </a:r>
            </a:p>
          </p:txBody>
        </p:sp>
        <p:grpSp>
          <p:nvGrpSpPr>
            <p:cNvPr id="75" name="Group 74">
              <a:extLst>
                <a:ext uri="{FF2B5EF4-FFF2-40B4-BE49-F238E27FC236}">
                  <a16:creationId xmlns:a16="http://schemas.microsoft.com/office/drawing/2014/main" id="{9A5D9972-2A94-54B7-E9D9-C4AC58B36749}"/>
                </a:ext>
              </a:extLst>
            </p:cNvPr>
            <p:cNvGrpSpPr/>
            <p:nvPr/>
          </p:nvGrpSpPr>
          <p:grpSpPr>
            <a:xfrm>
              <a:off x="2281074" y="701514"/>
              <a:ext cx="1435608" cy="1645920"/>
              <a:chOff x="1780524" y="1001320"/>
              <a:chExt cx="1261872" cy="1496616"/>
            </a:xfrm>
          </p:grpSpPr>
          <p:sp>
            <p:nvSpPr>
              <p:cNvPr id="21" name="Rectangle 20">
                <a:extLst>
                  <a:ext uri="{FF2B5EF4-FFF2-40B4-BE49-F238E27FC236}">
                    <a16:creationId xmlns:a16="http://schemas.microsoft.com/office/drawing/2014/main" id="{CD78D392-76FE-1123-B0B6-4E980B12E79D}"/>
                  </a:ext>
                </a:extLst>
              </p:cNvPr>
              <p:cNvSpPr/>
              <p:nvPr/>
            </p:nvSpPr>
            <p:spPr bwMode="auto">
              <a:xfrm>
                <a:off x="1780524" y="1001320"/>
                <a:ext cx="1261872" cy="1496616"/>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ACDBFB69-A5FE-3D3B-CAA5-A995B92EBB0B}"/>
                  </a:ext>
                </a:extLst>
              </p:cNvPr>
              <p:cNvGrpSpPr/>
              <p:nvPr/>
            </p:nvGrpSpPr>
            <p:grpSpPr>
              <a:xfrm>
                <a:off x="1839668" y="1178128"/>
                <a:ext cx="1143584" cy="1143000"/>
                <a:chOff x="1839668" y="1142389"/>
                <a:chExt cx="1143584" cy="1143000"/>
              </a:xfrm>
            </p:grpSpPr>
            <p:sp>
              <p:nvSpPr>
                <p:cNvPr id="23" name="Oval 22">
                  <a:extLst>
                    <a:ext uri="{FF2B5EF4-FFF2-40B4-BE49-F238E27FC236}">
                      <a16:creationId xmlns:a16="http://schemas.microsoft.com/office/drawing/2014/main" id="{B1A0D994-0CB3-E836-0F3B-88FCE4215AB6}"/>
                    </a:ext>
                  </a:extLst>
                </p:cNvPr>
                <p:cNvSpPr/>
                <p:nvPr/>
              </p:nvSpPr>
              <p:spPr bwMode="auto">
                <a:xfrm>
                  <a:off x="1839668" y="1142389"/>
                  <a:ext cx="1143584"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33" name="Graphic 5" descr="Board Of Directors with solid fill">
                  <a:extLst>
                    <a:ext uri="{FF2B5EF4-FFF2-40B4-BE49-F238E27FC236}">
                      <a16:creationId xmlns:a16="http://schemas.microsoft.com/office/drawing/2014/main" id="{E08E4A40-0F5A-81ED-1E77-F00E8C95C28F}"/>
                    </a:ext>
                  </a:extLst>
                </p:cNvPr>
                <p:cNvSpPr/>
                <p:nvPr/>
              </p:nvSpPr>
              <p:spPr>
                <a:xfrm>
                  <a:off x="2054844" y="1406926"/>
                  <a:ext cx="713232" cy="613927"/>
                </a:xfrm>
                <a:custGeom>
                  <a:avLst/>
                  <a:gdLst>
                    <a:gd name="connsiteX0" fmla="*/ 745496 w 784462"/>
                    <a:gd name="connsiteY0" fmla="*/ 435333 h 613927"/>
                    <a:gd name="connsiteX1" fmla="*/ 764008 w 784462"/>
                    <a:gd name="connsiteY1" fmla="*/ 413769 h 613927"/>
                    <a:gd name="connsiteX2" fmla="*/ 784276 w 784462"/>
                    <a:gd name="connsiteY2" fmla="*/ 244885 h 613927"/>
                    <a:gd name="connsiteX3" fmla="*/ 761982 w 784462"/>
                    <a:gd name="connsiteY3" fmla="*/ 216486 h 613927"/>
                    <a:gd name="connsiteX4" fmla="*/ 760401 w 784462"/>
                    <a:gd name="connsiteY4" fmla="*/ 216345 h 613927"/>
                    <a:gd name="connsiteX5" fmla="*/ 666554 w 784462"/>
                    <a:gd name="connsiteY5" fmla="*/ 210820 h 613927"/>
                    <a:gd name="connsiteX6" fmla="*/ 639720 w 784462"/>
                    <a:gd name="connsiteY6" fmla="*/ 233049 h 613927"/>
                    <a:gd name="connsiteX7" fmla="*/ 633904 w 784462"/>
                    <a:gd name="connsiteY7" fmla="*/ 278140 h 613927"/>
                    <a:gd name="connsiteX8" fmla="*/ 619571 w 784462"/>
                    <a:gd name="connsiteY8" fmla="*/ 256191 h 613927"/>
                    <a:gd name="connsiteX9" fmla="*/ 622836 w 784462"/>
                    <a:gd name="connsiteY9" fmla="*/ 230875 h 613927"/>
                    <a:gd name="connsiteX10" fmla="*/ 665096 w 784462"/>
                    <a:gd name="connsiteY10" fmla="*/ 193757 h 613927"/>
                    <a:gd name="connsiteX11" fmla="*/ 667654 w 784462"/>
                    <a:gd name="connsiteY11" fmla="*/ 193834 h 613927"/>
                    <a:gd name="connsiteX12" fmla="*/ 708191 w 784462"/>
                    <a:gd name="connsiteY12" fmla="*/ 196213 h 613927"/>
                    <a:gd name="connsiteX13" fmla="*/ 714049 w 784462"/>
                    <a:gd name="connsiteY13" fmla="*/ 160255 h 613927"/>
                    <a:gd name="connsiteX14" fmla="*/ 692851 w 784462"/>
                    <a:gd name="connsiteY14" fmla="*/ 130939 h 613927"/>
                    <a:gd name="connsiteX15" fmla="*/ 690540 w 784462"/>
                    <a:gd name="connsiteY15" fmla="*/ 130675 h 613927"/>
                    <a:gd name="connsiteX16" fmla="*/ 614233 w 784462"/>
                    <a:gd name="connsiteY16" fmla="*/ 125559 h 613927"/>
                    <a:gd name="connsiteX17" fmla="*/ 587296 w 784462"/>
                    <a:gd name="connsiteY17" fmla="*/ 147149 h 613927"/>
                    <a:gd name="connsiteX18" fmla="*/ 579827 w 784462"/>
                    <a:gd name="connsiteY18" fmla="*/ 195232 h 613927"/>
                    <a:gd name="connsiteX19" fmla="*/ 565894 w 784462"/>
                    <a:gd name="connsiteY19" fmla="*/ 173915 h 613927"/>
                    <a:gd name="connsiteX20" fmla="*/ 570413 w 784462"/>
                    <a:gd name="connsiteY20" fmla="*/ 144599 h 613927"/>
                    <a:gd name="connsiteX21" fmla="*/ 612468 w 784462"/>
                    <a:gd name="connsiteY21" fmla="*/ 108522 h 613927"/>
                    <a:gd name="connsiteX22" fmla="*/ 615316 w 784462"/>
                    <a:gd name="connsiteY22" fmla="*/ 108624 h 613927"/>
                    <a:gd name="connsiteX23" fmla="*/ 632148 w 784462"/>
                    <a:gd name="connsiteY23" fmla="*/ 109741 h 613927"/>
                    <a:gd name="connsiteX24" fmla="*/ 634800 w 784462"/>
                    <a:gd name="connsiteY24" fmla="*/ 85866 h 613927"/>
                    <a:gd name="connsiteX25" fmla="*/ 612162 w 784462"/>
                    <a:gd name="connsiteY25" fmla="*/ 57648 h 613927"/>
                    <a:gd name="connsiteX26" fmla="*/ 611376 w 784462"/>
                    <a:gd name="connsiteY26" fmla="*/ 57574 h 613927"/>
                    <a:gd name="connsiteX27" fmla="*/ 551807 w 784462"/>
                    <a:gd name="connsiteY27" fmla="*/ 52995 h 613927"/>
                    <a:gd name="connsiteX28" fmla="*/ 524402 w 784462"/>
                    <a:gd name="connsiteY28" fmla="*/ 75787 h 613927"/>
                    <a:gd name="connsiteX29" fmla="*/ 520539 w 784462"/>
                    <a:gd name="connsiteY29" fmla="*/ 112504 h 613927"/>
                    <a:gd name="connsiteX30" fmla="*/ 466342 w 784462"/>
                    <a:gd name="connsiteY30" fmla="*/ 93660 h 613927"/>
                    <a:gd name="connsiteX31" fmla="*/ 458898 w 784462"/>
                    <a:gd name="connsiteY31" fmla="*/ 93660 h 613927"/>
                    <a:gd name="connsiteX32" fmla="*/ 458898 w 784462"/>
                    <a:gd name="connsiteY32" fmla="*/ 33971 h 613927"/>
                    <a:gd name="connsiteX33" fmla="*/ 452076 w 784462"/>
                    <a:gd name="connsiteY33" fmla="*/ 17506 h 613927"/>
                    <a:gd name="connsiteX34" fmla="*/ 441691 w 784462"/>
                    <a:gd name="connsiteY34" fmla="*/ 11102 h 613927"/>
                    <a:gd name="connsiteX35" fmla="*/ 342446 w 784462"/>
                    <a:gd name="connsiteY35" fmla="*/ 10676 h 613927"/>
                    <a:gd name="connsiteX36" fmla="*/ 330124 w 784462"/>
                    <a:gd name="connsiteY36" fmla="*/ 17497 h 613927"/>
                    <a:gd name="connsiteX37" fmla="*/ 323303 w 784462"/>
                    <a:gd name="connsiteY37" fmla="*/ 33963 h 613927"/>
                    <a:gd name="connsiteX38" fmla="*/ 323303 w 784462"/>
                    <a:gd name="connsiteY38" fmla="*/ 93651 h 613927"/>
                    <a:gd name="connsiteX39" fmla="*/ 315100 w 784462"/>
                    <a:gd name="connsiteY39" fmla="*/ 93651 h 613927"/>
                    <a:gd name="connsiteX40" fmla="*/ 263683 w 784462"/>
                    <a:gd name="connsiteY40" fmla="*/ 110355 h 613927"/>
                    <a:gd name="connsiteX41" fmla="*/ 260067 w 784462"/>
                    <a:gd name="connsiteY41" fmla="*/ 75787 h 613927"/>
                    <a:gd name="connsiteX42" fmla="*/ 232713 w 784462"/>
                    <a:gd name="connsiteY42" fmla="*/ 52995 h 613927"/>
                    <a:gd name="connsiteX43" fmla="*/ 173144 w 784462"/>
                    <a:gd name="connsiteY43" fmla="*/ 57574 h 613927"/>
                    <a:gd name="connsiteX44" fmla="*/ 149646 w 784462"/>
                    <a:gd name="connsiteY44" fmla="*/ 85081 h 613927"/>
                    <a:gd name="connsiteX45" fmla="*/ 149720 w 784462"/>
                    <a:gd name="connsiteY45" fmla="*/ 85866 h 613927"/>
                    <a:gd name="connsiteX46" fmla="*/ 152372 w 784462"/>
                    <a:gd name="connsiteY46" fmla="*/ 109741 h 613927"/>
                    <a:gd name="connsiteX47" fmla="*/ 169204 w 784462"/>
                    <a:gd name="connsiteY47" fmla="*/ 108624 h 613927"/>
                    <a:gd name="connsiteX48" fmla="*/ 172052 w 784462"/>
                    <a:gd name="connsiteY48" fmla="*/ 108522 h 613927"/>
                    <a:gd name="connsiteX49" fmla="*/ 214099 w 784462"/>
                    <a:gd name="connsiteY49" fmla="*/ 144599 h 613927"/>
                    <a:gd name="connsiteX50" fmla="*/ 218064 w 784462"/>
                    <a:gd name="connsiteY50" fmla="*/ 170231 h 613927"/>
                    <a:gd name="connsiteX51" fmla="*/ 204131 w 784462"/>
                    <a:gd name="connsiteY51" fmla="*/ 191549 h 613927"/>
                    <a:gd name="connsiteX52" fmla="*/ 197309 w 784462"/>
                    <a:gd name="connsiteY52" fmla="*/ 147158 h 613927"/>
                    <a:gd name="connsiteX53" fmla="*/ 170373 w 784462"/>
                    <a:gd name="connsiteY53" fmla="*/ 125567 h 613927"/>
                    <a:gd name="connsiteX54" fmla="*/ 94065 w 784462"/>
                    <a:gd name="connsiteY54" fmla="*/ 130684 h 613927"/>
                    <a:gd name="connsiteX55" fmla="*/ 70292 w 784462"/>
                    <a:gd name="connsiteY55" fmla="*/ 157953 h 613927"/>
                    <a:gd name="connsiteX56" fmla="*/ 70557 w 784462"/>
                    <a:gd name="connsiteY56" fmla="*/ 160263 h 613927"/>
                    <a:gd name="connsiteX57" fmla="*/ 76415 w 784462"/>
                    <a:gd name="connsiteY57" fmla="*/ 196221 h 613927"/>
                    <a:gd name="connsiteX58" fmla="*/ 116951 w 784462"/>
                    <a:gd name="connsiteY58" fmla="*/ 193842 h 613927"/>
                    <a:gd name="connsiteX59" fmla="*/ 119510 w 784462"/>
                    <a:gd name="connsiteY59" fmla="*/ 193766 h 613927"/>
                    <a:gd name="connsiteX60" fmla="*/ 161701 w 784462"/>
                    <a:gd name="connsiteY60" fmla="*/ 230883 h 613927"/>
                    <a:gd name="connsiteX61" fmla="*/ 164481 w 784462"/>
                    <a:gd name="connsiteY61" fmla="*/ 252465 h 613927"/>
                    <a:gd name="connsiteX62" fmla="*/ 150070 w 784462"/>
                    <a:gd name="connsiteY62" fmla="*/ 274422 h 613927"/>
                    <a:gd name="connsiteX63" fmla="*/ 144732 w 784462"/>
                    <a:gd name="connsiteY63" fmla="*/ 233049 h 613927"/>
                    <a:gd name="connsiteX64" fmla="*/ 117898 w 784462"/>
                    <a:gd name="connsiteY64" fmla="*/ 210820 h 613927"/>
                    <a:gd name="connsiteX65" fmla="*/ 24059 w 784462"/>
                    <a:gd name="connsiteY65" fmla="*/ 216345 h 613927"/>
                    <a:gd name="connsiteX66" fmla="*/ 43 w 784462"/>
                    <a:gd name="connsiteY66" fmla="*/ 243303 h 613927"/>
                    <a:gd name="connsiteX67" fmla="*/ 184 w 784462"/>
                    <a:gd name="connsiteY67" fmla="*/ 244885 h 613927"/>
                    <a:gd name="connsiteX68" fmla="*/ 20461 w 784462"/>
                    <a:gd name="connsiteY68" fmla="*/ 413769 h 613927"/>
                    <a:gd name="connsiteX69" fmla="*/ 38981 w 784462"/>
                    <a:gd name="connsiteY69" fmla="*/ 435333 h 613927"/>
                    <a:gd name="connsiteX70" fmla="*/ 74419 w 784462"/>
                    <a:gd name="connsiteY70" fmla="*/ 445182 h 613927"/>
                    <a:gd name="connsiteX71" fmla="*/ 74419 w 784462"/>
                    <a:gd name="connsiteY71" fmla="*/ 480995 h 613927"/>
                    <a:gd name="connsiteX72" fmla="*/ 44643 w 784462"/>
                    <a:gd name="connsiteY72" fmla="*/ 480995 h 613927"/>
                    <a:gd name="connsiteX73" fmla="*/ 14850 w 784462"/>
                    <a:gd name="connsiteY73" fmla="*/ 510779 h 613927"/>
                    <a:gd name="connsiteX74" fmla="*/ 14850 w 784462"/>
                    <a:gd name="connsiteY74" fmla="*/ 516646 h 613927"/>
                    <a:gd name="connsiteX75" fmla="*/ 16360 w 784462"/>
                    <a:gd name="connsiteY75" fmla="*/ 540717 h 613927"/>
                    <a:gd name="connsiteX76" fmla="*/ 40431 w 784462"/>
                    <a:gd name="connsiteY76" fmla="*/ 539206 h 613927"/>
                    <a:gd name="connsiteX77" fmla="*/ 40431 w 784462"/>
                    <a:gd name="connsiteY77" fmla="*/ 516646 h 613927"/>
                    <a:gd name="connsiteX78" fmla="*/ 40431 w 784462"/>
                    <a:gd name="connsiteY78" fmla="*/ 510779 h 613927"/>
                    <a:gd name="connsiteX79" fmla="*/ 44694 w 784462"/>
                    <a:gd name="connsiteY79" fmla="*/ 506516 h 613927"/>
                    <a:gd name="connsiteX80" fmla="*/ 74436 w 784462"/>
                    <a:gd name="connsiteY80" fmla="*/ 506516 h 613927"/>
                    <a:gd name="connsiteX81" fmla="*/ 74436 w 784462"/>
                    <a:gd name="connsiteY81" fmla="*/ 516637 h 613927"/>
                    <a:gd name="connsiteX82" fmla="*/ 75901 w 784462"/>
                    <a:gd name="connsiteY82" fmla="*/ 540711 h 613927"/>
                    <a:gd name="connsiteX83" fmla="*/ 99974 w 784462"/>
                    <a:gd name="connsiteY83" fmla="*/ 539246 h 613927"/>
                    <a:gd name="connsiteX84" fmla="*/ 99974 w 784462"/>
                    <a:gd name="connsiteY84" fmla="*/ 516637 h 613927"/>
                    <a:gd name="connsiteX85" fmla="*/ 99974 w 784462"/>
                    <a:gd name="connsiteY85" fmla="*/ 506516 h 613927"/>
                    <a:gd name="connsiteX86" fmla="*/ 129767 w 784462"/>
                    <a:gd name="connsiteY86" fmla="*/ 506516 h 613927"/>
                    <a:gd name="connsiteX87" fmla="*/ 134031 w 784462"/>
                    <a:gd name="connsiteY87" fmla="*/ 510779 h 613927"/>
                    <a:gd name="connsiteX88" fmla="*/ 134031 w 784462"/>
                    <a:gd name="connsiteY88" fmla="*/ 516646 h 613927"/>
                    <a:gd name="connsiteX89" fmla="*/ 135541 w 784462"/>
                    <a:gd name="connsiteY89" fmla="*/ 540717 h 613927"/>
                    <a:gd name="connsiteX90" fmla="*/ 159612 w 784462"/>
                    <a:gd name="connsiteY90" fmla="*/ 539206 h 613927"/>
                    <a:gd name="connsiteX91" fmla="*/ 159612 w 784462"/>
                    <a:gd name="connsiteY91" fmla="*/ 516646 h 613927"/>
                    <a:gd name="connsiteX92" fmla="*/ 159612 w 784462"/>
                    <a:gd name="connsiteY92" fmla="*/ 510779 h 613927"/>
                    <a:gd name="connsiteX93" fmla="*/ 129819 w 784462"/>
                    <a:gd name="connsiteY93" fmla="*/ 480986 h 613927"/>
                    <a:gd name="connsiteX94" fmla="*/ 99974 w 784462"/>
                    <a:gd name="connsiteY94" fmla="*/ 480986 h 613927"/>
                    <a:gd name="connsiteX95" fmla="*/ 99974 w 784462"/>
                    <a:gd name="connsiteY95" fmla="*/ 456830 h 613927"/>
                    <a:gd name="connsiteX96" fmla="*/ 117173 w 784462"/>
                    <a:gd name="connsiteY96" fmla="*/ 464564 h 613927"/>
                    <a:gd name="connsiteX97" fmla="*/ 172052 w 784462"/>
                    <a:gd name="connsiteY97" fmla="*/ 479230 h 613927"/>
                    <a:gd name="connsiteX98" fmla="*/ 254627 w 784462"/>
                    <a:gd name="connsiteY98" fmla="*/ 496906 h 613927"/>
                    <a:gd name="connsiteX99" fmla="*/ 254627 w 784462"/>
                    <a:gd name="connsiteY99" fmla="*/ 576104 h 613927"/>
                    <a:gd name="connsiteX100" fmla="*/ 273975 w 784462"/>
                    <a:gd name="connsiteY100" fmla="*/ 600832 h 613927"/>
                    <a:gd name="connsiteX101" fmla="*/ 286808 w 784462"/>
                    <a:gd name="connsiteY101" fmla="*/ 604038 h 613927"/>
                    <a:gd name="connsiteX102" fmla="*/ 494447 w 784462"/>
                    <a:gd name="connsiteY102" fmla="*/ 602418 h 613927"/>
                    <a:gd name="connsiteX103" fmla="*/ 499563 w 784462"/>
                    <a:gd name="connsiteY103" fmla="*/ 601054 h 613927"/>
                    <a:gd name="connsiteX104" fmla="*/ 518527 w 784462"/>
                    <a:gd name="connsiteY104" fmla="*/ 576437 h 613927"/>
                    <a:gd name="connsiteX105" fmla="*/ 518527 w 784462"/>
                    <a:gd name="connsiteY105" fmla="*/ 498117 h 613927"/>
                    <a:gd name="connsiteX106" fmla="*/ 608238 w 784462"/>
                    <a:gd name="connsiteY106" fmla="*/ 479486 h 613927"/>
                    <a:gd name="connsiteX107" fmla="*/ 664388 w 784462"/>
                    <a:gd name="connsiteY107" fmla="*/ 464546 h 613927"/>
                    <a:gd name="connsiteX108" fmla="*/ 684520 w 784462"/>
                    <a:gd name="connsiteY108" fmla="*/ 454860 h 613927"/>
                    <a:gd name="connsiteX109" fmla="*/ 684520 w 784462"/>
                    <a:gd name="connsiteY109" fmla="*/ 480986 h 613927"/>
                    <a:gd name="connsiteX110" fmla="*/ 654727 w 784462"/>
                    <a:gd name="connsiteY110" fmla="*/ 480986 h 613927"/>
                    <a:gd name="connsiteX111" fmla="*/ 624934 w 784462"/>
                    <a:gd name="connsiteY111" fmla="*/ 510779 h 613927"/>
                    <a:gd name="connsiteX112" fmla="*/ 624934 w 784462"/>
                    <a:gd name="connsiteY112" fmla="*/ 516646 h 613927"/>
                    <a:gd name="connsiteX113" fmla="*/ 626399 w 784462"/>
                    <a:gd name="connsiteY113" fmla="*/ 540719 h 613927"/>
                    <a:gd name="connsiteX114" fmla="*/ 650472 w 784462"/>
                    <a:gd name="connsiteY114" fmla="*/ 539254 h 613927"/>
                    <a:gd name="connsiteX115" fmla="*/ 650472 w 784462"/>
                    <a:gd name="connsiteY115" fmla="*/ 516646 h 613927"/>
                    <a:gd name="connsiteX116" fmla="*/ 650472 w 784462"/>
                    <a:gd name="connsiteY116" fmla="*/ 510779 h 613927"/>
                    <a:gd name="connsiteX117" fmla="*/ 654736 w 784462"/>
                    <a:gd name="connsiteY117" fmla="*/ 506516 h 613927"/>
                    <a:gd name="connsiteX118" fmla="*/ 684529 w 784462"/>
                    <a:gd name="connsiteY118" fmla="*/ 506516 h 613927"/>
                    <a:gd name="connsiteX119" fmla="*/ 684529 w 784462"/>
                    <a:gd name="connsiteY119" fmla="*/ 516637 h 613927"/>
                    <a:gd name="connsiteX120" fmla="*/ 685994 w 784462"/>
                    <a:gd name="connsiteY120" fmla="*/ 540711 h 613927"/>
                    <a:gd name="connsiteX121" fmla="*/ 710067 w 784462"/>
                    <a:gd name="connsiteY121" fmla="*/ 539246 h 613927"/>
                    <a:gd name="connsiteX122" fmla="*/ 710067 w 784462"/>
                    <a:gd name="connsiteY122" fmla="*/ 516637 h 613927"/>
                    <a:gd name="connsiteX123" fmla="*/ 710067 w 784462"/>
                    <a:gd name="connsiteY123" fmla="*/ 506516 h 613927"/>
                    <a:gd name="connsiteX124" fmla="*/ 739860 w 784462"/>
                    <a:gd name="connsiteY124" fmla="*/ 506516 h 613927"/>
                    <a:gd name="connsiteX125" fmla="*/ 744123 w 784462"/>
                    <a:gd name="connsiteY125" fmla="*/ 510779 h 613927"/>
                    <a:gd name="connsiteX126" fmla="*/ 744123 w 784462"/>
                    <a:gd name="connsiteY126" fmla="*/ 516646 h 613927"/>
                    <a:gd name="connsiteX127" fmla="*/ 745633 w 784462"/>
                    <a:gd name="connsiteY127" fmla="*/ 540717 h 613927"/>
                    <a:gd name="connsiteX128" fmla="*/ 769704 w 784462"/>
                    <a:gd name="connsiteY128" fmla="*/ 539206 h 613927"/>
                    <a:gd name="connsiteX129" fmla="*/ 769704 w 784462"/>
                    <a:gd name="connsiteY129" fmla="*/ 516646 h 613927"/>
                    <a:gd name="connsiteX130" fmla="*/ 769704 w 784462"/>
                    <a:gd name="connsiteY130" fmla="*/ 510779 h 613927"/>
                    <a:gd name="connsiteX131" fmla="*/ 739860 w 784462"/>
                    <a:gd name="connsiteY131" fmla="*/ 480986 h 613927"/>
                    <a:gd name="connsiteX132" fmla="*/ 710058 w 784462"/>
                    <a:gd name="connsiteY132" fmla="*/ 480986 h 613927"/>
                    <a:gd name="connsiteX133" fmla="*/ 710058 w 784462"/>
                    <a:gd name="connsiteY133" fmla="*/ 445173 h 613927"/>
                    <a:gd name="connsiteX134" fmla="*/ 599481 w 784462"/>
                    <a:gd name="connsiteY134" fmla="*/ 446580 h 613927"/>
                    <a:gd name="connsiteX135" fmla="*/ 390631 w 784462"/>
                    <a:gd name="connsiteY135" fmla="*/ 473866 h 613927"/>
                    <a:gd name="connsiteX136" fmla="*/ 180869 w 784462"/>
                    <a:gd name="connsiteY136" fmla="*/ 446316 h 613927"/>
                    <a:gd name="connsiteX137" fmla="*/ 125990 w 784462"/>
                    <a:gd name="connsiteY137" fmla="*/ 431650 h 613927"/>
                    <a:gd name="connsiteX138" fmla="*/ 108141 w 784462"/>
                    <a:gd name="connsiteY138" fmla="*/ 403859 h 613927"/>
                    <a:gd name="connsiteX139" fmla="*/ 111554 w 784462"/>
                    <a:gd name="connsiteY139" fmla="*/ 395837 h 613927"/>
                    <a:gd name="connsiteX140" fmla="*/ 272193 w 784462"/>
                    <a:gd name="connsiteY140" fmla="*/ 149545 h 613927"/>
                    <a:gd name="connsiteX141" fmla="*/ 315117 w 784462"/>
                    <a:gd name="connsiteY141" fmla="*/ 127708 h 613927"/>
                    <a:gd name="connsiteX142" fmla="*/ 466419 w 784462"/>
                    <a:gd name="connsiteY142" fmla="*/ 127708 h 613927"/>
                    <a:gd name="connsiteX143" fmla="*/ 509343 w 784462"/>
                    <a:gd name="connsiteY143" fmla="*/ 149528 h 613927"/>
                    <a:gd name="connsiteX144" fmla="*/ 670093 w 784462"/>
                    <a:gd name="connsiteY144" fmla="*/ 395802 h 613927"/>
                    <a:gd name="connsiteX145" fmla="*/ 663692 w 784462"/>
                    <a:gd name="connsiteY145" fmla="*/ 428194 h 613927"/>
                    <a:gd name="connsiteX146" fmla="*/ 655639 w 784462"/>
                    <a:gd name="connsiteY146" fmla="*/ 431616 h 61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784462" h="613927">
                      <a:moveTo>
                        <a:pt x="745496" y="435333"/>
                      </a:moveTo>
                      <a:cubicBezTo>
                        <a:pt x="755467" y="432562"/>
                        <a:pt x="762778" y="424044"/>
                        <a:pt x="764008" y="413769"/>
                      </a:cubicBezTo>
                      <a:lnTo>
                        <a:pt x="784276" y="244885"/>
                      </a:lnTo>
                      <a:cubicBezTo>
                        <a:pt x="785962" y="230886"/>
                        <a:pt x="775981" y="218171"/>
                        <a:pt x="761982" y="216486"/>
                      </a:cubicBezTo>
                      <a:cubicBezTo>
                        <a:pt x="761457" y="216423"/>
                        <a:pt x="760930" y="216376"/>
                        <a:pt x="760401" y="216345"/>
                      </a:cubicBezTo>
                      <a:lnTo>
                        <a:pt x="666554" y="210820"/>
                      </a:lnTo>
                      <a:cubicBezTo>
                        <a:pt x="653165" y="210050"/>
                        <a:pt x="641454" y="219751"/>
                        <a:pt x="639720" y="233049"/>
                      </a:cubicBezTo>
                      <a:lnTo>
                        <a:pt x="633904" y="278140"/>
                      </a:lnTo>
                      <a:lnTo>
                        <a:pt x="619571" y="256191"/>
                      </a:lnTo>
                      <a:lnTo>
                        <a:pt x="622836" y="230875"/>
                      </a:lnTo>
                      <a:cubicBezTo>
                        <a:pt x="625607" y="209647"/>
                        <a:pt x="643688" y="193766"/>
                        <a:pt x="665096" y="193757"/>
                      </a:cubicBezTo>
                      <a:cubicBezTo>
                        <a:pt x="665948" y="193757"/>
                        <a:pt x="666801" y="193757"/>
                        <a:pt x="667654" y="193834"/>
                      </a:cubicBezTo>
                      <a:lnTo>
                        <a:pt x="708191" y="196213"/>
                      </a:lnTo>
                      <a:lnTo>
                        <a:pt x="714049" y="160255"/>
                      </a:lnTo>
                      <a:cubicBezTo>
                        <a:pt x="716291" y="146306"/>
                        <a:pt x="706800" y="133181"/>
                        <a:pt x="692851" y="130939"/>
                      </a:cubicBezTo>
                      <a:cubicBezTo>
                        <a:pt x="692085" y="130817"/>
                        <a:pt x="691314" y="130728"/>
                        <a:pt x="690540" y="130675"/>
                      </a:cubicBezTo>
                      <a:lnTo>
                        <a:pt x="614233" y="125559"/>
                      </a:lnTo>
                      <a:cubicBezTo>
                        <a:pt x="601019" y="124699"/>
                        <a:pt x="589334" y="134065"/>
                        <a:pt x="587296" y="147149"/>
                      </a:cubicBezTo>
                      <a:lnTo>
                        <a:pt x="579827" y="195232"/>
                      </a:lnTo>
                      <a:lnTo>
                        <a:pt x="565894" y="173915"/>
                      </a:lnTo>
                      <a:lnTo>
                        <a:pt x="570413" y="144599"/>
                      </a:lnTo>
                      <a:cubicBezTo>
                        <a:pt x="573523" y="123796"/>
                        <a:pt x="591433" y="108431"/>
                        <a:pt x="612468" y="108522"/>
                      </a:cubicBezTo>
                      <a:cubicBezTo>
                        <a:pt x="613406" y="108522"/>
                        <a:pt x="614361" y="108522"/>
                        <a:pt x="615316" y="108624"/>
                      </a:cubicBezTo>
                      <a:lnTo>
                        <a:pt x="632148" y="109741"/>
                      </a:lnTo>
                      <a:lnTo>
                        <a:pt x="634800" y="85866"/>
                      </a:lnTo>
                      <a:cubicBezTo>
                        <a:pt x="636340" y="71822"/>
                        <a:pt x="626205" y="59189"/>
                        <a:pt x="612162" y="57648"/>
                      </a:cubicBezTo>
                      <a:cubicBezTo>
                        <a:pt x="611901" y="57619"/>
                        <a:pt x="611639" y="57594"/>
                        <a:pt x="611376" y="57574"/>
                      </a:cubicBezTo>
                      <a:lnTo>
                        <a:pt x="551807" y="52995"/>
                      </a:lnTo>
                      <a:cubicBezTo>
                        <a:pt x="538011" y="51930"/>
                        <a:pt x="525869" y="62028"/>
                        <a:pt x="524402" y="75787"/>
                      </a:cubicBezTo>
                      <a:lnTo>
                        <a:pt x="520539" y="112504"/>
                      </a:lnTo>
                      <a:cubicBezTo>
                        <a:pt x="505125" y="100272"/>
                        <a:pt x="486019" y="93630"/>
                        <a:pt x="466342" y="93660"/>
                      </a:cubicBezTo>
                      <a:lnTo>
                        <a:pt x="458898" y="93660"/>
                      </a:lnTo>
                      <a:lnTo>
                        <a:pt x="458898" y="33971"/>
                      </a:lnTo>
                      <a:cubicBezTo>
                        <a:pt x="458891" y="27797"/>
                        <a:pt x="456438" y="21877"/>
                        <a:pt x="452076" y="17506"/>
                      </a:cubicBezTo>
                      <a:cubicBezTo>
                        <a:pt x="448944" y="14878"/>
                        <a:pt x="445445" y="12720"/>
                        <a:pt x="441691" y="11102"/>
                      </a:cubicBezTo>
                      <a:cubicBezTo>
                        <a:pt x="410264" y="-3551"/>
                        <a:pt x="373997" y="-3706"/>
                        <a:pt x="342446" y="10676"/>
                      </a:cubicBezTo>
                      <a:cubicBezTo>
                        <a:pt x="338067" y="12421"/>
                        <a:pt x="333927" y="14713"/>
                        <a:pt x="330124" y="17497"/>
                      </a:cubicBezTo>
                      <a:cubicBezTo>
                        <a:pt x="325763" y="21868"/>
                        <a:pt x="323310" y="27788"/>
                        <a:pt x="323303" y="33963"/>
                      </a:cubicBezTo>
                      <a:lnTo>
                        <a:pt x="323303" y="93651"/>
                      </a:lnTo>
                      <a:lnTo>
                        <a:pt x="315100" y="93651"/>
                      </a:lnTo>
                      <a:cubicBezTo>
                        <a:pt x="296624" y="93630"/>
                        <a:pt x="278618" y="99479"/>
                        <a:pt x="263683" y="110355"/>
                      </a:cubicBezTo>
                      <a:lnTo>
                        <a:pt x="260067" y="75787"/>
                      </a:lnTo>
                      <a:cubicBezTo>
                        <a:pt x="258601" y="62050"/>
                        <a:pt x="246490" y="51959"/>
                        <a:pt x="232713" y="52995"/>
                      </a:cubicBezTo>
                      <a:lnTo>
                        <a:pt x="173144" y="57574"/>
                      </a:lnTo>
                      <a:cubicBezTo>
                        <a:pt x="159059" y="58681"/>
                        <a:pt x="148539" y="70996"/>
                        <a:pt x="149646" y="85081"/>
                      </a:cubicBezTo>
                      <a:cubicBezTo>
                        <a:pt x="149667" y="85343"/>
                        <a:pt x="149691" y="85604"/>
                        <a:pt x="149720" y="85866"/>
                      </a:cubicBezTo>
                      <a:lnTo>
                        <a:pt x="152372" y="109741"/>
                      </a:lnTo>
                      <a:lnTo>
                        <a:pt x="169204" y="108624"/>
                      </a:lnTo>
                      <a:cubicBezTo>
                        <a:pt x="170159" y="108556"/>
                        <a:pt x="171114" y="108522"/>
                        <a:pt x="172052" y="108522"/>
                      </a:cubicBezTo>
                      <a:cubicBezTo>
                        <a:pt x="193086" y="108427"/>
                        <a:pt x="210997" y="123796"/>
                        <a:pt x="214099" y="144599"/>
                      </a:cubicBezTo>
                      <a:lnTo>
                        <a:pt x="218064" y="170231"/>
                      </a:lnTo>
                      <a:lnTo>
                        <a:pt x="204131" y="191549"/>
                      </a:lnTo>
                      <a:lnTo>
                        <a:pt x="197309" y="147158"/>
                      </a:lnTo>
                      <a:cubicBezTo>
                        <a:pt x="195271" y="134074"/>
                        <a:pt x="183586" y="124708"/>
                        <a:pt x="170373" y="125567"/>
                      </a:cubicBezTo>
                      <a:lnTo>
                        <a:pt x="94065" y="130684"/>
                      </a:lnTo>
                      <a:cubicBezTo>
                        <a:pt x="79970" y="131649"/>
                        <a:pt x="69327" y="143858"/>
                        <a:pt x="70292" y="157953"/>
                      </a:cubicBezTo>
                      <a:cubicBezTo>
                        <a:pt x="70345" y="158726"/>
                        <a:pt x="70434" y="159498"/>
                        <a:pt x="70557" y="160263"/>
                      </a:cubicBezTo>
                      <a:lnTo>
                        <a:pt x="76415" y="196221"/>
                      </a:lnTo>
                      <a:lnTo>
                        <a:pt x="116951" y="193842"/>
                      </a:lnTo>
                      <a:cubicBezTo>
                        <a:pt x="117804" y="193791"/>
                        <a:pt x="118657" y="193766"/>
                        <a:pt x="119510" y="193766"/>
                      </a:cubicBezTo>
                      <a:cubicBezTo>
                        <a:pt x="140891" y="193808"/>
                        <a:pt x="158934" y="209682"/>
                        <a:pt x="161701" y="230883"/>
                      </a:cubicBezTo>
                      <a:lnTo>
                        <a:pt x="164481" y="252465"/>
                      </a:lnTo>
                      <a:lnTo>
                        <a:pt x="150070" y="274422"/>
                      </a:lnTo>
                      <a:lnTo>
                        <a:pt x="144732" y="233049"/>
                      </a:lnTo>
                      <a:cubicBezTo>
                        <a:pt x="142998" y="219751"/>
                        <a:pt x="131287" y="210050"/>
                        <a:pt x="117898" y="210820"/>
                      </a:cubicBezTo>
                      <a:lnTo>
                        <a:pt x="24059" y="216345"/>
                      </a:lnTo>
                      <a:cubicBezTo>
                        <a:pt x="9983" y="217158"/>
                        <a:pt x="-769" y="229227"/>
                        <a:pt x="43" y="243303"/>
                      </a:cubicBezTo>
                      <a:cubicBezTo>
                        <a:pt x="74" y="243831"/>
                        <a:pt x="121" y="244359"/>
                        <a:pt x="184" y="244885"/>
                      </a:cubicBezTo>
                      <a:lnTo>
                        <a:pt x="20461" y="413769"/>
                      </a:lnTo>
                      <a:cubicBezTo>
                        <a:pt x="21691" y="424047"/>
                        <a:pt x="29007" y="432565"/>
                        <a:pt x="38981" y="435333"/>
                      </a:cubicBezTo>
                      <a:lnTo>
                        <a:pt x="74419" y="445182"/>
                      </a:lnTo>
                      <a:lnTo>
                        <a:pt x="74419" y="480995"/>
                      </a:lnTo>
                      <a:lnTo>
                        <a:pt x="44643" y="480995"/>
                      </a:lnTo>
                      <a:cubicBezTo>
                        <a:pt x="28204" y="481023"/>
                        <a:pt x="14883" y="494340"/>
                        <a:pt x="14850" y="510779"/>
                      </a:cubicBezTo>
                      <a:lnTo>
                        <a:pt x="14850" y="516646"/>
                      </a:lnTo>
                      <a:cubicBezTo>
                        <a:pt x="8620" y="523710"/>
                        <a:pt x="9297" y="534487"/>
                        <a:pt x="16360" y="540717"/>
                      </a:cubicBezTo>
                      <a:cubicBezTo>
                        <a:pt x="23424" y="546946"/>
                        <a:pt x="34201" y="546270"/>
                        <a:pt x="40431" y="539206"/>
                      </a:cubicBezTo>
                      <a:cubicBezTo>
                        <a:pt x="46116" y="532760"/>
                        <a:pt x="46116" y="523091"/>
                        <a:pt x="40431" y="516646"/>
                      </a:cubicBezTo>
                      <a:lnTo>
                        <a:pt x="40431" y="510779"/>
                      </a:lnTo>
                      <a:cubicBezTo>
                        <a:pt x="40431" y="508425"/>
                        <a:pt x="42340" y="506516"/>
                        <a:pt x="44694" y="506516"/>
                      </a:cubicBezTo>
                      <a:lnTo>
                        <a:pt x="74436" y="506516"/>
                      </a:lnTo>
                      <a:lnTo>
                        <a:pt x="74436" y="516637"/>
                      </a:lnTo>
                      <a:cubicBezTo>
                        <a:pt x="68193" y="523689"/>
                        <a:pt x="68849" y="534467"/>
                        <a:pt x="75901" y="540711"/>
                      </a:cubicBezTo>
                      <a:cubicBezTo>
                        <a:pt x="82953" y="546954"/>
                        <a:pt x="93731" y="546298"/>
                        <a:pt x="99974" y="539246"/>
                      </a:cubicBezTo>
                      <a:cubicBezTo>
                        <a:pt x="105687" y="532792"/>
                        <a:pt x="105687" y="523091"/>
                        <a:pt x="99974" y="516637"/>
                      </a:cubicBezTo>
                      <a:lnTo>
                        <a:pt x="99974" y="506516"/>
                      </a:lnTo>
                      <a:lnTo>
                        <a:pt x="129767" y="506516"/>
                      </a:lnTo>
                      <a:cubicBezTo>
                        <a:pt x="132122" y="506516"/>
                        <a:pt x="134031" y="508425"/>
                        <a:pt x="134031" y="510779"/>
                      </a:cubicBezTo>
                      <a:lnTo>
                        <a:pt x="134031" y="516646"/>
                      </a:lnTo>
                      <a:cubicBezTo>
                        <a:pt x="127801" y="523710"/>
                        <a:pt x="128477" y="534487"/>
                        <a:pt x="135541" y="540717"/>
                      </a:cubicBezTo>
                      <a:cubicBezTo>
                        <a:pt x="142606" y="546946"/>
                        <a:pt x="153382" y="546270"/>
                        <a:pt x="159612" y="539206"/>
                      </a:cubicBezTo>
                      <a:cubicBezTo>
                        <a:pt x="165297" y="532760"/>
                        <a:pt x="165297" y="523091"/>
                        <a:pt x="159612" y="516646"/>
                      </a:cubicBezTo>
                      <a:lnTo>
                        <a:pt x="159612" y="510779"/>
                      </a:lnTo>
                      <a:cubicBezTo>
                        <a:pt x="159583" y="494337"/>
                        <a:pt x="146261" y="481015"/>
                        <a:pt x="129819" y="480986"/>
                      </a:cubicBezTo>
                      <a:lnTo>
                        <a:pt x="99974" y="480986"/>
                      </a:lnTo>
                      <a:lnTo>
                        <a:pt x="99974" y="456830"/>
                      </a:lnTo>
                      <a:cubicBezTo>
                        <a:pt x="105266" y="460293"/>
                        <a:pt x="111070" y="462902"/>
                        <a:pt x="117173" y="464564"/>
                      </a:cubicBezTo>
                      <a:lnTo>
                        <a:pt x="172052" y="479230"/>
                      </a:lnTo>
                      <a:cubicBezTo>
                        <a:pt x="199287" y="486501"/>
                        <a:pt x="226812" y="492393"/>
                        <a:pt x="254627" y="496906"/>
                      </a:cubicBezTo>
                      <a:lnTo>
                        <a:pt x="254627" y="576104"/>
                      </a:lnTo>
                      <a:cubicBezTo>
                        <a:pt x="254665" y="587801"/>
                        <a:pt x="262630" y="597982"/>
                        <a:pt x="273975" y="600832"/>
                      </a:cubicBezTo>
                      <a:lnTo>
                        <a:pt x="286808" y="604038"/>
                      </a:lnTo>
                      <a:cubicBezTo>
                        <a:pt x="355399" y="617749"/>
                        <a:pt x="426078" y="617197"/>
                        <a:pt x="494447" y="602418"/>
                      </a:cubicBezTo>
                      <a:lnTo>
                        <a:pt x="499563" y="601054"/>
                      </a:lnTo>
                      <a:cubicBezTo>
                        <a:pt x="510715" y="598068"/>
                        <a:pt x="518485" y="587981"/>
                        <a:pt x="518527" y="576437"/>
                      </a:cubicBezTo>
                      <a:lnTo>
                        <a:pt x="518527" y="498117"/>
                      </a:lnTo>
                      <a:cubicBezTo>
                        <a:pt x="548744" y="493526"/>
                        <a:pt x="578692" y="487307"/>
                        <a:pt x="608238" y="479486"/>
                      </a:cubicBezTo>
                      <a:lnTo>
                        <a:pt x="664388" y="464546"/>
                      </a:lnTo>
                      <a:cubicBezTo>
                        <a:pt x="671646" y="462607"/>
                        <a:pt x="678475" y="459321"/>
                        <a:pt x="684520" y="454860"/>
                      </a:cubicBezTo>
                      <a:lnTo>
                        <a:pt x="684520" y="480986"/>
                      </a:lnTo>
                      <a:lnTo>
                        <a:pt x="654727" y="480986"/>
                      </a:lnTo>
                      <a:cubicBezTo>
                        <a:pt x="638285" y="481015"/>
                        <a:pt x="624962" y="494337"/>
                        <a:pt x="624934" y="510779"/>
                      </a:cubicBezTo>
                      <a:lnTo>
                        <a:pt x="624934" y="516646"/>
                      </a:lnTo>
                      <a:cubicBezTo>
                        <a:pt x="618691" y="523698"/>
                        <a:pt x="619347" y="534476"/>
                        <a:pt x="626399" y="540719"/>
                      </a:cubicBezTo>
                      <a:cubicBezTo>
                        <a:pt x="633451" y="546963"/>
                        <a:pt x="644229" y="546307"/>
                        <a:pt x="650472" y="539254"/>
                      </a:cubicBezTo>
                      <a:cubicBezTo>
                        <a:pt x="656185" y="532801"/>
                        <a:pt x="656185" y="523099"/>
                        <a:pt x="650472" y="516646"/>
                      </a:cubicBezTo>
                      <a:lnTo>
                        <a:pt x="650472" y="510779"/>
                      </a:lnTo>
                      <a:cubicBezTo>
                        <a:pt x="650472" y="508425"/>
                        <a:pt x="652381" y="506516"/>
                        <a:pt x="654736" y="506516"/>
                      </a:cubicBezTo>
                      <a:lnTo>
                        <a:pt x="684529" y="506516"/>
                      </a:lnTo>
                      <a:lnTo>
                        <a:pt x="684529" y="516637"/>
                      </a:lnTo>
                      <a:cubicBezTo>
                        <a:pt x="678285" y="523689"/>
                        <a:pt x="678941" y="534467"/>
                        <a:pt x="685994" y="540711"/>
                      </a:cubicBezTo>
                      <a:cubicBezTo>
                        <a:pt x="693045" y="546954"/>
                        <a:pt x="703823" y="546298"/>
                        <a:pt x="710067" y="539246"/>
                      </a:cubicBezTo>
                      <a:cubicBezTo>
                        <a:pt x="715780" y="532792"/>
                        <a:pt x="715780" y="523091"/>
                        <a:pt x="710067" y="516637"/>
                      </a:cubicBezTo>
                      <a:lnTo>
                        <a:pt x="710067" y="506516"/>
                      </a:lnTo>
                      <a:lnTo>
                        <a:pt x="739860" y="506516"/>
                      </a:lnTo>
                      <a:cubicBezTo>
                        <a:pt x="742214" y="506516"/>
                        <a:pt x="744123" y="508425"/>
                        <a:pt x="744123" y="510779"/>
                      </a:cubicBezTo>
                      <a:lnTo>
                        <a:pt x="744123" y="516646"/>
                      </a:lnTo>
                      <a:cubicBezTo>
                        <a:pt x="737893" y="523710"/>
                        <a:pt x="738570" y="534487"/>
                        <a:pt x="745633" y="540717"/>
                      </a:cubicBezTo>
                      <a:cubicBezTo>
                        <a:pt x="752698" y="546946"/>
                        <a:pt x="763474" y="546270"/>
                        <a:pt x="769704" y="539206"/>
                      </a:cubicBezTo>
                      <a:cubicBezTo>
                        <a:pt x="775389" y="532760"/>
                        <a:pt x="775389" y="523091"/>
                        <a:pt x="769704" y="516646"/>
                      </a:cubicBezTo>
                      <a:lnTo>
                        <a:pt x="769704" y="510779"/>
                      </a:lnTo>
                      <a:cubicBezTo>
                        <a:pt x="769676" y="494316"/>
                        <a:pt x="756323" y="480986"/>
                        <a:pt x="739860" y="480986"/>
                      </a:cubicBezTo>
                      <a:lnTo>
                        <a:pt x="710058" y="480986"/>
                      </a:lnTo>
                      <a:lnTo>
                        <a:pt x="710058" y="445173"/>
                      </a:lnTo>
                      <a:close/>
                      <a:moveTo>
                        <a:pt x="599481" y="446580"/>
                      </a:moveTo>
                      <a:cubicBezTo>
                        <a:pt x="531343" y="464701"/>
                        <a:pt x="461137" y="473873"/>
                        <a:pt x="390631" y="473866"/>
                      </a:cubicBezTo>
                      <a:cubicBezTo>
                        <a:pt x="319809" y="473860"/>
                        <a:pt x="249291" y="464598"/>
                        <a:pt x="180869" y="446316"/>
                      </a:cubicBezTo>
                      <a:lnTo>
                        <a:pt x="125990" y="431650"/>
                      </a:lnTo>
                      <a:cubicBezTo>
                        <a:pt x="113387" y="428904"/>
                        <a:pt x="105396" y="416461"/>
                        <a:pt x="108141" y="403859"/>
                      </a:cubicBezTo>
                      <a:cubicBezTo>
                        <a:pt x="108766" y="400994"/>
                        <a:pt x="109923" y="398273"/>
                        <a:pt x="111554" y="395837"/>
                      </a:cubicBezTo>
                      <a:lnTo>
                        <a:pt x="272193" y="149545"/>
                      </a:lnTo>
                      <a:cubicBezTo>
                        <a:pt x="282073" y="135690"/>
                        <a:pt x="298100" y="127535"/>
                        <a:pt x="315117" y="127708"/>
                      </a:cubicBezTo>
                      <a:lnTo>
                        <a:pt x="466419" y="127708"/>
                      </a:lnTo>
                      <a:cubicBezTo>
                        <a:pt x="483432" y="127536"/>
                        <a:pt x="499456" y="135682"/>
                        <a:pt x="509343" y="149528"/>
                      </a:cubicBezTo>
                      <a:lnTo>
                        <a:pt x="670093" y="395802"/>
                      </a:lnTo>
                      <a:cubicBezTo>
                        <a:pt x="677270" y="406514"/>
                        <a:pt x="674405" y="421017"/>
                        <a:pt x="663692" y="428194"/>
                      </a:cubicBezTo>
                      <a:cubicBezTo>
                        <a:pt x="661248" y="429832"/>
                        <a:pt x="658516" y="430992"/>
                        <a:pt x="655639" y="431616"/>
                      </a:cubicBezTo>
                      <a:close/>
                    </a:path>
                  </a:pathLst>
                </a:custGeom>
                <a:solidFill>
                  <a:srgbClr val="000000"/>
                </a:solidFill>
                <a:ln w="8434" cap="flat">
                  <a:solidFill>
                    <a:srgbClr val="000000"/>
                  </a:solid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44" name="Down Arrow Callout 60">
              <a:extLst>
                <a:ext uri="{FF2B5EF4-FFF2-40B4-BE49-F238E27FC236}">
                  <a16:creationId xmlns:a16="http://schemas.microsoft.com/office/drawing/2014/main" id="{F46B4D2A-6315-D077-7B4F-E301A37A5B70}"/>
                </a:ext>
              </a:extLst>
            </p:cNvPr>
            <p:cNvSpPr/>
            <p:nvPr/>
          </p:nvSpPr>
          <p:spPr bwMode="auto">
            <a:xfrm>
              <a:off x="3854196" y="2474885"/>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Financial Analysis</a:t>
              </a:r>
            </a:p>
          </p:txBody>
        </p:sp>
        <p:grpSp>
          <p:nvGrpSpPr>
            <p:cNvPr id="73" name="Group 72">
              <a:extLst>
                <a:ext uri="{FF2B5EF4-FFF2-40B4-BE49-F238E27FC236}">
                  <a16:creationId xmlns:a16="http://schemas.microsoft.com/office/drawing/2014/main" id="{C6F9E5CB-8A71-13B4-A4AD-09BC29DAB121}"/>
                </a:ext>
              </a:extLst>
            </p:cNvPr>
            <p:cNvGrpSpPr/>
            <p:nvPr/>
          </p:nvGrpSpPr>
          <p:grpSpPr>
            <a:xfrm>
              <a:off x="3848853" y="695161"/>
              <a:ext cx="1435608" cy="1645920"/>
              <a:chOff x="4614673" y="998939"/>
              <a:chExt cx="1261872" cy="1497294"/>
            </a:xfrm>
          </p:grpSpPr>
          <p:sp>
            <p:nvSpPr>
              <p:cNvPr id="42" name="Rectangle 41">
                <a:extLst>
                  <a:ext uri="{FF2B5EF4-FFF2-40B4-BE49-F238E27FC236}">
                    <a16:creationId xmlns:a16="http://schemas.microsoft.com/office/drawing/2014/main" id="{100718DC-A477-2D76-4905-F7FEDB2C6DC7}"/>
                  </a:ext>
                </a:extLst>
              </p:cNvPr>
              <p:cNvSpPr/>
              <p:nvPr/>
            </p:nvSpPr>
            <p:spPr bwMode="auto">
              <a:xfrm>
                <a:off x="4614673"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4" name="Group 63">
                <a:extLst>
                  <a:ext uri="{FF2B5EF4-FFF2-40B4-BE49-F238E27FC236}">
                    <a16:creationId xmlns:a16="http://schemas.microsoft.com/office/drawing/2014/main" id="{884CDD30-06B4-D5E5-8901-99287E6B0FA9}"/>
                  </a:ext>
                </a:extLst>
              </p:cNvPr>
              <p:cNvGrpSpPr/>
              <p:nvPr/>
            </p:nvGrpSpPr>
            <p:grpSpPr>
              <a:xfrm>
                <a:off x="4674035" y="1176086"/>
                <a:ext cx="1143149" cy="1143000"/>
                <a:chOff x="4674035" y="1142389"/>
                <a:chExt cx="1143149" cy="1143000"/>
              </a:xfrm>
            </p:grpSpPr>
            <p:sp>
              <p:nvSpPr>
                <p:cNvPr id="43" name="Oval 42">
                  <a:extLst>
                    <a:ext uri="{FF2B5EF4-FFF2-40B4-BE49-F238E27FC236}">
                      <a16:creationId xmlns:a16="http://schemas.microsoft.com/office/drawing/2014/main" id="{E0B2A5E7-A9CD-C9C4-4C0C-CCB3A4B99893}"/>
                    </a:ext>
                  </a:extLst>
                </p:cNvPr>
                <p:cNvSpPr/>
                <p:nvPr/>
              </p:nvSpPr>
              <p:spPr bwMode="auto">
                <a:xfrm>
                  <a:off x="4674035" y="1142389"/>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45" name="Picture 18" descr="Related image">
                  <a:extLst>
                    <a:ext uri="{FF2B5EF4-FFF2-40B4-BE49-F238E27FC236}">
                      <a16:creationId xmlns:a16="http://schemas.microsoft.com/office/drawing/2014/main" id="{BA176DF9-933E-76F6-3710-1A5A6DB55E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93" y="1353410"/>
                  <a:ext cx="713232" cy="720959"/>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sp>
          <p:nvSpPr>
            <p:cNvPr id="49" name="Down Arrow Callout 69">
              <a:extLst>
                <a:ext uri="{FF2B5EF4-FFF2-40B4-BE49-F238E27FC236}">
                  <a16:creationId xmlns:a16="http://schemas.microsoft.com/office/drawing/2014/main" id="{3D6887DF-2D41-4839-0365-7E2648C2D955}"/>
                </a:ext>
              </a:extLst>
            </p:cNvPr>
            <p:cNvSpPr/>
            <p:nvPr/>
          </p:nvSpPr>
          <p:spPr bwMode="auto">
            <a:xfrm>
              <a:off x="5433880"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Valuation</a:t>
              </a:r>
            </a:p>
          </p:txBody>
        </p:sp>
        <p:grpSp>
          <p:nvGrpSpPr>
            <p:cNvPr id="69" name="Group 68">
              <a:extLst>
                <a:ext uri="{FF2B5EF4-FFF2-40B4-BE49-F238E27FC236}">
                  <a16:creationId xmlns:a16="http://schemas.microsoft.com/office/drawing/2014/main" id="{59A0CE8C-FFE6-FD50-5BEF-29BAD7B4B2CD}"/>
                </a:ext>
              </a:extLst>
            </p:cNvPr>
            <p:cNvGrpSpPr/>
            <p:nvPr/>
          </p:nvGrpSpPr>
          <p:grpSpPr>
            <a:xfrm>
              <a:off x="5433880" y="695162"/>
              <a:ext cx="1435608" cy="1645920"/>
              <a:chOff x="6031705" y="998939"/>
              <a:chExt cx="1261872" cy="1497294"/>
            </a:xfrm>
          </p:grpSpPr>
          <p:sp>
            <p:nvSpPr>
              <p:cNvPr id="47" name="Rectangle 46">
                <a:extLst>
                  <a:ext uri="{FF2B5EF4-FFF2-40B4-BE49-F238E27FC236}">
                    <a16:creationId xmlns:a16="http://schemas.microsoft.com/office/drawing/2014/main" id="{BBE48237-1317-59C1-A257-E9DF674B472E}"/>
                  </a:ext>
                </a:extLst>
              </p:cNvPr>
              <p:cNvSpPr/>
              <p:nvPr/>
            </p:nvSpPr>
            <p:spPr bwMode="auto">
              <a:xfrm>
                <a:off x="6031705"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5" name="Group 64">
                <a:extLst>
                  <a:ext uri="{FF2B5EF4-FFF2-40B4-BE49-F238E27FC236}">
                    <a16:creationId xmlns:a16="http://schemas.microsoft.com/office/drawing/2014/main" id="{9B96EFAD-9C30-6FC0-982F-6F126D64983E}"/>
                  </a:ext>
                </a:extLst>
              </p:cNvPr>
              <p:cNvGrpSpPr/>
              <p:nvPr/>
            </p:nvGrpSpPr>
            <p:grpSpPr>
              <a:xfrm>
                <a:off x="6091067" y="1176086"/>
                <a:ext cx="1143149" cy="1143000"/>
                <a:chOff x="6091067" y="1176086"/>
                <a:chExt cx="1143149" cy="1143000"/>
              </a:xfrm>
            </p:grpSpPr>
            <p:sp>
              <p:nvSpPr>
                <p:cNvPr id="48" name="Oval 47">
                  <a:extLst>
                    <a:ext uri="{FF2B5EF4-FFF2-40B4-BE49-F238E27FC236}">
                      <a16:creationId xmlns:a16="http://schemas.microsoft.com/office/drawing/2014/main" id="{2AECAA19-4F8B-7AD3-5F73-1CF68EFF4C89}"/>
                    </a:ext>
                  </a:extLst>
                </p:cNvPr>
                <p:cNvSpPr/>
                <p:nvPr/>
              </p:nvSpPr>
              <p:spPr bwMode="auto">
                <a:xfrm>
                  <a:off x="6091067" y="1176086"/>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2" name="Graphic 11" descr="Dollar with solid fill">
                  <a:extLst>
                    <a:ext uri="{FF2B5EF4-FFF2-40B4-BE49-F238E27FC236}">
                      <a16:creationId xmlns:a16="http://schemas.microsoft.com/office/drawing/2014/main" id="{E1A801A3-7017-9D4A-140E-A667BE428CF8}"/>
                    </a:ext>
                  </a:extLst>
                </p:cNvPr>
                <p:cNvSpPr/>
                <p:nvPr/>
              </p:nvSpPr>
              <p:spPr>
                <a:xfrm>
                  <a:off x="6497831" y="1441262"/>
                  <a:ext cx="329621" cy="612648"/>
                </a:xfrm>
                <a:custGeom>
                  <a:avLst/>
                  <a:gdLst>
                    <a:gd name="connsiteX0" fmla="*/ 284667 w 329621"/>
                    <a:gd name="connsiteY0" fmla="*/ 371951 h 710840"/>
                    <a:gd name="connsiteX1" fmla="*/ 186058 w 329621"/>
                    <a:gd name="connsiteY1" fmla="*/ 326243 h 710840"/>
                    <a:gd name="connsiteX2" fmla="*/ 186058 w 329621"/>
                    <a:gd name="connsiteY2" fmla="*/ 126381 h 710840"/>
                    <a:gd name="connsiteX3" fmla="*/ 274169 w 329621"/>
                    <a:gd name="connsiteY3" fmla="*/ 168287 h 710840"/>
                    <a:gd name="connsiteX4" fmla="*/ 313844 w 329621"/>
                    <a:gd name="connsiteY4" fmla="*/ 130266 h 710840"/>
                    <a:gd name="connsiteX5" fmla="*/ 186058 w 329621"/>
                    <a:gd name="connsiteY5" fmla="*/ 71828 h 710840"/>
                    <a:gd name="connsiteX6" fmla="*/ 186058 w 329621"/>
                    <a:gd name="connsiteY6" fmla="*/ 0 h 710840"/>
                    <a:gd name="connsiteX7" fmla="*/ 136465 w 329621"/>
                    <a:gd name="connsiteY7" fmla="*/ 0 h 710840"/>
                    <a:gd name="connsiteX8" fmla="*/ 136465 w 329621"/>
                    <a:gd name="connsiteY8" fmla="*/ 74969 h 710840"/>
                    <a:gd name="connsiteX9" fmla="*/ 87863 w 329621"/>
                    <a:gd name="connsiteY9" fmla="*/ 92327 h 710840"/>
                    <a:gd name="connsiteX10" fmla="*/ 18928 w 329621"/>
                    <a:gd name="connsiteY10" fmla="*/ 274169 h 710840"/>
                    <a:gd name="connsiteX11" fmla="*/ 136465 w 329621"/>
                    <a:gd name="connsiteY11" fmla="*/ 366909 h 710840"/>
                    <a:gd name="connsiteX12" fmla="*/ 136465 w 329621"/>
                    <a:gd name="connsiteY12" fmla="*/ 583302 h 710840"/>
                    <a:gd name="connsiteX13" fmla="*/ 39675 w 329621"/>
                    <a:gd name="connsiteY13" fmla="*/ 528997 h 710840"/>
                    <a:gd name="connsiteX14" fmla="*/ 0 w 329621"/>
                    <a:gd name="connsiteY14" fmla="*/ 566936 h 710840"/>
                    <a:gd name="connsiteX15" fmla="*/ 66538 w 329621"/>
                    <a:gd name="connsiteY15" fmla="*/ 619919 h 710840"/>
                    <a:gd name="connsiteX16" fmla="*/ 136465 w 329621"/>
                    <a:gd name="connsiteY16" fmla="*/ 638351 h 710840"/>
                    <a:gd name="connsiteX17" fmla="*/ 136465 w 329621"/>
                    <a:gd name="connsiteY17" fmla="*/ 710840 h 710840"/>
                    <a:gd name="connsiteX18" fmla="*/ 186058 w 329621"/>
                    <a:gd name="connsiteY18" fmla="*/ 710840 h 710840"/>
                    <a:gd name="connsiteX19" fmla="*/ 186058 w 329621"/>
                    <a:gd name="connsiteY19" fmla="*/ 636450 h 710840"/>
                    <a:gd name="connsiteX20" fmla="*/ 317646 w 329621"/>
                    <a:gd name="connsiteY20" fmla="*/ 537263 h 710840"/>
                    <a:gd name="connsiteX21" fmla="*/ 284667 w 329621"/>
                    <a:gd name="connsiteY21" fmla="*/ 371951 h 710840"/>
                    <a:gd name="connsiteX22" fmla="*/ 95137 w 329621"/>
                    <a:gd name="connsiteY22" fmla="*/ 287064 h 710840"/>
                    <a:gd name="connsiteX23" fmla="*/ 108940 w 329621"/>
                    <a:gd name="connsiteY23" fmla="*/ 143738 h 710840"/>
                    <a:gd name="connsiteX24" fmla="*/ 136465 w 329621"/>
                    <a:gd name="connsiteY24" fmla="*/ 131092 h 710840"/>
                    <a:gd name="connsiteX25" fmla="*/ 136465 w 329621"/>
                    <a:gd name="connsiteY25" fmla="*/ 310373 h 710840"/>
                    <a:gd name="connsiteX26" fmla="*/ 95137 w 329621"/>
                    <a:gd name="connsiteY26" fmla="*/ 287064 h 710840"/>
                    <a:gd name="connsiteX27" fmla="*/ 244661 w 329621"/>
                    <a:gd name="connsiteY27" fmla="*/ 550075 h 710840"/>
                    <a:gd name="connsiteX28" fmla="*/ 186058 w 329621"/>
                    <a:gd name="connsiteY28" fmla="*/ 581071 h 710840"/>
                    <a:gd name="connsiteX29" fmla="*/ 186058 w 329621"/>
                    <a:gd name="connsiteY29" fmla="*/ 383606 h 710840"/>
                    <a:gd name="connsiteX30" fmla="*/ 270533 w 329621"/>
                    <a:gd name="connsiteY30" fmla="*/ 444523 h 710840"/>
                    <a:gd name="connsiteX31" fmla="*/ 244661 w 329621"/>
                    <a:gd name="connsiteY31" fmla="*/ 550075 h 71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9621" h="710840">
                      <a:moveTo>
                        <a:pt x="284667" y="371951"/>
                      </a:moveTo>
                      <a:cubicBezTo>
                        <a:pt x="256729" y="348146"/>
                        <a:pt x="220443" y="336988"/>
                        <a:pt x="186058" y="326243"/>
                      </a:cubicBezTo>
                      <a:lnTo>
                        <a:pt x="186058" y="126381"/>
                      </a:lnTo>
                      <a:cubicBezTo>
                        <a:pt x="219443" y="129553"/>
                        <a:pt x="250641" y="144391"/>
                        <a:pt x="274169" y="168287"/>
                      </a:cubicBezTo>
                      <a:lnTo>
                        <a:pt x="313844" y="130266"/>
                      </a:lnTo>
                      <a:cubicBezTo>
                        <a:pt x="279891" y="95726"/>
                        <a:pt x="234393" y="74919"/>
                        <a:pt x="186058" y="71828"/>
                      </a:cubicBezTo>
                      <a:lnTo>
                        <a:pt x="186058" y="0"/>
                      </a:lnTo>
                      <a:lnTo>
                        <a:pt x="136465" y="0"/>
                      </a:lnTo>
                      <a:lnTo>
                        <a:pt x="136465" y="74969"/>
                      </a:lnTo>
                      <a:cubicBezTo>
                        <a:pt x="119482" y="78274"/>
                        <a:pt x="103097" y="84126"/>
                        <a:pt x="87863" y="92327"/>
                      </a:cubicBezTo>
                      <a:cubicBezTo>
                        <a:pt x="25210" y="126463"/>
                        <a:pt x="-6778" y="206640"/>
                        <a:pt x="18928" y="274169"/>
                      </a:cubicBezTo>
                      <a:cubicBezTo>
                        <a:pt x="38848" y="326243"/>
                        <a:pt x="86871" y="349469"/>
                        <a:pt x="136465" y="366909"/>
                      </a:cubicBezTo>
                      <a:lnTo>
                        <a:pt x="136465" y="583302"/>
                      </a:lnTo>
                      <a:cubicBezTo>
                        <a:pt x="98030" y="578591"/>
                        <a:pt x="66125" y="556522"/>
                        <a:pt x="39675" y="528997"/>
                      </a:cubicBezTo>
                      <a:lnTo>
                        <a:pt x="0" y="566936"/>
                      </a:lnTo>
                      <a:cubicBezTo>
                        <a:pt x="18891" y="588372"/>
                        <a:pt x="41416" y="606309"/>
                        <a:pt x="66538" y="619919"/>
                      </a:cubicBezTo>
                      <a:cubicBezTo>
                        <a:pt x="88495" y="630364"/>
                        <a:pt x="112211" y="636615"/>
                        <a:pt x="136465" y="638351"/>
                      </a:cubicBezTo>
                      <a:lnTo>
                        <a:pt x="136465" y="710840"/>
                      </a:lnTo>
                      <a:lnTo>
                        <a:pt x="186058" y="710840"/>
                      </a:lnTo>
                      <a:lnTo>
                        <a:pt x="186058" y="636450"/>
                      </a:lnTo>
                      <a:cubicBezTo>
                        <a:pt x="242926" y="626945"/>
                        <a:pt x="295164" y="591981"/>
                        <a:pt x="317646" y="537263"/>
                      </a:cubicBezTo>
                      <a:cubicBezTo>
                        <a:pt x="340129" y="482545"/>
                        <a:pt x="331946" y="412370"/>
                        <a:pt x="284667" y="371951"/>
                      </a:cubicBezTo>
                      <a:close/>
                      <a:moveTo>
                        <a:pt x="95137" y="287064"/>
                      </a:moveTo>
                      <a:cubicBezTo>
                        <a:pt x="49676" y="248711"/>
                        <a:pt x="60752" y="174486"/>
                        <a:pt x="108940" y="143738"/>
                      </a:cubicBezTo>
                      <a:cubicBezTo>
                        <a:pt x="117481" y="138261"/>
                        <a:pt x="126745" y="134004"/>
                        <a:pt x="136465" y="131092"/>
                      </a:cubicBezTo>
                      <a:lnTo>
                        <a:pt x="136465" y="310373"/>
                      </a:lnTo>
                      <a:cubicBezTo>
                        <a:pt x="121500" y="304930"/>
                        <a:pt x="107537" y="297054"/>
                        <a:pt x="95137" y="287064"/>
                      </a:cubicBezTo>
                      <a:close/>
                      <a:moveTo>
                        <a:pt x="244661" y="550075"/>
                      </a:moveTo>
                      <a:cubicBezTo>
                        <a:pt x="228529" y="565846"/>
                        <a:pt x="208175" y="576611"/>
                        <a:pt x="186058" y="581071"/>
                      </a:cubicBezTo>
                      <a:lnTo>
                        <a:pt x="186058" y="383606"/>
                      </a:lnTo>
                      <a:cubicBezTo>
                        <a:pt x="219121" y="394930"/>
                        <a:pt x="257060" y="409312"/>
                        <a:pt x="270533" y="444523"/>
                      </a:cubicBezTo>
                      <a:cubicBezTo>
                        <a:pt x="284005" y="479734"/>
                        <a:pt x="270450" y="523790"/>
                        <a:pt x="244661" y="550075"/>
                      </a:cubicBezTo>
                      <a:close/>
                    </a:path>
                  </a:pathLst>
                </a:custGeom>
                <a:solidFill>
                  <a:srgbClr val="000000"/>
                </a:solidFill>
                <a:ln w="8235"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55" name="Down Arrow Callout 69">
              <a:extLst>
                <a:ext uri="{FF2B5EF4-FFF2-40B4-BE49-F238E27FC236}">
                  <a16:creationId xmlns:a16="http://schemas.microsoft.com/office/drawing/2014/main" id="{428493C4-7D94-54C6-6AB6-33366C8A2DAF}"/>
                </a:ext>
              </a:extLst>
            </p:cNvPr>
            <p:cNvSpPr/>
            <p:nvPr/>
          </p:nvSpPr>
          <p:spPr bwMode="auto">
            <a:xfrm>
              <a:off x="7013564" y="2474509"/>
              <a:ext cx="1435608" cy="1463040"/>
            </a:xfrm>
            <a:prstGeom prst="downArrowCallou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Risks</a:t>
              </a:r>
            </a:p>
          </p:txBody>
        </p:sp>
        <p:grpSp>
          <p:nvGrpSpPr>
            <p:cNvPr id="68" name="Group 67">
              <a:extLst>
                <a:ext uri="{FF2B5EF4-FFF2-40B4-BE49-F238E27FC236}">
                  <a16:creationId xmlns:a16="http://schemas.microsoft.com/office/drawing/2014/main" id="{B7ECBCC8-25F3-430C-5217-04D8C9B54170}"/>
                </a:ext>
              </a:extLst>
            </p:cNvPr>
            <p:cNvGrpSpPr/>
            <p:nvPr/>
          </p:nvGrpSpPr>
          <p:grpSpPr>
            <a:xfrm>
              <a:off x="7013564" y="701514"/>
              <a:ext cx="1435608" cy="1645920"/>
              <a:chOff x="7417254" y="998937"/>
              <a:chExt cx="1264787" cy="1497293"/>
            </a:xfrm>
          </p:grpSpPr>
          <p:sp>
            <p:nvSpPr>
              <p:cNvPr id="54" name="Rectangle 53">
                <a:extLst>
                  <a:ext uri="{FF2B5EF4-FFF2-40B4-BE49-F238E27FC236}">
                    <a16:creationId xmlns:a16="http://schemas.microsoft.com/office/drawing/2014/main" id="{3E289774-B4C0-B9DB-19A6-A8AE45EDF078}"/>
                  </a:ext>
                </a:extLst>
              </p:cNvPr>
              <p:cNvSpPr/>
              <p:nvPr/>
            </p:nvSpPr>
            <p:spPr bwMode="auto">
              <a:xfrm>
                <a:off x="7417254" y="998937"/>
                <a:ext cx="1264787" cy="149729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7" name="Group 66">
                <a:extLst>
                  <a:ext uri="{FF2B5EF4-FFF2-40B4-BE49-F238E27FC236}">
                    <a16:creationId xmlns:a16="http://schemas.microsoft.com/office/drawing/2014/main" id="{0361E08F-6A1F-AF71-F41A-12DB142DE576}"/>
                  </a:ext>
                </a:extLst>
              </p:cNvPr>
              <p:cNvGrpSpPr/>
              <p:nvPr/>
            </p:nvGrpSpPr>
            <p:grpSpPr>
              <a:xfrm>
                <a:off x="7478147" y="1176083"/>
                <a:ext cx="1143000" cy="1143000"/>
                <a:chOff x="7474569" y="1120998"/>
                <a:chExt cx="1143000" cy="1143000"/>
              </a:xfrm>
            </p:grpSpPr>
            <p:sp>
              <p:nvSpPr>
                <p:cNvPr id="56" name="Oval 55">
                  <a:extLst>
                    <a:ext uri="{FF2B5EF4-FFF2-40B4-BE49-F238E27FC236}">
                      <a16:creationId xmlns:a16="http://schemas.microsoft.com/office/drawing/2014/main" id="{D9CDF554-1A64-C30A-DB57-A60E3464E37F}"/>
                    </a:ext>
                  </a:extLst>
                </p:cNvPr>
                <p:cNvSpPr/>
                <p:nvPr/>
              </p:nvSpPr>
              <p:spPr bwMode="auto">
                <a:xfrm>
                  <a:off x="7474569" y="1120998"/>
                  <a:ext cx="1143000" cy="1143000"/>
                </a:xfrm>
                <a:prstGeom prst="ellipse">
                  <a:avLst/>
                </a:prstGeom>
                <a:solidFill>
                  <a:srgbClr val="F2C755"/>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7" name="Graphic 20" descr="Warning with solid fill">
                  <a:extLst>
                    <a:ext uri="{FF2B5EF4-FFF2-40B4-BE49-F238E27FC236}">
                      <a16:creationId xmlns:a16="http://schemas.microsoft.com/office/drawing/2014/main" id="{0594BECF-844F-CD92-E14A-F795DF9202EC}"/>
                    </a:ext>
                  </a:extLst>
                </p:cNvPr>
                <p:cNvSpPr/>
                <p:nvPr/>
              </p:nvSpPr>
              <p:spPr>
                <a:xfrm>
                  <a:off x="7689453" y="1355694"/>
                  <a:ext cx="713232" cy="612648"/>
                </a:xfrm>
                <a:custGeom>
                  <a:avLst/>
                  <a:gdLst>
                    <a:gd name="connsiteX0" fmla="*/ 612383 w 616118"/>
                    <a:gd name="connsiteY0" fmla="*/ 500241 h 543103"/>
                    <a:gd name="connsiteX1" fmla="*/ 333062 w 616118"/>
                    <a:gd name="connsiteY1" fmla="*/ 14466 h 543103"/>
                    <a:gd name="connsiteX2" fmla="*/ 283770 w 616118"/>
                    <a:gd name="connsiteY2" fmla="*/ 14466 h 543103"/>
                    <a:gd name="connsiteX3" fmla="*/ 3735 w 616118"/>
                    <a:gd name="connsiteY3" fmla="*/ 500241 h 543103"/>
                    <a:gd name="connsiteX4" fmla="*/ 28739 w 616118"/>
                    <a:gd name="connsiteY4" fmla="*/ 543104 h 543103"/>
                    <a:gd name="connsiteX5" fmla="*/ 308059 w 616118"/>
                    <a:gd name="connsiteY5" fmla="*/ 543104 h 543103"/>
                    <a:gd name="connsiteX6" fmla="*/ 587380 w 616118"/>
                    <a:gd name="connsiteY6" fmla="*/ 543104 h 543103"/>
                    <a:gd name="connsiteX7" fmla="*/ 612383 w 616118"/>
                    <a:gd name="connsiteY7" fmla="*/ 500241 h 543103"/>
                    <a:gd name="connsiteX8" fmla="*/ 286628 w 616118"/>
                    <a:gd name="connsiteY8" fmla="*/ 128766 h 543103"/>
                    <a:gd name="connsiteX9" fmla="*/ 329490 w 616118"/>
                    <a:gd name="connsiteY9" fmla="*/ 128766 h 543103"/>
                    <a:gd name="connsiteX10" fmla="*/ 329490 w 616118"/>
                    <a:gd name="connsiteY10" fmla="*/ 378797 h 543103"/>
                    <a:gd name="connsiteX11" fmla="*/ 286628 w 616118"/>
                    <a:gd name="connsiteY11" fmla="*/ 378797 h 543103"/>
                    <a:gd name="connsiteX12" fmla="*/ 286628 w 616118"/>
                    <a:gd name="connsiteY12" fmla="*/ 128766 h 543103"/>
                    <a:gd name="connsiteX13" fmla="*/ 308059 w 616118"/>
                    <a:gd name="connsiteY13" fmla="*/ 478810 h 543103"/>
                    <a:gd name="connsiteX14" fmla="*/ 272340 w 616118"/>
                    <a:gd name="connsiteY14" fmla="*/ 443091 h 543103"/>
                    <a:gd name="connsiteX15" fmla="*/ 308059 w 616118"/>
                    <a:gd name="connsiteY15" fmla="*/ 407372 h 543103"/>
                    <a:gd name="connsiteX16" fmla="*/ 343778 w 616118"/>
                    <a:gd name="connsiteY16" fmla="*/ 443091 h 543103"/>
                    <a:gd name="connsiteX17" fmla="*/ 308059 w 616118"/>
                    <a:gd name="connsiteY17" fmla="*/ 478810 h 54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6118" h="543103">
                      <a:moveTo>
                        <a:pt x="612383" y="500241"/>
                      </a:moveTo>
                      <a:lnTo>
                        <a:pt x="333062" y="14466"/>
                      </a:lnTo>
                      <a:cubicBezTo>
                        <a:pt x="322347" y="-4822"/>
                        <a:pt x="294486" y="-4822"/>
                        <a:pt x="283770" y="14466"/>
                      </a:cubicBezTo>
                      <a:lnTo>
                        <a:pt x="3735" y="500241"/>
                      </a:lnTo>
                      <a:cubicBezTo>
                        <a:pt x="-6980" y="519529"/>
                        <a:pt x="6593" y="543104"/>
                        <a:pt x="28739" y="543104"/>
                      </a:cubicBezTo>
                      <a:lnTo>
                        <a:pt x="308059" y="543104"/>
                      </a:lnTo>
                      <a:lnTo>
                        <a:pt x="587380" y="543104"/>
                      </a:lnTo>
                      <a:cubicBezTo>
                        <a:pt x="609525" y="543104"/>
                        <a:pt x="623099" y="519529"/>
                        <a:pt x="612383" y="500241"/>
                      </a:cubicBezTo>
                      <a:close/>
                      <a:moveTo>
                        <a:pt x="286628" y="128766"/>
                      </a:moveTo>
                      <a:lnTo>
                        <a:pt x="329490" y="128766"/>
                      </a:lnTo>
                      <a:lnTo>
                        <a:pt x="329490" y="378797"/>
                      </a:lnTo>
                      <a:lnTo>
                        <a:pt x="286628" y="378797"/>
                      </a:lnTo>
                      <a:lnTo>
                        <a:pt x="286628" y="128766"/>
                      </a:lnTo>
                      <a:close/>
                      <a:moveTo>
                        <a:pt x="308059" y="478810"/>
                      </a:moveTo>
                      <a:cubicBezTo>
                        <a:pt x="288057" y="478810"/>
                        <a:pt x="272340" y="463094"/>
                        <a:pt x="272340" y="443091"/>
                      </a:cubicBezTo>
                      <a:cubicBezTo>
                        <a:pt x="272340" y="423089"/>
                        <a:pt x="288057" y="407372"/>
                        <a:pt x="308059" y="407372"/>
                      </a:cubicBezTo>
                      <a:cubicBezTo>
                        <a:pt x="328062" y="407372"/>
                        <a:pt x="343778" y="423089"/>
                        <a:pt x="343778" y="443091"/>
                      </a:cubicBezTo>
                      <a:cubicBezTo>
                        <a:pt x="343778" y="463094"/>
                        <a:pt x="328062" y="478810"/>
                        <a:pt x="308059" y="478810"/>
                      </a:cubicBezTo>
                      <a:close/>
                    </a:path>
                  </a:pathLst>
                </a:custGeom>
                <a:solidFill>
                  <a:srgbClr val="000000"/>
                </a:solidFill>
                <a:ln w="7144"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10" name="Down Arrow Callout 26">
              <a:extLst>
                <a:ext uri="{FF2B5EF4-FFF2-40B4-BE49-F238E27FC236}">
                  <a16:creationId xmlns:a16="http://schemas.microsoft.com/office/drawing/2014/main" id="{E767E25E-21BB-1821-48AD-55A4DF6B6EFF}"/>
                </a:ext>
              </a:extLst>
            </p:cNvPr>
            <p:cNvSpPr/>
            <p:nvPr/>
          </p:nvSpPr>
          <p:spPr bwMode="auto">
            <a:xfrm>
              <a:off x="704167" y="2474509"/>
              <a:ext cx="1435608" cy="1463040"/>
            </a:xfrm>
            <a:prstGeom prst="downArrowCallou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Business Description</a:t>
              </a:r>
            </a:p>
          </p:txBody>
        </p:sp>
        <p:grpSp>
          <p:nvGrpSpPr>
            <p:cNvPr id="32" name="Group 31">
              <a:extLst>
                <a:ext uri="{FF2B5EF4-FFF2-40B4-BE49-F238E27FC236}">
                  <a16:creationId xmlns:a16="http://schemas.microsoft.com/office/drawing/2014/main" id="{D2285AC9-F5F5-C973-A985-F24A2264C98B}"/>
                </a:ext>
              </a:extLst>
            </p:cNvPr>
            <p:cNvGrpSpPr/>
            <p:nvPr/>
          </p:nvGrpSpPr>
          <p:grpSpPr>
            <a:xfrm>
              <a:off x="695702" y="701514"/>
              <a:ext cx="1435608" cy="1645920"/>
              <a:chOff x="676875" y="701139"/>
              <a:chExt cx="1435608" cy="1645920"/>
            </a:xfrm>
          </p:grpSpPr>
          <p:sp>
            <p:nvSpPr>
              <p:cNvPr id="3" name="Rectangle 2">
                <a:extLst>
                  <a:ext uri="{FF2B5EF4-FFF2-40B4-BE49-F238E27FC236}">
                    <a16:creationId xmlns:a16="http://schemas.microsoft.com/office/drawing/2014/main" id="{CDF5F9A9-F61D-53EC-AAC8-B7481EE0226A}"/>
                  </a:ext>
                </a:extLst>
              </p:cNvPr>
              <p:cNvSpPr/>
              <p:nvPr/>
            </p:nvSpPr>
            <p:spPr bwMode="auto">
              <a:xfrm>
                <a:off x="676875" y="701139"/>
                <a:ext cx="1435608" cy="1645920"/>
              </a:xfrm>
              <a:prstGeom prst="rec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4" name="Oval 3">
                <a:extLst>
                  <a:ext uri="{FF2B5EF4-FFF2-40B4-BE49-F238E27FC236}">
                    <a16:creationId xmlns:a16="http://schemas.microsoft.com/office/drawing/2014/main" id="{27AF6281-2C36-1EBE-0FFB-B980A0D58D92}"/>
                  </a:ext>
                </a:extLst>
              </p:cNvPr>
              <p:cNvSpPr/>
              <p:nvPr/>
            </p:nvSpPr>
            <p:spPr bwMode="auto">
              <a:xfrm>
                <a:off x="744824" y="895586"/>
                <a:ext cx="1299710" cy="1257027"/>
              </a:xfrm>
              <a:prstGeom prst="ellipse">
                <a:avLst/>
              </a:prstGeom>
              <a:solidFill>
                <a:srgbClr val="BFBFBF"/>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7" name="Graphic 6" descr="Lights On with solid fill">
                <a:extLst>
                  <a:ext uri="{FF2B5EF4-FFF2-40B4-BE49-F238E27FC236}">
                    <a16:creationId xmlns:a16="http://schemas.microsoft.com/office/drawing/2014/main" id="{779298FE-EFB5-81AC-EE70-029BFFEFDF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5940" y="984359"/>
                <a:ext cx="1117478" cy="1091784"/>
              </a:xfrm>
              <a:prstGeom prst="rect">
                <a:avLst/>
              </a:prstGeom>
            </p:spPr>
          </p:pic>
        </p:grpSp>
      </p:grpSp>
      <p:sp>
        <p:nvSpPr>
          <p:cNvPr id="122" name="Rectangle 121">
            <a:extLst>
              <a:ext uri="{FF2B5EF4-FFF2-40B4-BE49-F238E27FC236}">
                <a16:creationId xmlns:a16="http://schemas.microsoft.com/office/drawing/2014/main" id="{5DE0817D-EEA2-E2FB-0764-266D5DAA9EAD}"/>
              </a:ext>
            </a:extLst>
          </p:cNvPr>
          <p:cNvSpPr/>
          <p:nvPr/>
        </p:nvSpPr>
        <p:spPr bwMode="auto">
          <a:xfrm>
            <a:off x="685800" y="5168900"/>
            <a:ext cx="1450340" cy="88900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pPr>
            <a:r>
              <a:rPr lang="en-US" sz="1400" b="1">
                <a:solidFill>
                  <a:schemeClr val="tx1"/>
                </a:solidFill>
                <a:latin typeface="Calibri" panose="020F0502020204030204" pitchFamily="34" charset="0"/>
                <a:cs typeface="Calibri" panose="020F0502020204030204" pitchFamily="34" charset="0"/>
              </a:rPr>
              <a:t>Industry Framework</a:t>
            </a:r>
          </a:p>
        </p:txBody>
      </p:sp>
      <p:sp>
        <p:nvSpPr>
          <p:cNvPr id="964" name="Risk sub-box 5"/>
          <p:cNvSpPr/>
          <p:nvPr/>
        </p:nvSpPr>
        <p:spPr bwMode="auto">
          <a:xfrm>
            <a:off x="6995160" y="5168900"/>
            <a:ext cx="1450340" cy="88900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pPr>
            <a:r>
              <a:rPr lang="en-US" sz="1400" b="1">
                <a:solidFill>
                  <a:schemeClr val="tx1"/>
                </a:solidFill>
                <a:latin typeface="Calibri" panose="020F0502020204030204" pitchFamily="34" charset="0"/>
                <a:cs typeface="Calibri" panose="020F0502020204030204" pitchFamily="34" charset="0"/>
              </a:rPr>
              <a:t>Kill Criteria</a:t>
            </a:r>
          </a:p>
        </p:txBody>
      </p:sp>
      <p:sp>
        <p:nvSpPr>
          <p:cNvPr id="963" name="Risk sub-box 4"/>
          <p:cNvSpPr/>
          <p:nvPr/>
        </p:nvSpPr>
        <p:spPr bwMode="auto">
          <a:xfrm>
            <a:off x="5417820" y="5168900"/>
            <a:ext cx="1450340" cy="88900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pPr>
            <a:r>
              <a:rPr lang="en-US" sz="1400" b="1">
                <a:solidFill>
                  <a:schemeClr val="tx1"/>
                </a:solidFill>
                <a:latin typeface="Calibri" panose="020F0502020204030204" pitchFamily="34" charset="0"/>
                <a:cs typeface="Calibri" panose="020F0502020204030204" pitchFamily="34" charset="0"/>
              </a:rPr>
              <a:t>Heat Map and SWOT</a:t>
            </a:r>
          </a:p>
        </p:txBody>
      </p:sp>
      <p:sp>
        <p:nvSpPr>
          <p:cNvPr id="962" name="Risk sub-box 3"/>
          <p:cNvSpPr/>
          <p:nvPr/>
        </p:nvSpPr>
        <p:spPr bwMode="auto">
          <a:xfrm>
            <a:off x="3840480" y="5168900"/>
            <a:ext cx="1450340" cy="88900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pPr>
            <a:r>
              <a:rPr lang="en-US" sz="1400" b="1">
                <a:solidFill>
                  <a:schemeClr val="tx1"/>
                </a:solidFill>
                <a:latin typeface="Calibri" panose="020F0502020204030204" pitchFamily="34" charset="0"/>
                <a:cs typeface="Calibri" panose="020F0502020204030204" pitchFamily="34" charset="0"/>
              </a:rPr>
              <a:t>Cycle Position</a:t>
            </a:r>
          </a:p>
        </p:txBody>
      </p:sp>
      <p:sp>
        <p:nvSpPr>
          <p:cNvPr id="961" name="Risk sub-box 2"/>
          <p:cNvSpPr/>
          <p:nvPr/>
        </p:nvSpPr>
        <p:spPr bwMode="auto">
          <a:xfrm>
            <a:off x="2263140" y="5168900"/>
            <a:ext cx="1450340" cy="88900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pPr>
            <a:r>
              <a:rPr lang="en-US" sz="1400" b="1">
                <a:solidFill>
                  <a:schemeClr val="tx1"/>
                </a:solidFill>
                <a:latin typeface="Calibri" panose="020F0502020204030204" pitchFamily="34" charset="0"/>
                <a:cs typeface="Calibri" panose="020F0502020204030204" pitchFamily="34" charset="0"/>
              </a:rPr>
              <a:t>Rate Exposure</a:t>
            </a:r>
          </a:p>
        </p:txBody>
      </p:sp>
      <p:sp>
        <p:nvSpPr>
          <p:cNvPr id="12" name="TextBox 11">
            <a:extLst>
              <a:ext uri="{FF2B5EF4-FFF2-40B4-BE49-F238E27FC236}">
                <a16:creationId xmlns:a16="http://schemas.microsoft.com/office/drawing/2014/main" id="{01AB9020-9156-38AF-44AB-94CF8852C240}"/>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24</a:t>
            </a:fld>
            <a:endParaRPr 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841749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E1324-9E5F-2A9C-03BA-487EA11B906A}"/>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80F35820-7CA3-3CE0-D5B6-5221AB8B9431}"/>
              </a:ext>
            </a:extLst>
          </p:cNvPr>
          <p:cNvGrpSpPr/>
          <p:nvPr/>
        </p:nvGrpSpPr>
        <p:grpSpPr>
          <a:xfrm>
            <a:off x="0" y="6222249"/>
            <a:ext cx="9144000" cy="457200"/>
            <a:chOff x="0" y="2732884"/>
            <a:chExt cx="9144000" cy="457200"/>
          </a:xfrm>
        </p:grpSpPr>
        <p:sp>
          <p:nvSpPr>
            <p:cNvPr id="58" name="Rectangle 57">
              <a:extLst>
                <a:ext uri="{FF2B5EF4-FFF2-40B4-BE49-F238E27FC236}">
                  <a16:creationId xmlns:a16="http://schemas.microsoft.com/office/drawing/2014/main" id="{F6796F43-AE22-A193-4F75-25A7BC3C67AA}"/>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9" name="Group 58">
              <a:extLst>
                <a:ext uri="{FF2B5EF4-FFF2-40B4-BE49-F238E27FC236}">
                  <a16:creationId xmlns:a16="http://schemas.microsoft.com/office/drawing/2014/main" id="{ED9DF65C-F76E-07EC-0884-FE5E0070B30E}"/>
                </a:ext>
              </a:extLst>
            </p:cNvPr>
            <p:cNvGrpSpPr/>
            <p:nvPr/>
          </p:nvGrpSpPr>
          <p:grpSpPr>
            <a:xfrm>
              <a:off x="5021579" y="2732884"/>
              <a:ext cx="545306" cy="457200"/>
              <a:chOff x="4981575" y="2712036"/>
              <a:chExt cx="545306" cy="457200"/>
            </a:xfrm>
          </p:grpSpPr>
          <p:sp>
            <p:nvSpPr>
              <p:cNvPr id="183321" name="Oval 183320">
                <a:extLst>
                  <a:ext uri="{FF2B5EF4-FFF2-40B4-BE49-F238E27FC236}">
                    <a16:creationId xmlns:a16="http://schemas.microsoft.com/office/drawing/2014/main" id="{039AEED7-3117-FFA2-83A2-74D4E76D51D9}"/>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83322" name="Picture 183321" descr="Related image">
                <a:extLst>
                  <a:ext uri="{FF2B5EF4-FFF2-40B4-BE49-F238E27FC236}">
                    <a16:creationId xmlns:a16="http://schemas.microsoft.com/office/drawing/2014/main" id="{825403B5-78FB-2C3F-0397-464C487981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83319" name="Oval 183318">
              <a:extLst>
                <a:ext uri="{FF2B5EF4-FFF2-40B4-BE49-F238E27FC236}">
                  <a16:creationId xmlns:a16="http://schemas.microsoft.com/office/drawing/2014/main" id="{B293C5C7-96D3-CEE9-14DB-FB7ABA9E7F22}"/>
                </a:ext>
              </a:extLst>
            </p:cNvPr>
            <p:cNvSpPr/>
            <p:nvPr/>
          </p:nvSpPr>
          <p:spPr bwMode="auto">
            <a:xfrm>
              <a:off x="7910513"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5" name="Oval 183314">
              <a:extLst>
                <a:ext uri="{FF2B5EF4-FFF2-40B4-BE49-F238E27FC236}">
                  <a16:creationId xmlns:a16="http://schemas.microsoft.com/office/drawing/2014/main" id="{C652CB9C-4549-B7CD-13BF-2D26FA24DAE0}"/>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2" name="Group 61">
              <a:extLst>
                <a:ext uri="{FF2B5EF4-FFF2-40B4-BE49-F238E27FC236}">
                  <a16:creationId xmlns:a16="http://schemas.microsoft.com/office/drawing/2014/main" id="{EEE4EDEC-F445-DB81-FF0A-33F0CA95C1DF}"/>
                </a:ext>
              </a:extLst>
            </p:cNvPr>
            <p:cNvGrpSpPr/>
            <p:nvPr/>
          </p:nvGrpSpPr>
          <p:grpSpPr>
            <a:xfrm>
              <a:off x="6466045" y="2732884"/>
              <a:ext cx="545306" cy="457200"/>
              <a:chOff x="6353175" y="2712036"/>
              <a:chExt cx="545306" cy="457200"/>
            </a:xfrm>
          </p:grpSpPr>
          <p:sp>
            <p:nvSpPr>
              <p:cNvPr id="183313" name="Oval 183312">
                <a:extLst>
                  <a:ext uri="{FF2B5EF4-FFF2-40B4-BE49-F238E27FC236}">
                    <a16:creationId xmlns:a16="http://schemas.microsoft.com/office/drawing/2014/main" id="{67B326A5-4E51-752A-9B6E-F20DC41E5237}"/>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4" name="Graphic 14379" descr="Dollar with solid fill">
                <a:extLst>
                  <a:ext uri="{FF2B5EF4-FFF2-40B4-BE49-F238E27FC236}">
                    <a16:creationId xmlns:a16="http://schemas.microsoft.com/office/drawing/2014/main" id="{33F73ECC-D2A6-EF4D-F3E9-27A4913D503A}"/>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nvGrpSpPr>
            <p:cNvPr id="63" name="Group 62">
              <a:extLst>
                <a:ext uri="{FF2B5EF4-FFF2-40B4-BE49-F238E27FC236}">
                  <a16:creationId xmlns:a16="http://schemas.microsoft.com/office/drawing/2014/main" id="{08E130B2-1137-6EC6-F125-82CAA35E1B73}"/>
                </a:ext>
              </a:extLst>
            </p:cNvPr>
            <p:cNvGrpSpPr/>
            <p:nvPr/>
          </p:nvGrpSpPr>
          <p:grpSpPr>
            <a:xfrm>
              <a:off x="3577113" y="2732884"/>
              <a:ext cx="545306" cy="457200"/>
              <a:chOff x="3609974" y="2715607"/>
              <a:chExt cx="545306" cy="457200"/>
            </a:xfrm>
          </p:grpSpPr>
          <p:sp>
            <p:nvSpPr>
              <p:cNvPr id="183309" name="Oval 183308">
                <a:extLst>
                  <a:ext uri="{FF2B5EF4-FFF2-40B4-BE49-F238E27FC236}">
                    <a16:creationId xmlns:a16="http://schemas.microsoft.com/office/drawing/2014/main" id="{848D53DE-8F34-9D3B-0D4F-1140A7E30F43}"/>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83310" name="Group 183309">
                <a:extLst>
                  <a:ext uri="{FF2B5EF4-FFF2-40B4-BE49-F238E27FC236}">
                    <a16:creationId xmlns:a16="http://schemas.microsoft.com/office/drawing/2014/main" id="{C169BA0A-CB85-1777-447A-53AA5727767C}"/>
                  </a:ext>
                </a:extLst>
              </p:cNvPr>
              <p:cNvGrpSpPr/>
              <p:nvPr/>
            </p:nvGrpSpPr>
            <p:grpSpPr>
              <a:xfrm>
                <a:off x="3769049" y="2811218"/>
                <a:ext cx="227157" cy="265979"/>
                <a:chOff x="3771206" y="2761936"/>
                <a:chExt cx="227157" cy="265979"/>
              </a:xfrm>
            </p:grpSpPr>
            <p:sp>
              <p:nvSpPr>
                <p:cNvPr id="183311" name="Freeform: Shape 183310">
                  <a:extLst>
                    <a:ext uri="{FF2B5EF4-FFF2-40B4-BE49-F238E27FC236}">
                      <a16:creationId xmlns:a16="http://schemas.microsoft.com/office/drawing/2014/main" id="{4DE06626-6E5B-3E4A-71C6-A4DFB73010BB}"/>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sp>
              <p:nvSpPr>
                <p:cNvPr id="183312" name="Freeform: Shape 183311">
                  <a:extLst>
                    <a:ext uri="{FF2B5EF4-FFF2-40B4-BE49-F238E27FC236}">
                      <a16:creationId xmlns:a16="http://schemas.microsoft.com/office/drawing/2014/main" id="{9C899824-7014-73EF-877B-7EE5A745D7F4}"/>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6" name="Group 183305">
              <a:extLst>
                <a:ext uri="{FF2B5EF4-FFF2-40B4-BE49-F238E27FC236}">
                  <a16:creationId xmlns:a16="http://schemas.microsoft.com/office/drawing/2014/main" id="{D913F2F0-E0AE-F490-327F-3D5BA325CE12}"/>
                </a:ext>
              </a:extLst>
            </p:cNvPr>
            <p:cNvGrpSpPr/>
            <p:nvPr/>
          </p:nvGrpSpPr>
          <p:grpSpPr>
            <a:xfrm>
              <a:off x="2132647" y="2732884"/>
              <a:ext cx="545306" cy="457200"/>
              <a:chOff x="2238375" y="2712635"/>
              <a:chExt cx="545306" cy="457200"/>
            </a:xfrm>
          </p:grpSpPr>
          <p:sp>
            <p:nvSpPr>
              <p:cNvPr id="183307" name="Oval 183306">
                <a:extLst>
                  <a:ext uri="{FF2B5EF4-FFF2-40B4-BE49-F238E27FC236}">
                    <a16:creationId xmlns:a16="http://schemas.microsoft.com/office/drawing/2014/main" id="{1319F648-FC7C-2EA8-8069-818101FFF5E4}"/>
                  </a:ext>
                </a:extLst>
              </p:cNvPr>
              <p:cNvSpPr/>
              <p:nvPr/>
            </p:nvSpPr>
            <p:spPr bwMode="auto">
              <a:xfrm>
                <a:off x="2238375" y="2712635"/>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83308" name="Graphic 14377" descr="Board Of Directors with solid fill">
                <a:extLst>
                  <a:ext uri="{FF2B5EF4-FFF2-40B4-BE49-F238E27FC236}">
                    <a16:creationId xmlns:a16="http://schemas.microsoft.com/office/drawing/2014/main" id="{568C7BC9-ECD7-15D0-1F73-020E163A0DD3}"/>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1" name="Group 183300">
            <a:extLst>
              <a:ext uri="{FF2B5EF4-FFF2-40B4-BE49-F238E27FC236}">
                <a16:creationId xmlns:a16="http://schemas.microsoft.com/office/drawing/2014/main" id="{92C8BCD7-8E10-0615-FDE7-1E092793A580}"/>
              </a:ext>
            </a:extLst>
          </p:cNvPr>
          <p:cNvGrpSpPr>
            <a:grpSpLocks/>
          </p:cNvGrpSpPr>
          <p:nvPr/>
        </p:nvGrpSpPr>
        <p:grpSpPr bwMode="auto">
          <a:xfrm>
            <a:off x="0" y="82336"/>
            <a:ext cx="9144000" cy="576857"/>
            <a:chOff x="-2" y="-17873"/>
            <a:chExt cx="12192002" cy="769372"/>
          </a:xfrm>
        </p:grpSpPr>
        <p:sp>
          <p:nvSpPr>
            <p:cNvPr id="183302" name="Title 1">
              <a:extLst>
                <a:ext uri="{FF2B5EF4-FFF2-40B4-BE49-F238E27FC236}">
                  <a16:creationId xmlns:a16="http://schemas.microsoft.com/office/drawing/2014/main" id="{C7499657-3878-7EE7-686D-61AEBBE4E170}"/>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a:solidFill>
                    <a:schemeClr val="tx1"/>
                  </a:solidFill>
                  <a:latin typeface="Calibri" panose="020F0502020204030204" pitchFamily="34" charset="0"/>
                  <a:cs typeface="Calibri" panose="020F0502020204030204" pitchFamily="34" charset="0"/>
                </a:rPr>
                <a:t>Industry Framework: Cyclical, Mature, Supply-Constrained</a:t>
              </a:r>
              <a:endParaRPr lang="en-US" sz="2100" b="1">
                <a:solidFill>
                  <a:srgbClr val="000000"/>
                </a:solidFill>
                <a:latin typeface="Calibri" panose="020F0502020204030204" pitchFamily="34" charset="0"/>
                <a:cs typeface="Calibri" panose="020F0502020204030204" pitchFamily="34" charset="0"/>
              </a:endParaRPr>
            </a:p>
          </p:txBody>
        </p:sp>
        <p:grpSp>
          <p:nvGrpSpPr>
            <p:cNvPr id="183303" name="Group 39">
              <a:extLst>
                <a:ext uri="{FF2B5EF4-FFF2-40B4-BE49-F238E27FC236}">
                  <a16:creationId xmlns:a16="http://schemas.microsoft.com/office/drawing/2014/main" id="{E2441762-01A6-46CA-16D5-4B5F36E501A0}"/>
                </a:ext>
              </a:extLst>
            </p:cNvPr>
            <p:cNvGrpSpPr>
              <a:grpSpLocks/>
            </p:cNvGrpSpPr>
            <p:nvPr/>
          </p:nvGrpSpPr>
          <p:grpSpPr bwMode="auto">
            <a:xfrm>
              <a:off x="-2" y="645614"/>
              <a:ext cx="12192002" cy="105885"/>
              <a:chOff x="2373524" y="569416"/>
              <a:chExt cx="6496168" cy="87055"/>
            </a:xfrm>
          </p:grpSpPr>
          <p:sp>
            <p:nvSpPr>
              <p:cNvPr id="183304" name="Rectangle 183303">
                <a:extLst>
                  <a:ext uri="{FF2B5EF4-FFF2-40B4-BE49-F238E27FC236}">
                    <a16:creationId xmlns:a16="http://schemas.microsoft.com/office/drawing/2014/main" id="{E6D8B601-386C-3A20-3E2A-E3BC3910EF22}"/>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sp>
            <p:nvSpPr>
              <p:cNvPr id="183305" name="Rectangle 183304">
                <a:extLst>
                  <a:ext uri="{FF2B5EF4-FFF2-40B4-BE49-F238E27FC236}">
                    <a16:creationId xmlns:a16="http://schemas.microsoft.com/office/drawing/2014/main" id="{B09DEBF4-0E60-57DB-6F9D-3C1A02202783}"/>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grpSp>
      </p:grpSp>
      <p:pic>
        <p:nvPicPr>
          <p:cNvPr id="56" name="Picture 30" descr="Related image">
            <a:extLst>
              <a:ext uri="{FF2B5EF4-FFF2-40B4-BE49-F238E27FC236}">
                <a16:creationId xmlns:a16="http://schemas.microsoft.com/office/drawing/2014/main" id="{3D4CF136-5D13-BF3D-B440-773AEDD12D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4" b="4326"/>
          <a:stretch>
            <a:fillRect/>
          </a:stretch>
        </p:blipFill>
        <p:spPr bwMode="auto">
          <a:xfrm>
            <a:off x="8023225" y="6295142"/>
            <a:ext cx="328164" cy="292628"/>
          </a:xfrm>
          <a:prstGeom prst="rect">
            <a:avLst/>
          </a:prstGeom>
          <a:solidFill>
            <a:srgbClr val="F2C755"/>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2" name="Graphic 31" descr="Lights On with solid fill">
            <a:extLst>
              <a:ext uri="{FF2B5EF4-FFF2-40B4-BE49-F238E27FC236}">
                <a16:creationId xmlns:a16="http://schemas.microsoft.com/office/drawing/2014/main" id="{451B57C8-73D2-9D04-A456-460E562B1E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077" y="6223233"/>
            <a:ext cx="461513" cy="461513"/>
          </a:xfrm>
          <a:prstGeom prst="rect">
            <a:avLst/>
          </a:prstGeom>
        </p:spPr>
      </p:pic>
      <p:pic>
        <p:nvPicPr>
          <p:cNvPr id="19" name="Picture 18" descr="A black background with blue text&#10;&#10;Description automatically generated">
            <a:extLst>
              <a:ext uri="{FF2B5EF4-FFF2-40B4-BE49-F238E27FC236}">
                <a16:creationId xmlns:a16="http://schemas.microsoft.com/office/drawing/2014/main" id="{26380D0B-9A7E-D2A4-6A08-4B20A329C246}"/>
              </a:ext>
            </a:extLst>
          </p:cNvPr>
          <p:cNvPicPr>
            <a:picLocks noChangeAspect="1"/>
          </p:cNvPicPr>
          <p:nvPr/>
        </p:nvPicPr>
        <p:blipFill>
          <a:blip r:embed="rId5">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20" name="TextBox 19">
            <a:extLst>
              <a:ext uri="{FF2B5EF4-FFF2-40B4-BE49-F238E27FC236}">
                <a16:creationId xmlns:a16="http://schemas.microsoft.com/office/drawing/2014/main" id="{3C802AE6-76A5-94AF-D44E-0EF88219621E}"/>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25</a:t>
            </a:fld>
            <a:endParaRPr lang="en-US" sz="1400">
              <a:latin typeface="Calibri" panose="020F0502020204030204" pitchFamily="34" charset="0"/>
              <a:cs typeface="Calibri" panose="020F0502020204030204" pitchFamily="34" charset="0"/>
            </a:endParaRPr>
          </a:p>
        </p:txBody>
      </p:sp>
      <p:sp>
        <p:nvSpPr>
          <p:cNvPr id="900" name="Panel 1"/>
          <p:cNvSpPr/>
          <p:nvPr/>
        </p:nvSpPr>
        <p:spPr>
          <a:xfrm>
            <a:off x="139700" y="736600"/>
            <a:ext cx="2870200" cy="1778000"/>
          </a:xfrm>
          <a:prstGeom prst="rect">
            <a:avLst/>
          </a:prstGeom>
          <a:solidFill>
            <a:srgbClr val="F2C755"/>
          </a:solidFill>
          <a:ln>
            <a:solidFill>
              <a:srgbClr val="000000"/>
            </a:solidFill>
          </a:ln>
        </p:spPr>
        <p:txBody>
          <a:bodyPr vertOverflow="clip" horzOverflow="clip" lIns="137160" tIns="91440" rIns="137160" rtlCol="0" anchor="t">
            <a:noAutofit/>
          </a:bodyPr>
          <a:lstStyle/>
          <a:p>
            <a:pPr>
              <a:spcBef>
                <a:spcPts val="0"/>
              </a:spcBef>
              <a:spcAft>
                <a:spcPts val="600"/>
              </a:spcAft>
            </a:pPr>
            <a:r>
              <a:rPr lang="en-US" sz="1100" b="1" dirty="0">
                <a:solidFill>
                  <a:srgbClr val="000000"/>
                </a:solidFill>
                <a:latin typeface="Calibri"/>
                <a:cs typeface="Calibri"/>
              </a:rPr>
              <a:t>Sector classification</a:t>
            </a:r>
          </a:p>
          <a:p>
            <a:pPr>
              <a:spcBef>
                <a:spcPts val="0"/>
              </a:spcBef>
              <a:spcAft>
                <a:spcPts val="0"/>
              </a:spcAft>
            </a:pPr>
            <a:r>
              <a:rPr lang="en-US" sz="1100" dirty="0">
                <a:solidFill>
                  <a:srgbClr val="000000"/>
                </a:solidFill>
                <a:latin typeface="Calibri"/>
                <a:cs typeface="Calibri"/>
              </a:rPr>
              <a:t>Industrials, transportation equipment leasing. Cyclical. Industrial equipment demand runs at roughly 2x GDP growth less 2% (Spellman). GATX's beta is 0.85 to the S&amp;P 500 and 0.93 to XLI, lower than the sector because four-to-five-year leases contract the revenue.</a:t>
            </a:r>
          </a:p>
        </p:txBody>
      </p:sp>
      <p:sp>
        <p:nvSpPr>
          <p:cNvPr id="901" name="Panel 2"/>
          <p:cNvSpPr/>
          <p:nvPr/>
        </p:nvSpPr>
        <p:spPr>
          <a:xfrm>
            <a:off x="3136900" y="736600"/>
            <a:ext cx="2870200" cy="1778000"/>
          </a:xfrm>
          <a:prstGeom prst="rect">
            <a:avLst/>
          </a:prstGeom>
          <a:solidFill>
            <a:srgbClr val="F2C755"/>
          </a:solidFill>
          <a:ln>
            <a:solidFill>
              <a:srgbClr val="000000"/>
            </a:solidFill>
          </a:ln>
        </p:spPr>
        <p:txBody>
          <a:bodyPr vertOverflow="clip" horzOverflow="clip" lIns="137160" tIns="91440" rIns="137160" rtlCol="0" anchor="t">
            <a:noAutofit/>
          </a:bodyPr>
          <a:lstStyle/>
          <a:p>
            <a:pPr>
              <a:spcBef>
                <a:spcPts val="0"/>
              </a:spcBef>
              <a:spcAft>
                <a:spcPts val="600"/>
              </a:spcAft>
            </a:pPr>
            <a:r>
              <a:rPr lang="en-US" sz="1100" b="1" dirty="0">
                <a:solidFill>
                  <a:srgbClr val="000000"/>
                </a:solidFill>
                <a:latin typeface="Calibri"/>
                <a:cs typeface="Calibri"/>
              </a:rPr>
              <a:t>Life cycle stage</a:t>
            </a:r>
          </a:p>
          <a:p>
            <a:pPr>
              <a:spcBef>
                <a:spcPts val="0"/>
              </a:spcBef>
              <a:spcAft>
                <a:spcPts val="0"/>
              </a:spcAft>
            </a:pPr>
            <a:r>
              <a:rPr lang="en-US" sz="1100" dirty="0">
                <a:solidFill>
                  <a:srgbClr val="000000"/>
                </a:solidFill>
                <a:latin typeface="Calibri"/>
                <a:cs typeface="Calibri"/>
              </a:rPr>
              <a:t>Mature. FY2025 EBIT margin of 30.7% is the highest in GATX's 25-year record, which is what margins do at the top of the mature phase. Growth comes from consolidation (GABX doubled the fleet) rather than organic expansion. Free cash flow is negative because GATX chooses expansion capex, not because the business cannot generate cash.</a:t>
            </a:r>
          </a:p>
        </p:txBody>
      </p:sp>
      <p:sp>
        <p:nvSpPr>
          <p:cNvPr id="902" name="Panel 3"/>
          <p:cNvSpPr/>
          <p:nvPr/>
        </p:nvSpPr>
        <p:spPr>
          <a:xfrm>
            <a:off x="6134100" y="736600"/>
            <a:ext cx="2870200" cy="1778000"/>
          </a:xfrm>
          <a:prstGeom prst="rect">
            <a:avLst/>
          </a:prstGeom>
          <a:solidFill>
            <a:srgbClr val="F2C755"/>
          </a:solidFill>
          <a:ln>
            <a:solidFill>
              <a:srgbClr val="000000"/>
            </a:solidFill>
          </a:ln>
        </p:spPr>
        <p:txBody>
          <a:bodyPr vertOverflow="clip" horzOverflow="clip" lIns="137160" tIns="91440" rIns="137160" rtlCol="0" anchor="t">
            <a:noAutofit/>
          </a:bodyPr>
          <a:lstStyle/>
          <a:p>
            <a:pPr>
              <a:spcBef>
                <a:spcPts val="0"/>
              </a:spcBef>
              <a:spcAft>
                <a:spcPts val="600"/>
              </a:spcAft>
            </a:pPr>
            <a:r>
              <a:rPr lang="en-US" sz="1100" b="1" dirty="0">
                <a:solidFill>
                  <a:srgbClr val="000000"/>
                </a:solidFill>
                <a:latin typeface="Calibri"/>
                <a:cs typeface="Calibri"/>
              </a:rPr>
              <a:t>Supply dynamics</a:t>
            </a:r>
          </a:p>
          <a:p>
            <a:pPr>
              <a:spcBef>
                <a:spcPts val="0"/>
              </a:spcBef>
              <a:spcAft>
                <a:spcPts val="0"/>
              </a:spcAft>
            </a:pPr>
            <a:r>
              <a:rPr lang="en-US" sz="1100" dirty="0">
                <a:solidFill>
                  <a:srgbClr val="000000"/>
                </a:solidFill>
                <a:latin typeface="Calibri"/>
                <a:cs typeface="Calibri"/>
              </a:rPr>
              <a:t>Capacity is not being added at the peak. Industry backlog of 23,431 cars at 12/31/2025 is the lowest since Q4 2010. Builders are cutting production and scrapping outpaces new builds (GATX to the STB, March 2026). This is the opposite of the overbuild that ends most industrial cycles.</a:t>
            </a:r>
          </a:p>
        </p:txBody>
      </p:sp>
      <p:sp>
        <p:nvSpPr>
          <p:cNvPr id="903" name="Figure 48 caption"/>
          <p:cNvSpPr txBox="1"/>
          <p:nvPr/>
        </p:nvSpPr>
        <p:spPr>
          <a:xfrm>
            <a:off x="139700" y="2616200"/>
            <a:ext cx="3048000" cy="406400"/>
          </a:xfrm>
          <a:prstGeom prst="rect">
            <a:avLst/>
          </a:prstGeom>
          <a:noFill/>
        </p:spPr>
        <p:txBody>
          <a:bodyPr vertOverflow="overflow" vert="horz" wrap="square" rtlCol="0" anchor="t">
            <a:noAutofit/>
          </a:bodyPr>
          <a:lstStyle/>
          <a:p>
            <a:pPr algn="l"/>
            <a:r>
              <a:rPr lang="en-US" sz="1200" dirty="0">
                <a:solidFill>
                  <a:srgbClr val="292934"/>
                </a:solidFill>
                <a:latin typeface="Calibri"/>
                <a:ea typeface="Calibri"/>
                <a:cs typeface="Calibri"/>
              </a:rPr>
              <a:t>Figure 48: Porter's Five Forces, GATX (1 = weak force, 5 = strong)</a:t>
            </a:r>
          </a:p>
        </p:txBody>
      </p:sp>
      <p:sp>
        <p:nvSpPr>
          <p:cNvPr id="904" name="Figure 49 caption"/>
          <p:cNvSpPr txBox="1"/>
          <p:nvPr/>
        </p:nvSpPr>
        <p:spPr>
          <a:xfrm>
            <a:off x="3327400" y="2616200"/>
            <a:ext cx="5676900" cy="228600"/>
          </a:xfrm>
          <a:prstGeom prst="rect">
            <a:avLst/>
          </a:prstGeom>
          <a:noFill/>
        </p:spPr>
        <p:txBody>
          <a:bodyPr vertOverflow="overflow" vert="horz" wrap="square" rtlCol="0" anchor="t">
            <a:spAutoFit/>
          </a:bodyPr>
          <a:lstStyle/>
          <a:p>
            <a:pPr algn="l"/>
            <a:r>
              <a:rPr lang="en-US" sz="1200" dirty="0">
                <a:solidFill>
                  <a:srgbClr val="292934"/>
                </a:solidFill>
                <a:latin typeface="Calibri"/>
                <a:ea typeface="Calibri"/>
                <a:cs typeface="Calibri"/>
              </a:rPr>
              <a:t>Figure 49: Five forces, one-line read</a:t>
            </a:r>
          </a:p>
        </p:txBody>
      </p:sp>
      <p:graphicFrame>
        <p:nvGraphicFramePr>
          <p:cNvPr id="905" name="Forces table"/>
          <p:cNvGraphicFramePr>
            <a:graphicFrameLocks noGrp="1"/>
          </p:cNvGraphicFramePr>
          <p:nvPr/>
        </p:nvGraphicFramePr>
        <p:xfrm>
          <a:off x="3327400" y="2870200"/>
          <a:ext cx="5676900" cy="2159000"/>
        </p:xfrm>
        <a:graphic>
          <a:graphicData uri="http://schemas.openxmlformats.org/drawingml/2006/table">
            <a:tbl>
              <a:tblPr/>
              <a:tblGrid>
                <a:gridCol w="1168400">
                  <a:extLst>
                    <a:ext uri="{9D8B030D-6E8A-4147-A177-3AD203B41FA5}">
                      <a16:colId xmlns:a16="http://schemas.microsoft.com/office/drawing/2014/main" val="20000"/>
                    </a:ext>
                  </a:extLst>
                </a:gridCol>
                <a:gridCol w="4508500">
                  <a:extLst>
                    <a:ext uri="{9D8B030D-6E8A-4147-A177-3AD203B41FA5}">
                      <a16:colId xmlns:a16="http://schemas.microsoft.com/office/drawing/2014/main" val="20001"/>
                    </a:ext>
                  </a:extLst>
                </a:gridCol>
              </a:tblGrid>
              <a:tr h="254000">
                <a:tc>
                  <a:txBody>
                    <a:bodyPr/>
                    <a:lstStyle/>
                    <a:p>
                      <a:pPr algn="l"/>
                      <a:r>
                        <a:rPr lang="en-US" sz="1000" b="1" dirty="0">
                          <a:solidFill>
                            <a:srgbClr val="292934"/>
                          </a:solidFill>
                          <a:latin typeface="Calibri"/>
                          <a:cs typeface="Calibri"/>
                        </a:rPr>
                        <a:t>Force</a:t>
                      </a:r>
                    </a:p>
                  </a:txBody>
                  <a:tcPr marL="45720" marR="45720" marT="18000" marB="18000" anchor="ctr"/>
                </a:tc>
                <a:tc>
                  <a:txBody>
                    <a:bodyPr/>
                    <a:lstStyle/>
                    <a:p>
                      <a:pPr algn="l"/>
                      <a:r>
                        <a:rPr lang="en-US" sz="1000" b="1" dirty="0">
                          <a:solidFill>
                            <a:srgbClr val="292934"/>
                          </a:solidFill>
                          <a:latin typeface="Calibri"/>
                          <a:cs typeface="Calibri"/>
                        </a:rPr>
                        <a:t>Read</a:t>
                      </a:r>
                    </a:p>
                  </a:txBody>
                  <a:tcPr marL="45720" marR="45720" marT="18000" marB="18000" anchor="ctr"/>
                </a:tc>
                <a:extLst>
                  <a:ext uri="{0D108BD9-81ED-4DB2-BD59-A6C34878D82A}">
                    <a16:rowId xmlns:a16="http://schemas.microsoft.com/office/drawing/2014/main" val="10000"/>
                  </a:ext>
                </a:extLst>
              </a:tr>
              <a:tr h="381000">
                <a:tc>
                  <a:txBody>
                    <a:bodyPr/>
                    <a:lstStyle/>
                    <a:p>
                      <a:pPr algn="l"/>
                      <a:r>
                        <a:rPr lang="en-US" sz="1000" b="1" dirty="0">
                          <a:solidFill>
                            <a:srgbClr val="292934"/>
                          </a:solidFill>
                          <a:latin typeface="Calibri"/>
                          <a:cs typeface="Calibri"/>
                        </a:rPr>
                        <a:t>New entrants (2)</a:t>
                      </a:r>
                    </a:p>
                  </a:txBody>
                  <a:tcPr marL="45720" marR="45720" marT="18000" marB="18000" anchor="ctr"/>
                </a:tc>
                <a:tc>
                  <a:txBody>
                    <a:bodyPr/>
                    <a:lstStyle/>
                    <a:p>
                      <a:pPr algn="l"/>
                      <a:r>
                        <a:rPr lang="en-US" sz="1000" dirty="0">
                          <a:solidFill>
                            <a:srgbClr val="292934"/>
                          </a:solidFill>
                          <a:latin typeface="Calibri"/>
                          <a:cs typeface="Calibri"/>
                        </a:rPr>
                        <a:t>$12B+ balance sheet and investment-grade funding required; PE-backed lessors cannot match GATX's cost of debt.</a:t>
                      </a:r>
                    </a:p>
                  </a:txBody>
                  <a:tcPr marL="45720" marR="45720" marT="18000" marB="18000" anchor="ctr"/>
                </a:tc>
                <a:extLst>
                  <a:ext uri="{0D108BD9-81ED-4DB2-BD59-A6C34878D82A}">
                    <a16:rowId xmlns:a16="http://schemas.microsoft.com/office/drawing/2014/main" val="10001"/>
                  </a:ext>
                </a:extLst>
              </a:tr>
              <a:tr h="381000">
                <a:tc>
                  <a:txBody>
                    <a:bodyPr/>
                    <a:lstStyle/>
                    <a:p>
                      <a:pPr algn="l"/>
                      <a:r>
                        <a:rPr lang="en-US" sz="1000" b="1" dirty="0">
                          <a:solidFill>
                            <a:srgbClr val="292934"/>
                          </a:solidFill>
                          <a:latin typeface="Calibri"/>
                          <a:cs typeface="Calibri"/>
                        </a:rPr>
                        <a:t>Suppliers (3)</a:t>
                      </a:r>
                    </a:p>
                  </a:txBody>
                  <a:tcPr marL="45720" marR="45720" marT="18000" marB="18000" anchor="ctr"/>
                </a:tc>
                <a:tc>
                  <a:txBody>
                    <a:bodyPr/>
                    <a:lstStyle/>
                    <a:p>
                      <a:pPr algn="l"/>
                      <a:r>
                        <a:rPr lang="en-US" sz="1000" dirty="0">
                          <a:solidFill>
                            <a:srgbClr val="292934"/>
                          </a:solidFill>
                          <a:latin typeface="Calibri"/>
                          <a:cs typeface="Calibri"/>
                        </a:rPr>
                        <a:t>Two dominant builders, Trinity and Greenbrier; low production gives them pricing power, but GATX is a top buyer.</a:t>
                      </a:r>
                    </a:p>
                  </a:txBody>
                  <a:tcPr marL="45720" marR="45720" marT="18000" marB="18000" anchor="ctr"/>
                </a:tc>
                <a:extLst>
                  <a:ext uri="{0D108BD9-81ED-4DB2-BD59-A6C34878D82A}">
                    <a16:rowId xmlns:a16="http://schemas.microsoft.com/office/drawing/2014/main" val="10002"/>
                  </a:ext>
                </a:extLst>
              </a:tr>
              <a:tr h="381000">
                <a:tc>
                  <a:txBody>
                    <a:bodyPr/>
                    <a:lstStyle/>
                    <a:p>
                      <a:pPr algn="l"/>
                      <a:r>
                        <a:rPr lang="en-US" sz="1000" b="1" dirty="0">
                          <a:solidFill>
                            <a:srgbClr val="292934"/>
                          </a:solidFill>
                          <a:latin typeface="Calibri"/>
                          <a:cs typeface="Calibri"/>
                        </a:rPr>
                        <a:t>Buyers (3)</a:t>
                      </a:r>
                    </a:p>
                  </a:txBody>
                  <a:tcPr marL="45720" marR="45720" marT="18000" marB="18000" anchor="ctr"/>
                </a:tc>
                <a:tc>
                  <a:txBody>
                    <a:bodyPr/>
                    <a:lstStyle/>
                    <a:p>
                      <a:pPr algn="l"/>
                      <a:r>
                        <a:rPr lang="en-US" sz="1000" dirty="0">
                          <a:solidFill>
                            <a:srgbClr val="292934"/>
                          </a:solidFill>
                          <a:latin typeface="Calibri"/>
                          <a:cs typeface="Calibri"/>
                        </a:rPr>
                        <a:t>Shippers can walk at renewal (success rate 79%); the tight fleet limits their alternatives.</a:t>
                      </a:r>
                    </a:p>
                  </a:txBody>
                  <a:tcPr marL="45720" marR="45720" marT="18000" marB="18000" anchor="ctr"/>
                </a:tc>
                <a:extLst>
                  <a:ext uri="{0D108BD9-81ED-4DB2-BD59-A6C34878D82A}">
                    <a16:rowId xmlns:a16="http://schemas.microsoft.com/office/drawing/2014/main" val="10003"/>
                  </a:ext>
                </a:extLst>
              </a:tr>
              <a:tr h="381000">
                <a:tc>
                  <a:txBody>
                    <a:bodyPr/>
                    <a:lstStyle/>
                    <a:p>
                      <a:pPr algn="l"/>
                      <a:r>
                        <a:rPr lang="en-US" sz="1000" b="1" dirty="0">
                          <a:solidFill>
                            <a:srgbClr val="292934"/>
                          </a:solidFill>
                          <a:latin typeface="Calibri"/>
                          <a:cs typeface="Calibri"/>
                        </a:rPr>
                        <a:t>Substitutes (2)</a:t>
                      </a:r>
                    </a:p>
                  </a:txBody>
                  <a:tcPr marL="45720" marR="45720" marT="18000" marB="18000" anchor="ctr"/>
                </a:tc>
                <a:tc>
                  <a:txBody>
                    <a:bodyPr/>
                    <a:lstStyle/>
                    <a:p>
                      <a:pPr algn="l"/>
                      <a:r>
                        <a:rPr lang="en-US" sz="1000" dirty="0">
                          <a:solidFill>
                            <a:srgbClr val="292934"/>
                          </a:solidFill>
                          <a:latin typeface="Calibri"/>
                          <a:cs typeface="Calibri"/>
                        </a:rPr>
                        <a:t>Truck for short-haul, pipeline for liquids; rail stays structurally cheaper for bulk.</a:t>
                      </a:r>
                    </a:p>
                  </a:txBody>
                  <a:tcPr marL="45720" marR="45720" marT="18000" marB="18000" anchor="ctr"/>
                </a:tc>
                <a:extLst>
                  <a:ext uri="{0D108BD9-81ED-4DB2-BD59-A6C34878D82A}">
                    <a16:rowId xmlns:a16="http://schemas.microsoft.com/office/drawing/2014/main" val="10004"/>
                  </a:ext>
                </a:extLst>
              </a:tr>
              <a:tr h="381000">
                <a:tc>
                  <a:txBody>
                    <a:bodyPr/>
                    <a:lstStyle/>
                    <a:p>
                      <a:pPr algn="l"/>
                      <a:r>
                        <a:rPr lang="en-US" sz="1000" b="1" dirty="0">
                          <a:solidFill>
                            <a:srgbClr val="292934"/>
                          </a:solidFill>
                          <a:latin typeface="Calibri"/>
                          <a:cs typeface="Calibri"/>
                        </a:rPr>
                        <a:t>Rivalry (3)</a:t>
                      </a:r>
                    </a:p>
                  </a:txBody>
                  <a:tcPr marL="45720" marR="45720" marT="18000" marB="18000" anchor="ctr"/>
                </a:tc>
                <a:tc>
                  <a:txBody>
                    <a:bodyPr/>
                    <a:lstStyle/>
                    <a:p>
                      <a:pPr algn="l"/>
                      <a:r>
                        <a:rPr lang="en-US" sz="1000" dirty="0">
                          <a:solidFill>
                            <a:srgbClr val="292934"/>
                          </a:solidFill>
                          <a:latin typeface="Calibri"/>
                          <a:cs typeface="Calibri"/>
                        </a:rPr>
                        <a:t>GATX, Trinity's leasing arm, Union Tank Car, PE lessors; fleet tightness mutes price competition.</a:t>
                      </a:r>
                    </a:p>
                  </a:txBody>
                  <a:tcPr marL="45720" marR="45720" marT="18000" marB="18000" anchor="ctr"/>
                </a:tc>
                <a:extLst>
                  <a:ext uri="{0D108BD9-81ED-4DB2-BD59-A6C34878D82A}">
                    <a16:rowId xmlns:a16="http://schemas.microsoft.com/office/drawing/2014/main" val="10005"/>
                  </a:ext>
                </a:extLst>
              </a:tr>
            </a:tbl>
          </a:graphicData>
        </a:graphic>
      </p:graphicFrame>
      <p:sp>
        <p:nvSpPr>
          <p:cNvPr id="906" name="Porter callout"/>
          <p:cNvSpPr/>
          <p:nvPr/>
        </p:nvSpPr>
        <p:spPr>
          <a:xfrm>
            <a:off x="139700" y="5257800"/>
            <a:ext cx="8864600" cy="558800"/>
          </a:xfrm>
          <a:prstGeom prst="rect">
            <a:avLst/>
          </a:prstGeom>
          <a:solidFill>
            <a:srgbClr val="F2C755"/>
          </a:solidFill>
          <a:ln>
            <a:solidFill>
              <a:srgbClr val="000000"/>
            </a:solidFill>
          </a:ln>
        </p:spPr>
        <p:txBody>
          <a:bodyPr vertOverflow="clip" horzOverflow="clip" lIns="137160" tIns="91440" rIns="137160" rtlCol="0" anchor="t">
            <a:noAutofit/>
          </a:bodyPr>
          <a:lstStyle/>
          <a:p>
            <a:pPr>
              <a:spcBef>
                <a:spcPts val="0"/>
              </a:spcBef>
              <a:spcAft>
                <a:spcPts val="0"/>
              </a:spcAft>
            </a:pPr>
            <a:r>
              <a:rPr lang="en-US" sz="1100" b="1" dirty="0">
                <a:solidFill>
                  <a:srgbClr val="000000"/>
                </a:solidFill>
                <a:latin typeface="Calibri"/>
                <a:cs typeface="Calibri"/>
              </a:rPr>
              <a:t>Average 2.6 of 5. </a:t>
            </a:r>
            <a:r>
              <a:rPr lang="en-US" sz="1100" dirty="0">
                <a:solidFill>
                  <a:srgbClr val="000000"/>
                </a:solidFill>
                <a:latin typeface="Calibri"/>
                <a:cs typeface="Calibri"/>
              </a:rPr>
              <a:t>All five forces relate negatively to prices and profits; a moderate reading in a supply-constrained market is the structural reason renewal pricing has held above +20% for four years.</a:t>
            </a:r>
          </a:p>
        </p:txBody>
      </p:sp>
      <p:graphicFrame>
        <p:nvGraphicFramePr>
          <p:cNvPr id="950" name="Porter radar"/>
          <p:cNvGraphicFramePr/>
          <p:nvPr/>
        </p:nvGraphicFramePr>
        <p:xfrm>
          <a:off x="139700" y="3048000"/>
          <a:ext cx="3073400" cy="21082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6862352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7F32E-C536-9FA3-C425-1D1371A856F7}"/>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6CA1A4FD-66D0-09ED-67AE-400B9875280F}"/>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BCE51678-2D50-E220-E139-CB39FB4C7447}"/>
                </a:ext>
              </a:extLst>
            </p:cNvPr>
            <p:cNvSpPr txBox="1">
              <a:spLocks/>
            </p:cNvSpPr>
            <p:nvPr/>
          </p:nvSpPr>
          <p:spPr>
            <a:xfrm>
              <a:off x="-2" y="-17873"/>
              <a:ext cx="11270514" cy="733643"/>
            </a:xfrm>
            <a:prstGeom prst="rect">
              <a:avLst/>
            </a:prstGeom>
            <a:noFill/>
            <a:ln>
              <a:noFill/>
            </a:ln>
          </p:spPr>
          <p:txBody>
            <a:bodyPr lIns="91440" tIns="45720" rIns="91440" bIns="45720"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000" b="1">
                  <a:solidFill>
                    <a:srgbClr val="000000"/>
                  </a:solidFill>
                  <a:latin typeface="Calibri"/>
                  <a:ea typeface="Calibri"/>
                  <a:cs typeface="Calibri"/>
                </a:rPr>
                <a:t>Risk: Interest Rate Exposure</a:t>
              </a:r>
              <a:endParaRPr lang="en-US" sz="3000" b="1">
                <a:solidFill>
                  <a:srgbClr val="000000"/>
                </a:solidFill>
                <a:latin typeface="Calibri" panose="020F0502020204030204" pitchFamily="34" charset="0"/>
              </a:endParaRPr>
            </a:p>
          </p:txBody>
        </p:sp>
        <p:grpSp>
          <p:nvGrpSpPr>
            <p:cNvPr id="16397" name="Group 39">
              <a:extLst>
                <a:ext uri="{FF2B5EF4-FFF2-40B4-BE49-F238E27FC236}">
                  <a16:creationId xmlns:a16="http://schemas.microsoft.com/office/drawing/2014/main" id="{7F30312D-534D-1E5B-47E6-F76B97C85453}"/>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E0BB0F1D-9965-4E54-1388-84DEEA40A3D2}"/>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271223EF-A604-EBEA-541E-301079BEA1CB}"/>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6" name="Group 55">
            <a:extLst>
              <a:ext uri="{FF2B5EF4-FFF2-40B4-BE49-F238E27FC236}">
                <a16:creationId xmlns:a16="http://schemas.microsoft.com/office/drawing/2014/main" id="{B09C99EF-83C8-C371-DB2E-BA9059E5F12A}"/>
              </a:ext>
            </a:extLst>
          </p:cNvPr>
          <p:cNvGrpSpPr/>
          <p:nvPr/>
        </p:nvGrpSpPr>
        <p:grpSpPr>
          <a:xfrm>
            <a:off x="0" y="6265664"/>
            <a:ext cx="9144000" cy="457200"/>
            <a:chOff x="0" y="2732884"/>
            <a:chExt cx="9144000" cy="457200"/>
          </a:xfrm>
        </p:grpSpPr>
        <p:sp>
          <p:nvSpPr>
            <p:cNvPr id="57" name="Rectangle 56">
              <a:extLst>
                <a:ext uri="{FF2B5EF4-FFF2-40B4-BE49-F238E27FC236}">
                  <a16:creationId xmlns:a16="http://schemas.microsoft.com/office/drawing/2014/main" id="{E575D052-EA5D-FE13-C199-23F57B75C6F8}"/>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8" name="Group 57">
              <a:extLst>
                <a:ext uri="{FF2B5EF4-FFF2-40B4-BE49-F238E27FC236}">
                  <a16:creationId xmlns:a16="http://schemas.microsoft.com/office/drawing/2014/main" id="{2F457211-4CEE-9CD4-AC6C-44C07899C326}"/>
                </a:ext>
              </a:extLst>
            </p:cNvPr>
            <p:cNvGrpSpPr/>
            <p:nvPr/>
          </p:nvGrpSpPr>
          <p:grpSpPr>
            <a:xfrm>
              <a:off x="5021579" y="2732884"/>
              <a:ext cx="545306" cy="457200"/>
              <a:chOff x="4981575" y="2712036"/>
              <a:chExt cx="545306" cy="457200"/>
            </a:xfrm>
          </p:grpSpPr>
          <p:sp>
            <p:nvSpPr>
              <p:cNvPr id="16395" name="Oval 16394">
                <a:extLst>
                  <a:ext uri="{FF2B5EF4-FFF2-40B4-BE49-F238E27FC236}">
                    <a16:creationId xmlns:a16="http://schemas.microsoft.com/office/drawing/2014/main" id="{E593139C-F619-B56B-230B-CF89F8C7ACC7}"/>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396" name="Picture 16395" descr="Related image">
                <a:extLst>
                  <a:ext uri="{FF2B5EF4-FFF2-40B4-BE49-F238E27FC236}">
                    <a16:creationId xmlns:a16="http://schemas.microsoft.com/office/drawing/2014/main" id="{BC7D5FB9-249C-FD23-A744-BEEAB6961C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9" name="Group 58">
              <a:extLst>
                <a:ext uri="{FF2B5EF4-FFF2-40B4-BE49-F238E27FC236}">
                  <a16:creationId xmlns:a16="http://schemas.microsoft.com/office/drawing/2014/main" id="{1B414238-D192-876A-EDB8-12137B58E590}"/>
                </a:ext>
              </a:extLst>
            </p:cNvPr>
            <p:cNvGrpSpPr/>
            <p:nvPr/>
          </p:nvGrpSpPr>
          <p:grpSpPr>
            <a:xfrm>
              <a:off x="7910513" y="2732884"/>
              <a:ext cx="545306" cy="457200"/>
              <a:chOff x="7731919" y="2712036"/>
              <a:chExt cx="545306" cy="457200"/>
            </a:xfrm>
          </p:grpSpPr>
          <p:sp>
            <p:nvSpPr>
              <p:cNvPr id="16393" name="Oval 16392">
                <a:extLst>
                  <a:ext uri="{FF2B5EF4-FFF2-40B4-BE49-F238E27FC236}">
                    <a16:creationId xmlns:a16="http://schemas.microsoft.com/office/drawing/2014/main" id="{8057E57F-8437-A540-F334-1E7C5AF9E00D}"/>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394" name="Picture 16393" descr="Related image">
                <a:extLst>
                  <a:ext uri="{FF2B5EF4-FFF2-40B4-BE49-F238E27FC236}">
                    <a16:creationId xmlns:a16="http://schemas.microsoft.com/office/drawing/2014/main" id="{C4A05EC6-CAE9-6567-69A3-4DD2B92485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60" name="Oval 59">
              <a:extLst>
                <a:ext uri="{FF2B5EF4-FFF2-40B4-BE49-F238E27FC236}">
                  <a16:creationId xmlns:a16="http://schemas.microsoft.com/office/drawing/2014/main" id="{9F2B5506-2DB7-A3A9-6B81-F21C15AC17BB}"/>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1" name="Group 60">
              <a:extLst>
                <a:ext uri="{FF2B5EF4-FFF2-40B4-BE49-F238E27FC236}">
                  <a16:creationId xmlns:a16="http://schemas.microsoft.com/office/drawing/2014/main" id="{739BF995-621F-0D6A-6081-C7948C194ABA}"/>
                </a:ext>
              </a:extLst>
            </p:cNvPr>
            <p:cNvGrpSpPr/>
            <p:nvPr/>
          </p:nvGrpSpPr>
          <p:grpSpPr>
            <a:xfrm>
              <a:off x="6466045" y="2732884"/>
              <a:ext cx="545306" cy="457200"/>
              <a:chOff x="6353175" y="2712036"/>
              <a:chExt cx="545306" cy="457200"/>
            </a:xfrm>
          </p:grpSpPr>
          <p:sp>
            <p:nvSpPr>
              <p:cNvPr id="16390" name="Oval 16389">
                <a:extLst>
                  <a:ext uri="{FF2B5EF4-FFF2-40B4-BE49-F238E27FC236}">
                    <a16:creationId xmlns:a16="http://schemas.microsoft.com/office/drawing/2014/main" id="{06D4BBC8-9432-3023-21C9-4DE5BCD7A6ED}"/>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1" name="Graphic 14379" descr="Dollar with solid fill">
                <a:extLst>
                  <a:ext uri="{FF2B5EF4-FFF2-40B4-BE49-F238E27FC236}">
                    <a16:creationId xmlns:a16="http://schemas.microsoft.com/office/drawing/2014/main" id="{2A4554BC-6AD9-AD01-64D0-D316EFEB57DD}"/>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2" name="Group 61">
              <a:extLst>
                <a:ext uri="{FF2B5EF4-FFF2-40B4-BE49-F238E27FC236}">
                  <a16:creationId xmlns:a16="http://schemas.microsoft.com/office/drawing/2014/main" id="{ECDD9C61-0553-06E9-392A-32324545C078}"/>
                </a:ext>
              </a:extLst>
            </p:cNvPr>
            <p:cNvGrpSpPr/>
            <p:nvPr/>
          </p:nvGrpSpPr>
          <p:grpSpPr>
            <a:xfrm>
              <a:off x="3577113" y="2732884"/>
              <a:ext cx="545306" cy="457200"/>
              <a:chOff x="3609974" y="2715607"/>
              <a:chExt cx="545306" cy="457200"/>
            </a:xfrm>
          </p:grpSpPr>
          <p:sp>
            <p:nvSpPr>
              <p:cNvPr id="16386" name="Oval 16385">
                <a:extLst>
                  <a:ext uri="{FF2B5EF4-FFF2-40B4-BE49-F238E27FC236}">
                    <a16:creationId xmlns:a16="http://schemas.microsoft.com/office/drawing/2014/main" id="{1766B49C-04C8-4A02-2A54-B1882BD5538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87" name="Group 16386">
                <a:extLst>
                  <a:ext uri="{FF2B5EF4-FFF2-40B4-BE49-F238E27FC236}">
                    <a16:creationId xmlns:a16="http://schemas.microsoft.com/office/drawing/2014/main" id="{E75D2F76-2141-8B2E-8185-6D3BE6008442}"/>
                  </a:ext>
                </a:extLst>
              </p:cNvPr>
              <p:cNvGrpSpPr/>
              <p:nvPr/>
            </p:nvGrpSpPr>
            <p:grpSpPr>
              <a:xfrm>
                <a:off x="3769049" y="2811218"/>
                <a:ext cx="227157" cy="265979"/>
                <a:chOff x="3771206" y="2761936"/>
                <a:chExt cx="227157" cy="265979"/>
              </a:xfrm>
            </p:grpSpPr>
            <p:sp>
              <p:nvSpPr>
                <p:cNvPr id="16388" name="Freeform: Shape 16387">
                  <a:extLst>
                    <a:ext uri="{FF2B5EF4-FFF2-40B4-BE49-F238E27FC236}">
                      <a16:creationId xmlns:a16="http://schemas.microsoft.com/office/drawing/2014/main" id="{93141F59-80CB-65F5-753F-F4AD06545ED6}"/>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89" name="Freeform: Shape 16388">
                  <a:extLst>
                    <a:ext uri="{FF2B5EF4-FFF2-40B4-BE49-F238E27FC236}">
                      <a16:creationId xmlns:a16="http://schemas.microsoft.com/office/drawing/2014/main" id="{8EB232DF-D121-60E2-1DBC-12461FD80D86}"/>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3" name="Group 62">
              <a:extLst>
                <a:ext uri="{FF2B5EF4-FFF2-40B4-BE49-F238E27FC236}">
                  <a16:creationId xmlns:a16="http://schemas.microsoft.com/office/drawing/2014/main" id="{E6F6F7F1-4B34-6509-1DEA-63AAAE15B423}"/>
                </a:ext>
              </a:extLst>
            </p:cNvPr>
            <p:cNvGrpSpPr/>
            <p:nvPr/>
          </p:nvGrpSpPr>
          <p:grpSpPr>
            <a:xfrm>
              <a:off x="2132647" y="2732884"/>
              <a:ext cx="545306" cy="457200"/>
              <a:chOff x="2238375" y="2712635"/>
              <a:chExt cx="545306" cy="457200"/>
            </a:xfrm>
          </p:grpSpPr>
          <p:sp>
            <p:nvSpPr>
              <p:cNvPr id="16384" name="Oval 16383">
                <a:extLst>
                  <a:ext uri="{FF2B5EF4-FFF2-40B4-BE49-F238E27FC236}">
                    <a16:creationId xmlns:a16="http://schemas.microsoft.com/office/drawing/2014/main" id="{6AB6B121-7A0B-2279-7217-CF0FDDCD01D6}"/>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85" name="Graphic 14377" descr="Board Of Directors with solid fill">
                <a:extLst>
                  <a:ext uri="{FF2B5EF4-FFF2-40B4-BE49-F238E27FC236}">
                    <a16:creationId xmlns:a16="http://schemas.microsoft.com/office/drawing/2014/main" id="{6741A2B6-0A89-BC59-F629-09A003626187}"/>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398" name="Graphic 16397" descr="Lights On with solid fill">
            <a:extLst>
              <a:ext uri="{FF2B5EF4-FFF2-40B4-BE49-F238E27FC236}">
                <a16:creationId xmlns:a16="http://schemas.microsoft.com/office/drawing/2014/main" id="{1F9B7A4B-2F66-72EB-17AF-165EA7F5DA5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979" y="6263507"/>
            <a:ext cx="461513" cy="461513"/>
          </a:xfrm>
          <a:prstGeom prst="rect">
            <a:avLst/>
          </a:prstGeom>
        </p:spPr>
      </p:pic>
      <p:sp>
        <p:nvSpPr>
          <p:cNvPr id="11" name="Text Box 2">
            <a:extLst>
              <a:ext uri="{FF2B5EF4-FFF2-40B4-BE49-F238E27FC236}">
                <a16:creationId xmlns:a16="http://schemas.microsoft.com/office/drawing/2014/main" id="{F90B1464-61A8-9F3C-3EA5-92C3BC33FC1E}"/>
              </a:ext>
            </a:extLst>
          </p:cNvPr>
          <p:cNvSpPr txBox="1">
            <a:spLocks noChangeArrowheads="1"/>
          </p:cNvSpPr>
          <p:nvPr/>
        </p:nvSpPr>
        <p:spPr bwMode="auto">
          <a:xfrm>
            <a:off x="4673600" y="673100"/>
            <a:ext cx="43688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defRPr/>
            </a:pPr>
            <a:r>
              <a:rPr lang="en-US" altLang="en-US" sz="1200">
                <a:solidFill>
                  <a:srgbClr val="000000"/>
                </a:solidFill>
                <a:latin typeface="Calibri"/>
                <a:ea typeface="Calibri" panose="020F0502020204030204" pitchFamily="34" charset="0"/>
                <a:cs typeface="Times New Roman"/>
              </a:rPr>
              <a:t>Figure 51: Debt maturity ladder ($M)</a:t>
            </a:r>
          </a:p>
        </p:txBody>
      </p:sp>
      <p:pic>
        <p:nvPicPr>
          <p:cNvPr id="2" name="Picture 1" descr="A black background with blue text&#10;&#10;Description automatically generated">
            <a:extLst>
              <a:ext uri="{FF2B5EF4-FFF2-40B4-BE49-F238E27FC236}">
                <a16:creationId xmlns:a16="http://schemas.microsoft.com/office/drawing/2014/main" id="{E6C92C72-3B27-0F93-05EF-32D3F8FA468E}"/>
              </a:ext>
            </a:extLst>
          </p:cNvPr>
          <p:cNvPicPr>
            <a:picLocks noChangeAspect="1"/>
          </p:cNvPicPr>
          <p:nvPr/>
        </p:nvPicPr>
        <p:blipFill>
          <a:blip r:embed="rId6">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8" name="Text Box 2">
            <a:extLst>
              <a:ext uri="{FF2B5EF4-FFF2-40B4-BE49-F238E27FC236}">
                <a16:creationId xmlns:a16="http://schemas.microsoft.com/office/drawing/2014/main" id="{92016AF1-196F-C870-57E5-8138A0A3BAAD}"/>
              </a:ext>
            </a:extLst>
          </p:cNvPr>
          <p:cNvSpPr txBox="1">
            <a:spLocks noChangeArrowheads="1"/>
          </p:cNvSpPr>
          <p:nvPr/>
        </p:nvSpPr>
        <p:spPr bwMode="auto">
          <a:xfrm>
            <a:off x="4673600" y="3276600"/>
            <a:ext cx="43688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defRPr/>
            </a:pPr>
            <a:r>
              <a:rPr lang="en-US" altLang="en-US" sz="1200">
                <a:solidFill>
                  <a:srgbClr val="000000"/>
                </a:solidFill>
                <a:latin typeface="Calibri"/>
                <a:ea typeface="Calibri" panose="020F0502020204030204" pitchFamily="34" charset="0"/>
                <a:cs typeface="Times New Roman"/>
              </a:rPr>
              <a:t>Figure 52: Fixed average coupon on maturing debt (%)</a:t>
            </a:r>
          </a:p>
        </p:txBody>
      </p:sp>
      <p:sp>
        <p:nvSpPr>
          <p:cNvPr id="5" name="TextBox 4">
            <a:extLst>
              <a:ext uri="{FF2B5EF4-FFF2-40B4-BE49-F238E27FC236}">
                <a16:creationId xmlns:a16="http://schemas.microsoft.com/office/drawing/2014/main" id="{BD752FCB-131C-A4E9-A5CA-B7BA74E158A6}"/>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26</a:t>
            </a:fld>
            <a:endParaRPr lang="en-US" sz="1400">
              <a:latin typeface="Calibri" panose="020F0502020204030204" pitchFamily="34" charset="0"/>
              <a:cs typeface="Calibri" panose="020F0502020204030204" pitchFamily="34" charset="0"/>
            </a:endParaRPr>
          </a:p>
        </p:txBody>
      </p:sp>
      <p:sp>
        <p:nvSpPr>
          <p:cNvPr id="6" name="Text Box 2">
            <a:extLst>
              <a:ext uri="{FF2B5EF4-FFF2-40B4-BE49-F238E27FC236}">
                <a16:creationId xmlns:a16="http://schemas.microsoft.com/office/drawing/2014/main" id="{8DAC0FB7-7E98-7476-08DC-7B4265191534}"/>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6399" name="Chart"/>
          <p:cNvGraphicFramePr/>
          <p:nvPr/>
        </p:nvGraphicFramePr>
        <p:xfrm>
          <a:off x="4673600" y="939800"/>
          <a:ext cx="4368800" cy="22225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6400" name="Chart"/>
          <p:cNvGraphicFramePr/>
          <p:nvPr/>
        </p:nvGraphicFramePr>
        <p:xfrm>
          <a:off x="4673600" y="3657600"/>
          <a:ext cx="4368800" cy="2095500"/>
        </p:xfrm>
        <a:graphic>
          <a:graphicData uri="http://schemas.openxmlformats.org/drawingml/2006/chart">
            <c:chart xmlns:c="http://schemas.openxmlformats.org/drawingml/2006/chart" xmlns:r="http://schemas.openxmlformats.org/officeDocument/2006/relationships" r:id="rId8"/>
          </a:graphicData>
        </a:graphic>
      </p:graphicFrame>
      <p:sp>
        <p:nvSpPr>
          <p:cNvPr id="950" name="Floating caption">
            <a:extLst>
              <a:ext uri="{FF2B5EF4-FFF2-40B4-BE49-F238E27FC236}">
                <a16:creationId xmlns:a16="http://schemas.microsoft.com/office/drawing/2014/main" id="{F90B1464-61A8-9F3C-3EA5-92C3BC33FC1E}"/>
              </a:ext>
            </a:extLst>
          </p:cNvPr>
          <p:cNvSpPr txBox="1">
            <a:spLocks noChangeArrowheads="1"/>
          </p:cNvSpPr>
          <p:nvPr/>
        </p:nvSpPr>
        <p:spPr bwMode="auto">
          <a:xfrm>
            <a:off x="152400" y="673100"/>
            <a:ext cx="43561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defRPr/>
            </a:pPr>
            <a:r>
              <a:rPr lang="en-US" altLang="en-US" sz="1200">
                <a:solidFill>
                  <a:srgbClr val="000000"/>
                </a:solidFill>
                <a:latin typeface="Calibri"/>
                <a:ea typeface="Calibri" panose="020F0502020204030204" pitchFamily="34" charset="0"/>
                <a:cs typeface="Times New Roman"/>
              </a:rPr>
              <a:t>Figure 50: Floating-rate debt at 2025-12-31 ($M)</a:t>
            </a:r>
          </a:p>
        </p:txBody>
      </p:sp>
      <p:sp>
        <p:nvSpPr>
          <p:cNvPr id="951" name="Big number">
            <a:extLst>
              <a:ext uri="{FF2B5EF4-FFF2-40B4-BE49-F238E27FC236}">
                <a16:creationId xmlns:a16="http://schemas.microsoft.com/office/drawing/2014/main" id="{F90B1464-61A8-9F3C-3EA5-92C3BC33FC1E}"/>
              </a:ext>
            </a:extLst>
          </p:cNvPr>
          <p:cNvSpPr txBox="1">
            <a:spLocks noChangeArrowheads="1"/>
          </p:cNvSpPr>
          <p:nvPr/>
        </p:nvSpPr>
        <p:spPr bwMode="auto">
          <a:xfrm>
            <a:off x="152400" y="2946400"/>
            <a:ext cx="4356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defRPr/>
            </a:pPr>
            <a:r>
              <a:rPr lang="en-US" sz="3200" b="1">
                <a:solidFill>
                  <a:srgbClr val="292934"/>
                </a:solidFill>
                <a:latin typeface="Calibri" panose="020F0502020204030204" pitchFamily="34" charset="0"/>
              </a:rPr>
              <a:t>$0.45</a:t>
            </a:r>
          </a:p>
        </p:txBody>
      </p:sp>
      <p:sp>
        <p:nvSpPr>
          <p:cNvPr id="952" name="Big number caption">
            <a:extLst>
              <a:ext uri="{FF2B5EF4-FFF2-40B4-BE49-F238E27FC236}">
                <a16:creationId xmlns:a16="http://schemas.microsoft.com/office/drawing/2014/main" id="{F90B1464-61A8-9F3C-3EA5-92C3BC33FC1E}"/>
              </a:ext>
            </a:extLst>
          </p:cNvPr>
          <p:cNvSpPr txBox="1">
            <a:spLocks noChangeArrowheads="1"/>
          </p:cNvSpPr>
          <p:nvPr/>
        </p:nvSpPr>
        <p:spPr bwMode="auto">
          <a:xfrm>
            <a:off x="152400" y="3581400"/>
            <a:ext cx="43561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defRPr/>
            </a:pPr>
            <a:r>
              <a:rPr lang="en-US" sz="1200" b="1">
                <a:solidFill>
                  <a:srgbClr val="292934"/>
                </a:solidFill>
                <a:latin typeface="Calibri" panose="020F0502020204030204" pitchFamily="34" charset="0"/>
              </a:rPr>
              <a:t>per share, per 100bp, net of hedges. Gross exposure $0.81.</a:t>
            </a:r>
          </a:p>
        </p:txBody>
      </p:sp>
      <p:sp>
        <p:nvSpPr>
          <p:cNvPr id="953" name="Big number context">
            <a:extLst>
              <a:ext uri="{FF2B5EF4-FFF2-40B4-BE49-F238E27FC236}">
                <a16:creationId xmlns:a16="http://schemas.microsoft.com/office/drawing/2014/main" id="{F90B1464-61A8-9F3C-3EA5-92C3BC33FC1E}"/>
              </a:ext>
            </a:extLst>
          </p:cNvPr>
          <p:cNvSpPr txBox="1">
            <a:spLocks noChangeArrowheads="1"/>
          </p:cNvSpPr>
          <p:nvPr/>
        </p:nvSpPr>
        <p:spPr bwMode="auto">
          <a:xfrm>
            <a:off x="152400" y="3860800"/>
            <a:ext cx="43561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defRPr/>
            </a:pPr>
            <a:r>
              <a:rPr lang="en-US" sz="1100">
                <a:solidFill>
                  <a:srgbClr val="726056"/>
                </a:solidFill>
                <a:latin typeface="Calibri" panose="020F0502020204030204" pitchFamily="34" charset="0"/>
              </a:rPr>
              <a:t>$38.3M pretax gross on $3,830.5M floating, of which $1,754M is swapped to fixed.</a:t>
            </a:r>
          </a:p>
        </p:txBody>
      </p:sp>
      <p:sp>
        <p:nvSpPr>
          <p:cNvPr id="954" name="Rate callout">
            <a:extLst>
              <a:ext uri="{FF2B5EF4-FFF2-40B4-BE49-F238E27FC236}">
                <a16:creationId xmlns:a16="http://schemas.microsoft.com/office/drawing/2014/main" id="{8B6D7BA9-5397-26E5-9DC4-AB50B19C5063}"/>
              </a:ext>
            </a:extLst>
          </p:cNvPr>
          <p:cNvSpPr/>
          <p:nvPr/>
        </p:nvSpPr>
        <p:spPr>
          <a:xfrm>
            <a:off x="152400" y="4368800"/>
            <a:ext cx="4356100" cy="165100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Two exposures. $3.8B floats with short rates: 100bp is $0.45 per share net of $1,754M in interest rate swaps, about 4.5% of EPS, immediate, either direction; $0.81 gross. $8.9B is fixed until maturity, but the 2026 tranche was borrowed at about 1% and refinances near 5.3%. Kill criterion: 6.00% on new 10-year issuance.</a:t>
            </a:r>
          </a:p>
        </p:txBody>
      </p:sp>
      <p:graphicFrame>
        <p:nvGraphicFramePr>
          <p:cNvPr id="16401" name="Chart"/>
          <p:cNvGraphicFramePr/>
          <p:nvPr/>
        </p:nvGraphicFramePr>
        <p:xfrm>
          <a:off x="152400" y="914400"/>
          <a:ext cx="4356100" cy="1524000"/>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23155283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55DBE-F69D-F4F5-ED1A-758AC64AA1DF}"/>
            </a:ext>
          </a:extLst>
        </p:cNvPr>
        <p:cNvGrpSpPr/>
        <p:nvPr/>
      </p:nvGrpSpPr>
      <p:grpSpPr>
        <a:xfrm>
          <a:off x="0" y="0"/>
          <a:ext cx="0" cy="0"/>
          <a:chOff x="0" y="0"/>
          <a:chExt cx="0" cy="0"/>
        </a:xfrm>
      </p:grpSpPr>
      <p:sp>
        <p:nvSpPr>
          <p:cNvPr id="30" name="Arrow: Right 29">
            <a:extLst>
              <a:ext uri="{FF2B5EF4-FFF2-40B4-BE49-F238E27FC236}">
                <a16:creationId xmlns:a16="http://schemas.microsoft.com/office/drawing/2014/main" id="{6B6A6071-C0AC-FD0A-BBB3-56980491EF29}"/>
              </a:ext>
            </a:extLst>
          </p:cNvPr>
          <p:cNvSpPr/>
          <p:nvPr/>
        </p:nvSpPr>
        <p:spPr>
          <a:xfrm>
            <a:off x="2487625" y="994580"/>
            <a:ext cx="699588" cy="732926"/>
          </a:xfrm>
          <a:prstGeom prst="rightArrow">
            <a:avLst/>
          </a:prstGeom>
          <a:solidFill>
            <a:schemeClr val="bg1">
              <a:lumMod val="85000"/>
            </a:schemeClr>
          </a:solidFill>
          <a:ln w="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66C029B-6781-2FA2-5C56-0B1EFD8B51EC}"/>
              </a:ext>
            </a:extLst>
          </p:cNvPr>
          <p:cNvSpPr/>
          <p:nvPr/>
        </p:nvSpPr>
        <p:spPr>
          <a:xfrm>
            <a:off x="97596" y="786469"/>
            <a:ext cx="2565277" cy="1164013"/>
          </a:xfrm>
          <a:prstGeom prst="rect">
            <a:avLst/>
          </a:prstGeom>
          <a:solidFill>
            <a:schemeClr val="bg1">
              <a:lumMod val="85000"/>
            </a:schemeClr>
          </a:solidFill>
          <a:ln w="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 name="Arrow: Right 14">
            <a:extLst>
              <a:ext uri="{FF2B5EF4-FFF2-40B4-BE49-F238E27FC236}">
                <a16:creationId xmlns:a16="http://schemas.microsoft.com/office/drawing/2014/main" id="{84BF62A8-9D3C-D203-0B12-38C998827949}"/>
              </a:ext>
            </a:extLst>
          </p:cNvPr>
          <p:cNvSpPr/>
          <p:nvPr/>
        </p:nvSpPr>
        <p:spPr>
          <a:xfrm rot="5400000">
            <a:off x="7906856" y="3987357"/>
            <a:ext cx="699588" cy="776904"/>
          </a:xfrm>
          <a:prstGeom prst="rightArrow">
            <a:avLst/>
          </a:prstGeom>
          <a:solidFill>
            <a:schemeClr val="bg1">
              <a:lumMod val="85000"/>
            </a:schemeClr>
          </a:solidFill>
          <a:ln w="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392" name="Group 37">
            <a:extLst>
              <a:ext uri="{FF2B5EF4-FFF2-40B4-BE49-F238E27FC236}">
                <a16:creationId xmlns:a16="http://schemas.microsoft.com/office/drawing/2014/main" id="{8FF8E72F-0BD4-4E97-FF62-2262ECF03D07}"/>
              </a:ext>
            </a:extLst>
          </p:cNvPr>
          <p:cNvGrpSpPr>
            <a:grpSpLocks/>
          </p:cNvGrpSpPr>
          <p:nvPr/>
        </p:nvGrpSpPr>
        <p:grpSpPr bwMode="auto">
          <a:xfrm>
            <a:off x="0" y="96864"/>
            <a:ext cx="9144000" cy="576857"/>
            <a:chOff x="-2" y="-17873"/>
            <a:chExt cx="12192002" cy="769372"/>
          </a:xfrm>
        </p:grpSpPr>
        <p:sp>
          <p:nvSpPr>
            <p:cNvPr id="39" name="Title 1">
              <a:extLst>
                <a:ext uri="{FF2B5EF4-FFF2-40B4-BE49-F238E27FC236}">
                  <a16:creationId xmlns:a16="http://schemas.microsoft.com/office/drawing/2014/main" id="{C294B56F-B468-D215-A5E4-56E011D3EF60}"/>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chemeClr val="tx1"/>
                  </a:solidFill>
                  <a:latin typeface="Calibri" panose="020F0502020204030204" pitchFamily="34" charset="0"/>
                </a:rPr>
                <a:t>Risk: Cycle Position</a:t>
              </a:r>
              <a:endParaRPr lang="en-US" sz="3000" b="1">
                <a:solidFill>
                  <a:schemeClr val="tx1"/>
                </a:solidFill>
                <a:latin typeface="Calibri" panose="020F0502020204030204" pitchFamily="34" charset="0"/>
              </a:endParaRPr>
            </a:p>
          </p:txBody>
        </p:sp>
        <p:grpSp>
          <p:nvGrpSpPr>
            <p:cNvPr id="16397" name="Group 39">
              <a:extLst>
                <a:ext uri="{FF2B5EF4-FFF2-40B4-BE49-F238E27FC236}">
                  <a16:creationId xmlns:a16="http://schemas.microsoft.com/office/drawing/2014/main" id="{BFA6A0E0-A8F1-D0B0-84AD-9CC3EAE0D091}"/>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5704E539-8C59-36DD-FBDF-708CB73A9CB8}"/>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5B0E8603-B80A-4469-D9F9-69BB50C4106B}"/>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E8A37F02-80BB-9CC4-A762-B360714BF3D6}"/>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52099F64-C476-F9F7-7034-4B91A9D7B043}"/>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840892F4-95F1-422B-3A4D-2BA4C858DC87}"/>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D1AA5185-A9ED-FA9C-07E7-5F805699A2A7}"/>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FBF3A8FC-CE17-EB9B-3A82-95AF9BBD8D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6B96F23C-333C-5242-C289-BE1A7582DCC8}"/>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FBF51509-03E4-FC1C-7C13-7078681C35BC}"/>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1DD2312E-D042-4005-E064-C3A8BFE456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D4B2F405-3E9B-6927-808C-210E092726B4}"/>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C129E09F-3B4C-E707-AB13-4F27FD8A9FF6}"/>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67166A82-BCC7-3160-F048-6FC38ED6A7E5}"/>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D29C3D73-5F62-8CC1-8E41-AF5D54B9E9AB}"/>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A51F9274-F64E-5C0B-7BBC-32AC48E47987}"/>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5B590ADD-AA30-8744-05D9-4F347A2F2CCA}"/>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5BAAE9E1-5B4D-BF86-5930-D9EB3E8B6A80}"/>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4C470323-1EFC-9FB1-12A8-D92353D7F534}"/>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6525E98C-5B23-9F4B-9E25-953D2E0EB9A2}"/>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E95EA76E-D434-35B1-FD42-3264C4EDD7A8}"/>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883ED38E-6779-9C92-BFBB-86976551BE82}"/>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7C7D2F3B-534F-CFA7-6ABC-11A5EF6E1796}"/>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2B079CEB-FE99-881B-C631-9BFA8BD8A5C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sp>
        <p:nvSpPr>
          <p:cNvPr id="16451" name="Arrow: Right 16450">
            <a:extLst>
              <a:ext uri="{FF2B5EF4-FFF2-40B4-BE49-F238E27FC236}">
                <a16:creationId xmlns:a16="http://schemas.microsoft.com/office/drawing/2014/main" id="{B8892FA5-5A16-9BE6-4459-667F7056148F}"/>
              </a:ext>
            </a:extLst>
          </p:cNvPr>
          <p:cNvSpPr/>
          <p:nvPr/>
        </p:nvSpPr>
        <p:spPr>
          <a:xfrm rot="5400000">
            <a:off x="7901220" y="2068209"/>
            <a:ext cx="699588" cy="776904"/>
          </a:xfrm>
          <a:prstGeom prst="rightArrow">
            <a:avLst/>
          </a:prstGeom>
          <a:solidFill>
            <a:schemeClr val="bg1">
              <a:lumMod val="85000"/>
            </a:schemeClr>
          </a:solidFill>
          <a:ln w="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Calibri" panose="020F0502020204030204" pitchFamily="34" charset="0"/>
              <a:ea typeface="Calibri" panose="020F0502020204030204" pitchFamily="34" charset="0"/>
              <a:cs typeface="Calibri" panose="020F0502020204030204" pitchFamily="34" charset="0"/>
            </a:endParaRPr>
          </a:p>
        </p:txBody>
      </p:sp>
      <p:sp>
        <p:nvSpPr>
          <p:cNvPr id="16405" name="Rectangle 16404">
            <a:extLst>
              <a:ext uri="{FF2B5EF4-FFF2-40B4-BE49-F238E27FC236}">
                <a16:creationId xmlns:a16="http://schemas.microsoft.com/office/drawing/2014/main" id="{E7A67724-6E28-76BC-454B-7869AFC58FF6}"/>
              </a:ext>
            </a:extLst>
          </p:cNvPr>
          <p:cNvSpPr/>
          <p:nvPr/>
        </p:nvSpPr>
        <p:spPr>
          <a:xfrm>
            <a:off x="7521701" y="970624"/>
            <a:ext cx="1463592" cy="1335493"/>
          </a:xfrm>
          <a:prstGeom prst="rect">
            <a:avLst/>
          </a:prstGeom>
          <a:solidFill>
            <a:schemeClr val="bg1">
              <a:lumMod val="85000"/>
            </a:schemeClr>
          </a:solidFill>
          <a:ln w="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XLI/XLP ratio peaked in June 2026</a:t>
            </a:r>
          </a:p>
        </p:txBody>
      </p:sp>
      <p:sp>
        <p:nvSpPr>
          <p:cNvPr id="5" name="Rectangle 4">
            <a:extLst>
              <a:ext uri="{FF2B5EF4-FFF2-40B4-BE49-F238E27FC236}">
                <a16:creationId xmlns:a16="http://schemas.microsoft.com/office/drawing/2014/main" id="{630D3DEB-A692-625D-EE9F-0E336A351B5E}"/>
              </a:ext>
            </a:extLst>
          </p:cNvPr>
          <p:cNvSpPr/>
          <p:nvPr/>
        </p:nvSpPr>
        <p:spPr>
          <a:xfrm>
            <a:off x="7528009" y="2889618"/>
            <a:ext cx="1463592" cy="1335493"/>
          </a:xfrm>
          <a:prstGeom prst="rect">
            <a:avLst/>
          </a:prstGeom>
          <a:solidFill>
            <a:schemeClr val="bg1">
              <a:lumMod val="85000"/>
            </a:schemeClr>
          </a:solidFill>
          <a:ln w="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ISM Manufacturing PMI turned down in July 2026</a:t>
            </a:r>
          </a:p>
        </p:txBody>
      </p:sp>
      <p:sp>
        <p:nvSpPr>
          <p:cNvPr id="8" name="Text Box 2">
            <a:extLst>
              <a:ext uri="{FF2B5EF4-FFF2-40B4-BE49-F238E27FC236}">
                <a16:creationId xmlns:a16="http://schemas.microsoft.com/office/drawing/2014/main" id="{588342B0-F5D7-B69A-1BBB-6AC9FD846419}"/>
              </a:ext>
            </a:extLst>
          </p:cNvPr>
          <p:cNvSpPr txBox="1">
            <a:spLocks noChangeArrowheads="1"/>
          </p:cNvSpPr>
          <p:nvPr/>
        </p:nvSpPr>
        <p:spPr bwMode="auto">
          <a:xfrm>
            <a:off x="3263308" y="730434"/>
            <a:ext cx="4472010" cy="237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53:  GATX Lease Price Index, the company's own instrument (%)</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6" name="Rectangle 15">
            <a:extLst>
              <a:ext uri="{FF2B5EF4-FFF2-40B4-BE49-F238E27FC236}">
                <a16:creationId xmlns:a16="http://schemas.microsoft.com/office/drawing/2014/main" id="{FE687140-E1FC-49A8-0C57-9C975D728420}"/>
              </a:ext>
            </a:extLst>
          </p:cNvPr>
          <p:cNvSpPr/>
          <p:nvPr/>
        </p:nvSpPr>
        <p:spPr>
          <a:xfrm>
            <a:off x="7541997" y="4808290"/>
            <a:ext cx="1463592" cy="1203129"/>
          </a:xfrm>
          <a:prstGeom prst="rect">
            <a:avLst/>
          </a:prstGeom>
          <a:solidFill>
            <a:schemeClr val="bg1">
              <a:lumMod val="85000"/>
            </a:schemeClr>
          </a:solidFill>
          <a:ln w="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GATX LPI decelerated to +16.8% in the Q2 2026 print, late July</a:t>
            </a:r>
          </a:p>
        </p:txBody>
      </p:sp>
      <p:sp>
        <p:nvSpPr>
          <p:cNvPr id="20" name="Text Box 2">
            <a:extLst>
              <a:ext uri="{FF2B5EF4-FFF2-40B4-BE49-F238E27FC236}">
                <a16:creationId xmlns:a16="http://schemas.microsoft.com/office/drawing/2014/main" id="{AAE3EA7F-6AE0-79AF-BCD9-2551AF68D950}"/>
              </a:ext>
            </a:extLst>
          </p:cNvPr>
          <p:cNvSpPr txBox="1">
            <a:spLocks noChangeArrowheads="1"/>
          </p:cNvSpPr>
          <p:nvPr/>
        </p:nvSpPr>
        <p:spPr bwMode="auto">
          <a:xfrm>
            <a:off x="3263308" y="1701800"/>
            <a:ext cx="4292877"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a:ea typeface="Calibri" panose="020F0502020204030204" pitchFamily="34" charset="0"/>
                <a:cs typeface="Times New Roman"/>
              </a:rPr>
              <a:t>All three instruments turned before the call opened on 2026-09-11.</a:t>
            </a:r>
            <a:endParaRPr lang="en-US" altLang="en-US" sz="120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1" name="Rectangle 20">
            <a:extLst>
              <a:ext uri="{FF2B5EF4-FFF2-40B4-BE49-F238E27FC236}">
                <a16:creationId xmlns:a16="http://schemas.microsoft.com/office/drawing/2014/main" id="{8EE135A4-58F6-FB0D-E388-1E49646EAC66}"/>
              </a:ext>
            </a:extLst>
          </p:cNvPr>
          <p:cNvSpPr/>
          <p:nvPr/>
        </p:nvSpPr>
        <p:spPr>
          <a:xfrm>
            <a:off x="3282844" y="5349991"/>
            <a:ext cx="4075069" cy="661428"/>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This is one observation, so it is not yet a pattern. It is the honest answer to what could make me wrong.</a:t>
            </a:r>
          </a:p>
        </p:txBody>
      </p:sp>
      <p:pic>
        <p:nvPicPr>
          <p:cNvPr id="2" name="Picture 1" descr="A black background with blue text&#10;&#10;Description automatically generated">
            <a:extLst>
              <a:ext uri="{FF2B5EF4-FFF2-40B4-BE49-F238E27FC236}">
                <a16:creationId xmlns:a16="http://schemas.microsoft.com/office/drawing/2014/main" id="{967571AD-C667-899C-92BB-D36D199A16E9}"/>
              </a:ext>
            </a:extLst>
          </p:cNvPr>
          <p:cNvPicPr>
            <a:picLocks noChangeAspect="1"/>
          </p:cNvPicPr>
          <p:nvPr/>
        </p:nvPicPr>
        <p:blipFill>
          <a:blip r:embed="rId7">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10" name="Text Box 2">
            <a:extLst>
              <a:ext uri="{FF2B5EF4-FFF2-40B4-BE49-F238E27FC236}">
                <a16:creationId xmlns:a16="http://schemas.microsoft.com/office/drawing/2014/main" id="{57BF38F3-8316-4535-B2EB-36008BB51C01}"/>
              </a:ext>
            </a:extLst>
          </p:cNvPr>
          <p:cNvSpPr txBox="1">
            <a:spLocks noChangeArrowheads="1"/>
          </p:cNvSpPr>
          <p:nvPr/>
        </p:nvSpPr>
        <p:spPr bwMode="auto">
          <a:xfrm>
            <a:off x="97308" y="1957152"/>
            <a:ext cx="4472010" cy="237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a:ea typeface="Calibri" panose="020F0502020204030204" pitchFamily="34" charset="0"/>
                <a:cs typeface="Times New Roman"/>
              </a:rPr>
              <a:t>Figure 54:  Cycle instruments and turn dates</a:t>
            </a:r>
            <a:endParaRPr lang="en-US" altLang="en-US" sz="120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C559C43D-55D0-062B-1A89-E1C41940C8AC}"/>
              </a:ext>
            </a:extLst>
          </p:cNvPr>
          <p:cNvGraphicFramePr>
            <a:graphicFrameLocks noGrp="1"/>
          </p:cNvGraphicFramePr>
          <p:nvPr>
            <p:custDataLst>
              <p:tags r:id="rId1"/>
            </p:custDataLst>
          </p:nvPr>
        </p:nvGraphicFramePr>
        <p:xfrm>
          <a:off x="103308" y="2206883"/>
          <a:ext cx="2997200" cy="2341043"/>
        </p:xfrm>
        <a:graphic>
          <a:graphicData uri="http://schemas.openxmlformats.org/drawingml/2006/table">
            <a:tbl>
              <a:tblPr/>
              <a:tblGrid>
                <a:gridCol w="1498600">
                  <a:extLst>
                    <a:ext uri="{9D8B030D-6E8A-4147-A177-3AD203B41FA5}">
                      <a16:colId xmlns:a16="http://schemas.microsoft.com/office/drawing/2014/main" val="2605096143"/>
                    </a:ext>
                  </a:extLst>
                </a:gridCol>
                <a:gridCol w="1498600">
                  <a:extLst>
                    <a:ext uri="{9D8B030D-6E8A-4147-A177-3AD203B41FA5}">
                      <a16:colId xmlns:a16="http://schemas.microsoft.com/office/drawing/2014/main" val="2320396080"/>
                    </a:ext>
                  </a:extLst>
                </a:gridCol>
              </a:tblGrid>
              <a:tr h="199823">
                <a:tc gridSpan="2">
                  <a:txBody>
                    <a:bodyPr/>
                    <a:lstStyle/>
                    <a:p>
                      <a:pPr algn="ctr" fontAlgn="b"/>
                      <a:r>
                        <a:rPr lang="pt-BR" sz="900" b="1" i="0" u="none" strike="noStrike">
                          <a:solidFill>
                            <a:srgbClr val="000000"/>
                          </a:solidFill>
                          <a:effectLst/>
                          <a:latin typeface="Calibri" panose="020F0502020204030204" pitchFamily="34" charset="0"/>
                        </a:rPr>
                        <a:t>Cycle instrument</a:t>
                      </a:r>
                    </a:p>
                  </a:txBody>
                  <a:tcPr marL="7620" marR="7620" marT="7620" marB="0" anchor="b">
                    <a:lnL>
                      <a:noFill/>
                    </a:lnL>
                    <a:lnR>
                      <a:noFill/>
                    </a:lnR>
                    <a:lnT>
                      <a:noFill/>
                    </a:lnT>
                    <a:lnB>
                      <a:noFill/>
                    </a:lnB>
                    <a:solidFill>
                      <a:srgbClr val="F2C755"/>
                    </a:solidFill>
                  </a:tcPr>
                </a:tc>
                <a:tc hMerge="1">
                  <a:txBody>
                    <a:bodyPr/>
                    <a:lstStyle/>
                    <a:p>
                      <a:endParaRPr/>
                    </a:p>
                  </a:txBody>
                  <a:tcPr marL="7620" marR="7620" marT="7620" marB="0" anchor="b">
                    <a:lnL>
                      <a:noFill/>
                    </a:lnL>
                    <a:lnR>
                      <a:noFill/>
                    </a:lnR>
                    <a:lnT>
                      <a:noFill/>
                    </a:lnT>
                    <a:lnB>
                      <a:noFill/>
                    </a:lnB>
                    <a:solidFill>
                      <a:srgbClr val="F2C755"/>
                    </a:solidFill>
                  </a:tcPr>
                </a:tc>
                <a:extLst>
                  <a:ext uri="{0D108BD9-81ED-4DB2-BD59-A6C34878D82A}">
                    <a16:rowId xmlns:a16="http://schemas.microsoft.com/office/drawing/2014/main" val="2950759192"/>
                  </a:ext>
                </a:extLst>
              </a:tr>
              <a:tr h="140890">
                <a:tc>
                  <a:txBody>
                    <a:bodyPr/>
                    <a:lstStyle/>
                    <a:p>
                      <a:pPr algn="l" fontAlgn="b"/>
                      <a:r>
                        <a:rPr lang="en-US" sz="900" b="0" i="0" u="none" strike="noStrike">
                          <a:solidFill>
                            <a:srgbClr val="000000"/>
                          </a:solidFill>
                          <a:effectLst/>
                          <a:latin typeface="Calibri" panose="020F0502020204030204" pitchFamily="34" charset="0"/>
                        </a:rPr>
                        <a:t>GATX Lease Price Index</a:t>
                      </a:r>
                    </a:p>
                  </a:txBody>
                  <a:tcPr marL="7620" marR="7620" marT="7620" marB="0" anchor="b">
                    <a:lnL>
                      <a:noFill/>
                    </a:lnL>
                    <a:lnR>
                      <a:noFill/>
                    </a:lnR>
                    <a:lnT>
                      <a:noFill/>
                    </a:lnT>
                    <a:lnB>
                      <a:noFill/>
                    </a:lnB>
                    <a:solidFill>
                      <a:srgbClr val="FFFFFF"/>
                    </a:solidFill>
                  </a:tcPr>
                </a:tc>
                <a:tc>
                  <a:txBody>
                    <a:bodyPr/>
                    <a:lstStyle/>
                    <a:p>
                      <a:pPr algn="r" fontAlgn="b"/>
                      <a:r>
                        <a:rPr lang="en-US" sz="900" b="0" i="0" u="none" strike="noStrike">
                          <a:solidFill>
                            <a:srgbClr val="000000"/>
                          </a:solidFill>
                          <a:effectLst/>
                          <a:latin typeface="Calibri" panose="020F0502020204030204" pitchFamily="34" charset="0"/>
                        </a:rPr>
                        <a:t>+16.8% in Q2 2026, down from +22% in FY2025</a:t>
                      </a:r>
                    </a:p>
                  </a:txBody>
                  <a:tcPr marL="7620" marR="7620" marT="7620" marB="0" anchor="b">
                    <a:lnL>
                      <a:noFill/>
                    </a:lnL>
                    <a:lnR>
                      <a:noFill/>
                    </a:lnR>
                    <a:lnT>
                      <a:noFill/>
                    </a:lnT>
                    <a:lnB>
                      <a:noFill/>
                    </a:lnB>
                    <a:solidFill>
                      <a:srgbClr val="FFFFFF"/>
                    </a:solidFill>
                  </a:tcPr>
                </a:tc>
                <a:extLst>
                  <a:ext uri="{0D108BD9-81ED-4DB2-BD59-A6C34878D82A}">
                    <a16:rowId xmlns:a16="http://schemas.microsoft.com/office/drawing/2014/main" val="1968462949"/>
                  </a:ext>
                </a:extLst>
              </a:tr>
              <a:tr h="140890">
                <a:tc>
                  <a:txBody>
                    <a:bodyPr/>
                    <a:lstStyle/>
                    <a:p>
                      <a:pPr algn="l" fontAlgn="b"/>
                      <a:r>
                        <a:rPr lang="en-US" sz="900" b="0" i="0" u="none" strike="noStrike">
                          <a:solidFill>
                            <a:srgbClr val="000000"/>
                          </a:solidFill>
                          <a:effectLst/>
                          <a:latin typeface="Calibri" panose="020F0502020204030204" pitchFamily="34" charset="0"/>
                        </a:rPr>
                        <a:t>Turn date</a:t>
                      </a:r>
                    </a:p>
                  </a:txBody>
                  <a:tcPr marL="7620" marR="7620" marT="7620" marB="0" anchor="b">
                    <a:lnL>
                      <a:noFill/>
                    </a:lnL>
                    <a:lnR>
                      <a:noFill/>
                    </a:lnR>
                    <a:lnT>
                      <a:noFill/>
                    </a:lnT>
                    <a:lnB>
                      <a:noFill/>
                    </a:lnB>
                    <a:solidFill>
                      <a:srgbClr val="F2F2F2"/>
                    </a:solidFill>
                  </a:tcPr>
                </a:tc>
                <a:tc>
                  <a:txBody>
                    <a:bodyPr/>
                    <a:lstStyle/>
                    <a:p>
                      <a:pPr algn="r" fontAlgn="b"/>
                      <a:r>
                        <a:rPr lang="en-US" sz="900" b="0" i="0" u="none" strike="noStrike">
                          <a:solidFill>
                            <a:srgbClr val="000000"/>
                          </a:solidFill>
                          <a:effectLst/>
                          <a:latin typeface="Calibri" panose="020F0502020204030204" pitchFamily="34" charset="0"/>
                        </a:rPr>
                        <a:t>Q2 2026 print, late July</a:t>
                      </a:r>
                    </a:p>
                  </a:txBody>
                  <a:tcPr marL="7620" marR="7620" marT="7620" marB="0" anchor="b">
                    <a:lnL>
                      <a:noFill/>
                    </a:lnL>
                    <a:lnR>
                      <a:noFill/>
                    </a:lnR>
                    <a:lnT>
                      <a:noFill/>
                    </a:lnT>
                    <a:lnB>
                      <a:noFill/>
                    </a:lnB>
                    <a:solidFill>
                      <a:srgbClr val="F2F2F2"/>
                    </a:solidFill>
                  </a:tcPr>
                </a:tc>
                <a:extLst>
                  <a:ext uri="{0D108BD9-81ED-4DB2-BD59-A6C34878D82A}">
                    <a16:rowId xmlns:a16="http://schemas.microsoft.com/office/drawing/2014/main" val="1121449605"/>
                  </a:ext>
                </a:extLst>
              </a:tr>
              <a:tr h="140890">
                <a:tc>
                  <a:txBody>
                    <a:bodyPr/>
                    <a:lstStyle/>
                    <a:p>
                      <a:pPr algn="l" fontAlgn="b"/>
                      <a:r>
                        <a:rPr lang="en-US" sz="900" b="0" i="0" u="none" strike="noStrike">
                          <a:solidFill>
                            <a:srgbClr val="000000"/>
                          </a:solidFill>
                          <a:effectLst/>
                          <a:latin typeface="Calibri" panose="020F0502020204030204" pitchFamily="34" charset="0"/>
                        </a:rPr>
                        <a:t>ISM Manufacturing PMI</a:t>
                      </a:r>
                    </a:p>
                  </a:txBody>
                  <a:tcPr marL="7620" marR="7620" marT="7620" marB="0" anchor="b">
                    <a:lnL>
                      <a:noFill/>
                    </a:lnL>
                    <a:lnR>
                      <a:noFill/>
                    </a:lnR>
                    <a:lnT>
                      <a:noFill/>
                    </a:lnT>
                    <a:lnB>
                      <a:noFill/>
                    </a:lnB>
                    <a:solidFill>
                      <a:srgbClr val="FFFFFF"/>
                    </a:solidFill>
                  </a:tcPr>
                </a:tc>
                <a:tc>
                  <a:txBody>
                    <a:bodyPr/>
                    <a:lstStyle/>
                    <a:p>
                      <a:pPr algn="r" fontAlgn="b"/>
                      <a:r>
                        <a:rPr lang="en-US" sz="900" b="0" i="0" u="none" strike="noStrike">
                          <a:solidFill>
                            <a:srgbClr val="000000"/>
                          </a:solidFill>
                          <a:effectLst/>
                          <a:latin typeface="Calibri" panose="020F0502020204030204" pitchFamily="34" charset="0"/>
                        </a:rPr>
                        <a:t>Turned down</a:t>
                      </a:r>
                    </a:p>
                  </a:txBody>
                  <a:tcPr marL="7620" marR="7620" marT="7620" marB="0" anchor="b">
                    <a:lnL>
                      <a:noFill/>
                    </a:lnL>
                    <a:lnR>
                      <a:noFill/>
                    </a:lnR>
                    <a:lnT>
                      <a:noFill/>
                    </a:lnT>
                    <a:lnB>
                      <a:noFill/>
                    </a:lnB>
                    <a:solidFill>
                      <a:srgbClr val="FFFFFF"/>
                    </a:solidFill>
                  </a:tcPr>
                </a:tc>
                <a:extLst>
                  <a:ext uri="{0D108BD9-81ED-4DB2-BD59-A6C34878D82A}">
                    <a16:rowId xmlns:a16="http://schemas.microsoft.com/office/drawing/2014/main" val="3298429943"/>
                  </a:ext>
                </a:extLst>
              </a:tr>
              <a:tr h="140890">
                <a:tc>
                  <a:txBody>
                    <a:bodyPr/>
                    <a:lstStyle/>
                    <a:p>
                      <a:pPr algn="l" fontAlgn="b"/>
                      <a:r>
                        <a:rPr lang="en-US" sz="900" b="0" i="0" u="none" strike="noStrike">
                          <a:solidFill>
                            <a:srgbClr val="000000"/>
                          </a:solidFill>
                          <a:effectLst/>
                          <a:latin typeface="Calibri" panose="020F0502020204030204" pitchFamily="34" charset="0"/>
                        </a:rPr>
                        <a:t>Turn date</a:t>
                      </a:r>
                    </a:p>
                  </a:txBody>
                  <a:tcPr marL="7620" marR="7620" marT="7620" marB="0" anchor="b">
                    <a:lnL>
                      <a:noFill/>
                    </a:lnL>
                    <a:lnR>
                      <a:noFill/>
                    </a:lnR>
                    <a:lnT>
                      <a:noFill/>
                    </a:lnT>
                    <a:lnB>
                      <a:noFill/>
                    </a:lnB>
                    <a:solidFill>
                      <a:srgbClr val="F2F2F2"/>
                    </a:solidFill>
                  </a:tcPr>
                </a:tc>
                <a:tc>
                  <a:txBody>
                    <a:bodyPr/>
                    <a:lstStyle/>
                    <a:p>
                      <a:pPr algn="r" fontAlgn="b"/>
                      <a:r>
                        <a:rPr lang="en-US" sz="900" b="0" i="0" u="none" strike="noStrike">
                          <a:solidFill>
                            <a:srgbClr val="000000"/>
                          </a:solidFill>
                          <a:effectLst/>
                          <a:latin typeface="Calibri" panose="020F0502020204030204" pitchFamily="34" charset="0"/>
                        </a:rPr>
                        <a:t>July 2026</a:t>
                      </a:r>
                    </a:p>
                  </a:txBody>
                  <a:tcPr marL="7620" marR="7620" marT="7620" marB="0" anchor="b">
                    <a:lnL>
                      <a:noFill/>
                    </a:lnL>
                    <a:lnR>
                      <a:noFill/>
                    </a:lnR>
                    <a:lnT>
                      <a:noFill/>
                    </a:lnT>
                    <a:lnB>
                      <a:noFill/>
                    </a:lnB>
                    <a:solidFill>
                      <a:srgbClr val="F2F2F2"/>
                    </a:solidFill>
                  </a:tcPr>
                </a:tc>
                <a:extLst>
                  <a:ext uri="{0D108BD9-81ED-4DB2-BD59-A6C34878D82A}">
                    <a16:rowId xmlns:a16="http://schemas.microsoft.com/office/drawing/2014/main" val="1563035348"/>
                  </a:ext>
                </a:extLst>
              </a:tr>
              <a:tr h="140890">
                <a:tc>
                  <a:txBody>
                    <a:bodyPr/>
                    <a:lstStyle/>
                    <a:p>
                      <a:pPr algn="l" fontAlgn="b"/>
                      <a:r>
                        <a:rPr lang="en-US" sz="900" b="0" i="0" u="none" strike="noStrike">
                          <a:solidFill>
                            <a:srgbClr val="000000"/>
                          </a:solidFill>
                          <a:effectLst/>
                          <a:latin typeface="Calibri" panose="020F0502020204030204" pitchFamily="34" charset="0"/>
                        </a:rPr>
                        <a:t>XLI/XLP ratio, cyclicals vs defensives</a:t>
                      </a:r>
                    </a:p>
                  </a:txBody>
                  <a:tcPr marL="7620" marR="7620" marT="7620" marB="0" anchor="b">
                    <a:lnL>
                      <a:noFill/>
                    </a:lnL>
                    <a:lnR>
                      <a:noFill/>
                    </a:lnR>
                    <a:lnT>
                      <a:noFill/>
                    </a:lnT>
                    <a:lnB>
                      <a:noFill/>
                    </a:lnB>
                    <a:solidFill>
                      <a:srgbClr val="FFFFFF"/>
                    </a:solidFill>
                  </a:tcPr>
                </a:tc>
                <a:tc>
                  <a:txBody>
                    <a:bodyPr/>
                    <a:lstStyle/>
                    <a:p>
                      <a:pPr algn="r" fontAlgn="b"/>
                      <a:r>
                        <a:rPr lang="en-US" sz="900" b="0" i="0" u="none" strike="noStrike">
                          <a:solidFill>
                            <a:srgbClr val="000000"/>
                          </a:solidFill>
                          <a:effectLst/>
                          <a:latin typeface="Calibri" panose="020F0502020204030204" pitchFamily="34" charset="0"/>
                        </a:rPr>
                        <a:t>Peaked</a:t>
                      </a:r>
                    </a:p>
                  </a:txBody>
                  <a:tcPr marL="7620" marR="7620" marT="7620" marB="0" anchor="b">
                    <a:lnL>
                      <a:noFill/>
                    </a:lnL>
                    <a:lnR>
                      <a:noFill/>
                    </a:lnR>
                    <a:lnT>
                      <a:noFill/>
                    </a:lnT>
                    <a:lnB>
                      <a:noFill/>
                    </a:lnB>
                    <a:solidFill>
                      <a:srgbClr val="FFFFFF"/>
                    </a:solidFill>
                  </a:tcPr>
                </a:tc>
                <a:extLst>
                  <a:ext uri="{0D108BD9-81ED-4DB2-BD59-A6C34878D82A}">
                    <a16:rowId xmlns:a16="http://schemas.microsoft.com/office/drawing/2014/main" val="665760752"/>
                  </a:ext>
                </a:extLst>
              </a:tr>
              <a:tr h="140890">
                <a:tc>
                  <a:txBody>
                    <a:bodyPr/>
                    <a:lstStyle/>
                    <a:p>
                      <a:pPr algn="l" fontAlgn="b"/>
                      <a:r>
                        <a:rPr lang="en-US" sz="900" b="0" i="0" u="none" strike="noStrike">
                          <a:solidFill>
                            <a:srgbClr val="000000"/>
                          </a:solidFill>
                          <a:effectLst/>
                          <a:latin typeface="Calibri" panose="020F0502020204030204" pitchFamily="34" charset="0"/>
                        </a:rPr>
                        <a:t>Turn date</a:t>
                      </a:r>
                    </a:p>
                  </a:txBody>
                  <a:tcPr marL="7620" marR="7620" marT="7620" marB="0" anchor="b">
                    <a:lnL>
                      <a:noFill/>
                    </a:lnL>
                    <a:lnR>
                      <a:noFill/>
                    </a:lnR>
                    <a:lnT>
                      <a:noFill/>
                    </a:lnT>
                    <a:lnB>
                      <a:noFill/>
                    </a:lnB>
                    <a:solidFill>
                      <a:srgbClr val="F2F2F2"/>
                    </a:solidFill>
                  </a:tcPr>
                </a:tc>
                <a:tc>
                  <a:txBody>
                    <a:bodyPr/>
                    <a:lstStyle/>
                    <a:p>
                      <a:pPr algn="r" fontAlgn="b"/>
                      <a:r>
                        <a:rPr lang="en-US" sz="900" b="0" i="0" u="none" strike="noStrike">
                          <a:solidFill>
                            <a:srgbClr val="000000"/>
                          </a:solidFill>
                          <a:effectLst/>
                          <a:latin typeface="Calibri" panose="020F0502020204030204" pitchFamily="34" charset="0"/>
                        </a:rPr>
                        <a:t>June 2026</a:t>
                      </a:r>
                    </a:p>
                  </a:txBody>
                  <a:tcPr marL="7620" marR="7620" marT="7620" marB="0" anchor="b">
                    <a:lnL>
                      <a:noFill/>
                    </a:lnL>
                    <a:lnR>
                      <a:noFill/>
                    </a:lnR>
                    <a:lnT>
                      <a:noFill/>
                    </a:lnT>
                    <a:lnB>
                      <a:noFill/>
                    </a:lnB>
                    <a:solidFill>
                      <a:srgbClr val="F2F2F2"/>
                    </a:solidFill>
                  </a:tcPr>
                </a:tc>
                <a:extLst>
                  <a:ext uri="{0D108BD9-81ED-4DB2-BD59-A6C34878D82A}">
                    <a16:rowId xmlns:a16="http://schemas.microsoft.com/office/drawing/2014/main" val="1749470616"/>
                  </a:ext>
                </a:extLst>
              </a:tr>
              <a:tr h="140890">
                <a:tc>
                  <a:txBody>
                    <a:bodyPr/>
                    <a:lstStyle/>
                    <a:p>
                      <a:pPr algn="l" fontAlgn="b"/>
                      <a:r>
                        <a:rPr lang="en-US" sz="900" b="0" i="0" u="none" strike="noStrike">
                          <a:solidFill>
                            <a:srgbClr val="000000"/>
                          </a:solidFill>
                          <a:effectLst/>
                          <a:latin typeface="Calibri" panose="020F0502020204030204" pitchFamily="34" charset="0"/>
                        </a:rPr>
                        <a:t>Classification</a:t>
                      </a:r>
                    </a:p>
                  </a:txBody>
                  <a:tcPr marL="7620" marR="7620" marT="7620" marB="0" anchor="b">
                    <a:lnL>
                      <a:noFill/>
                    </a:lnL>
                    <a:lnR>
                      <a:noFill/>
                    </a:lnR>
                    <a:lnT>
                      <a:noFill/>
                    </a:lnT>
                    <a:lnB>
                      <a:noFill/>
                    </a:lnB>
                    <a:solidFill>
                      <a:srgbClr val="FFFFFF"/>
                    </a:solidFill>
                  </a:tcPr>
                </a:tc>
                <a:tc>
                  <a:txBody>
                    <a:bodyPr/>
                    <a:lstStyle/>
                    <a:p>
                      <a:pPr algn="r" fontAlgn="b"/>
                      <a:r>
                        <a:rPr lang="en-US" sz="900" b="0" i="0" u="none" strike="noStrike">
                          <a:solidFill>
                            <a:srgbClr val="000000"/>
                          </a:solidFill>
                          <a:effectLst/>
                          <a:latin typeface="Calibri" panose="020F0502020204030204" pitchFamily="34" charset="0"/>
                        </a:rPr>
                        <a:t>LATE_CYCLE</a:t>
                      </a:r>
                    </a:p>
                  </a:txBody>
                  <a:tcPr marL="7620" marR="7620" marT="7620" marB="0" anchor="b">
                    <a:lnL>
                      <a:noFill/>
                    </a:lnL>
                    <a:lnR>
                      <a:noFill/>
                    </a:lnR>
                    <a:lnT>
                      <a:noFill/>
                    </a:lnT>
                    <a:lnB>
                      <a:noFill/>
                    </a:lnB>
                    <a:solidFill>
                      <a:srgbClr val="FFFFFF"/>
                    </a:solidFill>
                  </a:tcPr>
                </a:tc>
                <a:extLst>
                  <a:ext uri="{0D108BD9-81ED-4DB2-BD59-A6C34878D82A}">
                    <a16:rowId xmlns:a16="http://schemas.microsoft.com/office/drawing/2014/main" val="2365313787"/>
                  </a:ext>
                </a:extLst>
              </a:tr>
              <a:tr h="140890">
                <a:tc>
                  <a:txBody>
                    <a:bodyPr/>
                    <a:lstStyle/>
                    <a:p>
                      <a:pPr algn="l" fontAlgn="b"/>
                      <a:r>
                        <a:rPr lang="en-US" sz="900" b="0" i="0" u="none" strike="noStrike">
                          <a:solidFill>
                            <a:srgbClr val="000000"/>
                          </a:solidFill>
                          <a:effectLst/>
                          <a:latin typeface="Calibri" panose="020F0502020204030204" pitchFamily="34" charset="0"/>
                        </a:rPr>
                        <a:t>Call opened</a:t>
                      </a:r>
                    </a:p>
                  </a:txBody>
                  <a:tcPr marL="7620" marR="7620" marT="7620" marB="0" anchor="b">
                    <a:lnL>
                      <a:noFill/>
                    </a:lnL>
                    <a:lnR>
                      <a:noFill/>
                    </a:lnR>
                    <a:lnT>
                      <a:noFill/>
                    </a:lnT>
                    <a:lnB>
                      <a:noFill/>
                    </a:lnB>
                    <a:solidFill>
                      <a:srgbClr val="F2F2F2"/>
                    </a:solidFill>
                  </a:tcPr>
                </a:tc>
                <a:tc>
                  <a:txBody>
                    <a:bodyPr/>
                    <a:lstStyle/>
                    <a:p>
                      <a:pPr algn="r" fontAlgn="b"/>
                      <a:r>
                        <a:rPr lang="en-US" sz="900" b="0" i="0" u="none" strike="noStrike">
                          <a:solidFill>
                            <a:srgbClr val="000000"/>
                          </a:solidFill>
                          <a:effectLst/>
                          <a:latin typeface="Calibri" panose="020F0502020204030204" pitchFamily="34" charset="0"/>
                        </a:rPr>
                        <a:t>2026-09-11</a:t>
                      </a:r>
                    </a:p>
                  </a:txBody>
                  <a:tcPr marL="7620" marR="7620" marT="7620" marB="0" anchor="b">
                    <a:lnL>
                      <a:noFill/>
                    </a:lnL>
                    <a:lnR>
                      <a:noFill/>
                    </a:lnR>
                    <a:lnT>
                      <a:noFill/>
                    </a:lnT>
                    <a:lnB>
                      <a:noFill/>
                    </a:lnB>
                    <a:solidFill>
                      <a:srgbClr val="F2F2F2"/>
                    </a:solidFill>
                  </a:tcPr>
                </a:tc>
                <a:extLst>
                  <a:ext uri="{0D108BD9-81ED-4DB2-BD59-A6C34878D82A}">
                    <a16:rowId xmlns:a16="http://schemas.microsoft.com/office/drawing/2014/main" val="3040821728"/>
                  </a:ext>
                </a:extLst>
              </a:tr>
              <a:tr h="140890">
                <a:tc>
                  <a:txBody>
                    <a:bodyPr/>
                    <a:lstStyle/>
                    <a:p>
                      <a:pPr algn="l" fontAlgn="b"/>
                      <a:r>
                        <a:rPr lang="en-US" sz="900" b="0" i="0" u="none" strike="noStrike">
                          <a:solidFill>
                            <a:srgbClr val="000000"/>
                          </a:solidFill>
                          <a:effectLst/>
                          <a:latin typeface="Calibri" panose="020F0502020204030204" pitchFamily="34" charset="0"/>
                        </a:rPr>
                        <a:t>Observations</a:t>
                      </a:r>
                    </a:p>
                  </a:txBody>
                  <a:tcPr marL="7620" marR="7620" marT="7620" marB="0" anchor="b">
                    <a:lnL>
                      <a:noFill/>
                    </a:lnL>
                    <a:lnR>
                      <a:noFill/>
                    </a:lnR>
                    <a:lnT>
                      <a:noFill/>
                    </a:lnT>
                    <a:lnB>
                      <a:noFill/>
                    </a:lnB>
                    <a:solidFill>
                      <a:srgbClr val="FFFFFF"/>
                    </a:solidFill>
                  </a:tcPr>
                </a:tc>
                <a:tc>
                  <a:txBody>
                    <a:bodyPr/>
                    <a:lstStyle/>
                    <a:p>
                      <a:pPr algn="r" fontAlgn="b"/>
                      <a:r>
                        <a:rPr lang="en-US" sz="900" b="0" i="0" u="none" strike="noStrike">
                          <a:solidFill>
                            <a:srgbClr val="000000"/>
                          </a:solidFill>
                          <a:effectLst/>
                          <a:latin typeface="Calibri" panose="020F0502020204030204" pitchFamily="34" charset="0"/>
                        </a:rPr>
                        <a:t>One, n = 1</a:t>
                      </a:r>
                    </a:p>
                  </a:txBody>
                  <a:tcPr marL="7620" marR="7620" marT="7620" marB="0" anchor="b">
                    <a:lnL>
                      <a:noFill/>
                    </a:lnL>
                    <a:lnR>
                      <a:noFill/>
                    </a:lnR>
                    <a:lnT>
                      <a:noFill/>
                    </a:lnT>
                    <a:lnB>
                      <a:noFill/>
                    </a:lnB>
                    <a:solidFill>
                      <a:srgbClr val="FFFFFF"/>
                    </a:solidFill>
                  </a:tcPr>
                </a:tc>
                <a:extLst>
                  <a:ext uri="{0D108BD9-81ED-4DB2-BD59-A6C34878D82A}">
                    <a16:rowId xmlns:a16="http://schemas.microsoft.com/office/drawing/2014/main" val="1823043878"/>
                  </a:ext>
                </a:extLst>
              </a:tr>
              <a:tr h="140890">
                <a:tc>
                  <a:txBody>
                    <a:bodyPr/>
                    <a:lstStyle/>
                    <a:p>
                      <a:pPr algn="l" fontAlgn="b"/>
                      <a:r>
                        <a:rPr lang="en-US" sz="900" b="0" i="0" u="none" strike="noStrike">
                          <a:solidFill>
                            <a:srgbClr val="000000"/>
                          </a:solidFill>
                          <a:effectLst/>
                          <a:latin typeface="Calibri" panose="020F0502020204030204" pitchFamily="34" charset="0"/>
                        </a:rPr>
                        <a:t>Not a driver</a:t>
                      </a:r>
                    </a:p>
                  </a:txBody>
                  <a:tcPr marL="7620" marR="7620" marT="7620" marB="0" anchor="b">
                    <a:lnL>
                      <a:noFill/>
                    </a:lnL>
                    <a:lnR>
                      <a:noFill/>
                    </a:lnR>
                    <a:lnT>
                      <a:noFill/>
                    </a:lnT>
                    <a:lnB>
                      <a:noFill/>
                    </a:lnB>
                    <a:solidFill>
                      <a:srgbClr val="F2F2F2"/>
                    </a:solidFill>
                  </a:tcPr>
                </a:tc>
                <a:tc>
                  <a:txBody>
                    <a:bodyPr/>
                    <a:lstStyle/>
                    <a:p>
                      <a:pPr algn="r" fontAlgn="b"/>
                      <a:r>
                        <a:rPr lang="en-US" sz="900" b="0" i="0" u="none" strike="noStrike">
                          <a:solidFill>
                            <a:srgbClr val="000000"/>
                          </a:solidFill>
                          <a:effectLst/>
                          <a:latin typeface="Calibri" panose="020F0502020204030204" pitchFamily="34" charset="0"/>
                        </a:rPr>
                        <a:t>Utilization, 98% to 99% for years</a:t>
                      </a:r>
                    </a:p>
                  </a:txBody>
                  <a:tcPr marL="7620" marR="7620" marT="7620" marB="0" anchor="b">
                    <a:lnL>
                      <a:noFill/>
                    </a:lnL>
                    <a:lnR>
                      <a:noFill/>
                    </a:lnR>
                    <a:lnT>
                      <a:noFill/>
                    </a:lnT>
                    <a:lnB>
                      <a:noFill/>
                    </a:lnB>
                    <a:solidFill>
                      <a:srgbClr val="F2F2F2"/>
                    </a:solidFill>
                  </a:tcPr>
                </a:tc>
                <a:extLst>
                  <a:ext uri="{0D108BD9-81ED-4DB2-BD59-A6C34878D82A}">
                    <a16:rowId xmlns:a16="http://schemas.microsoft.com/office/drawing/2014/main" val="3114107874"/>
                  </a:ext>
                </a:extLst>
              </a:tr>
              <a:tr h="140890">
                <a:tc>
                  <a:txBody>
                    <a:bodyPr/>
                    <a:lstStyle/>
                    <a:p>
                      <a:pPr algn="l" fontAlgn="b"/>
                      <a:r>
                        <a:rPr lang="en-US" sz="900" b="0" i="0" u="none" strike="noStrike">
                          <a:solidFill>
                            <a:srgbClr val="000000"/>
                          </a:solidFill>
                          <a:effectLst/>
                          <a:latin typeface="Calibri" panose="020F0502020204030204" pitchFamily="34" charset="0"/>
                        </a:rPr>
                        <a:t>Not a driver</a:t>
                      </a:r>
                    </a:p>
                  </a:txBody>
                  <a:tcPr marL="7620" marR="7620" marT="7620" marB="0" anchor="b">
                    <a:lnL>
                      <a:noFill/>
                    </a:lnL>
                    <a:lnR>
                      <a:noFill/>
                    </a:lnR>
                    <a:lnT>
                      <a:noFill/>
                    </a:lnT>
                    <a:lnB>
                      <a:noFill/>
                    </a:lnB>
                    <a:solidFill>
                      <a:srgbClr val="FFFFFF"/>
                    </a:solidFill>
                  </a:tcPr>
                </a:tc>
                <a:tc>
                  <a:txBody>
                    <a:bodyPr/>
                    <a:lstStyle/>
                    <a:p>
                      <a:pPr algn="r" fontAlgn="b"/>
                      <a:r>
                        <a:rPr lang="en-US" sz="900" b="0" i="0" u="none" strike="noStrike">
                          <a:solidFill>
                            <a:srgbClr val="000000"/>
                          </a:solidFill>
                          <a:effectLst/>
                          <a:latin typeface="Calibri" panose="020F0502020204030204" pitchFamily="34" charset="0"/>
                        </a:rPr>
                        <a:t>PMI on its own, only alongside LPI and XLI/XLP</a:t>
                      </a:r>
                    </a:p>
                  </a:txBody>
                  <a:tcPr marL="7620" marR="7620" marT="7620" marB="0" anchor="b">
                    <a:lnL>
                      <a:noFill/>
                    </a:lnL>
                    <a:lnR>
                      <a:noFill/>
                    </a:lnR>
                    <a:lnT>
                      <a:noFill/>
                    </a:lnT>
                    <a:lnB>
                      <a:noFill/>
                    </a:lnB>
                    <a:solidFill>
                      <a:srgbClr val="FFFFFF"/>
                    </a:solidFill>
                  </a:tcPr>
                </a:tc>
                <a:extLst>
                  <a:ext uri="{0D108BD9-81ED-4DB2-BD59-A6C34878D82A}">
                    <a16:rowId xmlns:a16="http://schemas.microsoft.com/office/drawing/2014/main" val="2347594932"/>
                  </a:ext>
                </a:extLst>
              </a:tr>
            </a:tbl>
          </a:graphicData>
        </a:graphic>
      </p:graphicFrame>
      <p:sp>
        <p:nvSpPr>
          <p:cNvPr id="23" name="Rectangle: Rounded Corners 22">
            <a:extLst>
              <a:ext uri="{FF2B5EF4-FFF2-40B4-BE49-F238E27FC236}">
                <a16:creationId xmlns:a16="http://schemas.microsoft.com/office/drawing/2014/main" id="{F53D4934-8A33-96B5-DB0E-DB42E647069A}"/>
              </a:ext>
            </a:extLst>
          </p:cNvPr>
          <p:cNvSpPr/>
          <p:nvPr/>
        </p:nvSpPr>
        <p:spPr>
          <a:xfrm>
            <a:off x="217357" y="1413861"/>
            <a:ext cx="2322956" cy="419281"/>
          </a:xfrm>
          <a:prstGeom prst="roundRect">
            <a:avLst/>
          </a:prstGeom>
          <a:solidFill>
            <a:srgbClr val="F2C755"/>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One observation, n = 1</a:t>
            </a:r>
          </a:p>
        </p:txBody>
      </p:sp>
      <p:sp>
        <p:nvSpPr>
          <p:cNvPr id="35" name="Rectangle: Rounded Corners 34">
            <a:extLst>
              <a:ext uri="{FF2B5EF4-FFF2-40B4-BE49-F238E27FC236}">
                <a16:creationId xmlns:a16="http://schemas.microsoft.com/office/drawing/2014/main" id="{44B87502-FEB2-92AA-B2F9-9E09FB752010}"/>
              </a:ext>
            </a:extLst>
          </p:cNvPr>
          <p:cNvSpPr/>
          <p:nvPr/>
        </p:nvSpPr>
        <p:spPr>
          <a:xfrm>
            <a:off x="217357" y="872843"/>
            <a:ext cx="2322956" cy="419281"/>
          </a:xfrm>
          <a:prstGeom prst="roundRect">
            <a:avLst/>
          </a:prstGeom>
          <a:solidFill>
            <a:srgbClr val="F2C755"/>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Cycle read: LATE_CYCLE</a:t>
            </a:r>
          </a:p>
        </p:txBody>
      </p:sp>
      <p:sp>
        <p:nvSpPr>
          <p:cNvPr id="36" name="TextBox 35">
            <a:extLst>
              <a:ext uri="{FF2B5EF4-FFF2-40B4-BE49-F238E27FC236}">
                <a16:creationId xmlns:a16="http://schemas.microsoft.com/office/drawing/2014/main" id="{498A62B8-914B-1AE7-A5E0-967F75691C34}"/>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27</a:t>
            </a:fld>
            <a:endParaRPr lang="en-US" sz="1400">
              <a:latin typeface="Calibri" panose="020F0502020204030204" pitchFamily="34" charset="0"/>
              <a:cs typeface="Calibri" panose="020F0502020204030204" pitchFamily="34" charset="0"/>
            </a:endParaRPr>
          </a:p>
        </p:txBody>
      </p:sp>
      <p:sp>
        <p:nvSpPr>
          <p:cNvPr id="37" name="Text Box 2">
            <a:extLst>
              <a:ext uri="{FF2B5EF4-FFF2-40B4-BE49-F238E27FC236}">
                <a16:creationId xmlns:a16="http://schemas.microsoft.com/office/drawing/2014/main" id="{726E4101-7F87-3445-8DD9-1A3EBB2FB188}"/>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208D0AF9-09D4-32B7-B28B-DC3749E58414}"/>
              </a:ext>
            </a:extLst>
          </p:cNvPr>
          <p:cNvSpPr/>
          <p:nvPr/>
        </p:nvSpPr>
        <p:spPr>
          <a:xfrm>
            <a:off x="3282843" y="4476493"/>
            <a:ext cx="4075069" cy="699588"/>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Equities turned first in June, then the PMI in July, then the company's own pricing in late July.</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 opened the call on 2026-09-11, after all three had rolled over.</a:t>
            </a:r>
          </a:p>
        </p:txBody>
      </p:sp>
      <p:graphicFrame>
        <p:nvGraphicFramePr>
          <p:cNvPr id="16452" name="Chart"/>
          <p:cNvGraphicFramePr/>
          <p:nvPr/>
        </p:nvGraphicFramePr>
        <p:xfrm>
          <a:off x="3276600" y="2044700"/>
          <a:ext cx="4076700" cy="2260600"/>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3872712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E1324-9E5F-2A9C-03BA-487EA11B906A}"/>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80F35820-7CA3-3CE0-D5B6-5221AB8B9431}"/>
              </a:ext>
            </a:extLst>
          </p:cNvPr>
          <p:cNvGrpSpPr/>
          <p:nvPr/>
        </p:nvGrpSpPr>
        <p:grpSpPr>
          <a:xfrm>
            <a:off x="0" y="6222249"/>
            <a:ext cx="9144000" cy="457200"/>
            <a:chOff x="0" y="2732884"/>
            <a:chExt cx="9144000" cy="457200"/>
          </a:xfrm>
        </p:grpSpPr>
        <p:sp>
          <p:nvSpPr>
            <p:cNvPr id="58" name="Rectangle 57">
              <a:extLst>
                <a:ext uri="{FF2B5EF4-FFF2-40B4-BE49-F238E27FC236}">
                  <a16:creationId xmlns:a16="http://schemas.microsoft.com/office/drawing/2014/main" id="{F6796F43-AE22-A193-4F75-25A7BC3C67AA}"/>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9" name="Group 58">
              <a:extLst>
                <a:ext uri="{FF2B5EF4-FFF2-40B4-BE49-F238E27FC236}">
                  <a16:creationId xmlns:a16="http://schemas.microsoft.com/office/drawing/2014/main" id="{ED9DF65C-F76E-07EC-0884-FE5E0070B30E}"/>
                </a:ext>
              </a:extLst>
            </p:cNvPr>
            <p:cNvGrpSpPr/>
            <p:nvPr/>
          </p:nvGrpSpPr>
          <p:grpSpPr>
            <a:xfrm>
              <a:off x="5021579" y="2732884"/>
              <a:ext cx="545306" cy="457200"/>
              <a:chOff x="4981575" y="2712036"/>
              <a:chExt cx="545306" cy="457200"/>
            </a:xfrm>
          </p:grpSpPr>
          <p:sp>
            <p:nvSpPr>
              <p:cNvPr id="183321" name="Oval 183320">
                <a:extLst>
                  <a:ext uri="{FF2B5EF4-FFF2-40B4-BE49-F238E27FC236}">
                    <a16:creationId xmlns:a16="http://schemas.microsoft.com/office/drawing/2014/main" id="{039AEED7-3117-FFA2-83A2-74D4E76D51D9}"/>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83322" name="Picture 183321" descr="Related image">
                <a:extLst>
                  <a:ext uri="{FF2B5EF4-FFF2-40B4-BE49-F238E27FC236}">
                    <a16:creationId xmlns:a16="http://schemas.microsoft.com/office/drawing/2014/main" id="{825403B5-78FB-2C3F-0397-464C487981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83319" name="Oval 183318">
              <a:extLst>
                <a:ext uri="{FF2B5EF4-FFF2-40B4-BE49-F238E27FC236}">
                  <a16:creationId xmlns:a16="http://schemas.microsoft.com/office/drawing/2014/main" id="{B293C5C7-96D3-CEE9-14DB-FB7ABA9E7F22}"/>
                </a:ext>
              </a:extLst>
            </p:cNvPr>
            <p:cNvSpPr/>
            <p:nvPr/>
          </p:nvSpPr>
          <p:spPr bwMode="auto">
            <a:xfrm>
              <a:off x="7910513"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5" name="Oval 183314">
              <a:extLst>
                <a:ext uri="{FF2B5EF4-FFF2-40B4-BE49-F238E27FC236}">
                  <a16:creationId xmlns:a16="http://schemas.microsoft.com/office/drawing/2014/main" id="{C652CB9C-4549-B7CD-13BF-2D26FA24DAE0}"/>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2" name="Group 61">
              <a:extLst>
                <a:ext uri="{FF2B5EF4-FFF2-40B4-BE49-F238E27FC236}">
                  <a16:creationId xmlns:a16="http://schemas.microsoft.com/office/drawing/2014/main" id="{EEE4EDEC-F445-DB81-FF0A-33F0CA95C1DF}"/>
                </a:ext>
              </a:extLst>
            </p:cNvPr>
            <p:cNvGrpSpPr/>
            <p:nvPr/>
          </p:nvGrpSpPr>
          <p:grpSpPr>
            <a:xfrm>
              <a:off x="6466045" y="2732884"/>
              <a:ext cx="545306" cy="457200"/>
              <a:chOff x="6353175" y="2712036"/>
              <a:chExt cx="545306" cy="457200"/>
            </a:xfrm>
          </p:grpSpPr>
          <p:sp>
            <p:nvSpPr>
              <p:cNvPr id="183313" name="Oval 183312">
                <a:extLst>
                  <a:ext uri="{FF2B5EF4-FFF2-40B4-BE49-F238E27FC236}">
                    <a16:creationId xmlns:a16="http://schemas.microsoft.com/office/drawing/2014/main" id="{67B326A5-4E51-752A-9B6E-F20DC41E5237}"/>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4" name="Graphic 14379" descr="Dollar with solid fill">
                <a:extLst>
                  <a:ext uri="{FF2B5EF4-FFF2-40B4-BE49-F238E27FC236}">
                    <a16:creationId xmlns:a16="http://schemas.microsoft.com/office/drawing/2014/main" id="{33F73ECC-D2A6-EF4D-F3E9-27A4913D503A}"/>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nvGrpSpPr>
            <p:cNvPr id="63" name="Group 62">
              <a:extLst>
                <a:ext uri="{FF2B5EF4-FFF2-40B4-BE49-F238E27FC236}">
                  <a16:creationId xmlns:a16="http://schemas.microsoft.com/office/drawing/2014/main" id="{08E130B2-1137-6EC6-F125-82CAA35E1B73}"/>
                </a:ext>
              </a:extLst>
            </p:cNvPr>
            <p:cNvGrpSpPr/>
            <p:nvPr/>
          </p:nvGrpSpPr>
          <p:grpSpPr>
            <a:xfrm>
              <a:off x="3577113" y="2732884"/>
              <a:ext cx="545306" cy="457200"/>
              <a:chOff x="3609974" y="2715607"/>
              <a:chExt cx="545306" cy="457200"/>
            </a:xfrm>
          </p:grpSpPr>
          <p:sp>
            <p:nvSpPr>
              <p:cNvPr id="183309" name="Oval 183308">
                <a:extLst>
                  <a:ext uri="{FF2B5EF4-FFF2-40B4-BE49-F238E27FC236}">
                    <a16:creationId xmlns:a16="http://schemas.microsoft.com/office/drawing/2014/main" id="{848D53DE-8F34-9D3B-0D4F-1140A7E30F43}"/>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83310" name="Group 183309">
                <a:extLst>
                  <a:ext uri="{FF2B5EF4-FFF2-40B4-BE49-F238E27FC236}">
                    <a16:creationId xmlns:a16="http://schemas.microsoft.com/office/drawing/2014/main" id="{C169BA0A-CB85-1777-447A-53AA5727767C}"/>
                  </a:ext>
                </a:extLst>
              </p:cNvPr>
              <p:cNvGrpSpPr/>
              <p:nvPr/>
            </p:nvGrpSpPr>
            <p:grpSpPr>
              <a:xfrm>
                <a:off x="3769049" y="2811218"/>
                <a:ext cx="227157" cy="265979"/>
                <a:chOff x="3771206" y="2761936"/>
                <a:chExt cx="227157" cy="265979"/>
              </a:xfrm>
            </p:grpSpPr>
            <p:sp>
              <p:nvSpPr>
                <p:cNvPr id="183311" name="Freeform: Shape 183310">
                  <a:extLst>
                    <a:ext uri="{FF2B5EF4-FFF2-40B4-BE49-F238E27FC236}">
                      <a16:creationId xmlns:a16="http://schemas.microsoft.com/office/drawing/2014/main" id="{4DE06626-6E5B-3E4A-71C6-A4DFB73010BB}"/>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sp>
              <p:nvSpPr>
                <p:cNvPr id="183312" name="Freeform: Shape 183311">
                  <a:extLst>
                    <a:ext uri="{FF2B5EF4-FFF2-40B4-BE49-F238E27FC236}">
                      <a16:creationId xmlns:a16="http://schemas.microsoft.com/office/drawing/2014/main" id="{9C899824-7014-73EF-877B-7EE5A745D7F4}"/>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6" name="Group 183305">
              <a:extLst>
                <a:ext uri="{FF2B5EF4-FFF2-40B4-BE49-F238E27FC236}">
                  <a16:creationId xmlns:a16="http://schemas.microsoft.com/office/drawing/2014/main" id="{D913F2F0-E0AE-F490-327F-3D5BA325CE12}"/>
                </a:ext>
              </a:extLst>
            </p:cNvPr>
            <p:cNvGrpSpPr/>
            <p:nvPr/>
          </p:nvGrpSpPr>
          <p:grpSpPr>
            <a:xfrm>
              <a:off x="2132647" y="2732884"/>
              <a:ext cx="545306" cy="457200"/>
              <a:chOff x="2238375" y="2712635"/>
              <a:chExt cx="545306" cy="457200"/>
            </a:xfrm>
          </p:grpSpPr>
          <p:sp>
            <p:nvSpPr>
              <p:cNvPr id="183307" name="Oval 183306">
                <a:extLst>
                  <a:ext uri="{FF2B5EF4-FFF2-40B4-BE49-F238E27FC236}">
                    <a16:creationId xmlns:a16="http://schemas.microsoft.com/office/drawing/2014/main" id="{1319F648-FC7C-2EA8-8069-818101FFF5E4}"/>
                  </a:ext>
                </a:extLst>
              </p:cNvPr>
              <p:cNvSpPr/>
              <p:nvPr/>
            </p:nvSpPr>
            <p:spPr bwMode="auto">
              <a:xfrm>
                <a:off x="2238375" y="2712635"/>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83308" name="Graphic 14377" descr="Board Of Directors with solid fill">
                <a:extLst>
                  <a:ext uri="{FF2B5EF4-FFF2-40B4-BE49-F238E27FC236}">
                    <a16:creationId xmlns:a16="http://schemas.microsoft.com/office/drawing/2014/main" id="{568C7BC9-ECD7-15D0-1F73-020E163A0DD3}"/>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1" name="Group 183300">
            <a:extLst>
              <a:ext uri="{FF2B5EF4-FFF2-40B4-BE49-F238E27FC236}">
                <a16:creationId xmlns:a16="http://schemas.microsoft.com/office/drawing/2014/main" id="{92C8BCD7-8E10-0615-FDE7-1E092793A580}"/>
              </a:ext>
            </a:extLst>
          </p:cNvPr>
          <p:cNvGrpSpPr>
            <a:grpSpLocks/>
          </p:cNvGrpSpPr>
          <p:nvPr/>
        </p:nvGrpSpPr>
        <p:grpSpPr bwMode="auto">
          <a:xfrm>
            <a:off x="0" y="82336"/>
            <a:ext cx="9144000" cy="576857"/>
            <a:chOff x="-2" y="-17873"/>
            <a:chExt cx="12192002" cy="769372"/>
          </a:xfrm>
        </p:grpSpPr>
        <p:sp>
          <p:nvSpPr>
            <p:cNvPr id="183302" name="Title 1">
              <a:extLst>
                <a:ext uri="{FF2B5EF4-FFF2-40B4-BE49-F238E27FC236}">
                  <a16:creationId xmlns:a16="http://schemas.microsoft.com/office/drawing/2014/main" id="{C7499657-3878-7EE7-686D-61AEBBE4E170}"/>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a:solidFill>
                    <a:schemeClr val="tx1"/>
                  </a:solidFill>
                  <a:latin typeface="Calibri" panose="020F0502020204030204" pitchFamily="34" charset="0"/>
                  <a:cs typeface="Calibri" panose="020F0502020204030204" pitchFamily="34" charset="0"/>
                </a:rPr>
                <a:t>Risk Heat Map and SWOT</a:t>
              </a:r>
              <a:endParaRPr lang="en-US" sz="2100" b="1">
                <a:solidFill>
                  <a:srgbClr val="000000"/>
                </a:solidFill>
                <a:latin typeface="Calibri" panose="020F0502020204030204" pitchFamily="34" charset="0"/>
                <a:cs typeface="Calibri" panose="020F0502020204030204" pitchFamily="34" charset="0"/>
              </a:endParaRPr>
            </a:p>
          </p:txBody>
        </p:sp>
        <p:grpSp>
          <p:nvGrpSpPr>
            <p:cNvPr id="183303" name="Group 39">
              <a:extLst>
                <a:ext uri="{FF2B5EF4-FFF2-40B4-BE49-F238E27FC236}">
                  <a16:creationId xmlns:a16="http://schemas.microsoft.com/office/drawing/2014/main" id="{E2441762-01A6-46CA-16D5-4B5F36E501A0}"/>
                </a:ext>
              </a:extLst>
            </p:cNvPr>
            <p:cNvGrpSpPr>
              <a:grpSpLocks/>
            </p:cNvGrpSpPr>
            <p:nvPr/>
          </p:nvGrpSpPr>
          <p:grpSpPr bwMode="auto">
            <a:xfrm>
              <a:off x="-2" y="645614"/>
              <a:ext cx="12192002" cy="105885"/>
              <a:chOff x="2373524" y="569416"/>
              <a:chExt cx="6496168" cy="87055"/>
            </a:xfrm>
          </p:grpSpPr>
          <p:sp>
            <p:nvSpPr>
              <p:cNvPr id="183304" name="Rectangle 183303">
                <a:extLst>
                  <a:ext uri="{FF2B5EF4-FFF2-40B4-BE49-F238E27FC236}">
                    <a16:creationId xmlns:a16="http://schemas.microsoft.com/office/drawing/2014/main" id="{E6D8B601-386C-3A20-3E2A-E3BC3910EF22}"/>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sp>
            <p:nvSpPr>
              <p:cNvPr id="183305" name="Rectangle 183304">
                <a:extLst>
                  <a:ext uri="{FF2B5EF4-FFF2-40B4-BE49-F238E27FC236}">
                    <a16:creationId xmlns:a16="http://schemas.microsoft.com/office/drawing/2014/main" id="{B09DEBF4-0E60-57DB-6F9D-3C1A02202783}"/>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grpSp>
      </p:grpSp>
      <p:pic>
        <p:nvPicPr>
          <p:cNvPr id="56" name="Picture 30" descr="Related image">
            <a:extLst>
              <a:ext uri="{FF2B5EF4-FFF2-40B4-BE49-F238E27FC236}">
                <a16:creationId xmlns:a16="http://schemas.microsoft.com/office/drawing/2014/main" id="{3D4CF136-5D13-BF3D-B440-773AEDD12D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4" b="4326"/>
          <a:stretch>
            <a:fillRect/>
          </a:stretch>
        </p:blipFill>
        <p:spPr bwMode="auto">
          <a:xfrm>
            <a:off x="8023225" y="6295142"/>
            <a:ext cx="328164" cy="292628"/>
          </a:xfrm>
          <a:prstGeom prst="rect">
            <a:avLst/>
          </a:prstGeom>
          <a:solidFill>
            <a:srgbClr val="F2C755"/>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2" name="Graphic 31" descr="Lights On with solid fill">
            <a:extLst>
              <a:ext uri="{FF2B5EF4-FFF2-40B4-BE49-F238E27FC236}">
                <a16:creationId xmlns:a16="http://schemas.microsoft.com/office/drawing/2014/main" id="{451B57C8-73D2-9D04-A456-460E562B1E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077" y="6223233"/>
            <a:ext cx="461513" cy="461513"/>
          </a:xfrm>
          <a:prstGeom prst="rect">
            <a:avLst/>
          </a:prstGeom>
        </p:spPr>
      </p:pic>
      <p:pic>
        <p:nvPicPr>
          <p:cNvPr id="19" name="Picture 18" descr="A black background with blue text&#10;&#10;Description automatically generated">
            <a:extLst>
              <a:ext uri="{FF2B5EF4-FFF2-40B4-BE49-F238E27FC236}">
                <a16:creationId xmlns:a16="http://schemas.microsoft.com/office/drawing/2014/main" id="{26380D0B-9A7E-D2A4-6A08-4B20A329C246}"/>
              </a:ext>
            </a:extLst>
          </p:cNvPr>
          <p:cNvPicPr>
            <a:picLocks noChangeAspect="1"/>
          </p:cNvPicPr>
          <p:nvPr/>
        </p:nvPicPr>
        <p:blipFill>
          <a:blip r:embed="rId5">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20" name="TextBox 19">
            <a:extLst>
              <a:ext uri="{FF2B5EF4-FFF2-40B4-BE49-F238E27FC236}">
                <a16:creationId xmlns:a16="http://schemas.microsoft.com/office/drawing/2014/main" id="{3C802AE6-76A5-94AF-D44E-0EF88219621E}"/>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28</a:t>
            </a:fld>
            <a:endParaRPr lang="en-US" sz="1400">
              <a:latin typeface="Calibri" panose="020F0502020204030204" pitchFamily="34" charset="0"/>
              <a:cs typeface="Calibri" panose="020F0502020204030204" pitchFamily="34" charset="0"/>
            </a:endParaRPr>
          </a:p>
        </p:txBody>
      </p:sp>
      <p:sp>
        <p:nvSpPr>
          <p:cNvPr id="900" name="Figure 55 caption"/>
          <p:cNvSpPr txBox="1"/>
          <p:nvPr/>
        </p:nvSpPr>
        <p:spPr>
          <a:xfrm>
            <a:off x="139700" y="711200"/>
            <a:ext cx="4381500" cy="228600"/>
          </a:xfrm>
          <a:prstGeom prst="rect">
            <a:avLst/>
          </a:prstGeom>
          <a:noFill/>
        </p:spPr>
        <p:txBody>
          <a:bodyPr vertOverflow="overflow" vert="horz" wrap="square" rtlCol="0" anchor="t">
            <a:spAutoFit/>
          </a:bodyPr>
          <a:lstStyle/>
          <a:p>
            <a:pPr algn="l"/>
            <a:r>
              <a:rPr lang="en-US" sz="1200" dirty="0">
                <a:solidFill>
                  <a:srgbClr val="292934"/>
                </a:solidFill>
                <a:latin typeface="Calibri"/>
                <a:ea typeface="Calibri"/>
                <a:cs typeface="Calibri"/>
              </a:rPr>
              <a:t>Figure 55: Risk assessment matrix, probability vs impact (0 to 100)</a:t>
            </a:r>
          </a:p>
        </p:txBody>
      </p:sp>
      <p:sp>
        <p:nvSpPr>
          <p:cNvPr id="901" name="Figure 56 caption"/>
          <p:cNvSpPr txBox="1"/>
          <p:nvPr/>
        </p:nvSpPr>
        <p:spPr>
          <a:xfrm>
            <a:off x="4622800" y="711200"/>
            <a:ext cx="4381500" cy="228600"/>
          </a:xfrm>
          <a:prstGeom prst="rect">
            <a:avLst/>
          </a:prstGeom>
          <a:noFill/>
        </p:spPr>
        <p:txBody>
          <a:bodyPr vertOverflow="overflow" vert="horz" wrap="square" rtlCol="0" anchor="t">
            <a:spAutoFit/>
          </a:bodyPr>
          <a:lstStyle/>
          <a:p>
            <a:pPr algn="l"/>
            <a:r>
              <a:rPr lang="en-US" sz="1200" dirty="0">
                <a:solidFill>
                  <a:srgbClr val="292934"/>
                </a:solidFill>
                <a:latin typeface="Calibri"/>
                <a:ea typeface="Calibri"/>
                <a:cs typeface="Calibri"/>
              </a:rPr>
              <a:t>Figure 56: SWOT analysis</a:t>
            </a:r>
          </a:p>
        </p:txBody>
      </p:sp>
      <p:graphicFrame>
        <p:nvGraphicFramePr>
          <p:cNvPr id="902" name="Risk list"/>
          <p:cNvGraphicFramePr>
            <a:graphicFrameLocks noGrp="1"/>
          </p:cNvGraphicFramePr>
          <p:nvPr/>
        </p:nvGraphicFramePr>
        <p:xfrm>
          <a:off x="139700" y="3683000"/>
          <a:ext cx="4381500" cy="2400300"/>
        </p:xfrm>
        <a:graphic>
          <a:graphicData uri="http://schemas.openxmlformats.org/drawingml/2006/table">
            <a:tbl>
              <a:tblPr/>
              <a:tblGrid>
                <a:gridCol w="228600">
                  <a:extLst>
                    <a:ext uri="{9D8B030D-6E8A-4147-A177-3AD203B41FA5}">
                      <a16:colId xmlns:a16="http://schemas.microsoft.com/office/drawing/2014/main" val="20000"/>
                    </a:ext>
                  </a:extLst>
                </a:gridCol>
                <a:gridCol w="2806700">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tblGrid>
              <a:tr h="266700">
                <a:tc>
                  <a:txBody>
                    <a:bodyPr/>
                    <a:lstStyle/>
                    <a:p>
                      <a:pPr algn="l"/>
                      <a:r>
                        <a:rPr lang="en-US" sz="900" b="1" dirty="0">
                          <a:solidFill>
                            <a:srgbClr val="292934"/>
                          </a:solidFill>
                          <a:latin typeface="Calibri"/>
                          <a:cs typeface="Calibri"/>
                        </a:rPr>
                        <a:t>#</a:t>
                      </a:r>
                    </a:p>
                  </a:txBody>
                  <a:tcPr marL="45720" marR="45720" marT="12000" marB="12000" anchor="ctr"/>
                </a:tc>
                <a:tc>
                  <a:txBody>
                    <a:bodyPr/>
                    <a:lstStyle/>
                    <a:p>
                      <a:pPr algn="l"/>
                      <a:r>
                        <a:rPr lang="en-US" sz="900" b="1" dirty="0">
                          <a:solidFill>
                            <a:srgbClr val="292934"/>
                          </a:solidFill>
                          <a:latin typeface="Calibri"/>
                          <a:cs typeface="Calibri"/>
                        </a:rPr>
                        <a:t>Risk</a:t>
                      </a:r>
                    </a:p>
                  </a:txBody>
                  <a:tcPr marL="45720" marR="45720" marT="12000" marB="12000" anchor="ctr"/>
                </a:tc>
                <a:tc>
                  <a:txBody>
                    <a:bodyPr/>
                    <a:lstStyle/>
                    <a:p>
                      <a:pPr algn="r"/>
                      <a:r>
                        <a:rPr lang="en-US" sz="900" b="1" dirty="0">
                          <a:solidFill>
                            <a:srgbClr val="292934"/>
                          </a:solidFill>
                          <a:latin typeface="Calibri"/>
                          <a:cs typeface="Calibri"/>
                        </a:rPr>
                        <a:t>Prob.</a:t>
                      </a:r>
                    </a:p>
                  </a:txBody>
                  <a:tcPr marL="45720" marR="45720" marT="12000" marB="12000" anchor="ctr"/>
                </a:tc>
                <a:tc>
                  <a:txBody>
                    <a:bodyPr/>
                    <a:lstStyle/>
                    <a:p>
                      <a:pPr algn="r"/>
                      <a:r>
                        <a:rPr lang="en-US" sz="900" b="1" dirty="0">
                          <a:solidFill>
                            <a:srgbClr val="292934"/>
                          </a:solidFill>
                          <a:latin typeface="Calibri"/>
                          <a:cs typeface="Calibri"/>
                        </a:rPr>
                        <a:t>Impact</a:t>
                      </a:r>
                    </a:p>
                  </a:txBody>
                  <a:tcPr marL="45720" marR="45720" marT="12000" marB="12000" anchor="ctr"/>
                </a:tc>
                <a:tc>
                  <a:txBody>
                    <a:bodyPr/>
                    <a:lstStyle/>
                    <a:p>
                      <a:pPr algn="r"/>
                      <a:r>
                        <a:rPr lang="en-US" sz="900" b="1" dirty="0">
                          <a:solidFill>
                            <a:srgbClr val="292934"/>
                          </a:solidFill>
                          <a:latin typeface="Calibri"/>
                          <a:cs typeface="Calibri"/>
                        </a:rPr>
                        <a:t>Score</a:t>
                      </a:r>
                    </a:p>
                  </a:txBody>
                  <a:tcPr marL="45720" marR="45720" marT="12000" marB="12000" anchor="ctr"/>
                </a:tc>
                <a:extLst>
                  <a:ext uri="{0D108BD9-81ED-4DB2-BD59-A6C34878D82A}">
                    <a16:rowId xmlns:a16="http://schemas.microsoft.com/office/drawing/2014/main" val="10000"/>
                  </a:ext>
                </a:extLst>
              </a:tr>
              <a:tr h="266700">
                <a:tc>
                  <a:txBody>
                    <a:bodyPr/>
                    <a:lstStyle/>
                    <a:p>
                      <a:pPr algn="l"/>
                      <a:r>
                        <a:rPr lang="en-US" sz="900" b="1" dirty="0">
                          <a:solidFill>
                            <a:srgbClr val="292934"/>
                          </a:solidFill>
                          <a:latin typeface="Calibri"/>
                          <a:cs typeface="Calibri"/>
                        </a:rPr>
                        <a:t>1</a:t>
                      </a:r>
                    </a:p>
                  </a:txBody>
                  <a:tcPr marL="45720" marR="45720" marT="12000" marB="12000" anchor="ctr"/>
                </a:tc>
                <a:tc>
                  <a:txBody>
                    <a:bodyPr/>
                    <a:lstStyle/>
                    <a:p>
                      <a:pPr algn="l"/>
                      <a:r>
                        <a:rPr lang="en-US" sz="900" dirty="0">
                          <a:solidFill>
                            <a:srgbClr val="292934"/>
                          </a:solidFill>
                          <a:latin typeface="Calibri"/>
                          <a:cs typeface="Calibri"/>
                        </a:rPr>
                        <a:t>Fed hiking cycle, floating-rate repricing</a:t>
                      </a:r>
                    </a:p>
                  </a:txBody>
                  <a:tcPr marL="45720" marR="45720" marT="12000" marB="12000" anchor="ctr"/>
                </a:tc>
                <a:tc>
                  <a:txBody>
                    <a:bodyPr/>
                    <a:lstStyle/>
                    <a:p>
                      <a:pPr algn="r"/>
                      <a:r>
                        <a:rPr lang="en-US" sz="900" dirty="0">
                          <a:solidFill>
                            <a:srgbClr val="292934"/>
                          </a:solidFill>
                          <a:latin typeface="Calibri"/>
                          <a:cs typeface="Calibri"/>
                        </a:rPr>
                        <a:t>85</a:t>
                      </a:r>
                    </a:p>
                  </a:txBody>
                  <a:tcPr marL="45720" marR="45720" marT="12000" marB="12000" anchor="ctr"/>
                </a:tc>
                <a:tc>
                  <a:txBody>
                    <a:bodyPr/>
                    <a:lstStyle/>
                    <a:p>
                      <a:pPr algn="r"/>
                      <a:r>
                        <a:rPr lang="en-US" sz="900" dirty="0">
                          <a:solidFill>
                            <a:srgbClr val="292934"/>
                          </a:solidFill>
                          <a:latin typeface="Calibri"/>
                          <a:cs typeface="Calibri"/>
                        </a:rPr>
                        <a:t>60</a:t>
                      </a:r>
                    </a:p>
                  </a:txBody>
                  <a:tcPr marL="45720" marR="45720" marT="12000" marB="12000" anchor="ctr"/>
                </a:tc>
                <a:tc>
                  <a:txBody>
                    <a:bodyPr/>
                    <a:lstStyle/>
                    <a:p>
                      <a:pPr algn="r"/>
                      <a:r>
                        <a:rPr lang="en-US" sz="900" dirty="0">
                          <a:solidFill>
                            <a:srgbClr val="292934"/>
                          </a:solidFill>
                          <a:latin typeface="Calibri"/>
                          <a:cs typeface="Calibri"/>
                        </a:rPr>
                        <a:t>5,100</a:t>
                      </a:r>
                    </a:p>
                  </a:txBody>
                  <a:tcPr marL="45720" marR="45720" marT="12000" marB="12000" anchor="ctr"/>
                </a:tc>
                <a:extLst>
                  <a:ext uri="{0D108BD9-81ED-4DB2-BD59-A6C34878D82A}">
                    <a16:rowId xmlns:a16="http://schemas.microsoft.com/office/drawing/2014/main" val="10001"/>
                  </a:ext>
                </a:extLst>
              </a:tr>
              <a:tr h="266700">
                <a:tc>
                  <a:txBody>
                    <a:bodyPr/>
                    <a:lstStyle/>
                    <a:p>
                      <a:pPr algn="l"/>
                      <a:r>
                        <a:rPr lang="en-US" sz="900" b="1" dirty="0">
                          <a:solidFill>
                            <a:srgbClr val="292934"/>
                          </a:solidFill>
                          <a:latin typeface="Calibri"/>
                          <a:cs typeface="Calibri"/>
                        </a:rPr>
                        <a:t>2</a:t>
                      </a:r>
                    </a:p>
                  </a:txBody>
                  <a:tcPr marL="45720" marR="45720" marT="12000" marB="12000" anchor="ctr"/>
                </a:tc>
                <a:tc>
                  <a:txBody>
                    <a:bodyPr/>
                    <a:lstStyle/>
                    <a:p>
                      <a:pPr algn="l"/>
                      <a:r>
                        <a:rPr lang="en-US" sz="900" dirty="0">
                          <a:solidFill>
                            <a:srgbClr val="292934"/>
                          </a:solidFill>
                          <a:latin typeface="Calibri"/>
                          <a:cs typeface="Calibri"/>
                        </a:rPr>
                        <a:t>Multiple compression in a higher-rate regime</a:t>
                      </a:r>
                    </a:p>
                  </a:txBody>
                  <a:tcPr marL="45720" marR="45720" marT="12000" marB="12000" anchor="ctr"/>
                </a:tc>
                <a:tc>
                  <a:txBody>
                    <a:bodyPr/>
                    <a:lstStyle/>
                    <a:p>
                      <a:pPr algn="r"/>
                      <a:r>
                        <a:rPr lang="en-US" sz="900" dirty="0">
                          <a:solidFill>
                            <a:srgbClr val="292934"/>
                          </a:solidFill>
                          <a:latin typeface="Calibri"/>
                          <a:cs typeface="Calibri"/>
                        </a:rPr>
                        <a:t>50</a:t>
                      </a:r>
                    </a:p>
                  </a:txBody>
                  <a:tcPr marL="45720" marR="45720" marT="12000" marB="12000" anchor="ctr"/>
                </a:tc>
                <a:tc>
                  <a:txBody>
                    <a:bodyPr/>
                    <a:lstStyle/>
                    <a:p>
                      <a:pPr algn="r"/>
                      <a:r>
                        <a:rPr lang="en-US" sz="900" dirty="0">
                          <a:solidFill>
                            <a:srgbClr val="292934"/>
                          </a:solidFill>
                          <a:latin typeface="Calibri"/>
                          <a:cs typeface="Calibri"/>
                        </a:rPr>
                        <a:t>70</a:t>
                      </a:r>
                    </a:p>
                  </a:txBody>
                  <a:tcPr marL="45720" marR="45720" marT="12000" marB="12000" anchor="ctr"/>
                </a:tc>
                <a:tc>
                  <a:txBody>
                    <a:bodyPr/>
                    <a:lstStyle/>
                    <a:p>
                      <a:pPr algn="r"/>
                      <a:r>
                        <a:rPr lang="en-US" sz="900" dirty="0">
                          <a:solidFill>
                            <a:srgbClr val="292934"/>
                          </a:solidFill>
                          <a:latin typeface="Calibri"/>
                          <a:cs typeface="Calibri"/>
                        </a:rPr>
                        <a:t>3,500</a:t>
                      </a:r>
                    </a:p>
                  </a:txBody>
                  <a:tcPr marL="45720" marR="45720" marT="12000" marB="12000" anchor="ctr"/>
                </a:tc>
                <a:extLst>
                  <a:ext uri="{0D108BD9-81ED-4DB2-BD59-A6C34878D82A}">
                    <a16:rowId xmlns:a16="http://schemas.microsoft.com/office/drawing/2014/main" val="10002"/>
                  </a:ext>
                </a:extLst>
              </a:tr>
              <a:tr h="266700">
                <a:tc>
                  <a:txBody>
                    <a:bodyPr/>
                    <a:lstStyle/>
                    <a:p>
                      <a:pPr algn="l"/>
                      <a:r>
                        <a:rPr lang="en-US" sz="900" b="1" dirty="0">
                          <a:solidFill>
                            <a:srgbClr val="292934"/>
                          </a:solidFill>
                          <a:latin typeface="Calibri"/>
                          <a:cs typeface="Calibri"/>
                        </a:rPr>
                        <a:t>3</a:t>
                      </a:r>
                    </a:p>
                  </a:txBody>
                  <a:tcPr marL="45720" marR="45720" marT="12000" marB="12000" anchor="ctr"/>
                </a:tc>
                <a:tc>
                  <a:txBody>
                    <a:bodyPr/>
                    <a:lstStyle/>
                    <a:p>
                      <a:pPr algn="l"/>
                      <a:r>
                        <a:rPr lang="en-US" sz="900" dirty="0">
                          <a:solidFill>
                            <a:srgbClr val="292934"/>
                          </a:solidFill>
                          <a:latin typeface="Calibri"/>
                          <a:cs typeface="Calibri"/>
                        </a:rPr>
                        <a:t>Cycle turn, late-cycle read confirmed</a:t>
                      </a:r>
                    </a:p>
                  </a:txBody>
                  <a:tcPr marL="45720" marR="45720" marT="12000" marB="12000" anchor="ctr"/>
                </a:tc>
                <a:tc>
                  <a:txBody>
                    <a:bodyPr/>
                    <a:lstStyle/>
                    <a:p>
                      <a:pPr algn="r"/>
                      <a:r>
                        <a:rPr lang="en-US" sz="900" dirty="0">
                          <a:solidFill>
                            <a:srgbClr val="292934"/>
                          </a:solidFill>
                          <a:latin typeface="Calibri"/>
                          <a:cs typeface="Calibri"/>
                        </a:rPr>
                        <a:t>40</a:t>
                      </a:r>
                    </a:p>
                  </a:txBody>
                  <a:tcPr marL="45720" marR="45720" marT="12000" marB="12000" anchor="ctr"/>
                </a:tc>
                <a:tc>
                  <a:txBody>
                    <a:bodyPr/>
                    <a:lstStyle/>
                    <a:p>
                      <a:pPr algn="r"/>
                      <a:r>
                        <a:rPr lang="en-US" sz="900" dirty="0">
                          <a:solidFill>
                            <a:srgbClr val="292934"/>
                          </a:solidFill>
                          <a:latin typeface="Calibri"/>
                          <a:cs typeface="Calibri"/>
                        </a:rPr>
                        <a:t>80</a:t>
                      </a:r>
                    </a:p>
                  </a:txBody>
                  <a:tcPr marL="45720" marR="45720" marT="12000" marB="12000" anchor="ctr"/>
                </a:tc>
                <a:tc>
                  <a:txBody>
                    <a:bodyPr/>
                    <a:lstStyle/>
                    <a:p>
                      <a:pPr algn="r"/>
                      <a:r>
                        <a:rPr lang="en-US" sz="900" dirty="0">
                          <a:solidFill>
                            <a:srgbClr val="292934"/>
                          </a:solidFill>
                          <a:latin typeface="Calibri"/>
                          <a:cs typeface="Calibri"/>
                        </a:rPr>
                        <a:t>3,200</a:t>
                      </a:r>
                    </a:p>
                  </a:txBody>
                  <a:tcPr marL="45720" marR="45720" marT="12000" marB="12000" anchor="ctr"/>
                </a:tc>
                <a:extLst>
                  <a:ext uri="{0D108BD9-81ED-4DB2-BD59-A6C34878D82A}">
                    <a16:rowId xmlns:a16="http://schemas.microsoft.com/office/drawing/2014/main" val="10003"/>
                  </a:ext>
                </a:extLst>
              </a:tr>
              <a:tr h="266700">
                <a:tc>
                  <a:txBody>
                    <a:bodyPr/>
                    <a:lstStyle/>
                    <a:p>
                      <a:pPr algn="l"/>
                      <a:r>
                        <a:rPr lang="en-US" sz="900" b="1" dirty="0">
                          <a:solidFill>
                            <a:srgbClr val="292934"/>
                          </a:solidFill>
                          <a:latin typeface="Calibri"/>
                          <a:cs typeface="Calibri"/>
                        </a:rPr>
                        <a:t>4</a:t>
                      </a:r>
                    </a:p>
                  </a:txBody>
                  <a:tcPr marL="45720" marR="45720" marT="12000" marB="12000" anchor="ctr"/>
                </a:tc>
                <a:tc>
                  <a:txBody>
                    <a:bodyPr/>
                    <a:lstStyle/>
                    <a:p>
                      <a:pPr algn="l"/>
                      <a:r>
                        <a:rPr lang="en-US" sz="900" dirty="0">
                          <a:solidFill>
                            <a:srgbClr val="292934"/>
                          </a:solidFill>
                          <a:latin typeface="Calibri"/>
                          <a:cs typeface="Calibri"/>
                        </a:rPr>
                        <a:t>2026 refinancing step-up, 1% Europe debt to 5%+</a:t>
                      </a:r>
                    </a:p>
                  </a:txBody>
                  <a:tcPr marL="45720" marR="45720" marT="12000" marB="12000" anchor="ctr"/>
                </a:tc>
                <a:tc>
                  <a:txBody>
                    <a:bodyPr/>
                    <a:lstStyle/>
                    <a:p>
                      <a:pPr algn="r"/>
                      <a:r>
                        <a:rPr lang="en-US" sz="900" dirty="0">
                          <a:solidFill>
                            <a:srgbClr val="292934"/>
                          </a:solidFill>
                          <a:latin typeface="Calibri"/>
                          <a:cs typeface="Calibri"/>
                        </a:rPr>
                        <a:t>95</a:t>
                      </a:r>
                    </a:p>
                  </a:txBody>
                  <a:tcPr marL="45720" marR="45720" marT="12000" marB="12000" anchor="ctr"/>
                </a:tc>
                <a:tc>
                  <a:txBody>
                    <a:bodyPr/>
                    <a:lstStyle/>
                    <a:p>
                      <a:pPr algn="r"/>
                      <a:r>
                        <a:rPr lang="en-US" sz="900" dirty="0">
                          <a:solidFill>
                            <a:srgbClr val="292934"/>
                          </a:solidFill>
                          <a:latin typeface="Calibri"/>
                          <a:cs typeface="Calibri"/>
                        </a:rPr>
                        <a:t>30</a:t>
                      </a:r>
                    </a:p>
                  </a:txBody>
                  <a:tcPr marL="45720" marR="45720" marT="12000" marB="12000" anchor="ctr"/>
                </a:tc>
                <a:tc>
                  <a:txBody>
                    <a:bodyPr/>
                    <a:lstStyle/>
                    <a:p>
                      <a:pPr algn="r"/>
                      <a:r>
                        <a:rPr lang="en-US" sz="900" dirty="0">
                          <a:solidFill>
                            <a:srgbClr val="292934"/>
                          </a:solidFill>
                          <a:latin typeface="Calibri"/>
                          <a:cs typeface="Calibri"/>
                        </a:rPr>
                        <a:t>2,850</a:t>
                      </a:r>
                    </a:p>
                  </a:txBody>
                  <a:tcPr marL="45720" marR="45720" marT="12000" marB="12000" anchor="ctr"/>
                </a:tc>
                <a:extLst>
                  <a:ext uri="{0D108BD9-81ED-4DB2-BD59-A6C34878D82A}">
                    <a16:rowId xmlns:a16="http://schemas.microsoft.com/office/drawing/2014/main" val="10004"/>
                  </a:ext>
                </a:extLst>
              </a:tr>
              <a:tr h="266700">
                <a:tc>
                  <a:txBody>
                    <a:bodyPr/>
                    <a:lstStyle/>
                    <a:p>
                      <a:pPr algn="l"/>
                      <a:r>
                        <a:rPr lang="en-US" sz="900" b="1" dirty="0">
                          <a:solidFill>
                            <a:srgbClr val="292934"/>
                          </a:solidFill>
                          <a:latin typeface="Calibri"/>
                          <a:cs typeface="Calibri"/>
                        </a:rPr>
                        <a:t>5</a:t>
                      </a:r>
                    </a:p>
                  </a:txBody>
                  <a:tcPr marL="45720" marR="45720" marT="12000" marB="12000" anchor="ctr"/>
                </a:tc>
                <a:tc>
                  <a:txBody>
                    <a:bodyPr/>
                    <a:lstStyle/>
                    <a:p>
                      <a:pPr algn="l"/>
                      <a:r>
                        <a:rPr lang="en-US" sz="900" dirty="0">
                          <a:solidFill>
                            <a:srgbClr val="292934"/>
                          </a:solidFill>
                          <a:latin typeface="Calibri"/>
                          <a:cs typeface="Calibri"/>
                        </a:rPr>
                        <a:t>GABX re-lease and idle-fill slower than modeled</a:t>
                      </a:r>
                    </a:p>
                  </a:txBody>
                  <a:tcPr marL="45720" marR="45720" marT="12000" marB="12000" anchor="ctr"/>
                </a:tc>
                <a:tc>
                  <a:txBody>
                    <a:bodyPr/>
                    <a:lstStyle/>
                    <a:p>
                      <a:pPr algn="r"/>
                      <a:r>
                        <a:rPr lang="en-US" sz="900" dirty="0">
                          <a:solidFill>
                            <a:srgbClr val="292934"/>
                          </a:solidFill>
                          <a:latin typeface="Calibri"/>
                          <a:cs typeface="Calibri"/>
                        </a:rPr>
                        <a:t>35</a:t>
                      </a:r>
                    </a:p>
                  </a:txBody>
                  <a:tcPr marL="45720" marR="45720" marT="12000" marB="12000" anchor="ctr"/>
                </a:tc>
                <a:tc>
                  <a:txBody>
                    <a:bodyPr/>
                    <a:lstStyle/>
                    <a:p>
                      <a:pPr algn="r"/>
                      <a:r>
                        <a:rPr lang="en-US" sz="900" dirty="0">
                          <a:solidFill>
                            <a:srgbClr val="292934"/>
                          </a:solidFill>
                          <a:latin typeface="Calibri"/>
                          <a:cs typeface="Calibri"/>
                        </a:rPr>
                        <a:t>40</a:t>
                      </a:r>
                    </a:p>
                  </a:txBody>
                  <a:tcPr marL="45720" marR="45720" marT="12000" marB="12000" anchor="ctr"/>
                </a:tc>
                <a:tc>
                  <a:txBody>
                    <a:bodyPr/>
                    <a:lstStyle/>
                    <a:p>
                      <a:pPr algn="r"/>
                      <a:r>
                        <a:rPr lang="en-US" sz="900" dirty="0">
                          <a:solidFill>
                            <a:srgbClr val="292934"/>
                          </a:solidFill>
                          <a:latin typeface="Calibri"/>
                          <a:cs typeface="Calibri"/>
                        </a:rPr>
                        <a:t>1,400</a:t>
                      </a:r>
                    </a:p>
                  </a:txBody>
                  <a:tcPr marL="45720" marR="45720" marT="12000" marB="12000" anchor="ctr"/>
                </a:tc>
                <a:extLst>
                  <a:ext uri="{0D108BD9-81ED-4DB2-BD59-A6C34878D82A}">
                    <a16:rowId xmlns:a16="http://schemas.microsoft.com/office/drawing/2014/main" val="10005"/>
                  </a:ext>
                </a:extLst>
              </a:tr>
              <a:tr h="266700">
                <a:tc>
                  <a:txBody>
                    <a:bodyPr/>
                    <a:lstStyle/>
                    <a:p>
                      <a:pPr algn="l"/>
                      <a:r>
                        <a:rPr lang="en-US" sz="900" b="1" dirty="0">
                          <a:solidFill>
                            <a:srgbClr val="292934"/>
                          </a:solidFill>
                          <a:latin typeface="Calibri"/>
                          <a:cs typeface="Calibri"/>
                        </a:rPr>
                        <a:t>6</a:t>
                      </a:r>
                    </a:p>
                  </a:txBody>
                  <a:tcPr marL="45720" marR="45720" marT="12000" marB="12000" anchor="ctr"/>
                </a:tc>
                <a:tc>
                  <a:txBody>
                    <a:bodyPr/>
                    <a:lstStyle/>
                    <a:p>
                      <a:pPr algn="l"/>
                      <a:r>
                        <a:rPr lang="en-US" sz="900" dirty="0">
                          <a:solidFill>
                            <a:srgbClr val="292934"/>
                          </a:solidFill>
                          <a:latin typeface="Calibri"/>
                          <a:cs typeface="Calibri"/>
                        </a:rPr>
                        <a:t>Disposition gains miss the $200M guide</a:t>
                      </a:r>
                    </a:p>
                  </a:txBody>
                  <a:tcPr marL="45720" marR="45720" marT="12000" marB="12000" anchor="ctr"/>
                </a:tc>
                <a:tc>
                  <a:txBody>
                    <a:bodyPr/>
                    <a:lstStyle/>
                    <a:p>
                      <a:pPr algn="r"/>
                      <a:r>
                        <a:rPr lang="en-US" sz="900" dirty="0">
                          <a:solidFill>
                            <a:srgbClr val="292934"/>
                          </a:solidFill>
                          <a:latin typeface="Calibri"/>
                          <a:cs typeface="Calibri"/>
                        </a:rPr>
                        <a:t>25</a:t>
                      </a:r>
                    </a:p>
                  </a:txBody>
                  <a:tcPr marL="45720" marR="45720" marT="12000" marB="12000" anchor="ctr"/>
                </a:tc>
                <a:tc>
                  <a:txBody>
                    <a:bodyPr/>
                    <a:lstStyle/>
                    <a:p>
                      <a:pPr algn="r"/>
                      <a:r>
                        <a:rPr lang="en-US" sz="900" dirty="0">
                          <a:solidFill>
                            <a:srgbClr val="292934"/>
                          </a:solidFill>
                          <a:latin typeface="Calibri"/>
                          <a:cs typeface="Calibri"/>
                        </a:rPr>
                        <a:t>55</a:t>
                      </a:r>
                    </a:p>
                  </a:txBody>
                  <a:tcPr marL="45720" marR="45720" marT="12000" marB="12000" anchor="ctr"/>
                </a:tc>
                <a:tc>
                  <a:txBody>
                    <a:bodyPr/>
                    <a:lstStyle/>
                    <a:p>
                      <a:pPr algn="r"/>
                      <a:r>
                        <a:rPr lang="en-US" sz="900" dirty="0">
                          <a:solidFill>
                            <a:srgbClr val="292934"/>
                          </a:solidFill>
                          <a:latin typeface="Calibri"/>
                          <a:cs typeface="Calibri"/>
                        </a:rPr>
                        <a:t>1,375</a:t>
                      </a:r>
                    </a:p>
                  </a:txBody>
                  <a:tcPr marL="45720" marR="45720" marT="12000" marB="12000" anchor="ctr"/>
                </a:tc>
                <a:extLst>
                  <a:ext uri="{0D108BD9-81ED-4DB2-BD59-A6C34878D82A}">
                    <a16:rowId xmlns:a16="http://schemas.microsoft.com/office/drawing/2014/main" val="10006"/>
                  </a:ext>
                </a:extLst>
              </a:tr>
              <a:tr h="266700">
                <a:tc>
                  <a:txBody>
                    <a:bodyPr/>
                    <a:lstStyle/>
                    <a:p>
                      <a:pPr algn="l"/>
                      <a:r>
                        <a:rPr lang="en-US" sz="900" b="1" dirty="0">
                          <a:solidFill>
                            <a:srgbClr val="292934"/>
                          </a:solidFill>
                          <a:latin typeface="Calibri"/>
                          <a:cs typeface="Calibri"/>
                        </a:rPr>
                        <a:t>7</a:t>
                      </a:r>
                    </a:p>
                  </a:txBody>
                  <a:tcPr marL="45720" marR="45720" marT="12000" marB="12000" anchor="ctr"/>
                </a:tc>
                <a:tc>
                  <a:txBody>
                    <a:bodyPr/>
                    <a:lstStyle/>
                    <a:p>
                      <a:pPr algn="l"/>
                      <a:r>
                        <a:rPr lang="en-US" sz="900" dirty="0">
                          <a:solidFill>
                            <a:srgbClr val="292934"/>
                          </a:solidFill>
                          <a:latin typeface="Calibri"/>
                          <a:cs typeface="Calibri"/>
                        </a:rPr>
                        <a:t>LPI prints below +10% (kill criterion)</a:t>
                      </a:r>
                    </a:p>
                  </a:txBody>
                  <a:tcPr marL="45720" marR="45720" marT="12000" marB="12000" anchor="ctr"/>
                </a:tc>
                <a:tc>
                  <a:txBody>
                    <a:bodyPr/>
                    <a:lstStyle/>
                    <a:p>
                      <a:pPr algn="r"/>
                      <a:r>
                        <a:rPr lang="en-US" sz="900" dirty="0">
                          <a:solidFill>
                            <a:srgbClr val="292934"/>
                          </a:solidFill>
                          <a:latin typeface="Calibri"/>
                          <a:cs typeface="Calibri"/>
                        </a:rPr>
                        <a:t>25</a:t>
                      </a:r>
                    </a:p>
                  </a:txBody>
                  <a:tcPr marL="45720" marR="45720" marT="12000" marB="12000" anchor="ctr"/>
                </a:tc>
                <a:tc>
                  <a:txBody>
                    <a:bodyPr/>
                    <a:lstStyle/>
                    <a:p>
                      <a:pPr algn="r"/>
                      <a:r>
                        <a:rPr lang="en-US" sz="900" dirty="0">
                          <a:solidFill>
                            <a:srgbClr val="292934"/>
                          </a:solidFill>
                          <a:latin typeface="Calibri"/>
                          <a:cs typeface="Calibri"/>
                        </a:rPr>
                        <a:t>50</a:t>
                      </a:r>
                    </a:p>
                  </a:txBody>
                  <a:tcPr marL="45720" marR="45720" marT="12000" marB="12000" anchor="ctr"/>
                </a:tc>
                <a:tc>
                  <a:txBody>
                    <a:bodyPr/>
                    <a:lstStyle/>
                    <a:p>
                      <a:pPr algn="r"/>
                      <a:r>
                        <a:rPr lang="en-US" sz="900" dirty="0">
                          <a:solidFill>
                            <a:srgbClr val="292934"/>
                          </a:solidFill>
                          <a:latin typeface="Calibri"/>
                          <a:cs typeface="Calibri"/>
                        </a:rPr>
                        <a:t>1,250</a:t>
                      </a:r>
                    </a:p>
                  </a:txBody>
                  <a:tcPr marL="45720" marR="45720" marT="12000" marB="12000" anchor="ctr"/>
                </a:tc>
                <a:extLst>
                  <a:ext uri="{0D108BD9-81ED-4DB2-BD59-A6C34878D82A}">
                    <a16:rowId xmlns:a16="http://schemas.microsoft.com/office/drawing/2014/main" val="10007"/>
                  </a:ext>
                </a:extLst>
              </a:tr>
              <a:tr h="266700">
                <a:tc>
                  <a:txBody>
                    <a:bodyPr/>
                    <a:lstStyle/>
                    <a:p>
                      <a:pPr algn="l"/>
                      <a:r>
                        <a:rPr lang="en-US" sz="900" b="1" dirty="0">
                          <a:solidFill>
                            <a:srgbClr val="292934"/>
                          </a:solidFill>
                          <a:latin typeface="Calibri"/>
                          <a:cs typeface="Calibri"/>
                        </a:rPr>
                        <a:t>8</a:t>
                      </a:r>
                    </a:p>
                  </a:txBody>
                  <a:tcPr marL="45720" marR="45720" marT="12000" marB="12000" anchor="ctr"/>
                </a:tc>
                <a:tc>
                  <a:txBody>
                    <a:bodyPr/>
                    <a:lstStyle/>
                    <a:p>
                      <a:pPr algn="l"/>
                      <a:r>
                        <a:rPr lang="en-US" sz="900" dirty="0">
                          <a:solidFill>
                            <a:srgbClr val="292934"/>
                          </a:solidFill>
                          <a:latin typeface="Calibri"/>
                          <a:cs typeface="Calibri"/>
                        </a:rPr>
                        <a:t>Credit downgrade below BBB- (kill criterion)</a:t>
                      </a:r>
                    </a:p>
                  </a:txBody>
                  <a:tcPr marL="45720" marR="45720" marT="12000" marB="12000" anchor="ctr"/>
                </a:tc>
                <a:tc>
                  <a:txBody>
                    <a:bodyPr/>
                    <a:lstStyle/>
                    <a:p>
                      <a:pPr algn="r"/>
                      <a:r>
                        <a:rPr lang="en-US" sz="900" dirty="0">
                          <a:solidFill>
                            <a:srgbClr val="292934"/>
                          </a:solidFill>
                          <a:latin typeface="Calibri"/>
                          <a:cs typeface="Calibri"/>
                        </a:rPr>
                        <a:t>10</a:t>
                      </a:r>
                    </a:p>
                  </a:txBody>
                  <a:tcPr marL="45720" marR="45720" marT="12000" marB="12000" anchor="ctr"/>
                </a:tc>
                <a:tc>
                  <a:txBody>
                    <a:bodyPr/>
                    <a:lstStyle/>
                    <a:p>
                      <a:pPr algn="r"/>
                      <a:r>
                        <a:rPr lang="en-US" sz="900" dirty="0">
                          <a:solidFill>
                            <a:srgbClr val="292934"/>
                          </a:solidFill>
                          <a:latin typeface="Calibri"/>
                          <a:cs typeface="Calibri"/>
                        </a:rPr>
                        <a:t>90</a:t>
                      </a:r>
                    </a:p>
                  </a:txBody>
                  <a:tcPr marL="45720" marR="45720" marT="12000" marB="12000" anchor="ctr"/>
                </a:tc>
                <a:tc>
                  <a:txBody>
                    <a:bodyPr/>
                    <a:lstStyle/>
                    <a:p>
                      <a:pPr algn="r"/>
                      <a:r>
                        <a:rPr lang="en-US" sz="900" dirty="0">
                          <a:solidFill>
                            <a:srgbClr val="292934"/>
                          </a:solidFill>
                          <a:latin typeface="Calibri"/>
                          <a:cs typeface="Calibri"/>
                        </a:rPr>
                        <a:t>900</a:t>
                      </a:r>
                    </a:p>
                  </a:txBody>
                  <a:tcPr marL="45720" marR="45720" marT="12000" marB="12000" anchor="ctr"/>
                </a:tc>
                <a:extLst>
                  <a:ext uri="{0D108BD9-81ED-4DB2-BD59-A6C34878D82A}">
                    <a16:rowId xmlns:a16="http://schemas.microsoft.com/office/drawing/2014/main" val="10008"/>
                  </a:ext>
                </a:extLst>
              </a:tr>
            </a:tbl>
          </a:graphicData>
        </a:graphic>
      </p:graphicFrame>
      <p:sp>
        <p:nvSpPr>
          <p:cNvPr id="911" name="Heat map callout"/>
          <p:cNvSpPr/>
          <p:nvPr/>
        </p:nvSpPr>
        <p:spPr>
          <a:xfrm>
            <a:off x="4622800" y="5308600"/>
            <a:ext cx="4381500" cy="774700"/>
          </a:xfrm>
          <a:prstGeom prst="rect">
            <a:avLst/>
          </a:prstGeom>
          <a:solidFill>
            <a:srgbClr val="F2C755"/>
          </a:solidFill>
          <a:ln w="9525">
            <a:solidFill>
              <a:srgbClr val="000000"/>
            </a:solidFill>
          </a:ln>
        </p:spPr>
        <p:txBody>
          <a:bodyPr vertOverflow="clip" horzOverflow="clip" lIns="91440" tIns="54864" rIns="91440" bIns="54864" rtlCol="0" anchor="t">
            <a:noAutofit/>
          </a:bodyPr>
          <a:lstStyle/>
          <a:p>
            <a:pPr>
              <a:spcBef>
                <a:spcPts val="0"/>
              </a:spcBef>
            </a:pPr>
            <a:r>
              <a:rPr lang="en-US" sz="1000" b="1" dirty="0">
                <a:solidFill>
                  <a:srgbClr val="000000"/>
                </a:solidFill>
                <a:latin typeface="Calibri"/>
                <a:cs typeface="Calibri"/>
              </a:rPr>
              <a:t>The two highest-scored risks, rates and multiple compression, are the same risk from two directions. </a:t>
            </a:r>
            <a:r>
              <a:rPr lang="en-US" sz="1000" dirty="0">
                <a:solidFill>
                  <a:srgbClr val="000000"/>
                </a:solidFill>
                <a:latin typeface="Calibri"/>
                <a:cs typeface="Calibri"/>
              </a:rPr>
              <a:t>Both are new since the September Fed hike. The pre-registered kill criteria on the next slide are the thresholds for risks 7 and 8; risks 1 through 4 are watched through the macro feed.</a:t>
            </a:r>
          </a:p>
        </p:txBody>
      </p:sp>
      <p:graphicFrame>
        <p:nvGraphicFramePr>
          <p:cNvPr id="961" name="Risk matrix"/>
          <p:cNvGraphicFramePr/>
          <p:nvPr/>
        </p:nvGraphicFramePr>
        <p:xfrm>
          <a:off x="139700" y="939800"/>
          <a:ext cx="4381500" cy="2540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970" name="SWOT table"/>
          <p:cNvGraphicFramePr>
            <a:graphicFrameLocks noGrp="1"/>
          </p:cNvGraphicFramePr>
          <p:nvPr/>
        </p:nvGraphicFramePr>
        <p:xfrm>
          <a:off x="4622800" y="965200"/>
          <a:ext cx="4381500" cy="4013200"/>
        </p:xfrm>
        <a:graphic>
          <a:graphicData uri="http://schemas.openxmlformats.org/drawingml/2006/table">
            <a:tbl>
              <a:tblPr/>
              <a:tblGrid>
                <a:gridCol w="21907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tblGrid>
              <a:tr h="215900">
                <a:tc>
                  <a:txBody>
                    <a:bodyPr/>
                    <a:lstStyle/>
                    <a:p>
                      <a:pPr algn="ctr">
                        <a:buNone/>
                      </a:pPr>
                      <a:r>
                        <a:rPr lang="en-US" sz="900" b="1" dirty="0">
                          <a:solidFill>
                            <a:srgbClr val="292934"/>
                          </a:solidFill>
                          <a:latin typeface="Calibri"/>
                          <a:ea typeface="Calibri"/>
                          <a:cs typeface="Calibri"/>
                        </a:rPr>
                        <a:t>Strengths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solidFill>
                      <a:srgbClr val="F2C755"/>
                    </a:solidFill>
                  </a:tcPr>
                </a:tc>
                <a:tc>
                  <a:txBody>
                    <a:bodyPr/>
                    <a:lstStyle/>
                    <a:p>
                      <a:pPr algn="ctr">
                        <a:buNone/>
                      </a:pPr>
                      <a:r>
                        <a:rPr lang="en-US" sz="900" b="1" dirty="0">
                          <a:solidFill>
                            <a:srgbClr val="292934"/>
                          </a:solidFill>
                          <a:latin typeface="Calibri"/>
                          <a:ea typeface="Calibri"/>
                          <a:cs typeface="Calibri"/>
                        </a:rPr>
                        <a:t>Weaknesses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solidFill>
                      <a:srgbClr val="F2C755"/>
                    </a:solidFill>
                  </a:tcPr>
                </a:tc>
                <a:extLst>
                  <a:ext uri="{0D108BD9-81ED-4DB2-BD59-A6C34878D82A}">
                    <a16:rowId xmlns:a16="http://schemas.microsoft.com/office/drawing/2014/main" val="10000"/>
                  </a:ext>
                </a:extLst>
              </a:tr>
              <a:tr h="292100">
                <a:tc>
                  <a:txBody>
                    <a:bodyPr/>
                    <a:lstStyle/>
                    <a:p>
                      <a:pPr algn="ctr">
                        <a:buNone/>
                      </a:pPr>
                      <a:r>
                        <a:rPr lang="en-US" sz="900" dirty="0">
                          <a:solidFill>
                            <a:srgbClr val="292934"/>
                          </a:solidFill>
                          <a:latin typeface="Calibri"/>
                          <a:ea typeface="Calibri"/>
                          <a:cs typeface="Calibri"/>
                        </a:rPr>
                        <a:t>278,000 railcars worldwide; North America doubled via GABX on 2026-01-01</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ROIC 3.0% below 4.8% cost of debt on an asset basis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01"/>
                  </a:ext>
                </a:extLst>
              </a:tr>
              <a:tr h="292100">
                <a:tc>
                  <a:txBody>
                    <a:bodyPr/>
                    <a:lstStyle/>
                    <a:p>
                      <a:pPr algn="ctr">
                        <a:buNone/>
                      </a:pPr>
                      <a:r>
                        <a:rPr lang="en-US" sz="900" dirty="0">
                          <a:solidFill>
                            <a:srgbClr val="292934"/>
                          </a:solidFill>
                          <a:latin typeface="Calibri"/>
                          <a:ea typeface="Calibri"/>
                          <a:cs typeface="Calibri"/>
                        </a:rPr>
                        <a:t>98% utilization; fleet effectively full</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Debt/equity 461%; net debt/EBITDA 7.65x</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02"/>
                  </a:ext>
                </a:extLst>
              </a:tr>
              <a:tr h="292100">
                <a:tc>
                  <a:txBody>
                    <a:bodyPr/>
                    <a:lstStyle/>
                    <a:p>
                      <a:pPr algn="ctr">
                        <a:buNone/>
                      </a:pPr>
                      <a:r>
                        <a:rPr lang="en-US" sz="900" dirty="0">
                          <a:solidFill>
                            <a:srgbClr val="292934"/>
                          </a:solidFill>
                          <a:latin typeface="Calibri"/>
                          <a:ea typeface="Calibri"/>
                          <a:cs typeface="Calibri"/>
                        </a:rPr>
                        <a:t>Four-to-five-year contracted lease revenue</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Free cash flow negative every year on record</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03"/>
                  </a:ext>
                </a:extLst>
              </a:tr>
              <a:tr h="292100">
                <a:tc>
                  <a:txBody>
                    <a:bodyPr/>
                    <a:lstStyle/>
                    <a:p>
                      <a:pPr algn="ctr">
                        <a:buNone/>
                      </a:pPr>
                      <a:r>
                        <a:rPr lang="en-US" sz="900" dirty="0">
                          <a:solidFill>
                            <a:srgbClr val="292934"/>
                          </a:solidFill>
                          <a:latin typeface="Calibri"/>
                          <a:ea typeface="Calibri"/>
                          <a:cs typeface="Calibri"/>
                        </a:rPr>
                        <a:t>Investment grade: S&amp;P BBB, Moody's Baa2, Fitch BBB+</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Interest coverage 1.27x, lowest in five years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04"/>
                  </a:ext>
                </a:extLst>
              </a:tr>
              <a:tr h="292100">
                <a:tc>
                  <a:txBody>
                    <a:bodyPr/>
                    <a:lstStyle/>
                    <a:p>
                      <a:pPr algn="ctr">
                        <a:buNone/>
                      </a:pPr>
                      <a:r>
                        <a:rPr lang="en-US" sz="900" dirty="0">
                          <a:solidFill>
                            <a:srgbClr val="292934"/>
                          </a:solidFill>
                          <a:latin typeface="Calibri"/>
                          <a:ea typeface="Calibri"/>
                          <a:cs typeface="Calibri"/>
                        </a:rPr>
                        <a:t>Full-service model creates switching costs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42% of guided EPS from non-contractual disposition gains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05"/>
                  </a:ext>
                </a:extLst>
              </a:tr>
              <a:tr h="292100">
                <a:tc>
                  <a:txBody>
                    <a:bodyPr/>
                    <a:lstStyle/>
                    <a:p>
                      <a:pPr algn="ctr">
                        <a:buNone/>
                      </a:pPr>
                      <a:r>
                        <a:rPr lang="en-US" sz="900" dirty="0">
                          <a:solidFill>
                            <a:srgbClr val="292934"/>
                          </a:solidFill>
                          <a:latin typeface="Calibri"/>
                          <a:ea typeface="Calibri"/>
                          <a:cs typeface="Calibri"/>
                        </a:rPr>
                        <a:t>$1.75B of interest rate swaps on the floating book</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GATX guarantees 100% of GABX debt while owning 30%</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06"/>
                  </a:ext>
                </a:extLst>
              </a:tr>
              <a:tr h="215900">
                <a:tc>
                  <a:txBody>
                    <a:bodyPr/>
                    <a:lstStyle/>
                    <a:p>
                      <a:pPr algn="ctr">
                        <a:buNone/>
                      </a:pPr>
                      <a:r>
                        <a:rPr lang="en-US" sz="900" b="1" dirty="0">
                          <a:solidFill>
                            <a:srgbClr val="292934"/>
                          </a:solidFill>
                          <a:latin typeface="Calibri"/>
                          <a:ea typeface="Calibri"/>
                          <a:cs typeface="Calibri"/>
                        </a:rPr>
                        <a:t>Opportunities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solidFill>
                      <a:srgbClr val="F2C755"/>
                    </a:solidFill>
                  </a:tcPr>
                </a:tc>
                <a:tc>
                  <a:txBody>
                    <a:bodyPr/>
                    <a:lstStyle/>
                    <a:p>
                      <a:pPr algn="ctr">
                        <a:buNone/>
                      </a:pPr>
                      <a:r>
                        <a:rPr lang="en-US" sz="900" b="1" dirty="0">
                          <a:solidFill>
                            <a:srgbClr val="292934"/>
                          </a:solidFill>
                          <a:latin typeface="Calibri"/>
                          <a:ea typeface="Calibri"/>
                          <a:cs typeface="Calibri"/>
                        </a:rPr>
                        <a:t>Threats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solidFill>
                      <a:srgbClr val="F2C755"/>
                    </a:solidFill>
                  </a:tcPr>
                </a:tc>
                <a:extLst>
                  <a:ext uri="{0D108BD9-81ED-4DB2-BD59-A6C34878D82A}">
                    <a16:rowId xmlns:a16="http://schemas.microsoft.com/office/drawing/2014/main" val="10007"/>
                  </a:ext>
                </a:extLst>
              </a:tr>
              <a:tr h="292100">
                <a:tc>
                  <a:txBody>
                    <a:bodyPr/>
                    <a:lstStyle/>
                    <a:p>
                      <a:pPr algn="ctr">
                        <a:buNone/>
                      </a:pPr>
                      <a:r>
                        <a:rPr lang="en-US" sz="900" dirty="0">
                          <a:solidFill>
                            <a:srgbClr val="292934"/>
                          </a:solidFill>
                          <a:latin typeface="Calibri"/>
                          <a:ea typeface="Calibri"/>
                          <a:cs typeface="Calibri"/>
                        </a:rPr>
                        <a:t>2,000 to 2,500 idle acquired cars to fill at ~$8,200 per car</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Fed hiking cycle; 10-year Treasury above 5%</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08"/>
                  </a:ext>
                </a:extLst>
              </a:tr>
              <a:tr h="292100">
                <a:tc>
                  <a:txBody>
                    <a:bodyPr/>
                    <a:lstStyle/>
                    <a:p>
                      <a:pPr algn="ctr">
                        <a:buNone/>
                      </a:pPr>
                      <a:r>
                        <a:rPr lang="en-US" sz="900" dirty="0">
                          <a:solidFill>
                            <a:srgbClr val="292934"/>
                          </a:solidFill>
                          <a:latin typeface="Calibri"/>
                          <a:ea typeface="Calibri"/>
                          <a:cs typeface="Calibri"/>
                        </a:rPr>
                        <a:t>Below-market GABX leases re-price upward as they roll</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Three cycle instruments turned before the call opened</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09"/>
                  </a:ext>
                </a:extLst>
              </a:tr>
              <a:tr h="292100">
                <a:tc>
                  <a:txBody>
                    <a:bodyPr/>
                    <a:lstStyle/>
                    <a:p>
                      <a:pPr algn="ctr">
                        <a:buNone/>
                      </a:pPr>
                      <a:r>
                        <a:rPr lang="en-US" sz="900" dirty="0">
                          <a:solidFill>
                            <a:srgbClr val="292934"/>
                          </a:solidFill>
                          <a:latin typeface="Calibri"/>
                          <a:ea typeface="Calibri"/>
                          <a:cs typeface="Calibri"/>
                        </a:rPr>
                        <a:t>Industry backlog at a 15-year low; scrapping outpaces builds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Renewal success 87% to 79%; term 60 to 54 months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10"/>
                  </a:ext>
                </a:extLst>
              </a:tr>
              <a:tr h="292100">
                <a:tc>
                  <a:txBody>
                    <a:bodyPr/>
                    <a:lstStyle/>
                    <a:p>
                      <a:pPr algn="ctr">
                        <a:buNone/>
                      </a:pPr>
                      <a:r>
                        <a:rPr lang="en-US" sz="900" dirty="0">
                          <a:solidFill>
                            <a:srgbClr val="292934"/>
                          </a:solidFill>
                          <a:latin typeface="Calibri"/>
                          <a:ea typeface="Calibri"/>
                          <a:cs typeface="Calibri"/>
                        </a:rPr>
                        <a:t>Rail International and Engine Leasing growing 6% to 14%</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Multiple compression as rates rise; 17.8x target set at lower rates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11"/>
                  </a:ext>
                </a:extLst>
              </a:tr>
              <a:tr h="292100">
                <a:tc>
                  <a:txBody>
                    <a:bodyPr/>
                    <a:lstStyle/>
                    <a:p>
                      <a:pPr algn="ctr">
                        <a:buNone/>
                      </a:pPr>
                      <a:r>
                        <a:rPr lang="en-US" sz="900" dirty="0">
                          <a:solidFill>
                            <a:srgbClr val="292934"/>
                          </a:solidFill>
                          <a:latin typeface="Calibri"/>
                          <a:ea typeface="Calibri"/>
                          <a:cs typeface="Calibri"/>
                        </a:rPr>
                        <a:t>Call rights to buy up Brookfield's 70% of GABX over time</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Secondary-market railcar prices fall when the cycle turns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12"/>
                  </a:ext>
                </a:extLst>
              </a:tr>
              <a:tr h="292100">
                <a:tc>
                  <a:txBody>
                    <a:bodyPr/>
                    <a:lstStyle/>
                    <a:p>
                      <a:pPr algn="ctr">
                        <a:buNone/>
                      </a:pPr>
                      <a:r>
                        <a:rPr lang="en-US" sz="900" dirty="0">
                          <a:solidFill>
                            <a:srgbClr val="292934"/>
                          </a:solidFill>
                          <a:latin typeface="Calibri"/>
                          <a:ea typeface="Calibri"/>
                          <a:cs typeface="Calibri"/>
                        </a:rPr>
                        <a:t>Possible guide raise on disposition gains at Q3 2026</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Class I rail consolidation (UP-NS merger) could shift shipper leverage</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0779671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E1324-9E5F-2A9C-03BA-487EA11B906A}"/>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80F35820-7CA3-3CE0-D5B6-5221AB8B9431}"/>
              </a:ext>
            </a:extLst>
          </p:cNvPr>
          <p:cNvGrpSpPr/>
          <p:nvPr/>
        </p:nvGrpSpPr>
        <p:grpSpPr>
          <a:xfrm>
            <a:off x="0" y="6222249"/>
            <a:ext cx="9144000" cy="457200"/>
            <a:chOff x="0" y="2732884"/>
            <a:chExt cx="9144000" cy="457200"/>
          </a:xfrm>
        </p:grpSpPr>
        <p:sp>
          <p:nvSpPr>
            <p:cNvPr id="58" name="Rectangle 57">
              <a:extLst>
                <a:ext uri="{FF2B5EF4-FFF2-40B4-BE49-F238E27FC236}">
                  <a16:creationId xmlns:a16="http://schemas.microsoft.com/office/drawing/2014/main" id="{F6796F43-AE22-A193-4F75-25A7BC3C67AA}"/>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9" name="Group 58">
              <a:extLst>
                <a:ext uri="{FF2B5EF4-FFF2-40B4-BE49-F238E27FC236}">
                  <a16:creationId xmlns:a16="http://schemas.microsoft.com/office/drawing/2014/main" id="{ED9DF65C-F76E-07EC-0884-FE5E0070B30E}"/>
                </a:ext>
              </a:extLst>
            </p:cNvPr>
            <p:cNvGrpSpPr/>
            <p:nvPr/>
          </p:nvGrpSpPr>
          <p:grpSpPr>
            <a:xfrm>
              <a:off x="5021579" y="2732884"/>
              <a:ext cx="545306" cy="457200"/>
              <a:chOff x="4981575" y="2712036"/>
              <a:chExt cx="545306" cy="457200"/>
            </a:xfrm>
          </p:grpSpPr>
          <p:sp>
            <p:nvSpPr>
              <p:cNvPr id="183321" name="Oval 183320">
                <a:extLst>
                  <a:ext uri="{FF2B5EF4-FFF2-40B4-BE49-F238E27FC236}">
                    <a16:creationId xmlns:a16="http://schemas.microsoft.com/office/drawing/2014/main" id="{039AEED7-3117-FFA2-83A2-74D4E76D51D9}"/>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83322" name="Picture 183321" descr="Related image">
                <a:extLst>
                  <a:ext uri="{FF2B5EF4-FFF2-40B4-BE49-F238E27FC236}">
                    <a16:creationId xmlns:a16="http://schemas.microsoft.com/office/drawing/2014/main" id="{825403B5-78FB-2C3F-0397-464C487981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83319" name="Oval 183318">
              <a:extLst>
                <a:ext uri="{FF2B5EF4-FFF2-40B4-BE49-F238E27FC236}">
                  <a16:creationId xmlns:a16="http://schemas.microsoft.com/office/drawing/2014/main" id="{B293C5C7-96D3-CEE9-14DB-FB7ABA9E7F22}"/>
                </a:ext>
              </a:extLst>
            </p:cNvPr>
            <p:cNvSpPr/>
            <p:nvPr/>
          </p:nvSpPr>
          <p:spPr bwMode="auto">
            <a:xfrm>
              <a:off x="7910513"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5" name="Oval 183314">
              <a:extLst>
                <a:ext uri="{FF2B5EF4-FFF2-40B4-BE49-F238E27FC236}">
                  <a16:creationId xmlns:a16="http://schemas.microsoft.com/office/drawing/2014/main" id="{C652CB9C-4549-B7CD-13BF-2D26FA24DAE0}"/>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2" name="Group 61">
              <a:extLst>
                <a:ext uri="{FF2B5EF4-FFF2-40B4-BE49-F238E27FC236}">
                  <a16:creationId xmlns:a16="http://schemas.microsoft.com/office/drawing/2014/main" id="{EEE4EDEC-F445-DB81-FF0A-33F0CA95C1DF}"/>
                </a:ext>
              </a:extLst>
            </p:cNvPr>
            <p:cNvGrpSpPr/>
            <p:nvPr/>
          </p:nvGrpSpPr>
          <p:grpSpPr>
            <a:xfrm>
              <a:off x="6466045" y="2732884"/>
              <a:ext cx="545306" cy="457200"/>
              <a:chOff x="6353175" y="2712036"/>
              <a:chExt cx="545306" cy="457200"/>
            </a:xfrm>
          </p:grpSpPr>
          <p:sp>
            <p:nvSpPr>
              <p:cNvPr id="183313" name="Oval 183312">
                <a:extLst>
                  <a:ext uri="{FF2B5EF4-FFF2-40B4-BE49-F238E27FC236}">
                    <a16:creationId xmlns:a16="http://schemas.microsoft.com/office/drawing/2014/main" id="{67B326A5-4E51-752A-9B6E-F20DC41E5237}"/>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4" name="Graphic 14379" descr="Dollar with solid fill">
                <a:extLst>
                  <a:ext uri="{FF2B5EF4-FFF2-40B4-BE49-F238E27FC236}">
                    <a16:creationId xmlns:a16="http://schemas.microsoft.com/office/drawing/2014/main" id="{33F73ECC-D2A6-EF4D-F3E9-27A4913D503A}"/>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nvGrpSpPr>
            <p:cNvPr id="63" name="Group 62">
              <a:extLst>
                <a:ext uri="{FF2B5EF4-FFF2-40B4-BE49-F238E27FC236}">
                  <a16:creationId xmlns:a16="http://schemas.microsoft.com/office/drawing/2014/main" id="{08E130B2-1137-6EC6-F125-82CAA35E1B73}"/>
                </a:ext>
              </a:extLst>
            </p:cNvPr>
            <p:cNvGrpSpPr/>
            <p:nvPr/>
          </p:nvGrpSpPr>
          <p:grpSpPr>
            <a:xfrm>
              <a:off x="3577113" y="2732884"/>
              <a:ext cx="545306" cy="457200"/>
              <a:chOff x="3609974" y="2715607"/>
              <a:chExt cx="545306" cy="457200"/>
            </a:xfrm>
          </p:grpSpPr>
          <p:sp>
            <p:nvSpPr>
              <p:cNvPr id="183309" name="Oval 183308">
                <a:extLst>
                  <a:ext uri="{FF2B5EF4-FFF2-40B4-BE49-F238E27FC236}">
                    <a16:creationId xmlns:a16="http://schemas.microsoft.com/office/drawing/2014/main" id="{848D53DE-8F34-9D3B-0D4F-1140A7E30F43}"/>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83310" name="Group 183309">
                <a:extLst>
                  <a:ext uri="{FF2B5EF4-FFF2-40B4-BE49-F238E27FC236}">
                    <a16:creationId xmlns:a16="http://schemas.microsoft.com/office/drawing/2014/main" id="{C169BA0A-CB85-1777-447A-53AA5727767C}"/>
                  </a:ext>
                </a:extLst>
              </p:cNvPr>
              <p:cNvGrpSpPr/>
              <p:nvPr/>
            </p:nvGrpSpPr>
            <p:grpSpPr>
              <a:xfrm>
                <a:off x="3769049" y="2811218"/>
                <a:ext cx="227157" cy="265979"/>
                <a:chOff x="3771206" y="2761936"/>
                <a:chExt cx="227157" cy="265979"/>
              </a:xfrm>
            </p:grpSpPr>
            <p:sp>
              <p:nvSpPr>
                <p:cNvPr id="183311" name="Freeform: Shape 183310">
                  <a:extLst>
                    <a:ext uri="{FF2B5EF4-FFF2-40B4-BE49-F238E27FC236}">
                      <a16:creationId xmlns:a16="http://schemas.microsoft.com/office/drawing/2014/main" id="{4DE06626-6E5B-3E4A-71C6-A4DFB73010BB}"/>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sp>
              <p:nvSpPr>
                <p:cNvPr id="183312" name="Freeform: Shape 183311">
                  <a:extLst>
                    <a:ext uri="{FF2B5EF4-FFF2-40B4-BE49-F238E27FC236}">
                      <a16:creationId xmlns:a16="http://schemas.microsoft.com/office/drawing/2014/main" id="{9C899824-7014-73EF-877B-7EE5A745D7F4}"/>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6" name="Group 183305">
              <a:extLst>
                <a:ext uri="{FF2B5EF4-FFF2-40B4-BE49-F238E27FC236}">
                  <a16:creationId xmlns:a16="http://schemas.microsoft.com/office/drawing/2014/main" id="{D913F2F0-E0AE-F490-327F-3D5BA325CE12}"/>
                </a:ext>
              </a:extLst>
            </p:cNvPr>
            <p:cNvGrpSpPr/>
            <p:nvPr/>
          </p:nvGrpSpPr>
          <p:grpSpPr>
            <a:xfrm>
              <a:off x="2132647" y="2732884"/>
              <a:ext cx="545306" cy="457200"/>
              <a:chOff x="2238375" y="2712635"/>
              <a:chExt cx="545306" cy="457200"/>
            </a:xfrm>
          </p:grpSpPr>
          <p:sp>
            <p:nvSpPr>
              <p:cNvPr id="183307" name="Oval 183306">
                <a:extLst>
                  <a:ext uri="{FF2B5EF4-FFF2-40B4-BE49-F238E27FC236}">
                    <a16:creationId xmlns:a16="http://schemas.microsoft.com/office/drawing/2014/main" id="{1319F648-FC7C-2EA8-8069-818101FFF5E4}"/>
                  </a:ext>
                </a:extLst>
              </p:cNvPr>
              <p:cNvSpPr/>
              <p:nvPr/>
            </p:nvSpPr>
            <p:spPr bwMode="auto">
              <a:xfrm>
                <a:off x="2238375" y="2712635"/>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83308" name="Graphic 14377" descr="Board Of Directors with solid fill">
                <a:extLst>
                  <a:ext uri="{FF2B5EF4-FFF2-40B4-BE49-F238E27FC236}">
                    <a16:creationId xmlns:a16="http://schemas.microsoft.com/office/drawing/2014/main" id="{568C7BC9-ECD7-15D0-1F73-020E163A0DD3}"/>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1" name="Group 183300">
            <a:extLst>
              <a:ext uri="{FF2B5EF4-FFF2-40B4-BE49-F238E27FC236}">
                <a16:creationId xmlns:a16="http://schemas.microsoft.com/office/drawing/2014/main" id="{92C8BCD7-8E10-0615-FDE7-1E092793A580}"/>
              </a:ext>
            </a:extLst>
          </p:cNvPr>
          <p:cNvGrpSpPr>
            <a:grpSpLocks/>
          </p:cNvGrpSpPr>
          <p:nvPr/>
        </p:nvGrpSpPr>
        <p:grpSpPr bwMode="auto">
          <a:xfrm>
            <a:off x="0" y="82336"/>
            <a:ext cx="9144000" cy="576857"/>
            <a:chOff x="-2" y="-17873"/>
            <a:chExt cx="12192002" cy="769372"/>
          </a:xfrm>
        </p:grpSpPr>
        <p:sp>
          <p:nvSpPr>
            <p:cNvPr id="183302" name="Title 1">
              <a:extLst>
                <a:ext uri="{FF2B5EF4-FFF2-40B4-BE49-F238E27FC236}">
                  <a16:creationId xmlns:a16="http://schemas.microsoft.com/office/drawing/2014/main" id="{C7499657-3878-7EE7-686D-61AEBBE4E170}"/>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a:solidFill>
                    <a:schemeClr val="tx1"/>
                  </a:solidFill>
                  <a:latin typeface="Calibri" panose="020F0502020204030204" pitchFamily="34" charset="0"/>
                  <a:cs typeface="Calibri" panose="020F0502020204030204" pitchFamily="34" charset="0"/>
                </a:rPr>
                <a:t>Pre-Registered Kill Criteria and Risks</a:t>
              </a:r>
              <a:endParaRPr lang="en-US" sz="2100" b="1">
                <a:solidFill>
                  <a:srgbClr val="000000"/>
                </a:solidFill>
                <a:latin typeface="Calibri" panose="020F0502020204030204" pitchFamily="34" charset="0"/>
                <a:cs typeface="Calibri" panose="020F0502020204030204" pitchFamily="34" charset="0"/>
              </a:endParaRPr>
            </a:p>
          </p:txBody>
        </p:sp>
        <p:grpSp>
          <p:nvGrpSpPr>
            <p:cNvPr id="183303" name="Group 39">
              <a:extLst>
                <a:ext uri="{FF2B5EF4-FFF2-40B4-BE49-F238E27FC236}">
                  <a16:creationId xmlns:a16="http://schemas.microsoft.com/office/drawing/2014/main" id="{E2441762-01A6-46CA-16D5-4B5F36E501A0}"/>
                </a:ext>
              </a:extLst>
            </p:cNvPr>
            <p:cNvGrpSpPr>
              <a:grpSpLocks/>
            </p:cNvGrpSpPr>
            <p:nvPr/>
          </p:nvGrpSpPr>
          <p:grpSpPr bwMode="auto">
            <a:xfrm>
              <a:off x="-2" y="645614"/>
              <a:ext cx="12192002" cy="105885"/>
              <a:chOff x="2373524" y="569416"/>
              <a:chExt cx="6496168" cy="87055"/>
            </a:xfrm>
          </p:grpSpPr>
          <p:sp>
            <p:nvSpPr>
              <p:cNvPr id="183304" name="Rectangle 183303">
                <a:extLst>
                  <a:ext uri="{FF2B5EF4-FFF2-40B4-BE49-F238E27FC236}">
                    <a16:creationId xmlns:a16="http://schemas.microsoft.com/office/drawing/2014/main" id="{E6D8B601-386C-3A20-3E2A-E3BC3910EF22}"/>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sp>
            <p:nvSpPr>
              <p:cNvPr id="183305" name="Rectangle 183304">
                <a:extLst>
                  <a:ext uri="{FF2B5EF4-FFF2-40B4-BE49-F238E27FC236}">
                    <a16:creationId xmlns:a16="http://schemas.microsoft.com/office/drawing/2014/main" id="{B09DEBF4-0E60-57DB-6F9D-3C1A02202783}"/>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grpSp>
      </p:grpSp>
      <p:pic>
        <p:nvPicPr>
          <p:cNvPr id="56" name="Picture 30" descr="Related image">
            <a:extLst>
              <a:ext uri="{FF2B5EF4-FFF2-40B4-BE49-F238E27FC236}">
                <a16:creationId xmlns:a16="http://schemas.microsoft.com/office/drawing/2014/main" id="{3D4CF136-5D13-BF3D-B440-773AEDD12D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4" b="4326"/>
          <a:stretch>
            <a:fillRect/>
          </a:stretch>
        </p:blipFill>
        <p:spPr bwMode="auto">
          <a:xfrm>
            <a:off x="8023225" y="6295142"/>
            <a:ext cx="328164" cy="292628"/>
          </a:xfrm>
          <a:prstGeom prst="rect">
            <a:avLst/>
          </a:prstGeom>
          <a:solidFill>
            <a:srgbClr val="F2C755"/>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2" name="Graphic 31" descr="Lights On with solid fill">
            <a:extLst>
              <a:ext uri="{FF2B5EF4-FFF2-40B4-BE49-F238E27FC236}">
                <a16:creationId xmlns:a16="http://schemas.microsoft.com/office/drawing/2014/main" id="{451B57C8-73D2-9D04-A456-460E562B1E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077" y="6223233"/>
            <a:ext cx="461513" cy="461513"/>
          </a:xfrm>
          <a:prstGeom prst="rect">
            <a:avLst/>
          </a:prstGeom>
        </p:spPr>
      </p:pic>
      <p:pic>
        <p:nvPicPr>
          <p:cNvPr id="19" name="Picture 18" descr="A black background with blue text&#10;&#10;Description automatically generated">
            <a:extLst>
              <a:ext uri="{FF2B5EF4-FFF2-40B4-BE49-F238E27FC236}">
                <a16:creationId xmlns:a16="http://schemas.microsoft.com/office/drawing/2014/main" id="{26380D0B-9A7E-D2A4-6A08-4B20A329C246}"/>
              </a:ext>
            </a:extLst>
          </p:cNvPr>
          <p:cNvPicPr>
            <a:picLocks noChangeAspect="1"/>
          </p:cNvPicPr>
          <p:nvPr/>
        </p:nvPicPr>
        <p:blipFill>
          <a:blip r:embed="rId5">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20" name="TextBox 19">
            <a:extLst>
              <a:ext uri="{FF2B5EF4-FFF2-40B4-BE49-F238E27FC236}">
                <a16:creationId xmlns:a16="http://schemas.microsoft.com/office/drawing/2014/main" id="{3C802AE6-76A5-94AF-D44E-0EF88219621E}"/>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29</a:t>
            </a:fld>
            <a:endParaRPr lang="en-US" sz="140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1F98B8BB-9766-414A-9E4A-58C8EBFD8181}"/>
              </a:ext>
            </a:extLst>
          </p:cNvPr>
          <p:cNvSpPr txBox="1"/>
          <p:nvPr/>
        </p:nvSpPr>
        <p:spPr>
          <a:xfrm>
            <a:off x="139700" y="711200"/>
            <a:ext cx="5461000" cy="228600"/>
          </a:xfrm>
          <a:prstGeom prst="rect">
            <a:avLst/>
          </a:prstGeom>
          <a:noFill/>
        </p:spPr>
        <p:txBody>
          <a:bodyPr vertOverflow="overflow" vert="horz" wrap="square" rtlCol="0" anchor="t">
            <a:spAutoFit/>
          </a:bodyPr>
          <a:lstStyle/>
          <a:p>
            <a:pPr algn="l"/>
            <a:r>
              <a:rPr lang="en-US" sz="1200">
                <a:solidFill>
                  <a:srgbClr val="292934"/>
                </a:solidFill>
                <a:latin typeface="Calibri"/>
                <a:ea typeface="Calibri"/>
                <a:cs typeface="Calibri"/>
              </a:rPr>
              <a:t>Figure 57: Pre-registered kill criteria, any one fires an exit review</a:t>
            </a:r>
          </a:p>
        </p:txBody>
      </p:sp>
      <p:sp>
        <p:nvSpPr>
          <p:cNvPr id="3" name="TextBox 2">
            <a:extLst>
              <a:ext uri="{FF2B5EF4-FFF2-40B4-BE49-F238E27FC236}">
                <a16:creationId xmlns:a16="http://schemas.microsoft.com/office/drawing/2014/main" id="{2A0BC0F9-0DB0-4584-A58C-C451767B8846}"/>
              </a:ext>
            </a:extLst>
          </p:cNvPr>
          <p:cNvSpPr txBox="1"/>
          <p:nvPr/>
        </p:nvSpPr>
        <p:spPr>
          <a:xfrm>
            <a:off x="139700" y="3046400"/>
            <a:ext cx="5461000" cy="228600"/>
          </a:xfrm>
          <a:prstGeom prst="rect">
            <a:avLst/>
          </a:prstGeom>
          <a:noFill/>
        </p:spPr>
        <p:txBody>
          <a:bodyPr vertOverflow="overflow" vert="horz" wrap="square" rtlCol="0" anchor="t">
            <a:spAutoFit/>
          </a:bodyPr>
          <a:lstStyle/>
          <a:p>
            <a:pPr algn="l"/>
            <a:r>
              <a:rPr lang="en-US" sz="1200">
                <a:solidFill>
                  <a:srgbClr val="292934"/>
                </a:solidFill>
                <a:latin typeface="Calibri"/>
                <a:ea typeface="Calibri"/>
                <a:cs typeface="Calibri"/>
              </a:rPr>
              <a:t>Figure 58: Signposts, watch not kill</a:t>
            </a:r>
          </a:p>
        </p:txBody>
      </p:sp>
      <p:graphicFrame>
        <p:nvGraphicFramePr>
          <p:cNvPr id="9" name="Table 8">
            <a:extLst>
              <a:ext uri="{FF2B5EF4-FFF2-40B4-BE49-F238E27FC236}">
                <a16:creationId xmlns:a16="http://schemas.microsoft.com/office/drawing/2014/main" id="{AA1BA941-A98C-4696-97A9-4B5CEF6138DB}"/>
              </a:ext>
            </a:extLst>
          </p:cNvPr>
          <p:cNvGraphicFramePr>
            <a:graphicFrameLocks noGrp="1"/>
          </p:cNvGraphicFramePr>
          <p:nvPr/>
        </p:nvGraphicFramePr>
        <p:xfrm>
          <a:off x="139700" y="990600"/>
          <a:ext cx="5461000" cy="1879600"/>
        </p:xfrm>
        <a:graphic>
          <a:graphicData uri="http://schemas.openxmlformats.org/drawingml/2006/table">
            <a:tbl>
              <a:tblPr/>
              <a:tblGrid>
                <a:gridCol w="1651000">
                  <a:extLst>
                    <a:ext uri="{9D8B030D-6E8A-4147-A177-3AD203B41FA5}">
                      <a16:colId xmlns:a16="http://schemas.microsoft.com/office/drawing/2014/main" val="20000"/>
                    </a:ext>
                  </a:extLst>
                </a:gridCol>
                <a:gridCol w="10795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825500">
                  <a:extLst>
                    <a:ext uri="{9D8B030D-6E8A-4147-A177-3AD203B41FA5}">
                      <a16:colId xmlns:a16="http://schemas.microsoft.com/office/drawing/2014/main" val="20003"/>
                    </a:ext>
                  </a:extLst>
                </a:gridCol>
              </a:tblGrid>
              <a:tr h="279400">
                <a:tc>
                  <a:txBody>
                    <a:bodyPr/>
                    <a:lstStyle/>
                    <a:p>
                      <a:pPr algn="l"/>
                      <a:r>
                        <a:rPr lang="en-US" sz="1000" b="1">
                          <a:solidFill>
                            <a:srgbClr val="292934"/>
                          </a:solidFill>
                          <a:latin typeface="Calibri"/>
                          <a:cs typeface="Calibri"/>
                        </a:rPr>
                        <a:t>Criterion</a:t>
                      </a:r>
                    </a:p>
                  </a:txBody>
                  <a:tcPr marL="45720" marR="45720" marT="18000" marB="18000" anchor="ctr"/>
                </a:tc>
                <a:tc>
                  <a:txBody>
                    <a:bodyPr/>
                    <a:lstStyle/>
                    <a:p>
                      <a:pPr algn="r"/>
                      <a:r>
                        <a:rPr lang="en-US" sz="1000" b="1">
                          <a:solidFill>
                            <a:srgbClr val="292934"/>
                          </a:solidFill>
                          <a:latin typeface="Calibri"/>
                          <a:cs typeface="Calibri"/>
                        </a:rPr>
                        <a:t>Threshold</a:t>
                      </a:r>
                    </a:p>
                  </a:txBody>
                  <a:tcPr marL="45720" marR="45720" marT="18000" marB="18000" anchor="ctr"/>
                </a:tc>
                <a:tc>
                  <a:txBody>
                    <a:bodyPr/>
                    <a:lstStyle/>
                    <a:p>
                      <a:pPr algn="r"/>
                      <a:r>
                        <a:rPr lang="en-US" sz="1000" b="1">
                          <a:solidFill>
                            <a:srgbClr val="292934"/>
                          </a:solidFill>
                          <a:latin typeface="Calibri"/>
                          <a:cs typeface="Calibri"/>
                        </a:rPr>
                        <a:t>Current</a:t>
                      </a:r>
                    </a:p>
                  </a:txBody>
                  <a:tcPr marL="45720" marR="45720" marT="18000" marB="18000" anchor="ctr"/>
                </a:tc>
                <a:tc>
                  <a:txBody>
                    <a:bodyPr/>
                    <a:lstStyle/>
                    <a:p>
                      <a:pPr algn="r"/>
                      <a:r>
                        <a:rPr lang="en-US" sz="1000" b="1">
                          <a:solidFill>
                            <a:srgbClr val="292934"/>
                          </a:solidFill>
                          <a:latin typeface="Calibri"/>
                          <a:cs typeface="Calibri"/>
                        </a:rPr>
                        <a:t>Source</a:t>
                      </a:r>
                    </a:p>
                  </a:txBody>
                  <a:tcPr marL="45720" marR="45720" marT="18000" marB="18000" anchor="ctr"/>
                </a:tc>
                <a:extLst>
                  <a:ext uri="{0D108BD9-81ED-4DB2-BD59-A6C34878D82A}">
                    <a16:rowId xmlns:a16="http://schemas.microsoft.com/office/drawing/2014/main" val="10000"/>
                  </a:ext>
                </a:extLst>
              </a:tr>
              <a:tr h="279400">
                <a:tc>
                  <a:txBody>
                    <a:bodyPr/>
                    <a:lstStyle/>
                    <a:p>
                      <a:pPr algn="l"/>
                      <a:r>
                        <a:rPr lang="en-US" sz="1000">
                          <a:solidFill>
                            <a:srgbClr val="292934"/>
                          </a:solidFill>
                          <a:latin typeface="Calibri"/>
                          <a:cs typeface="Calibri"/>
                        </a:rPr>
                        <a:t>Cost of debt, new 10-yr</a:t>
                      </a:r>
                    </a:p>
                  </a:txBody>
                  <a:tcPr marL="45720" marR="45720" marT="18000" marB="18000" anchor="ctr"/>
                </a:tc>
                <a:tc>
                  <a:txBody>
                    <a:bodyPr/>
                    <a:lstStyle/>
                    <a:p>
                      <a:pPr algn="r"/>
                      <a:r>
                        <a:rPr lang="en-US" sz="1000">
                          <a:solidFill>
                            <a:srgbClr val="292934"/>
                          </a:solidFill>
                          <a:latin typeface="Calibri"/>
                          <a:cs typeface="Calibri"/>
                        </a:rPr>
                        <a:t>6.00% or higher</a:t>
                      </a:r>
                    </a:p>
                  </a:txBody>
                  <a:tcPr marL="45720" marR="45720" marT="18000" marB="18000" anchor="ctr"/>
                </a:tc>
                <a:tc>
                  <a:txBody>
                    <a:bodyPr/>
                    <a:lstStyle/>
                    <a:p>
                      <a:pPr algn="r"/>
                      <a:r>
                        <a:rPr lang="en-US" sz="1000">
                          <a:solidFill>
                            <a:srgbClr val="292934"/>
                          </a:solidFill>
                          <a:latin typeface="Calibri"/>
                          <a:cs typeface="Calibri"/>
                        </a:rPr>
                        <a:t>5.95% (GATX 2035 bond, Sep 2026)</a:t>
                      </a:r>
                    </a:p>
                  </a:txBody>
                  <a:tcPr marL="45720" marR="45720" marT="18000" marB="18000" anchor="ctr"/>
                </a:tc>
                <a:tc>
                  <a:txBody>
                    <a:bodyPr/>
                    <a:lstStyle/>
                    <a:p>
                      <a:pPr algn="r"/>
                      <a:r>
                        <a:rPr lang="en-US" sz="1000">
                          <a:solidFill>
                            <a:srgbClr val="292934"/>
                          </a:solidFill>
                          <a:latin typeface="Calibri"/>
                          <a:cs typeface="Calibri"/>
                        </a:rPr>
                        <a:t>Bond yield; 8-K for new issues</a:t>
                      </a:r>
                    </a:p>
                  </a:txBody>
                  <a:tcPr marL="45720" marR="45720" marT="18000" marB="18000" anchor="ctr"/>
                </a:tc>
                <a:extLst>
                  <a:ext uri="{0D108BD9-81ED-4DB2-BD59-A6C34878D82A}">
                    <a16:rowId xmlns:a16="http://schemas.microsoft.com/office/drawing/2014/main" val="10001"/>
                  </a:ext>
                </a:extLst>
              </a:tr>
              <a:tr h="279400">
                <a:tc>
                  <a:txBody>
                    <a:bodyPr/>
                    <a:lstStyle/>
                    <a:p>
                      <a:pPr algn="l"/>
                      <a:r>
                        <a:rPr lang="en-US" sz="1000">
                          <a:solidFill>
                            <a:srgbClr val="292934"/>
                          </a:solidFill>
                          <a:latin typeface="Calibri"/>
                          <a:cs typeface="Calibri"/>
                        </a:rPr>
                        <a:t>NA fleet utilization</a:t>
                      </a:r>
                    </a:p>
                  </a:txBody>
                  <a:tcPr marL="45720" marR="45720" marT="18000" marB="18000" anchor="ctr"/>
                </a:tc>
                <a:tc>
                  <a:txBody>
                    <a:bodyPr/>
                    <a:lstStyle/>
                    <a:p>
                      <a:pPr algn="r"/>
                      <a:r>
                        <a:rPr lang="en-US" sz="1000">
                          <a:solidFill>
                            <a:srgbClr val="292934"/>
                          </a:solidFill>
                          <a:latin typeface="Calibri"/>
                          <a:cs typeface="Calibri"/>
                        </a:rPr>
                        <a:t>Below 96%</a:t>
                      </a:r>
                    </a:p>
                  </a:txBody>
                  <a:tcPr marL="45720" marR="45720" marT="18000" marB="18000" anchor="ctr"/>
                </a:tc>
                <a:tc>
                  <a:txBody>
                    <a:bodyPr/>
                    <a:lstStyle/>
                    <a:p>
                      <a:pPr algn="r"/>
                      <a:r>
                        <a:rPr lang="en-US" sz="1000">
                          <a:solidFill>
                            <a:srgbClr val="292934"/>
                          </a:solidFill>
                          <a:latin typeface="Calibri"/>
                          <a:cs typeface="Calibri"/>
                        </a:rPr>
                        <a:t>98.0% (Q2 2026)</a:t>
                      </a:r>
                    </a:p>
                  </a:txBody>
                  <a:tcPr marL="45720" marR="45720" marT="18000" marB="18000" anchor="ctr"/>
                </a:tc>
                <a:tc>
                  <a:txBody>
                    <a:bodyPr/>
                    <a:lstStyle/>
                    <a:p>
                      <a:pPr algn="r"/>
                      <a:r>
                        <a:rPr lang="en-US" sz="1000">
                          <a:solidFill>
                            <a:srgbClr val="292934"/>
                          </a:solidFill>
                          <a:latin typeface="Calibri"/>
                          <a:cs typeface="Calibri"/>
                        </a:rPr>
                        <a:t>10-Q</a:t>
                      </a:r>
                    </a:p>
                  </a:txBody>
                  <a:tcPr marL="45720" marR="45720" marT="18000" marB="18000" anchor="ctr"/>
                </a:tc>
                <a:extLst>
                  <a:ext uri="{0D108BD9-81ED-4DB2-BD59-A6C34878D82A}">
                    <a16:rowId xmlns:a16="http://schemas.microsoft.com/office/drawing/2014/main" val="10002"/>
                  </a:ext>
                </a:extLst>
              </a:tr>
              <a:tr h="279400">
                <a:tc>
                  <a:txBody>
                    <a:bodyPr/>
                    <a:lstStyle/>
                    <a:p>
                      <a:pPr algn="l"/>
                      <a:r>
                        <a:rPr lang="en-US" sz="1000">
                          <a:solidFill>
                            <a:srgbClr val="292934"/>
                          </a:solidFill>
                          <a:latin typeface="Calibri"/>
                          <a:cs typeface="Calibri"/>
                        </a:rPr>
                        <a:t>Lease Price Index</a:t>
                      </a:r>
                    </a:p>
                  </a:txBody>
                  <a:tcPr marL="45720" marR="45720" marT="18000" marB="18000" anchor="ctr"/>
                </a:tc>
                <a:tc>
                  <a:txBody>
                    <a:bodyPr/>
                    <a:lstStyle/>
                    <a:p>
                      <a:pPr algn="r"/>
                      <a:r>
                        <a:rPr lang="en-US" sz="1000">
                          <a:solidFill>
                            <a:srgbClr val="292934"/>
                          </a:solidFill>
                          <a:latin typeface="Calibri"/>
                          <a:cs typeface="Calibri"/>
                        </a:rPr>
                        <a:t>Below +10%</a:t>
                      </a:r>
                    </a:p>
                  </a:txBody>
                  <a:tcPr marL="45720" marR="45720" marT="18000" marB="18000" anchor="ctr"/>
                </a:tc>
                <a:tc>
                  <a:txBody>
                    <a:bodyPr/>
                    <a:lstStyle/>
                    <a:p>
                      <a:pPr algn="r"/>
                      <a:r>
                        <a:rPr lang="en-US" sz="1000">
                          <a:solidFill>
                            <a:srgbClr val="292934"/>
                          </a:solidFill>
                          <a:latin typeface="Calibri"/>
                          <a:cs typeface="Calibri"/>
                        </a:rPr>
                        <a:t>+16.8% (Q2 2026)</a:t>
                      </a:r>
                    </a:p>
                  </a:txBody>
                  <a:tcPr marL="45720" marR="45720" marT="18000" marB="18000" anchor="ctr"/>
                </a:tc>
                <a:tc>
                  <a:txBody>
                    <a:bodyPr/>
                    <a:lstStyle/>
                    <a:p>
                      <a:pPr algn="r"/>
                      <a:r>
                        <a:rPr lang="en-US" sz="1000">
                          <a:solidFill>
                            <a:srgbClr val="292934"/>
                          </a:solidFill>
                          <a:latin typeface="Calibri"/>
                          <a:cs typeface="Calibri"/>
                        </a:rPr>
                        <a:t>10-Q</a:t>
                      </a:r>
                    </a:p>
                  </a:txBody>
                  <a:tcPr marL="45720" marR="45720" marT="18000" marB="18000" anchor="ctr"/>
                </a:tc>
                <a:extLst>
                  <a:ext uri="{0D108BD9-81ED-4DB2-BD59-A6C34878D82A}">
                    <a16:rowId xmlns:a16="http://schemas.microsoft.com/office/drawing/2014/main" val="10003"/>
                  </a:ext>
                </a:extLst>
              </a:tr>
              <a:tr h="381000">
                <a:tc>
                  <a:txBody>
                    <a:bodyPr/>
                    <a:lstStyle/>
                    <a:p>
                      <a:pPr algn="l"/>
                      <a:r>
                        <a:rPr lang="en-US" sz="800">
                          <a:solidFill>
                            <a:srgbClr val="292934"/>
                          </a:solidFill>
                          <a:latin typeface="Calibri"/>
                          <a:cs typeface="Calibri"/>
                        </a:rPr>
                        <a:t>Credit rating</a:t>
                      </a:r>
                    </a:p>
                  </a:txBody>
                  <a:tcPr marL="45720" marR="45720" marT="18000" marB="18000" anchor="ctr"/>
                </a:tc>
                <a:tc>
                  <a:txBody>
                    <a:bodyPr/>
                    <a:lstStyle/>
                    <a:p>
                      <a:pPr algn="r"/>
                      <a:r>
                        <a:rPr lang="en-US" sz="800">
                          <a:solidFill>
                            <a:srgbClr val="292934"/>
                          </a:solidFill>
                          <a:latin typeface="Calibri"/>
                          <a:cs typeface="Calibri"/>
                        </a:rPr>
                        <a:t>Below BBB-</a:t>
                      </a:r>
                    </a:p>
                  </a:txBody>
                  <a:tcPr marL="45720" marR="45720" marT="18000" marB="18000" anchor="ctr"/>
                </a:tc>
                <a:tc>
                  <a:txBody>
                    <a:bodyPr/>
                    <a:lstStyle/>
                    <a:p>
                      <a:pPr algn="r"/>
                      <a:r>
                        <a:rPr lang="en-US" sz="800">
                          <a:solidFill>
                            <a:srgbClr val="292934"/>
                          </a:solidFill>
                          <a:latin typeface="Calibri"/>
                          <a:cs typeface="Calibri"/>
                        </a:rPr>
                        <a:t>S&amp;P BBB stable, Moody's Baa2 positive outlook, Fitch BBB+ stable; one notch above the trigger (Fitch two)</a:t>
                      </a:r>
                    </a:p>
                  </a:txBody>
                  <a:tcPr marL="45720" marR="45720" marT="18000" marB="18000" anchor="ctr"/>
                </a:tc>
                <a:tc>
                  <a:txBody>
                    <a:bodyPr/>
                    <a:lstStyle/>
                    <a:p>
                      <a:pPr algn="r"/>
                      <a:r>
                        <a:rPr lang="en-US" sz="800">
                          <a:solidFill>
                            <a:srgbClr val="292934"/>
                          </a:solidFill>
                          <a:latin typeface="Calibri"/>
                          <a:cs typeface="Calibri"/>
                        </a:rPr>
                        <a:t>S&amp;P / GATX IR</a:t>
                      </a:r>
                    </a:p>
                  </a:txBody>
                  <a:tcPr marL="45720" marR="45720" marT="18000" marB="18000" anchor="ctr"/>
                </a:tc>
                <a:extLst>
                  <a:ext uri="{0D108BD9-81ED-4DB2-BD59-A6C34878D82A}">
                    <a16:rowId xmlns:a16="http://schemas.microsoft.com/office/drawing/2014/main" val="10004"/>
                  </a:ext>
                </a:extLst>
              </a:tr>
              <a:tr h="381000">
                <a:tc>
                  <a:txBody>
                    <a:bodyPr/>
                    <a:lstStyle/>
                    <a:p>
                      <a:pPr algn="l"/>
                      <a:r>
                        <a:rPr lang="en-US" sz="800">
                          <a:solidFill>
                            <a:srgbClr val="292934"/>
                          </a:solidFill>
                          <a:latin typeface="Calibri"/>
                          <a:cs typeface="Calibri"/>
                        </a:rPr>
                        <a:t>Legacy disposition gains, FY2026</a:t>
                      </a:r>
                    </a:p>
                  </a:txBody>
                  <a:tcPr marL="45720" marR="45720" marT="18000" marB="18000" anchor="ctr"/>
                </a:tc>
                <a:tc>
                  <a:txBody>
                    <a:bodyPr/>
                    <a:lstStyle/>
                    <a:p>
                      <a:pPr algn="r"/>
                      <a:r>
                        <a:rPr lang="en-US" sz="800">
                          <a:solidFill>
                            <a:srgbClr val="292934"/>
                          </a:solidFill>
                          <a:latin typeface="Calibri"/>
                          <a:cs typeface="Calibri"/>
                        </a:rPr>
                        <a:t>Below $146M (SELL deepens)</a:t>
                      </a:r>
                    </a:p>
                  </a:txBody>
                  <a:tcPr marL="45720" marR="45720" marT="18000" marB="18000" anchor="ctr"/>
                </a:tc>
                <a:tc>
                  <a:txBody>
                    <a:bodyPr/>
                    <a:lstStyle/>
                    <a:p>
                      <a:pPr algn="r"/>
                      <a:r>
                        <a:rPr lang="en-US" sz="800">
                          <a:solidFill>
                            <a:srgbClr val="292934"/>
                          </a:solidFill>
                          <a:latin typeface="Calibri"/>
                          <a:cs typeface="Calibri"/>
                        </a:rPr>
                        <a:t>BMG $155M; guide $130M; H1 $117.5M</a:t>
                      </a:r>
                    </a:p>
                  </a:txBody>
                  <a:tcPr marL="45720" marR="45720" marT="18000" marB="18000" anchor="ctr"/>
                </a:tc>
                <a:tc>
                  <a:txBody>
                    <a:bodyPr/>
                    <a:lstStyle/>
                    <a:p>
                      <a:pPr algn="r"/>
                      <a:r>
                        <a:rPr lang="en-US" sz="800">
                          <a:solidFill>
                            <a:srgbClr val="292934"/>
                          </a:solidFill>
                          <a:latin typeface="Calibri"/>
                          <a:cs typeface="Calibri"/>
                        </a:rPr>
                        <a:t>10-Q; BMG model Rating sheet</a:t>
                      </a:r>
                    </a:p>
                  </a:txBody>
                  <a:tcPr marL="45720" marR="45720" marT="18000" marB="18000" anchor="ctr"/>
                </a:tc>
                <a:extLst>
                  <a:ext uri="{0D108BD9-81ED-4DB2-BD59-A6C34878D82A}">
                    <a16:rowId xmlns:a16="http://schemas.microsoft.com/office/drawing/2014/main" val="10004"/>
                  </a:ext>
                </a:extLst>
              </a:tr>
            </a:tbl>
          </a:graphicData>
        </a:graphic>
      </p:graphicFrame>
      <p:graphicFrame>
        <p:nvGraphicFramePr>
          <p:cNvPr id="11" name="Table 10">
            <a:extLst>
              <a:ext uri="{FF2B5EF4-FFF2-40B4-BE49-F238E27FC236}">
                <a16:creationId xmlns:a16="http://schemas.microsoft.com/office/drawing/2014/main" id="{B2726848-1440-4D43-B36B-2EDA023758FC}"/>
              </a:ext>
            </a:extLst>
          </p:cNvPr>
          <p:cNvGraphicFramePr>
            <a:graphicFrameLocks noGrp="1"/>
          </p:cNvGraphicFramePr>
          <p:nvPr/>
        </p:nvGraphicFramePr>
        <p:xfrm>
          <a:off x="139700" y="3325800"/>
          <a:ext cx="5461000" cy="1397000"/>
        </p:xfrm>
        <a:graphic>
          <a:graphicData uri="http://schemas.openxmlformats.org/drawingml/2006/table">
            <a:tbl>
              <a:tblPr/>
              <a:tblGrid>
                <a:gridCol w="2667000">
                  <a:extLst>
                    <a:ext uri="{9D8B030D-6E8A-4147-A177-3AD203B41FA5}">
                      <a16:colId xmlns:a16="http://schemas.microsoft.com/office/drawing/2014/main" val="20000"/>
                    </a:ext>
                  </a:extLst>
                </a:gridCol>
                <a:gridCol w="2794000">
                  <a:extLst>
                    <a:ext uri="{9D8B030D-6E8A-4147-A177-3AD203B41FA5}">
                      <a16:colId xmlns:a16="http://schemas.microsoft.com/office/drawing/2014/main" val="20001"/>
                    </a:ext>
                  </a:extLst>
                </a:gridCol>
              </a:tblGrid>
              <a:tr h="279400">
                <a:tc>
                  <a:txBody>
                    <a:bodyPr/>
                    <a:lstStyle/>
                    <a:p>
                      <a:pPr algn="l"/>
                      <a:r>
                        <a:rPr lang="en-US" sz="1000" b="1">
                          <a:solidFill>
                            <a:srgbClr val="292934"/>
                          </a:solidFill>
                          <a:latin typeface="Calibri"/>
                          <a:cs typeface="Calibri"/>
                        </a:rPr>
                        <a:t>Signpost</a:t>
                      </a:r>
                    </a:p>
                  </a:txBody>
                  <a:tcPr marL="45720" marR="45720" marT="18000" marB="18000" anchor="ctr"/>
                </a:tc>
                <a:tc>
                  <a:txBody>
                    <a:bodyPr/>
                    <a:lstStyle/>
                    <a:p>
                      <a:pPr algn="r"/>
                      <a:r>
                        <a:rPr lang="en-US" sz="1000" b="1">
                          <a:solidFill>
                            <a:srgbClr val="292934"/>
                          </a:solidFill>
                          <a:latin typeface="Calibri"/>
                          <a:cs typeface="Calibri"/>
                        </a:rPr>
                        <a:t>Latest reading</a:t>
                      </a:r>
                    </a:p>
                  </a:txBody>
                  <a:tcPr marL="45720" marR="45720" marT="18000" marB="18000" anchor="ctr"/>
                </a:tc>
                <a:extLst>
                  <a:ext uri="{0D108BD9-81ED-4DB2-BD59-A6C34878D82A}">
                    <a16:rowId xmlns:a16="http://schemas.microsoft.com/office/drawing/2014/main" val="10000"/>
                  </a:ext>
                </a:extLst>
              </a:tr>
              <a:tr h="279400">
                <a:tc>
                  <a:txBody>
                    <a:bodyPr/>
                    <a:lstStyle/>
                    <a:p>
                      <a:pPr algn="l"/>
                      <a:r>
                        <a:rPr lang="en-US" sz="1000">
                          <a:solidFill>
                            <a:srgbClr val="292934"/>
                          </a:solidFill>
                          <a:latin typeface="Calibri"/>
                          <a:cs typeface="Calibri"/>
                        </a:rPr>
                        <a:t>Renewal success rate</a:t>
                      </a:r>
                    </a:p>
                  </a:txBody>
                  <a:tcPr marL="45720" marR="45720" marT="18000" marB="18000" anchor="ctr"/>
                </a:tc>
                <a:tc>
                  <a:txBody>
                    <a:bodyPr/>
                    <a:lstStyle/>
                    <a:p>
                      <a:pPr algn="r"/>
                      <a:r>
                        <a:rPr lang="en-US" sz="1000">
                          <a:solidFill>
                            <a:srgbClr val="292934"/>
                          </a:solidFill>
                          <a:latin typeface="Calibri"/>
                          <a:cs typeface="Calibri"/>
                        </a:rPr>
                        <a:t>87% FY2025, 79.1% Q1, 82.6% Q2 2026</a:t>
                      </a:r>
                    </a:p>
                  </a:txBody>
                  <a:tcPr marL="45720" marR="45720" marT="18000" marB="18000" anchor="ctr"/>
                </a:tc>
                <a:extLst>
                  <a:ext uri="{0D108BD9-81ED-4DB2-BD59-A6C34878D82A}">
                    <a16:rowId xmlns:a16="http://schemas.microsoft.com/office/drawing/2014/main" val="10001"/>
                  </a:ext>
                </a:extLst>
              </a:tr>
              <a:tr h="279400">
                <a:tc>
                  <a:txBody>
                    <a:bodyPr/>
                    <a:lstStyle/>
                    <a:p>
                      <a:pPr algn="l"/>
                      <a:r>
                        <a:rPr lang="en-US" sz="1000">
                          <a:solidFill>
                            <a:srgbClr val="292934"/>
                          </a:solidFill>
                          <a:latin typeface="Calibri"/>
                          <a:cs typeface="Calibri"/>
                        </a:rPr>
                        <a:t>Average renewal term</a:t>
                      </a:r>
                    </a:p>
                  </a:txBody>
                  <a:tcPr marL="45720" marR="45720" marT="18000" marB="18000" anchor="ctr"/>
                </a:tc>
                <a:tc>
                  <a:txBody>
                    <a:bodyPr/>
                    <a:lstStyle/>
                    <a:p>
                      <a:pPr algn="r"/>
                      <a:r>
                        <a:rPr lang="en-US" sz="1000">
                          <a:solidFill>
                            <a:srgbClr val="292934"/>
                          </a:solidFill>
                          <a:latin typeface="Calibri"/>
                          <a:cs typeface="Calibri"/>
                        </a:rPr>
                        <a:t>60 months to 54 months</a:t>
                      </a:r>
                    </a:p>
                  </a:txBody>
                  <a:tcPr marL="45720" marR="45720" marT="18000" marB="18000" anchor="ctr"/>
                </a:tc>
                <a:extLst>
                  <a:ext uri="{0D108BD9-81ED-4DB2-BD59-A6C34878D82A}">
                    <a16:rowId xmlns:a16="http://schemas.microsoft.com/office/drawing/2014/main" val="10002"/>
                  </a:ext>
                </a:extLst>
              </a:tr>
              <a:tr h="279400">
                <a:tc>
                  <a:txBody>
                    <a:bodyPr/>
                    <a:lstStyle/>
                    <a:p>
                      <a:pPr algn="l"/>
                      <a:r>
                        <a:rPr lang="en-US" sz="1000">
                          <a:solidFill>
                            <a:srgbClr val="292934"/>
                          </a:solidFill>
                          <a:latin typeface="Calibri"/>
                          <a:cs typeface="Calibri"/>
                        </a:rPr>
                        <a:t>Rail carloads, chemicals and petroleum</a:t>
                      </a:r>
                    </a:p>
                  </a:txBody>
                  <a:tcPr marL="45720" marR="45720" marT="18000" marB="18000" anchor="ctr"/>
                </a:tc>
                <a:tc>
                  <a:txBody>
                    <a:bodyPr/>
                    <a:lstStyle/>
                    <a:p>
                      <a:pPr algn="r"/>
                      <a:r>
                        <a:rPr lang="en-US" sz="1000">
                          <a:solidFill>
                            <a:srgbClr val="292934"/>
                          </a:solidFill>
                          <a:latin typeface="Calibri"/>
                          <a:cs typeface="Calibri"/>
                        </a:rPr>
                        <a:t>AAR weekly, monitored</a:t>
                      </a:r>
                    </a:p>
                  </a:txBody>
                  <a:tcPr marL="45720" marR="45720" marT="18000" marB="18000" anchor="ctr"/>
                </a:tc>
                <a:extLst>
                  <a:ext uri="{0D108BD9-81ED-4DB2-BD59-A6C34878D82A}">
                    <a16:rowId xmlns:a16="http://schemas.microsoft.com/office/drawing/2014/main" val="10003"/>
                  </a:ext>
                </a:extLst>
              </a:tr>
              <a:tr h="279400">
                <a:tc>
                  <a:txBody>
                    <a:bodyPr/>
                    <a:lstStyle/>
                    <a:p>
                      <a:pPr algn="l"/>
                      <a:r>
                        <a:rPr lang="en-US" sz="1000">
                          <a:solidFill>
                            <a:srgbClr val="292934"/>
                          </a:solidFill>
                          <a:latin typeface="Calibri"/>
                          <a:cs typeface="Calibri"/>
                        </a:rPr>
                        <a:t>Disposition gains pace</a:t>
                      </a:r>
                    </a:p>
                  </a:txBody>
                  <a:tcPr marL="45720" marR="45720" marT="18000" marB="18000" anchor="ctr"/>
                </a:tc>
                <a:tc>
                  <a:txBody>
                    <a:bodyPr/>
                    <a:lstStyle/>
                    <a:p>
                      <a:pPr algn="r"/>
                      <a:r>
                        <a:rPr lang="en-US" sz="1000">
                          <a:solidFill>
                            <a:srgbClr val="292934"/>
                          </a:solidFill>
                          <a:latin typeface="Calibri"/>
                          <a:cs typeface="Calibri"/>
                        </a:rPr>
                        <a:t>$117.5M H1 legacy vs $130M legacy guide (90%)</a:t>
                      </a:r>
                    </a:p>
                  </a:txBody>
                  <a:tcPr marL="45720" marR="45720" marT="18000" marB="18000" anchor="ctr"/>
                </a:tc>
                <a:extLst>
                  <a:ext uri="{0D108BD9-81ED-4DB2-BD59-A6C34878D82A}">
                    <a16:rowId xmlns:a16="http://schemas.microsoft.com/office/drawing/2014/main" val="10004"/>
                  </a:ext>
                </a:extLst>
              </a:tr>
            </a:tbl>
          </a:graphicData>
        </a:graphic>
      </p:graphicFrame>
      <p:sp>
        <p:nvSpPr>
          <p:cNvPr id="14" name="WrongCallout">
            <a:extLst>
              <a:ext uri="{FF2B5EF4-FFF2-40B4-BE49-F238E27FC236}">
                <a16:creationId xmlns:a16="http://schemas.microsoft.com/office/drawing/2014/main" id="{F78D6297-31AD-4E69-B5A3-FCE40BFF15CA}"/>
              </a:ext>
            </a:extLst>
          </p:cNvPr>
          <p:cNvSpPr/>
          <p:nvPr/>
        </p:nvSpPr>
        <p:spPr>
          <a:xfrm>
            <a:off x="5778500" y="990600"/>
            <a:ext cx="3225800" cy="5080000"/>
          </a:xfrm>
          <a:prstGeom prst="rect">
            <a:avLst/>
          </a:prstGeom>
          <a:solidFill>
            <a:srgbClr val="F2C755"/>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137160" tIns="91440" rIns="137160" rtlCol="0" anchor="t">
            <a:noAutofit/>
          </a:bodyPr>
          <a:lstStyle/>
          <a:p>
            <a:pPr>
              <a:spcBef>
                <a:spcPts val="0"/>
              </a:spcBef>
              <a:spcAft>
                <a:spcPts val="600"/>
              </a:spcAft>
            </a:pPr>
            <a:r>
              <a:rPr lang="en-US" sz="1100" b="1">
                <a:solidFill>
                  <a:srgbClr val="000000"/>
                </a:solidFill>
                <a:latin typeface="Calibri"/>
                <a:cs typeface="Calibri"/>
              </a:rPr>
              <a:t>What would make me wrong</a:t>
            </a:r>
          </a:p>
          <a:p>
            <a:pPr>
              <a:spcBef>
                <a:spcPts val="0"/>
              </a:spcBef>
              <a:spcAft>
                <a:spcPts val="600"/>
              </a:spcAft>
            </a:pPr>
            <a:r>
              <a:rPr lang="en-US" sz="1100">
                <a:solidFill>
                  <a:srgbClr val="000000"/>
                </a:solidFill>
                <a:latin typeface="Calibri"/>
                <a:cs typeface="Calibri"/>
              </a:rPr>
              <a:t>GATX's own 2035 bond yields 5.95%, 5bp from the 6.00% trigger. Any 10-year issuance at or above 6.00% fires the criterion regardless of the tape.</a:t>
            </a:r>
          </a:p>
          <a:p>
            <a:pPr>
              <a:spcBef>
                <a:spcPts val="0"/>
              </a:spcBef>
              <a:spcAft>
                <a:spcPts val="600"/>
              </a:spcAft>
            </a:pPr>
            <a:r>
              <a:rPr lang="en-US" sz="1100">
                <a:solidFill>
                  <a:srgbClr val="000000"/>
                </a:solidFill>
                <a:latin typeface="Calibri"/>
                <a:cs typeface="Calibri"/>
              </a:rPr>
              <a:t>At $183.73 the expected 12-month return is -8.4%, past the -5.0% SELL line. Below about $177 the rule flips back to HOLD. The rule is mechanical; I do not get to argue with it.</a:t>
            </a:r>
          </a:p>
          <a:p>
            <a:pPr>
              <a:spcBef>
                <a:spcPts val="0"/>
              </a:spcBef>
              <a:spcAft>
                <a:spcPts val="600"/>
              </a:spcAft>
            </a:pPr>
            <a:r>
              <a:rPr lang="en-US" sz="1100">
                <a:solidFill>
                  <a:srgbClr val="000000"/>
                </a:solidFill>
                <a:latin typeface="Calibri"/>
                <a:cs typeface="Calibri"/>
              </a:rPr>
              <a:t>Disposition gains are about 40% of pretax income and depend on secondary-market railcar pricing, which is cyclical. Below $146M of legacy gains the SELL deepens.</a:t>
            </a:r>
          </a:p>
          <a:p>
            <a:pPr>
              <a:spcBef>
                <a:spcPts val="0"/>
              </a:spcBef>
              <a:spcAft>
                <a:spcPts val="600"/>
              </a:spcAft>
            </a:pPr>
            <a:r>
              <a:rPr lang="en-US" sz="1100">
                <a:solidFill>
                  <a:srgbClr val="000000"/>
                </a:solidFill>
                <a:latin typeface="Calibri"/>
                <a:cs typeface="Calibri"/>
              </a:rPr>
              <a:t>The cushion in the earnings is asset sales and RRPF dividends, not repricing: repricing adds about $45M in 2027 falling to $17M by 2029, against $224M of added interest.</a:t>
            </a:r>
          </a:p>
          <a:p>
            <a:pPr>
              <a:spcBef>
                <a:spcPts val="0"/>
              </a:spcBef>
              <a:spcAft>
                <a:spcPts val="600"/>
              </a:spcAft>
            </a:pPr>
            <a:r>
              <a:rPr lang="en-US" sz="1100">
                <a:solidFill>
                  <a:srgbClr val="000000"/>
                </a:solidFill>
                <a:latin typeface="Calibri"/>
                <a:cs typeface="Calibri"/>
              </a:rPr>
              <a:t>Break-even LPI in 2027 is -29%; the 2017 trough was -24%. The thesis survives a normal down-cycle only with dispositions intact.</a:t>
            </a:r>
          </a:p>
        </p:txBody>
      </p:sp>
      <p:sp>
        <p:nvSpPr>
          <p:cNvPr id="15" name="ThresholdCallout">
            <a:extLst>
              <a:ext uri="{FF2B5EF4-FFF2-40B4-BE49-F238E27FC236}">
                <a16:creationId xmlns:a16="http://schemas.microsoft.com/office/drawing/2014/main" id="{F78D6297-31AD-4E69-B5A3-FCE40BFF15CA}"/>
              </a:ext>
            </a:extLst>
          </p:cNvPr>
          <p:cNvSpPr/>
          <p:nvPr/>
        </p:nvSpPr>
        <p:spPr>
          <a:xfrm>
            <a:off x="139700" y="4875200"/>
            <a:ext cx="5461000" cy="1195400"/>
          </a:xfrm>
          <a:prstGeom prst="rect">
            <a:avLst/>
          </a:prstGeom>
          <a:solidFill>
            <a:srgbClr val="F2C755"/>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137160" tIns="91440" rIns="137160" rtlCol="0" anchor="t">
            <a:noAutofit/>
          </a:bodyPr>
          <a:lstStyle/>
          <a:p>
            <a:pPr>
              <a:spcBef>
                <a:spcPts val="0"/>
              </a:spcBef>
              <a:spcAft>
                <a:spcPts val="600"/>
              </a:spcAft>
            </a:pPr>
            <a:r>
              <a:rPr lang="en-US" sz="1100" b="1">
                <a:solidFill>
                  <a:srgbClr val="000000"/>
                </a:solidFill>
                <a:latin typeface="Calibri"/>
                <a:cs typeface="Calibri"/>
              </a:rPr>
              <a:t>Every risk carries a threshold and a source</a:t>
            </a:r>
          </a:p>
          <a:p>
            <a:pPr>
              <a:spcBef>
                <a:spcPts val="0"/>
              </a:spcBef>
              <a:spcAft>
                <a:spcPts val="600"/>
              </a:spcAft>
            </a:pPr>
            <a:r>
              <a:rPr lang="en-US" sz="1100">
                <a:solidFill>
                  <a:srgbClr val="000000"/>
                </a:solidFill>
                <a:latin typeface="Calibri"/>
                <a:cs typeface="Calibri"/>
              </a:rPr>
              <a:t>Each criterion is registered before the fact, with the disclosure that reports it. Any one firing triggers an exit review ahead of the 2027-09-13 evaluation date. The call opened BUY on 2026-09-11 and was revised to HOLD on 2026-09-28 when the model build showed consensus 2027 EPS is $0.80 above what the filings support.</a:t>
            </a:r>
          </a:p>
        </p:txBody>
      </p:sp>
    </p:spTree>
    <p:extLst>
      <p:ext uri="{BB962C8B-B14F-4D97-AF65-F5344CB8AC3E}">
        <p14:creationId xmlns:p14="http://schemas.microsoft.com/office/powerpoint/2010/main" val="27049268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74B9C-B9AC-D0E8-1A0D-BE55FAEFCA92}"/>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4F946765-0F3E-2C32-BA14-97D711D994A6}"/>
              </a:ext>
            </a:extLst>
          </p:cNvPr>
          <p:cNvGrpSpPr/>
          <p:nvPr/>
        </p:nvGrpSpPr>
        <p:grpSpPr>
          <a:xfrm>
            <a:off x="0" y="6222249"/>
            <a:ext cx="9144000" cy="457200"/>
            <a:chOff x="0" y="2732884"/>
            <a:chExt cx="9144000" cy="457200"/>
          </a:xfrm>
        </p:grpSpPr>
        <p:sp>
          <p:nvSpPr>
            <p:cNvPr id="58" name="Rectangle 57">
              <a:extLst>
                <a:ext uri="{FF2B5EF4-FFF2-40B4-BE49-F238E27FC236}">
                  <a16:creationId xmlns:a16="http://schemas.microsoft.com/office/drawing/2014/main" id="{A67C880D-BE86-E7B7-E4EA-3A9D04D55784}"/>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9" name="Group 58">
              <a:extLst>
                <a:ext uri="{FF2B5EF4-FFF2-40B4-BE49-F238E27FC236}">
                  <a16:creationId xmlns:a16="http://schemas.microsoft.com/office/drawing/2014/main" id="{4DAF0827-F9F7-A47B-7C53-8A9C564BAB6D}"/>
                </a:ext>
              </a:extLst>
            </p:cNvPr>
            <p:cNvGrpSpPr/>
            <p:nvPr/>
          </p:nvGrpSpPr>
          <p:grpSpPr>
            <a:xfrm>
              <a:off x="5021579" y="2732884"/>
              <a:ext cx="545306" cy="457200"/>
              <a:chOff x="4981575" y="2712036"/>
              <a:chExt cx="545306" cy="457200"/>
            </a:xfrm>
          </p:grpSpPr>
          <p:sp>
            <p:nvSpPr>
              <p:cNvPr id="183321" name="Oval 183320">
                <a:extLst>
                  <a:ext uri="{FF2B5EF4-FFF2-40B4-BE49-F238E27FC236}">
                    <a16:creationId xmlns:a16="http://schemas.microsoft.com/office/drawing/2014/main" id="{FCE0E092-B2BD-888D-8F25-FDF87C2A9AC9}"/>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83322" name="Picture 183321" descr="Related image">
                <a:extLst>
                  <a:ext uri="{FF2B5EF4-FFF2-40B4-BE49-F238E27FC236}">
                    <a16:creationId xmlns:a16="http://schemas.microsoft.com/office/drawing/2014/main" id="{85263628-1504-54C5-79E4-4E7D154A2D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83319" name="Oval 183318">
              <a:extLst>
                <a:ext uri="{FF2B5EF4-FFF2-40B4-BE49-F238E27FC236}">
                  <a16:creationId xmlns:a16="http://schemas.microsoft.com/office/drawing/2014/main" id="{6FD47723-23A8-B9C3-95A2-00A01C8E25D7}"/>
                </a:ext>
              </a:extLst>
            </p:cNvPr>
            <p:cNvSpPr/>
            <p:nvPr/>
          </p:nvSpPr>
          <p:spPr bwMode="auto">
            <a:xfrm>
              <a:off x="7910513"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5" name="Oval 183314">
              <a:extLst>
                <a:ext uri="{FF2B5EF4-FFF2-40B4-BE49-F238E27FC236}">
                  <a16:creationId xmlns:a16="http://schemas.microsoft.com/office/drawing/2014/main" id="{9C6E788B-A9A5-FAE1-617A-2F77FDEDA969}"/>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2" name="Group 61">
              <a:extLst>
                <a:ext uri="{FF2B5EF4-FFF2-40B4-BE49-F238E27FC236}">
                  <a16:creationId xmlns:a16="http://schemas.microsoft.com/office/drawing/2014/main" id="{C84D23A2-3F7F-FB35-F845-D26033702F04}"/>
                </a:ext>
              </a:extLst>
            </p:cNvPr>
            <p:cNvGrpSpPr/>
            <p:nvPr/>
          </p:nvGrpSpPr>
          <p:grpSpPr>
            <a:xfrm>
              <a:off x="6466045" y="2732884"/>
              <a:ext cx="545306" cy="457200"/>
              <a:chOff x="6353175" y="2712036"/>
              <a:chExt cx="545306" cy="457200"/>
            </a:xfrm>
          </p:grpSpPr>
          <p:sp>
            <p:nvSpPr>
              <p:cNvPr id="183313" name="Oval 183312">
                <a:extLst>
                  <a:ext uri="{FF2B5EF4-FFF2-40B4-BE49-F238E27FC236}">
                    <a16:creationId xmlns:a16="http://schemas.microsoft.com/office/drawing/2014/main" id="{4B8ED82A-0A6C-A958-028D-583B85167AD7}"/>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4" name="Graphic 14379" descr="Dollar with solid fill">
                <a:extLst>
                  <a:ext uri="{FF2B5EF4-FFF2-40B4-BE49-F238E27FC236}">
                    <a16:creationId xmlns:a16="http://schemas.microsoft.com/office/drawing/2014/main" id="{78748328-3E5A-F4B1-04C7-FDB283D955ED}"/>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nvGrpSpPr>
            <p:cNvPr id="63" name="Group 62">
              <a:extLst>
                <a:ext uri="{FF2B5EF4-FFF2-40B4-BE49-F238E27FC236}">
                  <a16:creationId xmlns:a16="http://schemas.microsoft.com/office/drawing/2014/main" id="{497CE471-787D-D9E3-07EB-BC35D8B8034D}"/>
                </a:ext>
              </a:extLst>
            </p:cNvPr>
            <p:cNvGrpSpPr/>
            <p:nvPr/>
          </p:nvGrpSpPr>
          <p:grpSpPr>
            <a:xfrm>
              <a:off x="3577113" y="2732884"/>
              <a:ext cx="545306" cy="457200"/>
              <a:chOff x="3609974" y="2715607"/>
              <a:chExt cx="545306" cy="457200"/>
            </a:xfrm>
          </p:grpSpPr>
          <p:sp>
            <p:nvSpPr>
              <p:cNvPr id="183309" name="Oval 183308">
                <a:extLst>
                  <a:ext uri="{FF2B5EF4-FFF2-40B4-BE49-F238E27FC236}">
                    <a16:creationId xmlns:a16="http://schemas.microsoft.com/office/drawing/2014/main" id="{1FB8C93D-8158-A3F4-EBE6-D32198308B6D}"/>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83310" name="Group 183309">
                <a:extLst>
                  <a:ext uri="{FF2B5EF4-FFF2-40B4-BE49-F238E27FC236}">
                    <a16:creationId xmlns:a16="http://schemas.microsoft.com/office/drawing/2014/main" id="{CEEF5921-879F-E5C8-ADB2-C4A693664710}"/>
                  </a:ext>
                </a:extLst>
              </p:cNvPr>
              <p:cNvGrpSpPr/>
              <p:nvPr/>
            </p:nvGrpSpPr>
            <p:grpSpPr>
              <a:xfrm>
                <a:off x="3769049" y="2811218"/>
                <a:ext cx="227157" cy="265979"/>
                <a:chOff x="3771206" y="2761936"/>
                <a:chExt cx="227157" cy="265979"/>
              </a:xfrm>
            </p:grpSpPr>
            <p:sp>
              <p:nvSpPr>
                <p:cNvPr id="183311" name="Freeform: Shape 183310">
                  <a:extLst>
                    <a:ext uri="{FF2B5EF4-FFF2-40B4-BE49-F238E27FC236}">
                      <a16:creationId xmlns:a16="http://schemas.microsoft.com/office/drawing/2014/main" id="{015C31E9-84EA-FDC2-E6C1-F6229B2BC11B}"/>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sp>
              <p:nvSpPr>
                <p:cNvPr id="183312" name="Freeform: Shape 183311">
                  <a:extLst>
                    <a:ext uri="{FF2B5EF4-FFF2-40B4-BE49-F238E27FC236}">
                      <a16:creationId xmlns:a16="http://schemas.microsoft.com/office/drawing/2014/main" id="{B9248FB3-B846-BA62-D67C-64202E797261}"/>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6" name="Group 183305">
              <a:extLst>
                <a:ext uri="{FF2B5EF4-FFF2-40B4-BE49-F238E27FC236}">
                  <a16:creationId xmlns:a16="http://schemas.microsoft.com/office/drawing/2014/main" id="{8323FAF8-FAB7-578C-73BA-8458FDF36C89}"/>
                </a:ext>
              </a:extLst>
            </p:cNvPr>
            <p:cNvGrpSpPr/>
            <p:nvPr/>
          </p:nvGrpSpPr>
          <p:grpSpPr>
            <a:xfrm>
              <a:off x="2132647" y="2732884"/>
              <a:ext cx="545306" cy="457200"/>
              <a:chOff x="2238375" y="2712635"/>
              <a:chExt cx="545306" cy="457200"/>
            </a:xfrm>
          </p:grpSpPr>
          <p:sp>
            <p:nvSpPr>
              <p:cNvPr id="183307" name="Oval 183306">
                <a:extLst>
                  <a:ext uri="{FF2B5EF4-FFF2-40B4-BE49-F238E27FC236}">
                    <a16:creationId xmlns:a16="http://schemas.microsoft.com/office/drawing/2014/main" id="{2797C1B4-F86D-5C00-32DA-948835FD882B}"/>
                  </a:ext>
                </a:extLst>
              </p:cNvPr>
              <p:cNvSpPr/>
              <p:nvPr/>
            </p:nvSpPr>
            <p:spPr bwMode="auto">
              <a:xfrm>
                <a:off x="2238375" y="2712635"/>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83308" name="Graphic 14377" descr="Board Of Directors with solid fill">
                <a:extLst>
                  <a:ext uri="{FF2B5EF4-FFF2-40B4-BE49-F238E27FC236}">
                    <a16:creationId xmlns:a16="http://schemas.microsoft.com/office/drawing/2014/main" id="{FDD3486E-FBCB-5BC4-EA4D-0712BC42123A}"/>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1" name="Group 183300">
            <a:extLst>
              <a:ext uri="{FF2B5EF4-FFF2-40B4-BE49-F238E27FC236}">
                <a16:creationId xmlns:a16="http://schemas.microsoft.com/office/drawing/2014/main" id="{40F46EBF-E3F4-B340-57ED-78CDA7F17EBA}"/>
              </a:ext>
            </a:extLst>
          </p:cNvPr>
          <p:cNvGrpSpPr>
            <a:grpSpLocks/>
          </p:cNvGrpSpPr>
          <p:nvPr/>
        </p:nvGrpSpPr>
        <p:grpSpPr bwMode="auto">
          <a:xfrm>
            <a:off x="0" y="82931"/>
            <a:ext cx="9144000" cy="576262"/>
            <a:chOff x="-2" y="-17079"/>
            <a:chExt cx="12192002" cy="768578"/>
          </a:xfrm>
        </p:grpSpPr>
        <p:sp>
          <p:nvSpPr>
            <p:cNvPr id="183302" name="Title 1">
              <a:extLst>
                <a:ext uri="{FF2B5EF4-FFF2-40B4-BE49-F238E27FC236}">
                  <a16:creationId xmlns:a16="http://schemas.microsoft.com/office/drawing/2014/main" id="{24881371-E8DA-19A5-7962-D9D5C40CF78A}"/>
                </a:ext>
              </a:extLst>
            </p:cNvPr>
            <p:cNvSpPr txBox="1">
              <a:spLocks/>
            </p:cNvSpPr>
            <p:nvPr/>
          </p:nvSpPr>
          <p:spPr>
            <a:xfrm>
              <a:off x="-2" y="-17079"/>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a:solidFill>
                    <a:schemeClr val="tx1"/>
                  </a:solidFill>
                  <a:latin typeface="Calibri" panose="020F0502020204030204" pitchFamily="34" charset="0"/>
                  <a:cs typeface="Calibri" panose="020F0502020204030204" pitchFamily="34" charset="0"/>
                </a:rPr>
                <a:t>Summary</a:t>
              </a:r>
              <a:endParaRPr lang="en-US" sz="2100" b="1">
                <a:solidFill>
                  <a:srgbClr val="000000"/>
                </a:solidFill>
                <a:latin typeface="Calibri" panose="020F0502020204030204" pitchFamily="34" charset="0"/>
                <a:cs typeface="Calibri" panose="020F0502020204030204" pitchFamily="34" charset="0"/>
              </a:endParaRPr>
            </a:p>
          </p:txBody>
        </p:sp>
        <p:grpSp>
          <p:nvGrpSpPr>
            <p:cNvPr id="183303" name="Group 39">
              <a:extLst>
                <a:ext uri="{FF2B5EF4-FFF2-40B4-BE49-F238E27FC236}">
                  <a16:creationId xmlns:a16="http://schemas.microsoft.com/office/drawing/2014/main" id="{B8DA43BE-5BC9-AC8D-6F20-9D660AC2A39C}"/>
                </a:ext>
              </a:extLst>
            </p:cNvPr>
            <p:cNvGrpSpPr>
              <a:grpSpLocks/>
            </p:cNvGrpSpPr>
            <p:nvPr/>
          </p:nvGrpSpPr>
          <p:grpSpPr bwMode="auto">
            <a:xfrm>
              <a:off x="-2" y="645614"/>
              <a:ext cx="12192002" cy="105885"/>
              <a:chOff x="2373524" y="569416"/>
              <a:chExt cx="6496168" cy="87055"/>
            </a:xfrm>
          </p:grpSpPr>
          <p:sp>
            <p:nvSpPr>
              <p:cNvPr id="183304" name="Rectangle 183303">
                <a:extLst>
                  <a:ext uri="{FF2B5EF4-FFF2-40B4-BE49-F238E27FC236}">
                    <a16:creationId xmlns:a16="http://schemas.microsoft.com/office/drawing/2014/main" id="{9A38BB28-1D92-3500-B1DE-DF206A54B5D3}"/>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sp>
            <p:nvSpPr>
              <p:cNvPr id="183305" name="Rectangle 183304">
                <a:extLst>
                  <a:ext uri="{FF2B5EF4-FFF2-40B4-BE49-F238E27FC236}">
                    <a16:creationId xmlns:a16="http://schemas.microsoft.com/office/drawing/2014/main" id="{5F4442AA-F6DB-F0DF-B16F-3AFF60C336B9}"/>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grpSp>
      </p:grpSp>
      <p:pic>
        <p:nvPicPr>
          <p:cNvPr id="56" name="Picture 30" descr="Related image">
            <a:extLst>
              <a:ext uri="{FF2B5EF4-FFF2-40B4-BE49-F238E27FC236}">
                <a16:creationId xmlns:a16="http://schemas.microsoft.com/office/drawing/2014/main" id="{BE4121C5-19B4-7E1E-8FBD-9AD95B0BD2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4" b="4326"/>
          <a:stretch>
            <a:fillRect/>
          </a:stretch>
        </p:blipFill>
        <p:spPr bwMode="auto">
          <a:xfrm>
            <a:off x="8023225" y="6295142"/>
            <a:ext cx="328164" cy="292628"/>
          </a:xfrm>
          <a:prstGeom prst="rect">
            <a:avLst/>
          </a:prstGeom>
          <a:solidFill>
            <a:srgbClr val="F2C755"/>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2" name="Graphic 31" descr="Lights On with solid fill">
            <a:extLst>
              <a:ext uri="{FF2B5EF4-FFF2-40B4-BE49-F238E27FC236}">
                <a16:creationId xmlns:a16="http://schemas.microsoft.com/office/drawing/2014/main" id="{A12CA388-ADD2-F38E-1571-3E15E26516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077" y="6223233"/>
            <a:ext cx="461513" cy="461513"/>
          </a:xfrm>
          <a:prstGeom prst="rect">
            <a:avLst/>
          </a:prstGeom>
        </p:spPr>
      </p:pic>
      <p:pic>
        <p:nvPicPr>
          <p:cNvPr id="19" name="Picture 18" descr="A black background with blue text&#10;&#10;Description automatically generated">
            <a:extLst>
              <a:ext uri="{FF2B5EF4-FFF2-40B4-BE49-F238E27FC236}">
                <a16:creationId xmlns:a16="http://schemas.microsoft.com/office/drawing/2014/main" id="{AF584316-9BE0-F37D-00D2-FBC94784EA2B}"/>
              </a:ext>
            </a:extLst>
          </p:cNvPr>
          <p:cNvPicPr>
            <a:picLocks noChangeAspect="1"/>
          </p:cNvPicPr>
          <p:nvPr/>
        </p:nvPicPr>
        <p:blipFill>
          <a:blip r:embed="rId5">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20" name="TextBox 19">
            <a:extLst>
              <a:ext uri="{FF2B5EF4-FFF2-40B4-BE49-F238E27FC236}">
                <a16:creationId xmlns:a16="http://schemas.microsoft.com/office/drawing/2014/main" id="{5EF8CABE-0D0B-6B71-7D07-83DD187C4834}"/>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30</a:t>
            </a:fld>
            <a:endParaRPr lang="en-US" sz="1400">
              <a:latin typeface="Calibri" panose="020F0502020204030204" pitchFamily="34" charset="0"/>
              <a:cs typeface="Calibri" panose="020F0502020204030204" pitchFamily="34" charset="0"/>
            </a:endParaRPr>
          </a:p>
        </p:txBody>
      </p:sp>
      <p:sp>
        <p:nvSpPr>
          <p:cNvPr id="2" name="Rounded Rectangle 19">
            <a:extLst>
              <a:ext uri="{FF2B5EF4-FFF2-40B4-BE49-F238E27FC236}">
                <a16:creationId xmlns:a16="http://schemas.microsoft.com/office/drawing/2014/main" id="{730893D0-5ADF-5FDB-52D2-0AA137BA6675}"/>
              </a:ext>
            </a:extLst>
          </p:cNvPr>
          <p:cNvSpPr/>
          <p:nvPr/>
        </p:nvSpPr>
        <p:spPr>
          <a:xfrm>
            <a:off x="141953" y="1121860"/>
            <a:ext cx="3395571" cy="743581"/>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000" b="1">
                <a:solidFill>
                  <a:srgbClr val="000000"/>
                </a:solidFill>
                <a:latin typeface="Calibri" panose="020F0502020204030204" pitchFamily="34" charset="0"/>
                <a:ea typeface="Calibri" panose="020F0502020204030204" pitchFamily="34" charset="0"/>
                <a:cs typeface="Calibri" panose="020F0502020204030204" pitchFamily="34" charset="0"/>
              </a:rPr>
              <a:t>RECOMMENDATION:  SELL</a:t>
            </a:r>
          </a:p>
        </p:txBody>
      </p:sp>
      <p:grpSp>
        <p:nvGrpSpPr>
          <p:cNvPr id="4" name="Group 3">
            <a:extLst>
              <a:ext uri="{FF2B5EF4-FFF2-40B4-BE49-F238E27FC236}">
                <a16:creationId xmlns:a16="http://schemas.microsoft.com/office/drawing/2014/main" id="{A574F8C2-38A6-57A6-78A0-BC2EFFF820E4}"/>
              </a:ext>
            </a:extLst>
          </p:cNvPr>
          <p:cNvGrpSpPr/>
          <p:nvPr/>
        </p:nvGrpSpPr>
        <p:grpSpPr>
          <a:xfrm>
            <a:off x="3728546" y="1094827"/>
            <a:ext cx="5278560" cy="787946"/>
            <a:chOff x="3149500" y="910514"/>
            <a:chExt cx="5247660" cy="585875"/>
          </a:xfrm>
        </p:grpSpPr>
        <p:sp>
          <p:nvSpPr>
            <p:cNvPr id="5" name="Rectangle 4">
              <a:extLst>
                <a:ext uri="{FF2B5EF4-FFF2-40B4-BE49-F238E27FC236}">
                  <a16:creationId xmlns:a16="http://schemas.microsoft.com/office/drawing/2014/main" id="{E2B635EE-7391-EEA7-81D3-4BD8B14EC743}"/>
                </a:ext>
              </a:extLst>
            </p:cNvPr>
            <p:cNvSpPr/>
            <p:nvPr/>
          </p:nvSpPr>
          <p:spPr bwMode="auto">
            <a:xfrm>
              <a:off x="3426457" y="1144291"/>
              <a:ext cx="4905562" cy="15503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grpSp>
          <p:nvGrpSpPr>
            <p:cNvPr id="6" name="Group 3">
              <a:extLst>
                <a:ext uri="{FF2B5EF4-FFF2-40B4-BE49-F238E27FC236}">
                  <a16:creationId xmlns:a16="http://schemas.microsoft.com/office/drawing/2014/main" id="{49735D45-2AC3-C5F5-7BC2-4281E74582B8}"/>
                </a:ext>
              </a:extLst>
            </p:cNvPr>
            <p:cNvGrpSpPr>
              <a:grpSpLocks/>
            </p:cNvGrpSpPr>
            <p:nvPr/>
          </p:nvGrpSpPr>
          <p:grpSpPr bwMode="auto">
            <a:xfrm>
              <a:off x="3149500" y="914261"/>
              <a:ext cx="3107470" cy="578660"/>
              <a:chOff x="4443105" y="1696872"/>
              <a:chExt cx="7123462" cy="691132"/>
            </a:xfrm>
          </p:grpSpPr>
          <p:sp>
            <p:nvSpPr>
              <p:cNvPr id="9" name="Rounded Rectangle 17">
                <a:extLst>
                  <a:ext uri="{FF2B5EF4-FFF2-40B4-BE49-F238E27FC236}">
                    <a16:creationId xmlns:a16="http://schemas.microsoft.com/office/drawing/2014/main" id="{81492D3F-6A79-B69A-28E7-A0A7E45287AA}"/>
                  </a:ext>
                </a:extLst>
              </p:cNvPr>
              <p:cNvSpPr/>
              <p:nvPr/>
            </p:nvSpPr>
            <p:spPr>
              <a:xfrm>
                <a:off x="4443105" y="1696872"/>
                <a:ext cx="2182434" cy="691132"/>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Railcar Supply</a:t>
                </a:r>
              </a:p>
            </p:txBody>
          </p:sp>
          <p:sp>
            <p:nvSpPr>
              <p:cNvPr id="10" name="Rounded Rectangle 18">
                <a:extLst>
                  <a:ext uri="{FF2B5EF4-FFF2-40B4-BE49-F238E27FC236}">
                    <a16:creationId xmlns:a16="http://schemas.microsoft.com/office/drawing/2014/main" id="{A8EB7F61-27DE-6BBA-05BB-C53BE31BE821}"/>
                  </a:ext>
                </a:extLst>
              </p:cNvPr>
              <p:cNvSpPr/>
              <p:nvPr/>
            </p:nvSpPr>
            <p:spPr>
              <a:xfrm>
                <a:off x="6912827" y="1696872"/>
                <a:ext cx="2184020" cy="691132"/>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Fleet Growth</a:t>
                </a:r>
              </a:p>
            </p:txBody>
          </p:sp>
          <p:sp>
            <p:nvSpPr>
              <p:cNvPr id="11" name="Rounded Rectangle 20">
                <a:extLst>
                  <a:ext uri="{FF2B5EF4-FFF2-40B4-BE49-F238E27FC236}">
                    <a16:creationId xmlns:a16="http://schemas.microsoft.com/office/drawing/2014/main" id="{3DC0D3F1-8A87-76C6-16C6-8B6800FB6CE8}"/>
                  </a:ext>
                </a:extLst>
              </p:cNvPr>
              <p:cNvSpPr/>
              <p:nvPr/>
            </p:nvSpPr>
            <p:spPr>
              <a:xfrm>
                <a:off x="9384135" y="1696872"/>
                <a:ext cx="2182432" cy="691132"/>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Renewal Pricing</a:t>
                </a:r>
              </a:p>
            </p:txBody>
          </p:sp>
        </p:grpSp>
        <p:sp>
          <p:nvSpPr>
            <p:cNvPr id="7" name="Rounded Rectangle 20">
              <a:extLst>
                <a:ext uri="{FF2B5EF4-FFF2-40B4-BE49-F238E27FC236}">
                  <a16:creationId xmlns:a16="http://schemas.microsoft.com/office/drawing/2014/main" id="{1DAC3213-AA42-DA9C-6115-177409731828}"/>
                </a:ext>
              </a:extLst>
            </p:cNvPr>
            <p:cNvSpPr/>
            <p:nvPr/>
          </p:nvSpPr>
          <p:spPr bwMode="auto">
            <a:xfrm>
              <a:off x="7455495" y="917729"/>
              <a:ext cx="941665" cy="578660"/>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Intl &amp; Engines</a:t>
              </a:r>
            </a:p>
          </p:txBody>
        </p:sp>
        <p:sp>
          <p:nvSpPr>
            <p:cNvPr id="8" name="Rounded Rectangle 20">
              <a:extLst>
                <a:ext uri="{FF2B5EF4-FFF2-40B4-BE49-F238E27FC236}">
                  <a16:creationId xmlns:a16="http://schemas.microsoft.com/office/drawing/2014/main" id="{CA4A07AC-12D8-03CF-A8EE-B4611D53717B}"/>
                </a:ext>
              </a:extLst>
            </p:cNvPr>
            <p:cNvSpPr/>
            <p:nvPr/>
          </p:nvSpPr>
          <p:spPr bwMode="auto">
            <a:xfrm>
              <a:off x="6380210" y="910514"/>
              <a:ext cx="952043" cy="578660"/>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Disposition Gains</a:t>
              </a:r>
            </a:p>
          </p:txBody>
        </p:sp>
      </p:grpSp>
      <p:sp>
        <p:nvSpPr>
          <p:cNvPr id="12" name="Rectangle 11">
            <a:extLst>
              <a:ext uri="{FF2B5EF4-FFF2-40B4-BE49-F238E27FC236}">
                <a16:creationId xmlns:a16="http://schemas.microsoft.com/office/drawing/2014/main" id="{DC1DA319-672E-3C0B-F86A-87964FAD1F47}"/>
              </a:ext>
            </a:extLst>
          </p:cNvPr>
          <p:cNvSpPr/>
          <p:nvPr/>
        </p:nvSpPr>
        <p:spPr>
          <a:xfrm>
            <a:off x="141953" y="2086331"/>
            <a:ext cx="3395571" cy="3518913"/>
          </a:xfrm>
          <a:prstGeom prst="rect">
            <a:avLst/>
          </a:prstGeom>
          <a:solidFill>
            <a:srgbClr val="F2C755"/>
          </a:solidFill>
          <a:ln w="285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t"/>
          <a:lstStyle/>
          <a:p>
            <a:pPr eaLnBrk="1" fontAlgn="auto" hangingPunct="1">
              <a:spcBef>
                <a:spcPts val="0"/>
              </a:spcBef>
              <a:spcAft>
                <a:spcPts val="0"/>
              </a:spcAft>
              <a:defRPr/>
            </a:pPr>
            <a:r>
              <a:rPr lang="en-US" sz="850">
                <a:solidFill>
                  <a:srgbClr val="000000"/>
                </a:solidFill>
                <a:latin typeface="Calibri" panose="020F0502020204030204" pitchFamily="34" charset="0"/>
                <a:ea typeface="Calibri" panose="020F0502020204030204" pitchFamily="34" charset="0"/>
                <a:cs typeface="Calibri" panose="020F0502020204030204" pitchFamily="34" charset="0"/>
              </a:rPr>
              <a:t>GATX is a railcar lessor in a structurally tight market with a fleet that doubled in January. Those are real. But the earnings cushion is asset sales and RRPF dividends, not repricing, and BMG's model, built from the 10-K and Q2 10-Q, gets 2027 EPS of $10.47 against a Street at $11.27: the gap is interest, a second year of Wells Fargo accretion, and RRPF. Weighting three methods, justified P/B 35%, vintage-marked NAV 35% and P/E 30%, gives a $166 target against $183.73: expected return -8.4%. The P/E and NAV legs sit near $170; justified P/B at $158 says 2.1x book needs a 16% ROE the filings do not show. The SELL is about the price, not the franchise: below $177 the same model says HOLD.</a:t>
            </a:r>
          </a:p>
          <a:p>
            <a:pPr eaLnBrk="1" fontAlgn="auto" hangingPunct="1">
              <a:spcBef>
                <a:spcPts val="600"/>
              </a:spcBef>
              <a:spcAft>
                <a:spcPts val="0"/>
              </a:spcAft>
            </a:pPr>
            <a:r>
              <a:rPr lang="en-US" sz="850" b="1">
                <a:solidFill>
                  <a:srgbClr val="000000"/>
                </a:solidFill>
                <a:latin typeface="Calibri" panose="020F0502020204030204" pitchFamily="34" charset="0"/>
                <a:ea typeface="Calibri" panose="020F0502020204030204" pitchFamily="34" charset="0"/>
                <a:cs typeface="Calibri" panose="020F0502020204030204" pitchFamily="34" charset="0"/>
              </a:rPr>
              <a:t>Kill criteria: new 10-year debt at or above 6.00% (2035 bond: 5.95%), legacy disposition gains below $146M, utilization below 96%, LPI below +10%, rating below BBB-.</a:t>
            </a:r>
          </a:p>
          <a:p>
            <a:pPr eaLnBrk="1" fontAlgn="auto" hangingPunct="1">
              <a:spcBef>
                <a:spcPts val="600"/>
              </a:spcBef>
              <a:spcAft>
                <a:spcPts val="0"/>
              </a:spcAft>
            </a:pPr>
            <a:r>
              <a:rPr lang="en-US" sz="850" b="1">
                <a:solidFill>
                  <a:srgbClr val="000000"/>
                </a:solidFill>
                <a:latin typeface="Calibri" panose="020F0502020204030204" pitchFamily="34" charset="0"/>
                <a:ea typeface="Calibri" panose="020F0502020204030204" pitchFamily="34" charset="0"/>
                <a:cs typeface="Calibri" panose="020F0502020204030204" pitchFamily="34" charset="0"/>
              </a:rPr>
              <a:t>Mechanics: opened BUY at $178.53 on 2026-09-11; revised to SELL 2026-09-28 after the model build; target method revised to weighted P/B, NAV and P/E on 2026-10-01 and the growth input corrected 2026-10-02 (v32, priced at $183.73). Evaluation 2027-09-13, benchmark XLI. Next test: Q3 on 2026-10-27, BMG $2.67 vs consensus $2.48.</a:t>
            </a:r>
          </a:p>
        </p:txBody>
      </p:sp>
      <p:grpSp>
        <p:nvGrpSpPr>
          <p:cNvPr id="13" name="Group 2056">
            <a:extLst>
              <a:ext uri="{FF2B5EF4-FFF2-40B4-BE49-F238E27FC236}">
                <a16:creationId xmlns:a16="http://schemas.microsoft.com/office/drawing/2014/main" id="{6AC9B5C4-24CD-8BA5-A769-C1832F4BEFB6}"/>
              </a:ext>
            </a:extLst>
          </p:cNvPr>
          <p:cNvGrpSpPr>
            <a:grpSpLocks/>
          </p:cNvGrpSpPr>
          <p:nvPr/>
        </p:nvGrpSpPr>
        <p:grpSpPr bwMode="auto">
          <a:xfrm>
            <a:off x="3728546" y="5145662"/>
            <a:ext cx="5283437" cy="540544"/>
            <a:chOff x="5404032" y="5724682"/>
            <a:chExt cx="6336921" cy="721150"/>
          </a:xfrm>
        </p:grpSpPr>
        <p:sp>
          <p:nvSpPr>
            <p:cNvPr id="14" name="Rounded Rectangle 36">
              <a:extLst>
                <a:ext uri="{FF2B5EF4-FFF2-40B4-BE49-F238E27FC236}">
                  <a16:creationId xmlns:a16="http://schemas.microsoft.com/office/drawing/2014/main" id="{439C6F31-3872-D81C-7FC8-1A3E07A27DF9}"/>
                </a:ext>
              </a:extLst>
            </p:cNvPr>
            <p:cNvSpPr/>
            <p:nvPr/>
          </p:nvSpPr>
          <p:spPr>
            <a:xfrm>
              <a:off x="5404032" y="5832696"/>
              <a:ext cx="2407109" cy="505123"/>
            </a:xfrm>
            <a:prstGeom prst="roundRect">
              <a:avLst/>
            </a:prstGeom>
            <a:solidFill>
              <a:srgbClr val="F2C755"/>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Current Price: $183.73</a:t>
              </a:r>
            </a:p>
          </p:txBody>
        </p:sp>
        <p:sp>
          <p:nvSpPr>
            <p:cNvPr id="15" name="Down Arrow 38">
              <a:extLst>
                <a:ext uri="{FF2B5EF4-FFF2-40B4-BE49-F238E27FC236}">
                  <a16:creationId xmlns:a16="http://schemas.microsoft.com/office/drawing/2014/main" id="{E04C7F17-653B-0DAB-421F-6765E0FD88F3}"/>
                </a:ext>
              </a:extLst>
            </p:cNvPr>
            <p:cNvSpPr/>
            <p:nvPr/>
          </p:nvSpPr>
          <p:spPr>
            <a:xfrm rot="16200000">
              <a:off x="8322269" y="5681956"/>
              <a:ext cx="721150" cy="806604"/>
            </a:xfrm>
            <a:prstGeom prst="down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6" name="Rounded Rectangle 28">
              <a:extLst>
                <a:ext uri="{FF2B5EF4-FFF2-40B4-BE49-F238E27FC236}">
                  <a16:creationId xmlns:a16="http://schemas.microsoft.com/office/drawing/2014/main" id="{4118154F-78D7-670C-71A4-FF790C2F28DA}"/>
                </a:ext>
              </a:extLst>
            </p:cNvPr>
            <p:cNvSpPr/>
            <p:nvPr/>
          </p:nvSpPr>
          <p:spPr>
            <a:xfrm>
              <a:off x="9333844" y="5832696"/>
              <a:ext cx="2407109" cy="505123"/>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Target Price: $165.54</a:t>
              </a:r>
            </a:p>
          </p:txBody>
        </p:sp>
      </p:grpSp>
      <p:graphicFrame>
        <p:nvGraphicFramePr>
          <p:cNvPr id="17" name="Chart 16">
            <a:extLst>
              <a:ext uri="{FF2B5EF4-FFF2-40B4-BE49-F238E27FC236}">
                <a16:creationId xmlns:a16="http://schemas.microsoft.com/office/drawing/2014/main" id="{9D716A41-8776-8B05-BA13-E2C8FFC75506}"/>
              </a:ext>
            </a:extLst>
          </p:cNvPr>
          <p:cNvGraphicFramePr>
            <a:graphicFrameLocks/>
          </p:cNvGraphicFramePr>
          <p:nvPr/>
        </p:nvGraphicFramePr>
        <p:xfrm>
          <a:off x="3728545" y="2086328"/>
          <a:ext cx="5278560" cy="2846069"/>
        </p:xfrm>
        <a:graphic>
          <a:graphicData uri="http://schemas.openxmlformats.org/drawingml/2006/chart">
            <c:chart xmlns:c="http://schemas.openxmlformats.org/drawingml/2006/chart" xmlns:r="http://schemas.openxmlformats.org/officeDocument/2006/relationships" r:id="rId6"/>
          </a:graphicData>
        </a:graphic>
      </p:graphicFrame>
      <p:sp>
        <p:nvSpPr>
          <p:cNvPr id="910" name="Consensus target callout"/>
          <p:cNvSpPr/>
          <p:nvPr/>
        </p:nvSpPr>
        <p:spPr>
          <a:xfrm>
            <a:off x="139700" y="5715000"/>
            <a:ext cx="8877300" cy="482600"/>
          </a:xfrm>
          <a:prstGeom prst="rect">
            <a:avLst/>
          </a:prstGeom>
          <a:solidFill>
            <a:srgbClr val="F2C755"/>
          </a:solidFill>
          <a:ln w="12700">
            <a:solidFill>
              <a:srgbClr val="000000"/>
            </a:solidFill>
          </a:ln>
        </p:spPr>
        <p:txBody>
          <a:bodyPr wrap="square" lIns="101600" tIns="50800" rIns="101600" bIns="50800" anchor="ctr">
            <a:normAutofit/>
          </a:bodyPr>
          <a:lstStyle/>
          <a:p>
            <a:pPr algn="l">
              <a:buNone/>
            </a:pPr>
            <a:r>
              <a:rPr lang="en-US" sz="1100">
                <a:solidFill>
                  <a:srgbClr val="000000"/>
                </a:solidFill>
                <a:latin typeface="Calibri" panose="020F0502020204030204" pitchFamily="34" charset="0"/>
                <a:ea typeface="Calibri" panose="020F0502020204030204" pitchFamily="34" charset="0"/>
                <a:cs typeface="Calibri" panose="020F0502020204030204" pitchFamily="34" charset="0"/>
              </a:rPr>
              <a:t>FactSet consensus target is $219.75 on an average rating of Buy from 4 brokers. BMG's target of $166 is 25% below consensus: a SELL that says the Street's 2027 earnings are $0.80 too high and the price pays for a return on equity the company does not earn, not that the multiple is wrong.</a:t>
            </a:r>
          </a:p>
        </p:txBody>
      </p:sp>
      <p:sp>
        <p:nvSpPr>
          <p:cNvPr id="950" name="Figure 1 caption"/>
          <p:cNvSpPr txBox="1"/>
          <p:nvPr/>
        </p:nvSpPr>
        <p:spPr>
          <a:xfrm>
            <a:off x="3733800" y="1879600"/>
            <a:ext cx="5283200" cy="165100"/>
          </a:xfrm>
          <a:prstGeom prst="rect">
            <a:avLst/>
          </a:prstGeom>
          <a:noFill/>
          <a:ln>
            <a:noFill/>
          </a:ln>
        </p:spPr>
        <p:txBody>
          <a:bodyPr wrap="none" lIns="0" tIns="0" rIns="0" bIns="0" anchor="t">
            <a:spAutoFit/>
          </a:bodyPr>
          <a:lstStyle/>
          <a:p>
            <a:pPr algn="l">
              <a:buNone/>
            </a:pPr>
            <a:r>
              <a:rPr lang="en-US" sz="1000" b="0">
                <a:solidFill>
                  <a:srgbClr val="292934"/>
                </a:solidFill>
                <a:latin typeface="Calibri"/>
              </a:rPr>
              <a:t>Figure 1: GATX price and volume, one year (weekly)</a:t>
            </a:r>
          </a:p>
        </p:txBody>
      </p:sp>
      <p:sp>
        <p:nvSpPr>
          <p:cNvPr id="951" name="Figure 1 source"/>
          <p:cNvSpPr txBox="1"/>
          <p:nvPr/>
        </p:nvSpPr>
        <p:spPr>
          <a:xfrm>
            <a:off x="3733800" y="4940300"/>
            <a:ext cx="5283200" cy="139700"/>
          </a:xfrm>
          <a:prstGeom prst="rect">
            <a:avLst/>
          </a:prstGeom>
          <a:noFill/>
          <a:ln>
            <a:noFill/>
          </a:ln>
        </p:spPr>
        <p:txBody>
          <a:bodyPr wrap="none" lIns="0" tIns="0" rIns="0" bIns="0" anchor="t">
            <a:spAutoFit/>
          </a:bodyPr>
          <a:lstStyle/>
          <a:p>
            <a:pPr algn="l">
              <a:buNone/>
            </a:pPr>
            <a:r>
              <a:rPr lang="en-US" sz="800" b="0">
                <a:solidFill>
                  <a:srgbClr val="595959"/>
                </a:solidFill>
                <a:latin typeface="Calibri"/>
              </a:rPr>
              <a:t>FactSet, daily closes aggregated to weekly, 2025-07-11 to 2026-09-21.</a:t>
            </a:r>
          </a:p>
        </p:txBody>
      </p:sp>
    </p:spTree>
    <p:extLst>
      <p:ext uri="{BB962C8B-B14F-4D97-AF65-F5344CB8AC3E}">
        <p14:creationId xmlns:p14="http://schemas.microsoft.com/office/powerpoint/2010/main" val="8889787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40220-FDF6-DD0A-CF00-5919978715DF}"/>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7BCD9974-6D03-7644-4219-DC833BBF9CB4}"/>
              </a:ext>
            </a:extLst>
          </p:cNvPr>
          <p:cNvGrpSpPr/>
          <p:nvPr/>
        </p:nvGrpSpPr>
        <p:grpSpPr>
          <a:xfrm>
            <a:off x="0" y="6222249"/>
            <a:ext cx="9144000" cy="457200"/>
            <a:chOff x="0" y="2732884"/>
            <a:chExt cx="9144000" cy="457200"/>
          </a:xfrm>
        </p:grpSpPr>
        <p:sp>
          <p:nvSpPr>
            <p:cNvPr id="58" name="Rectangle 57">
              <a:extLst>
                <a:ext uri="{FF2B5EF4-FFF2-40B4-BE49-F238E27FC236}">
                  <a16:creationId xmlns:a16="http://schemas.microsoft.com/office/drawing/2014/main" id="{8D418BFE-64FD-8BF8-253B-1E2CB60A4E6E}"/>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9" name="Group 58">
              <a:extLst>
                <a:ext uri="{FF2B5EF4-FFF2-40B4-BE49-F238E27FC236}">
                  <a16:creationId xmlns:a16="http://schemas.microsoft.com/office/drawing/2014/main" id="{6143A0A2-9702-C9B0-CB61-034838980AD0}"/>
                </a:ext>
              </a:extLst>
            </p:cNvPr>
            <p:cNvGrpSpPr/>
            <p:nvPr/>
          </p:nvGrpSpPr>
          <p:grpSpPr>
            <a:xfrm>
              <a:off x="5021579" y="2732884"/>
              <a:ext cx="545306" cy="457200"/>
              <a:chOff x="4981575" y="2712036"/>
              <a:chExt cx="545306" cy="457200"/>
            </a:xfrm>
          </p:grpSpPr>
          <p:sp>
            <p:nvSpPr>
              <p:cNvPr id="183321" name="Oval 183320">
                <a:extLst>
                  <a:ext uri="{FF2B5EF4-FFF2-40B4-BE49-F238E27FC236}">
                    <a16:creationId xmlns:a16="http://schemas.microsoft.com/office/drawing/2014/main" id="{114C0F5C-177E-3BC0-F9A6-CD61DE3C51BA}"/>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83322" name="Picture 183321" descr="Related image">
                <a:extLst>
                  <a:ext uri="{FF2B5EF4-FFF2-40B4-BE49-F238E27FC236}">
                    <a16:creationId xmlns:a16="http://schemas.microsoft.com/office/drawing/2014/main" id="{E2ADAF46-0DF1-6352-23AA-A77E3A1C12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83319" name="Oval 183318">
              <a:extLst>
                <a:ext uri="{FF2B5EF4-FFF2-40B4-BE49-F238E27FC236}">
                  <a16:creationId xmlns:a16="http://schemas.microsoft.com/office/drawing/2014/main" id="{00D4B71C-8175-77E5-4CFC-7985B9FE04F8}"/>
                </a:ext>
              </a:extLst>
            </p:cNvPr>
            <p:cNvSpPr/>
            <p:nvPr/>
          </p:nvSpPr>
          <p:spPr bwMode="auto">
            <a:xfrm>
              <a:off x="7910513"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5" name="Oval 183314">
              <a:extLst>
                <a:ext uri="{FF2B5EF4-FFF2-40B4-BE49-F238E27FC236}">
                  <a16:creationId xmlns:a16="http://schemas.microsoft.com/office/drawing/2014/main" id="{AEF36FC4-2A35-D17B-EEF4-E631EBB33519}"/>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2" name="Group 61">
              <a:extLst>
                <a:ext uri="{FF2B5EF4-FFF2-40B4-BE49-F238E27FC236}">
                  <a16:creationId xmlns:a16="http://schemas.microsoft.com/office/drawing/2014/main" id="{28498E7A-E38E-035C-B0F5-998705613A81}"/>
                </a:ext>
              </a:extLst>
            </p:cNvPr>
            <p:cNvGrpSpPr/>
            <p:nvPr/>
          </p:nvGrpSpPr>
          <p:grpSpPr>
            <a:xfrm>
              <a:off x="6466045" y="2732884"/>
              <a:ext cx="545306" cy="457200"/>
              <a:chOff x="6353175" y="2712036"/>
              <a:chExt cx="545306" cy="457200"/>
            </a:xfrm>
          </p:grpSpPr>
          <p:sp>
            <p:nvSpPr>
              <p:cNvPr id="183313" name="Oval 183312">
                <a:extLst>
                  <a:ext uri="{FF2B5EF4-FFF2-40B4-BE49-F238E27FC236}">
                    <a16:creationId xmlns:a16="http://schemas.microsoft.com/office/drawing/2014/main" id="{94EB33F2-4FF1-38C2-9B2D-602A8662F42F}"/>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4" name="Graphic 14379" descr="Dollar with solid fill">
                <a:extLst>
                  <a:ext uri="{FF2B5EF4-FFF2-40B4-BE49-F238E27FC236}">
                    <a16:creationId xmlns:a16="http://schemas.microsoft.com/office/drawing/2014/main" id="{240AB39F-A805-3324-0F90-25FD9AB33C89}"/>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nvGrpSpPr>
            <p:cNvPr id="63" name="Group 62">
              <a:extLst>
                <a:ext uri="{FF2B5EF4-FFF2-40B4-BE49-F238E27FC236}">
                  <a16:creationId xmlns:a16="http://schemas.microsoft.com/office/drawing/2014/main" id="{ADC320CC-844A-0291-6A54-4B3EECA45D25}"/>
                </a:ext>
              </a:extLst>
            </p:cNvPr>
            <p:cNvGrpSpPr/>
            <p:nvPr/>
          </p:nvGrpSpPr>
          <p:grpSpPr>
            <a:xfrm>
              <a:off x="3577113" y="2732884"/>
              <a:ext cx="545306" cy="457200"/>
              <a:chOff x="3609974" y="2715607"/>
              <a:chExt cx="545306" cy="457200"/>
            </a:xfrm>
          </p:grpSpPr>
          <p:sp>
            <p:nvSpPr>
              <p:cNvPr id="183309" name="Oval 183308">
                <a:extLst>
                  <a:ext uri="{FF2B5EF4-FFF2-40B4-BE49-F238E27FC236}">
                    <a16:creationId xmlns:a16="http://schemas.microsoft.com/office/drawing/2014/main" id="{CEF260DF-1BA5-44D8-22D9-377139A75872}"/>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83310" name="Group 183309">
                <a:extLst>
                  <a:ext uri="{FF2B5EF4-FFF2-40B4-BE49-F238E27FC236}">
                    <a16:creationId xmlns:a16="http://schemas.microsoft.com/office/drawing/2014/main" id="{63FC8293-CC36-0262-E8AB-D7AC7F17B2F8}"/>
                  </a:ext>
                </a:extLst>
              </p:cNvPr>
              <p:cNvGrpSpPr/>
              <p:nvPr/>
            </p:nvGrpSpPr>
            <p:grpSpPr>
              <a:xfrm>
                <a:off x="3769049" y="2811218"/>
                <a:ext cx="227157" cy="265979"/>
                <a:chOff x="3771206" y="2761936"/>
                <a:chExt cx="227157" cy="265979"/>
              </a:xfrm>
            </p:grpSpPr>
            <p:sp>
              <p:nvSpPr>
                <p:cNvPr id="183311" name="Freeform: Shape 183310">
                  <a:extLst>
                    <a:ext uri="{FF2B5EF4-FFF2-40B4-BE49-F238E27FC236}">
                      <a16:creationId xmlns:a16="http://schemas.microsoft.com/office/drawing/2014/main" id="{6F63809E-0E11-9A44-6A64-4BEF45358C22}"/>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sp>
              <p:nvSpPr>
                <p:cNvPr id="183312" name="Freeform: Shape 183311">
                  <a:extLst>
                    <a:ext uri="{FF2B5EF4-FFF2-40B4-BE49-F238E27FC236}">
                      <a16:creationId xmlns:a16="http://schemas.microsoft.com/office/drawing/2014/main" id="{D1F73BCE-31F4-04BE-2828-85F34439B478}"/>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6" name="Group 183305">
              <a:extLst>
                <a:ext uri="{FF2B5EF4-FFF2-40B4-BE49-F238E27FC236}">
                  <a16:creationId xmlns:a16="http://schemas.microsoft.com/office/drawing/2014/main" id="{8C39DD7E-959D-452E-8772-748567ED206A}"/>
                </a:ext>
              </a:extLst>
            </p:cNvPr>
            <p:cNvGrpSpPr/>
            <p:nvPr/>
          </p:nvGrpSpPr>
          <p:grpSpPr>
            <a:xfrm>
              <a:off x="2132647" y="2732884"/>
              <a:ext cx="545306" cy="457200"/>
              <a:chOff x="2238375" y="2712635"/>
              <a:chExt cx="545306" cy="457200"/>
            </a:xfrm>
          </p:grpSpPr>
          <p:sp>
            <p:nvSpPr>
              <p:cNvPr id="183307" name="Oval 183306">
                <a:extLst>
                  <a:ext uri="{FF2B5EF4-FFF2-40B4-BE49-F238E27FC236}">
                    <a16:creationId xmlns:a16="http://schemas.microsoft.com/office/drawing/2014/main" id="{34939EC0-15F0-C8B4-8ECD-2DFBBBDAE449}"/>
                  </a:ext>
                </a:extLst>
              </p:cNvPr>
              <p:cNvSpPr/>
              <p:nvPr/>
            </p:nvSpPr>
            <p:spPr bwMode="auto">
              <a:xfrm>
                <a:off x="2238375" y="2712635"/>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83308" name="Graphic 14377" descr="Board Of Directors with solid fill">
                <a:extLst>
                  <a:ext uri="{FF2B5EF4-FFF2-40B4-BE49-F238E27FC236}">
                    <a16:creationId xmlns:a16="http://schemas.microsoft.com/office/drawing/2014/main" id="{D9A42DD0-79C8-2617-513A-C3694894A506}"/>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1" name="Group 183300">
            <a:extLst>
              <a:ext uri="{FF2B5EF4-FFF2-40B4-BE49-F238E27FC236}">
                <a16:creationId xmlns:a16="http://schemas.microsoft.com/office/drawing/2014/main" id="{CC66D84A-20D7-D8AE-FB8E-5451721AD60B}"/>
              </a:ext>
            </a:extLst>
          </p:cNvPr>
          <p:cNvGrpSpPr>
            <a:grpSpLocks/>
          </p:cNvGrpSpPr>
          <p:nvPr/>
        </p:nvGrpSpPr>
        <p:grpSpPr bwMode="auto">
          <a:xfrm>
            <a:off x="0" y="82336"/>
            <a:ext cx="9144000" cy="576857"/>
            <a:chOff x="-2" y="-17873"/>
            <a:chExt cx="12192002" cy="769372"/>
          </a:xfrm>
        </p:grpSpPr>
        <p:sp>
          <p:nvSpPr>
            <p:cNvPr id="183302" name="Title 1">
              <a:extLst>
                <a:ext uri="{FF2B5EF4-FFF2-40B4-BE49-F238E27FC236}">
                  <a16:creationId xmlns:a16="http://schemas.microsoft.com/office/drawing/2014/main" id="{8A50F7CA-5295-01E9-39E8-62858924A300}"/>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a:solidFill>
                    <a:schemeClr val="tx1"/>
                  </a:solidFill>
                  <a:latin typeface="Calibri" panose="020F0502020204030204" pitchFamily="34" charset="0"/>
                  <a:cs typeface="Calibri" panose="020F0502020204030204" pitchFamily="34" charset="0"/>
                </a:rPr>
                <a:t>Appendix</a:t>
              </a:r>
              <a:endParaRPr lang="en-US" sz="2100" b="1">
                <a:solidFill>
                  <a:srgbClr val="000000"/>
                </a:solidFill>
                <a:latin typeface="Calibri" panose="020F0502020204030204" pitchFamily="34" charset="0"/>
                <a:cs typeface="Calibri" panose="020F0502020204030204" pitchFamily="34" charset="0"/>
              </a:endParaRPr>
            </a:p>
          </p:txBody>
        </p:sp>
        <p:grpSp>
          <p:nvGrpSpPr>
            <p:cNvPr id="183303" name="Group 39">
              <a:extLst>
                <a:ext uri="{FF2B5EF4-FFF2-40B4-BE49-F238E27FC236}">
                  <a16:creationId xmlns:a16="http://schemas.microsoft.com/office/drawing/2014/main" id="{94DDE447-F200-23C9-6782-AC02D62D9EDD}"/>
                </a:ext>
              </a:extLst>
            </p:cNvPr>
            <p:cNvGrpSpPr>
              <a:grpSpLocks/>
            </p:cNvGrpSpPr>
            <p:nvPr/>
          </p:nvGrpSpPr>
          <p:grpSpPr bwMode="auto">
            <a:xfrm>
              <a:off x="-2" y="645614"/>
              <a:ext cx="12192002" cy="105885"/>
              <a:chOff x="2373524" y="569416"/>
              <a:chExt cx="6496168" cy="87055"/>
            </a:xfrm>
          </p:grpSpPr>
          <p:sp>
            <p:nvSpPr>
              <p:cNvPr id="183304" name="Rectangle 183303">
                <a:extLst>
                  <a:ext uri="{FF2B5EF4-FFF2-40B4-BE49-F238E27FC236}">
                    <a16:creationId xmlns:a16="http://schemas.microsoft.com/office/drawing/2014/main" id="{27E9E6E0-AEB6-0DEF-109B-DA68794F00B8}"/>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sp>
            <p:nvSpPr>
              <p:cNvPr id="183305" name="Rectangle 183304">
                <a:extLst>
                  <a:ext uri="{FF2B5EF4-FFF2-40B4-BE49-F238E27FC236}">
                    <a16:creationId xmlns:a16="http://schemas.microsoft.com/office/drawing/2014/main" id="{0248DD1C-1314-C522-DFEA-BAF1F3C8A653}"/>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grpSp>
      </p:grpSp>
      <p:pic>
        <p:nvPicPr>
          <p:cNvPr id="56" name="Picture 30" descr="Related image">
            <a:extLst>
              <a:ext uri="{FF2B5EF4-FFF2-40B4-BE49-F238E27FC236}">
                <a16:creationId xmlns:a16="http://schemas.microsoft.com/office/drawing/2014/main" id="{FD2DCC82-E81D-D8D2-CF5E-3BCD0F5FDC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4" b="4326"/>
          <a:stretch>
            <a:fillRect/>
          </a:stretch>
        </p:blipFill>
        <p:spPr bwMode="auto">
          <a:xfrm>
            <a:off x="8023225" y="6295142"/>
            <a:ext cx="328164" cy="292628"/>
          </a:xfrm>
          <a:prstGeom prst="rect">
            <a:avLst/>
          </a:prstGeom>
          <a:solidFill>
            <a:srgbClr val="F2C755"/>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2" name="Graphic 31" descr="Lights On with solid fill">
            <a:extLst>
              <a:ext uri="{FF2B5EF4-FFF2-40B4-BE49-F238E27FC236}">
                <a16:creationId xmlns:a16="http://schemas.microsoft.com/office/drawing/2014/main" id="{303F2690-9F50-2F33-05ED-650B0AA8B8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077" y="6223233"/>
            <a:ext cx="461513" cy="461513"/>
          </a:xfrm>
          <a:prstGeom prst="rect">
            <a:avLst/>
          </a:prstGeom>
        </p:spPr>
      </p:pic>
      <p:pic>
        <p:nvPicPr>
          <p:cNvPr id="2" name="Picture 1" descr="A black background with blue text&#10;&#10;Description automatically generated">
            <a:extLst>
              <a:ext uri="{FF2B5EF4-FFF2-40B4-BE49-F238E27FC236}">
                <a16:creationId xmlns:a16="http://schemas.microsoft.com/office/drawing/2014/main" id="{9E9414E3-1E55-2700-873E-6E7565B65065}"/>
              </a:ext>
            </a:extLst>
          </p:cNvPr>
          <p:cNvPicPr>
            <a:picLocks noChangeAspect="1"/>
          </p:cNvPicPr>
          <p:nvPr/>
        </p:nvPicPr>
        <p:blipFill>
          <a:blip r:embed="rId5">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4" name="TextBox 3">
            <a:extLst>
              <a:ext uri="{FF2B5EF4-FFF2-40B4-BE49-F238E27FC236}">
                <a16:creationId xmlns:a16="http://schemas.microsoft.com/office/drawing/2014/main" id="{8996AF59-F707-33BD-5B71-BED513995364}"/>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31</a:t>
            </a:fld>
            <a:endParaRPr lang="en-US" sz="1400">
              <a:latin typeface="Calibri" panose="020F0502020204030204" pitchFamily="34" charset="0"/>
              <a:cs typeface="Calibri" panose="020F0502020204030204" pitchFamily="34" charset="0"/>
            </a:endParaRPr>
          </a:p>
        </p:txBody>
      </p:sp>
      <p:sp>
        <p:nvSpPr>
          <p:cNvPr id="5" name="Text Box 2">
            <a:extLst>
              <a:ext uri="{FF2B5EF4-FFF2-40B4-BE49-F238E27FC236}">
                <a16:creationId xmlns:a16="http://schemas.microsoft.com/office/drawing/2014/main" id="{0EEC2D50-E697-B9AA-14D3-173ECC8D5ACF}"/>
              </a:ext>
            </a:extLst>
          </p:cNvPr>
          <p:cNvSpPr txBox="1">
            <a:spLocks noChangeArrowheads="1"/>
          </p:cNvSpPr>
          <p:nvPr/>
        </p:nvSpPr>
        <p:spPr bwMode="auto">
          <a:xfrm>
            <a:off x="110979" y="849377"/>
            <a:ext cx="8884966" cy="1734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2000" b="1">
                <a:latin typeface="Calibri" panose="020F0502020204030204" pitchFamily="34" charset="0"/>
                <a:ea typeface="Calibri" panose="020F0502020204030204" pitchFamily="34" charset="0"/>
                <a:cs typeface="Calibri" panose="020F0502020204030204" pitchFamily="34" charset="0"/>
              </a:rPr>
              <a:t>Definitions:</a:t>
            </a:r>
          </a:p>
          <a:p>
            <a:endParaRPr lang="en-US" sz="1000" b="1">
              <a:latin typeface="Calibri" panose="020F0502020204030204" pitchFamily="34" charset="0"/>
              <a:ea typeface="Calibri" panose="020F0502020204030204" pitchFamily="34" charset="0"/>
              <a:cs typeface="Calibri" panose="020F0502020204030204" pitchFamily="34" charset="0"/>
            </a:endParaRPr>
          </a:p>
          <a:p>
            <a:pPr eaLnBrk="1" hangingPunct="1">
              <a:lnSpc>
                <a:spcPct val="130000"/>
              </a:lnSpc>
              <a:spcAft>
                <a:spcPts val="2600"/>
              </a:spcAft>
            </a:pPr>
            <a:r>
              <a:rPr lang="en-US" sz="1000" b="1">
                <a:latin typeface="Calibri" panose="020F0502020204030204" pitchFamily="34" charset="0"/>
                <a:ea typeface="Calibri" panose="020F0502020204030204" pitchFamily="34" charset="0"/>
                <a:cs typeface="Calibri" panose="020F0502020204030204" pitchFamily="34" charset="0"/>
              </a:rPr>
              <a:t>LPI (Lease Price Index): </a:t>
            </a:r>
            <a:r>
              <a:rPr lang="en-US" sz="1000">
                <a:latin typeface="Calibri" panose="020F0502020204030204" pitchFamily="34" charset="0"/>
                <a:ea typeface="Calibri" panose="020F0502020204030204" pitchFamily="34" charset="0"/>
                <a:cs typeface="Calibri" panose="020F0502020204030204" pitchFamily="34" charset="0"/>
              </a:rPr>
              <a:t>GATX's weighted-average change in renewal lease rate versus the expiring rate, for cars renewed in the period.</a:t>
            </a:r>
          </a:p>
          <a:p>
            <a:pPr eaLnBrk="1" hangingPunct="1">
              <a:lnSpc>
                <a:spcPct val="130000"/>
              </a:lnSpc>
              <a:spcAft>
                <a:spcPts val="2600"/>
              </a:spcAft>
            </a:pPr>
            <a:r>
              <a:rPr lang="en-US" sz="1000" b="1">
                <a:latin typeface="Calibri" panose="020F0502020204030204" pitchFamily="34" charset="0"/>
                <a:ea typeface="Calibri" panose="020F0502020204030204" pitchFamily="34" charset="0"/>
                <a:cs typeface="Calibri" panose="020F0502020204030204" pitchFamily="34" charset="0"/>
              </a:rPr>
              <a:t>Utilization: </a:t>
            </a:r>
            <a:r>
              <a:rPr lang="en-US" sz="1000">
                <a:latin typeface="Calibri" panose="020F0502020204030204" pitchFamily="34" charset="0"/>
                <a:ea typeface="Calibri" panose="020F0502020204030204" pitchFamily="34" charset="0"/>
                <a:cs typeface="Calibri" panose="020F0502020204030204" pitchFamily="34" charset="0"/>
              </a:rPr>
              <a:t>Railcars on lease divided by total railcars in the fleet, at period end.</a:t>
            </a:r>
          </a:p>
          <a:p>
            <a:pPr eaLnBrk="1" hangingPunct="1">
              <a:lnSpc>
                <a:spcPct val="130000"/>
              </a:lnSpc>
              <a:spcAft>
                <a:spcPts val="2600"/>
              </a:spcAft>
            </a:pPr>
            <a:r>
              <a:rPr lang="en-US" sz="1000" b="1">
                <a:latin typeface="Calibri" panose="020F0502020204030204" pitchFamily="34" charset="0"/>
                <a:ea typeface="Calibri" panose="020F0502020204030204" pitchFamily="34" charset="0"/>
                <a:cs typeface="Calibri" panose="020F0502020204030204" pitchFamily="34" charset="0"/>
              </a:rPr>
              <a:t>Disposition gains: </a:t>
            </a:r>
            <a:r>
              <a:rPr lang="en-US" sz="1000">
                <a:latin typeface="Calibri" panose="020F0502020204030204" pitchFamily="34" charset="0"/>
                <a:ea typeface="Calibri" panose="020F0502020204030204" pitchFamily="34" charset="0"/>
                <a:cs typeface="Calibri" panose="020F0502020204030204" pitchFamily="34" charset="0"/>
              </a:rPr>
              <a:t>Net gain on sale of railcars and other operating assets, a recurring line for a lessor.</a:t>
            </a:r>
          </a:p>
          <a:p>
            <a:pPr eaLnBrk="1" hangingPunct="1">
              <a:lnSpc>
                <a:spcPct val="130000"/>
              </a:lnSpc>
              <a:spcAft>
                <a:spcPts val="2600"/>
              </a:spcAft>
            </a:pPr>
            <a:r>
              <a:rPr lang="en-US" sz="1000" b="1">
                <a:latin typeface="Calibri" panose="020F0502020204030204" pitchFamily="34" charset="0"/>
                <a:ea typeface="Calibri" panose="020F0502020204030204" pitchFamily="34" charset="0"/>
                <a:cs typeface="Calibri" panose="020F0502020204030204" pitchFamily="34" charset="0"/>
              </a:rPr>
              <a:t>GABX: </a:t>
            </a:r>
            <a:r>
              <a:rPr lang="en-US" sz="1000">
                <a:latin typeface="Calibri" panose="020F0502020204030204" pitchFamily="34" charset="0"/>
                <a:ea typeface="Calibri" panose="020F0502020204030204" pitchFamily="34" charset="0"/>
                <a:cs typeface="Calibri" panose="020F0502020204030204" pitchFamily="34" charset="0"/>
              </a:rPr>
              <a:t>The 30/70 GATX/Brookfield joint venture that acquired Wells Fargo's rail portfolio on January 1, 2026.</a:t>
            </a:r>
          </a:p>
          <a:p>
            <a:pPr eaLnBrk="1" hangingPunct="1">
              <a:lnSpc>
                <a:spcPct val="130000"/>
              </a:lnSpc>
              <a:spcAft>
                <a:spcPts val="2600"/>
              </a:spcAft>
            </a:pPr>
            <a:r>
              <a:rPr lang="en-US" sz="1000" b="1">
                <a:latin typeface="Calibri" panose="020F0502020204030204" pitchFamily="34" charset="0"/>
                <a:ea typeface="Calibri" panose="020F0502020204030204" pitchFamily="34" charset="0"/>
                <a:cs typeface="Calibri" panose="020F0502020204030204" pitchFamily="34" charset="0"/>
              </a:rPr>
              <a:t>RRPF: </a:t>
            </a:r>
            <a:r>
              <a:rPr lang="en-US" sz="1000">
                <a:latin typeface="Calibri" panose="020F0502020204030204" pitchFamily="34" charset="0"/>
                <a:ea typeface="Calibri" panose="020F0502020204030204" pitchFamily="34" charset="0"/>
                <a:cs typeface="Calibri" panose="020F0502020204030204" pitchFamily="34" charset="0"/>
              </a:rPr>
              <a:t>Rolls-Royce &amp; Partners Finance, the aircraft engine leasing joint venture inside the Engine Leasing segment.</a:t>
            </a:r>
          </a:p>
          <a:p>
            <a:pPr eaLnBrk="1" hangingPunct="1">
              <a:lnSpc>
                <a:spcPct val="130000"/>
              </a:lnSpc>
              <a:spcAft>
                <a:spcPts val="2600"/>
              </a:spcAft>
            </a:pPr>
            <a:r>
              <a:rPr lang="en-US" sz="1000" b="1">
                <a:latin typeface="Calibri" panose="020F0502020204030204" pitchFamily="34" charset="0"/>
                <a:ea typeface="Calibri" panose="020F0502020204030204" pitchFamily="34" charset="0"/>
                <a:cs typeface="Calibri" panose="020F0502020204030204" pitchFamily="34" charset="0"/>
              </a:rPr>
              <a:t>NTM P/E: </a:t>
            </a:r>
            <a:r>
              <a:rPr lang="en-US" sz="1000">
                <a:latin typeface="Calibri" panose="020F0502020204030204" pitchFamily="34" charset="0"/>
                <a:ea typeface="Calibri" panose="020F0502020204030204" pitchFamily="34" charset="0"/>
                <a:cs typeface="Calibri" panose="020F0502020204030204" pitchFamily="34" charset="0"/>
              </a:rPr>
              <a:t>Price divided by next-twelve-months consensus EPS.</a:t>
            </a:r>
          </a:p>
          <a:p>
            <a:pPr eaLnBrk="1" hangingPunct="1">
              <a:lnSpc>
                <a:spcPct val="130000"/>
              </a:lnSpc>
              <a:spcAft>
                <a:spcPts val="2600"/>
              </a:spcAft>
            </a:pPr>
            <a:r>
              <a:rPr lang="en-US" sz="1000" b="1">
                <a:latin typeface="Calibri" panose="020F0502020204030204" pitchFamily="34" charset="0"/>
                <a:ea typeface="Calibri" panose="020F0502020204030204" pitchFamily="34" charset="0"/>
                <a:cs typeface="Calibri" panose="020F0502020204030204" pitchFamily="34" charset="0"/>
              </a:rPr>
              <a:t>SIP consolidated close: </a:t>
            </a:r>
            <a:r>
              <a:rPr lang="en-US" sz="1000">
                <a:latin typeface="Calibri" panose="020F0502020204030204" pitchFamily="34" charset="0"/>
                <a:ea typeface="Calibri" panose="020F0502020204030204" pitchFamily="34" charset="0"/>
                <a:cs typeface="Calibri" panose="020F0502020204030204" pitchFamily="34" charset="0"/>
              </a:rPr>
              <a:t>The official consolidated closing price across all exchanges, used for every entry and price reference in this deck.</a:t>
            </a:r>
          </a:p>
        </p:txBody>
      </p:sp>
    </p:spTree>
    <p:extLst>
      <p:ext uri="{BB962C8B-B14F-4D97-AF65-F5344CB8AC3E}">
        <p14:creationId xmlns:p14="http://schemas.microsoft.com/office/powerpoint/2010/main" val="35189736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A9FA3-0BCD-02DE-4059-85539B61D90F}"/>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69DADC3A-DDA5-01E1-F2B2-AC31EB23852B}"/>
              </a:ext>
            </a:extLst>
          </p:cNvPr>
          <p:cNvGrpSpPr/>
          <p:nvPr/>
        </p:nvGrpSpPr>
        <p:grpSpPr>
          <a:xfrm>
            <a:off x="0" y="6222249"/>
            <a:ext cx="9144000" cy="457200"/>
            <a:chOff x="0" y="2732884"/>
            <a:chExt cx="9144000" cy="457200"/>
          </a:xfrm>
        </p:grpSpPr>
        <p:sp>
          <p:nvSpPr>
            <p:cNvPr id="58" name="Rectangle 57">
              <a:extLst>
                <a:ext uri="{FF2B5EF4-FFF2-40B4-BE49-F238E27FC236}">
                  <a16:creationId xmlns:a16="http://schemas.microsoft.com/office/drawing/2014/main" id="{41D11E05-1477-C010-79A1-7431876A7E61}"/>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9" name="Group 58">
              <a:extLst>
                <a:ext uri="{FF2B5EF4-FFF2-40B4-BE49-F238E27FC236}">
                  <a16:creationId xmlns:a16="http://schemas.microsoft.com/office/drawing/2014/main" id="{0A0CB564-3FEF-B2A7-5042-9A9144CB4AE3}"/>
                </a:ext>
              </a:extLst>
            </p:cNvPr>
            <p:cNvGrpSpPr/>
            <p:nvPr/>
          </p:nvGrpSpPr>
          <p:grpSpPr>
            <a:xfrm>
              <a:off x="5021579" y="2732884"/>
              <a:ext cx="545306" cy="457200"/>
              <a:chOff x="4981575" y="2712036"/>
              <a:chExt cx="545306" cy="457200"/>
            </a:xfrm>
          </p:grpSpPr>
          <p:sp>
            <p:nvSpPr>
              <p:cNvPr id="183321" name="Oval 183320">
                <a:extLst>
                  <a:ext uri="{FF2B5EF4-FFF2-40B4-BE49-F238E27FC236}">
                    <a16:creationId xmlns:a16="http://schemas.microsoft.com/office/drawing/2014/main" id="{CABC46AA-6B10-88ED-2C6F-918BA0AF3358}"/>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83322" name="Picture 183321" descr="Related image">
                <a:extLst>
                  <a:ext uri="{FF2B5EF4-FFF2-40B4-BE49-F238E27FC236}">
                    <a16:creationId xmlns:a16="http://schemas.microsoft.com/office/drawing/2014/main" id="{605E6DEA-3976-8E95-1FAC-DC192D93C0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83319" name="Oval 183318">
              <a:extLst>
                <a:ext uri="{FF2B5EF4-FFF2-40B4-BE49-F238E27FC236}">
                  <a16:creationId xmlns:a16="http://schemas.microsoft.com/office/drawing/2014/main" id="{FD187BED-3B61-B489-A245-D1DDE217A72C}"/>
                </a:ext>
              </a:extLst>
            </p:cNvPr>
            <p:cNvSpPr/>
            <p:nvPr/>
          </p:nvSpPr>
          <p:spPr bwMode="auto">
            <a:xfrm>
              <a:off x="7910513"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5" name="Oval 183314">
              <a:extLst>
                <a:ext uri="{FF2B5EF4-FFF2-40B4-BE49-F238E27FC236}">
                  <a16:creationId xmlns:a16="http://schemas.microsoft.com/office/drawing/2014/main" id="{9B0EDFB1-77A0-3F97-BAC2-680F868EE305}"/>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2" name="Group 61">
              <a:extLst>
                <a:ext uri="{FF2B5EF4-FFF2-40B4-BE49-F238E27FC236}">
                  <a16:creationId xmlns:a16="http://schemas.microsoft.com/office/drawing/2014/main" id="{6361F5B6-CD10-C799-2C1D-FEF0BDC60CF7}"/>
                </a:ext>
              </a:extLst>
            </p:cNvPr>
            <p:cNvGrpSpPr/>
            <p:nvPr/>
          </p:nvGrpSpPr>
          <p:grpSpPr>
            <a:xfrm>
              <a:off x="6466045" y="2732884"/>
              <a:ext cx="545306" cy="457200"/>
              <a:chOff x="6353175" y="2712036"/>
              <a:chExt cx="545306" cy="457200"/>
            </a:xfrm>
          </p:grpSpPr>
          <p:sp>
            <p:nvSpPr>
              <p:cNvPr id="183313" name="Oval 183312">
                <a:extLst>
                  <a:ext uri="{FF2B5EF4-FFF2-40B4-BE49-F238E27FC236}">
                    <a16:creationId xmlns:a16="http://schemas.microsoft.com/office/drawing/2014/main" id="{3E629E34-05BE-6D9C-B6E4-BA36458F60B1}"/>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4" name="Graphic 14379" descr="Dollar with solid fill">
                <a:extLst>
                  <a:ext uri="{FF2B5EF4-FFF2-40B4-BE49-F238E27FC236}">
                    <a16:creationId xmlns:a16="http://schemas.microsoft.com/office/drawing/2014/main" id="{FF778022-85C9-3C11-7146-725108920C11}"/>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nvGrpSpPr>
            <p:cNvPr id="63" name="Group 62">
              <a:extLst>
                <a:ext uri="{FF2B5EF4-FFF2-40B4-BE49-F238E27FC236}">
                  <a16:creationId xmlns:a16="http://schemas.microsoft.com/office/drawing/2014/main" id="{A7ABE044-B453-80AA-964B-9A483D24EDDB}"/>
                </a:ext>
              </a:extLst>
            </p:cNvPr>
            <p:cNvGrpSpPr/>
            <p:nvPr/>
          </p:nvGrpSpPr>
          <p:grpSpPr>
            <a:xfrm>
              <a:off x="3577113" y="2732884"/>
              <a:ext cx="545306" cy="457200"/>
              <a:chOff x="3609974" y="2715607"/>
              <a:chExt cx="545306" cy="457200"/>
            </a:xfrm>
          </p:grpSpPr>
          <p:sp>
            <p:nvSpPr>
              <p:cNvPr id="183309" name="Oval 183308">
                <a:extLst>
                  <a:ext uri="{FF2B5EF4-FFF2-40B4-BE49-F238E27FC236}">
                    <a16:creationId xmlns:a16="http://schemas.microsoft.com/office/drawing/2014/main" id="{7CD84C73-48C5-D4C1-2D5D-8A6098C50BB3}"/>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83310" name="Group 183309">
                <a:extLst>
                  <a:ext uri="{FF2B5EF4-FFF2-40B4-BE49-F238E27FC236}">
                    <a16:creationId xmlns:a16="http://schemas.microsoft.com/office/drawing/2014/main" id="{1CF22818-6F9C-8BDD-91A4-3735F8A8ED5E}"/>
                  </a:ext>
                </a:extLst>
              </p:cNvPr>
              <p:cNvGrpSpPr/>
              <p:nvPr/>
            </p:nvGrpSpPr>
            <p:grpSpPr>
              <a:xfrm>
                <a:off x="3769049" y="2811218"/>
                <a:ext cx="227157" cy="265979"/>
                <a:chOff x="3771206" y="2761936"/>
                <a:chExt cx="227157" cy="265979"/>
              </a:xfrm>
            </p:grpSpPr>
            <p:sp>
              <p:nvSpPr>
                <p:cNvPr id="183311" name="Freeform: Shape 183310">
                  <a:extLst>
                    <a:ext uri="{FF2B5EF4-FFF2-40B4-BE49-F238E27FC236}">
                      <a16:creationId xmlns:a16="http://schemas.microsoft.com/office/drawing/2014/main" id="{6B65AD5C-EC6B-7DF4-F67D-7FF3DD5A0DF0}"/>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sp>
              <p:nvSpPr>
                <p:cNvPr id="183312" name="Freeform: Shape 183311">
                  <a:extLst>
                    <a:ext uri="{FF2B5EF4-FFF2-40B4-BE49-F238E27FC236}">
                      <a16:creationId xmlns:a16="http://schemas.microsoft.com/office/drawing/2014/main" id="{E932EE80-ACCA-BDBD-4021-8F2E5271C8E8}"/>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6" name="Group 183305">
              <a:extLst>
                <a:ext uri="{FF2B5EF4-FFF2-40B4-BE49-F238E27FC236}">
                  <a16:creationId xmlns:a16="http://schemas.microsoft.com/office/drawing/2014/main" id="{42815A6A-D381-255C-5616-223737816F84}"/>
                </a:ext>
              </a:extLst>
            </p:cNvPr>
            <p:cNvGrpSpPr/>
            <p:nvPr/>
          </p:nvGrpSpPr>
          <p:grpSpPr>
            <a:xfrm>
              <a:off x="2132647" y="2732884"/>
              <a:ext cx="545306" cy="457200"/>
              <a:chOff x="2238375" y="2712635"/>
              <a:chExt cx="545306" cy="457200"/>
            </a:xfrm>
          </p:grpSpPr>
          <p:sp>
            <p:nvSpPr>
              <p:cNvPr id="183307" name="Oval 183306">
                <a:extLst>
                  <a:ext uri="{FF2B5EF4-FFF2-40B4-BE49-F238E27FC236}">
                    <a16:creationId xmlns:a16="http://schemas.microsoft.com/office/drawing/2014/main" id="{A710909D-EBDE-64BC-BF91-26B8831DC3F1}"/>
                  </a:ext>
                </a:extLst>
              </p:cNvPr>
              <p:cNvSpPr/>
              <p:nvPr/>
            </p:nvSpPr>
            <p:spPr bwMode="auto">
              <a:xfrm>
                <a:off x="2238375" y="2712635"/>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83308" name="Graphic 14377" descr="Board Of Directors with solid fill">
                <a:extLst>
                  <a:ext uri="{FF2B5EF4-FFF2-40B4-BE49-F238E27FC236}">
                    <a16:creationId xmlns:a16="http://schemas.microsoft.com/office/drawing/2014/main" id="{ADF9DAC5-354B-971C-A52A-D4009EAB71F6}"/>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1" name="Group 183300">
            <a:extLst>
              <a:ext uri="{FF2B5EF4-FFF2-40B4-BE49-F238E27FC236}">
                <a16:creationId xmlns:a16="http://schemas.microsoft.com/office/drawing/2014/main" id="{9DE2B51E-E228-5ABF-98B8-856C8019CF84}"/>
              </a:ext>
            </a:extLst>
          </p:cNvPr>
          <p:cNvGrpSpPr>
            <a:grpSpLocks/>
          </p:cNvGrpSpPr>
          <p:nvPr/>
        </p:nvGrpSpPr>
        <p:grpSpPr bwMode="auto">
          <a:xfrm>
            <a:off x="0" y="82336"/>
            <a:ext cx="9144000" cy="576857"/>
            <a:chOff x="-2" y="-17873"/>
            <a:chExt cx="12192002" cy="769372"/>
          </a:xfrm>
        </p:grpSpPr>
        <p:sp>
          <p:nvSpPr>
            <p:cNvPr id="183302" name="Title 1">
              <a:extLst>
                <a:ext uri="{FF2B5EF4-FFF2-40B4-BE49-F238E27FC236}">
                  <a16:creationId xmlns:a16="http://schemas.microsoft.com/office/drawing/2014/main" id="{CDB94A91-C182-D3A6-B902-4170C812DB55}"/>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400" b="1">
                  <a:solidFill>
                    <a:srgbClr val="000000"/>
                  </a:solidFill>
                  <a:latin typeface="Calibri" panose="020F0502020204030204" pitchFamily="34" charset="0"/>
                </a:rPr>
                <a:t>Appendix: Segment P&amp;L, Q2 2026</a:t>
              </a:r>
            </a:p>
          </p:txBody>
        </p:sp>
        <p:grpSp>
          <p:nvGrpSpPr>
            <p:cNvPr id="183303" name="Group 39">
              <a:extLst>
                <a:ext uri="{FF2B5EF4-FFF2-40B4-BE49-F238E27FC236}">
                  <a16:creationId xmlns:a16="http://schemas.microsoft.com/office/drawing/2014/main" id="{1C506488-1836-1074-8F33-AA10D0E017E0}"/>
                </a:ext>
              </a:extLst>
            </p:cNvPr>
            <p:cNvGrpSpPr>
              <a:grpSpLocks/>
            </p:cNvGrpSpPr>
            <p:nvPr/>
          </p:nvGrpSpPr>
          <p:grpSpPr bwMode="auto">
            <a:xfrm>
              <a:off x="-2" y="645614"/>
              <a:ext cx="12192002" cy="105885"/>
              <a:chOff x="2373524" y="569416"/>
              <a:chExt cx="6496168" cy="87055"/>
            </a:xfrm>
          </p:grpSpPr>
          <p:sp>
            <p:nvSpPr>
              <p:cNvPr id="183304" name="Rectangle 183303">
                <a:extLst>
                  <a:ext uri="{FF2B5EF4-FFF2-40B4-BE49-F238E27FC236}">
                    <a16:creationId xmlns:a16="http://schemas.microsoft.com/office/drawing/2014/main" id="{D596265C-1154-FA8E-4853-A9095B1D89BF}"/>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sp>
            <p:nvSpPr>
              <p:cNvPr id="183305" name="Rectangle 183304">
                <a:extLst>
                  <a:ext uri="{FF2B5EF4-FFF2-40B4-BE49-F238E27FC236}">
                    <a16:creationId xmlns:a16="http://schemas.microsoft.com/office/drawing/2014/main" id="{DD33B8CC-9904-839E-C336-0E1C6E855D50}"/>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grpSp>
      </p:grpSp>
      <p:pic>
        <p:nvPicPr>
          <p:cNvPr id="56" name="Picture 30" descr="Related image">
            <a:extLst>
              <a:ext uri="{FF2B5EF4-FFF2-40B4-BE49-F238E27FC236}">
                <a16:creationId xmlns:a16="http://schemas.microsoft.com/office/drawing/2014/main" id="{E25187D2-28F2-6D3D-9B66-8539F78D4E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4" b="4326"/>
          <a:stretch>
            <a:fillRect/>
          </a:stretch>
        </p:blipFill>
        <p:spPr bwMode="auto">
          <a:xfrm>
            <a:off x="8023225" y="6295142"/>
            <a:ext cx="328164" cy="292628"/>
          </a:xfrm>
          <a:prstGeom prst="rect">
            <a:avLst/>
          </a:prstGeom>
          <a:solidFill>
            <a:srgbClr val="F2C755"/>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2" name="Graphic 31" descr="Lights On with solid fill">
            <a:extLst>
              <a:ext uri="{FF2B5EF4-FFF2-40B4-BE49-F238E27FC236}">
                <a16:creationId xmlns:a16="http://schemas.microsoft.com/office/drawing/2014/main" id="{5B2A5525-481E-6212-D52A-DDC4D60C9B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077" y="6223233"/>
            <a:ext cx="461513" cy="461513"/>
          </a:xfrm>
          <a:prstGeom prst="rect">
            <a:avLst/>
          </a:prstGeom>
        </p:spPr>
      </p:pic>
      <p:sp>
        <p:nvSpPr>
          <p:cNvPr id="23" name="Text Box 2">
            <a:extLst>
              <a:ext uri="{FF2B5EF4-FFF2-40B4-BE49-F238E27FC236}">
                <a16:creationId xmlns:a16="http://schemas.microsoft.com/office/drawing/2014/main" id="{45D25DF0-BE90-B571-FB38-3FDEE9875F37}"/>
              </a:ext>
            </a:extLst>
          </p:cNvPr>
          <p:cNvSpPr txBox="1">
            <a:spLocks noChangeArrowheads="1"/>
          </p:cNvSpPr>
          <p:nvPr/>
        </p:nvSpPr>
        <p:spPr bwMode="auto">
          <a:xfrm>
            <a:off x="152400" y="838200"/>
            <a:ext cx="88392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pPr>
            <a:r>
              <a:rPr lang="en-US" sz="1000">
                <a:latin typeface="Calibri" panose="020F0502020204030204" pitchFamily="34" charset="0"/>
                <a:ea typeface="Calibri" panose="020F0502020204030204" pitchFamily="34" charset="0"/>
                <a:cs typeface="Calibri" panose="020F0502020204030204" pitchFamily="34" charset="0"/>
              </a:rPr>
              <a:t>Figure 59: Segment P&amp;L, Q2 2026 ($M). Parentheses are expenses. Source: Q2 2026 10-Q segment note and income statement.</a:t>
            </a:r>
          </a:p>
        </p:txBody>
      </p:sp>
      <p:pic>
        <p:nvPicPr>
          <p:cNvPr id="2" name="Picture 1" descr="A black background with blue text&#10;&#10;Description automatically generated">
            <a:extLst>
              <a:ext uri="{FF2B5EF4-FFF2-40B4-BE49-F238E27FC236}">
                <a16:creationId xmlns:a16="http://schemas.microsoft.com/office/drawing/2014/main" id="{1E1744D4-88D5-34E8-BE26-58FE80C6A08F}"/>
              </a:ext>
            </a:extLst>
          </p:cNvPr>
          <p:cNvPicPr>
            <a:picLocks noChangeAspect="1"/>
          </p:cNvPicPr>
          <p:nvPr/>
        </p:nvPicPr>
        <p:blipFill>
          <a:blip r:embed="rId5">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4" name="TextBox 3">
            <a:extLst>
              <a:ext uri="{FF2B5EF4-FFF2-40B4-BE49-F238E27FC236}">
                <a16:creationId xmlns:a16="http://schemas.microsoft.com/office/drawing/2014/main" id="{18E13070-365A-B89B-0412-F9DC757E9D88}"/>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32</a:t>
            </a:fld>
            <a:endParaRPr lang="en-US" sz="1400">
              <a:latin typeface="Calibri" panose="020F0502020204030204" pitchFamily="34" charset="0"/>
              <a:cs typeface="Calibri" panose="020F0502020204030204" pitchFamily="34" charset="0"/>
            </a:endParaRPr>
          </a:p>
        </p:txBody>
      </p:sp>
      <p:sp>
        <p:nvSpPr>
          <p:cNvPr id="901" name="Footnote">
            <a:extLst>
              <a:ext uri="{FF2B5EF4-FFF2-40B4-BE49-F238E27FC236}">
                <a16:creationId xmlns:a16="http://schemas.microsoft.com/office/drawing/2014/main" id="{45D25DF0-BE90-B571-FB38-3FDEE9875F37}"/>
              </a:ext>
            </a:extLst>
          </p:cNvPr>
          <p:cNvSpPr txBox="1">
            <a:spLocks noChangeArrowheads="1"/>
          </p:cNvSpPr>
          <p:nvPr/>
        </p:nvSpPr>
        <p:spPr bwMode="auto">
          <a:xfrm>
            <a:off x="152400" y="5740400"/>
            <a:ext cx="88392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pPr>
            <a:r>
              <a:rPr lang="en-US" sz="800">
                <a:solidFill>
                  <a:srgbClr val="726056"/>
                </a:solidFill>
                <a:latin typeface="Calibri" panose="020F0502020204030204" pitchFamily="34" charset="0"/>
              </a:rPr>
              <a:t>Rail NA lease revenue is segment revenue of $434.9M less other revenue of $44.0M, both disclosed. Segment profit sums to $103.3M after SG&amp;A, taxes and NCI; the reported figure is $103.4M, the difference is rounding. Engine Leasing includes $49.6M of pretax affiliate earnings from the RRPF joint venture with Rolls-Royce.</a:t>
            </a:r>
          </a:p>
        </p:txBody>
      </p:sp>
      <p:graphicFrame>
        <p:nvGraphicFramePr>
          <p:cNvPr id="5" name="Table 4">
            <a:extLst>
              <a:ext uri="{FF2B5EF4-FFF2-40B4-BE49-F238E27FC236}">
                <a16:creationId xmlns:a16="http://schemas.microsoft.com/office/drawing/2014/main" id="{076455AD-E0FF-4788-BCC7-FE9601BB212A}"/>
              </a:ext>
            </a:extLst>
          </p:cNvPr>
          <p:cNvGraphicFramePr>
            <a:graphicFrameLocks noGrp="1"/>
          </p:cNvGraphicFramePr>
          <p:nvPr/>
        </p:nvGraphicFramePr>
        <p:xfrm>
          <a:off x="152400" y="1117600"/>
          <a:ext cx="8839200" cy="4384294"/>
        </p:xfrm>
        <a:graphic>
          <a:graphicData uri="http://schemas.openxmlformats.org/drawingml/2006/table">
            <a:tbl>
              <a:tblPr/>
              <a:tblGrid>
                <a:gridCol w="2743200">
                  <a:extLst>
                    <a:ext uri="{9D8B030D-6E8A-4147-A177-3AD203B41FA5}">
                      <a16:colId xmlns:a16="http://schemas.microsoft.com/office/drawing/2014/main" val="3986667277"/>
                    </a:ext>
                  </a:extLst>
                </a:gridCol>
                <a:gridCol w="1219200">
                  <a:extLst>
                    <a:ext uri="{9D8B030D-6E8A-4147-A177-3AD203B41FA5}">
                      <a16:colId xmlns:a16="http://schemas.microsoft.com/office/drawing/2014/main" val="1269702746"/>
                    </a:ext>
                  </a:extLst>
                </a:gridCol>
                <a:gridCol w="1219200">
                  <a:extLst>
                    <a:ext uri="{9D8B030D-6E8A-4147-A177-3AD203B41FA5}">
                      <a16:colId xmlns:a16="http://schemas.microsoft.com/office/drawing/2014/main" val="3806244962"/>
                    </a:ext>
                  </a:extLst>
                </a:gridCol>
                <a:gridCol w="1219200">
                  <a:extLst>
                    <a:ext uri="{9D8B030D-6E8A-4147-A177-3AD203B41FA5}">
                      <a16:colId xmlns:a16="http://schemas.microsoft.com/office/drawing/2014/main" val="4098376145"/>
                    </a:ext>
                  </a:extLst>
                </a:gridCol>
                <a:gridCol w="1219200">
                  <a:extLst>
                    <a:ext uri="{9D8B030D-6E8A-4147-A177-3AD203B41FA5}">
                      <a16:colId xmlns:a16="http://schemas.microsoft.com/office/drawing/2014/main" val="3187412975"/>
                    </a:ext>
                  </a:extLst>
                </a:gridCol>
                <a:gridCol w="1219200">
                  <a:extLst>
                    <a:ext uri="{9D8B030D-6E8A-4147-A177-3AD203B41FA5}">
                      <a16:colId xmlns:a16="http://schemas.microsoft.com/office/drawing/2014/main" val="633860335"/>
                    </a:ext>
                  </a:extLst>
                </a:gridCol>
              </a:tblGrid>
              <a:tr h="165100">
                <a:tc>
                  <a:txBody>
                    <a:bodyPr/>
                    <a:lstStyle/>
                    <a:p>
                      <a:pPr algn="l"/>
                      <a:r>
                        <a:rPr lang="en-US" sz="800" b="1">
                          <a:solidFill>
                            <a:srgbClr val="292934"/>
                          </a:solidFill>
                          <a:latin typeface="Calibri"/>
                        </a:rPr>
                        <a:t>Line item ($M)</a:t>
                      </a:r>
                    </a:p>
                  </a:txBody>
                  <a:tcPr marL="45720" marR="45720" marT="0" marB="0" anchor="ctr">
                    <a:lnL w="12700">
                      <a:noFill/>
                    </a:lnL>
                    <a:lnR w="12700">
                      <a:noFill/>
                    </a:lnR>
                    <a:lnT w="12700">
                      <a:noFill/>
                    </a:lnT>
                    <a:lnB w="15875">
                      <a:solidFill>
                        <a:srgbClr val="292934"/>
                      </a:solidFill>
                      <a:prstDash val="solid"/>
                    </a:lnB>
                    <a:noFill/>
                  </a:tcPr>
                </a:tc>
                <a:tc>
                  <a:txBody>
                    <a:bodyPr/>
                    <a:lstStyle/>
                    <a:p>
                      <a:pPr algn="r"/>
                      <a:r>
                        <a:rPr lang="en-US" sz="800" b="1">
                          <a:solidFill>
                            <a:srgbClr val="292934"/>
                          </a:solidFill>
                          <a:latin typeface="Calibri"/>
                        </a:rPr>
                        <a:t>Rail NA</a:t>
                      </a:r>
                    </a:p>
                  </a:txBody>
                  <a:tcPr marL="45720" marR="45720" marT="0" marB="0" anchor="ctr">
                    <a:lnL w="12700">
                      <a:noFill/>
                    </a:lnL>
                    <a:lnR w="12700">
                      <a:noFill/>
                    </a:lnR>
                    <a:lnT w="12700">
                      <a:noFill/>
                    </a:lnT>
                    <a:lnB w="15875">
                      <a:solidFill>
                        <a:srgbClr val="292934"/>
                      </a:solidFill>
                      <a:prstDash val="solid"/>
                    </a:lnB>
                    <a:noFill/>
                  </a:tcPr>
                </a:tc>
                <a:tc>
                  <a:txBody>
                    <a:bodyPr/>
                    <a:lstStyle/>
                    <a:p>
                      <a:pPr algn="r"/>
                      <a:r>
                        <a:rPr lang="en-US" sz="800" b="1">
                          <a:solidFill>
                            <a:srgbClr val="292934"/>
                          </a:solidFill>
                          <a:latin typeface="Calibri"/>
                        </a:rPr>
                        <a:t>Rail Intl</a:t>
                      </a:r>
                    </a:p>
                  </a:txBody>
                  <a:tcPr marL="45720" marR="45720" marT="0" marB="0" anchor="ctr">
                    <a:lnL w="12700">
                      <a:noFill/>
                    </a:lnL>
                    <a:lnR w="12700">
                      <a:noFill/>
                    </a:lnR>
                    <a:lnT w="12700">
                      <a:noFill/>
                    </a:lnT>
                    <a:lnB w="15875">
                      <a:solidFill>
                        <a:srgbClr val="292934"/>
                      </a:solidFill>
                      <a:prstDash val="solid"/>
                    </a:lnB>
                    <a:noFill/>
                  </a:tcPr>
                </a:tc>
                <a:tc>
                  <a:txBody>
                    <a:bodyPr/>
                    <a:lstStyle/>
                    <a:p>
                      <a:pPr algn="r"/>
                      <a:r>
                        <a:rPr lang="en-US" sz="800" b="1">
                          <a:solidFill>
                            <a:srgbClr val="292934"/>
                          </a:solidFill>
                          <a:latin typeface="Calibri"/>
                        </a:rPr>
                        <a:t>Engine Leasing</a:t>
                      </a:r>
                    </a:p>
                  </a:txBody>
                  <a:tcPr marL="45720" marR="45720" marT="0" marB="0" anchor="ctr">
                    <a:lnL w="12700">
                      <a:noFill/>
                    </a:lnL>
                    <a:lnR w="12700">
                      <a:noFill/>
                    </a:lnR>
                    <a:lnT w="12700">
                      <a:noFill/>
                    </a:lnT>
                    <a:lnB w="15875">
                      <a:solidFill>
                        <a:srgbClr val="292934"/>
                      </a:solidFill>
                      <a:prstDash val="solid"/>
                    </a:lnB>
                    <a:noFill/>
                  </a:tcPr>
                </a:tc>
                <a:tc>
                  <a:txBody>
                    <a:bodyPr/>
                    <a:lstStyle/>
                    <a:p>
                      <a:pPr algn="r"/>
                      <a:r>
                        <a:rPr lang="en-US" sz="800" b="1">
                          <a:solidFill>
                            <a:srgbClr val="292934"/>
                          </a:solidFill>
                          <a:latin typeface="Calibri"/>
                        </a:rPr>
                        <a:t>Other</a:t>
                      </a:r>
                    </a:p>
                  </a:txBody>
                  <a:tcPr marL="45720" marR="45720" marT="0" marB="0" anchor="ctr">
                    <a:lnL w="12700">
                      <a:noFill/>
                    </a:lnL>
                    <a:lnR w="12700">
                      <a:noFill/>
                    </a:lnR>
                    <a:lnT w="12700">
                      <a:noFill/>
                    </a:lnT>
                    <a:lnB w="15875">
                      <a:solidFill>
                        <a:srgbClr val="292934"/>
                      </a:solidFill>
                      <a:prstDash val="solid"/>
                    </a:lnB>
                    <a:noFill/>
                  </a:tcPr>
                </a:tc>
                <a:tc>
                  <a:txBody>
                    <a:bodyPr/>
                    <a:lstStyle/>
                    <a:p>
                      <a:pPr algn="r"/>
                      <a:r>
                        <a:rPr lang="en-US" sz="800" b="1">
                          <a:solidFill>
                            <a:srgbClr val="292934"/>
                          </a:solidFill>
                          <a:latin typeface="Calibri"/>
                        </a:rPr>
                        <a:t>Total</a:t>
                      </a:r>
                    </a:p>
                  </a:txBody>
                  <a:tcPr marL="45720" marR="45720" marT="0" marB="0" anchor="ctr">
                    <a:lnL w="12700">
                      <a:noFill/>
                    </a:lnL>
                    <a:lnR w="12700">
                      <a:noFill/>
                    </a:lnR>
                    <a:lnT w="12700">
                      <a:noFill/>
                    </a:lnT>
                    <a:lnB w="15875">
                      <a:solidFill>
                        <a:srgbClr val="292934"/>
                      </a:solidFill>
                      <a:prstDash val="solid"/>
                    </a:lnB>
                    <a:noFill/>
                  </a:tcPr>
                </a:tc>
                <a:extLst>
                  <a:ext uri="{0D108BD9-81ED-4DB2-BD59-A6C34878D82A}">
                    <a16:rowId xmlns:a16="http://schemas.microsoft.com/office/drawing/2014/main" val="570959513"/>
                  </a:ext>
                </a:extLst>
              </a:tr>
              <a:tr h="165100">
                <a:tc>
                  <a:txBody>
                    <a:bodyPr/>
                    <a:lstStyle/>
                    <a:p>
                      <a:pPr algn="l"/>
                      <a:r>
                        <a:rPr lang="en-US" sz="800">
                          <a:solidFill>
                            <a:srgbClr val="292934"/>
                          </a:solidFill>
                          <a:latin typeface="Calibri"/>
                        </a:rPr>
                        <a:t>Lease revenue</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390.9</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100.3</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8.8</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8.3</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508.3</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305577983"/>
                  </a:ext>
                </a:extLst>
              </a:tr>
              <a:tr h="165100">
                <a:tc>
                  <a:txBody>
                    <a:bodyPr/>
                    <a:lstStyle/>
                    <a:p>
                      <a:pPr algn="l"/>
                      <a:r>
                        <a:rPr lang="en-US" sz="800">
                          <a:solidFill>
                            <a:srgbClr val="292934"/>
                          </a:solidFill>
                          <a:latin typeface="Calibri"/>
                        </a:rPr>
                        <a:t>Non-dedicated engine revenue</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20.6</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20.6</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3615784887"/>
                  </a:ext>
                </a:extLst>
              </a:tr>
              <a:tr h="165100">
                <a:tc>
                  <a:txBody>
                    <a:bodyPr/>
                    <a:lstStyle/>
                    <a:p>
                      <a:pPr algn="l"/>
                      <a:r>
                        <a:rPr lang="en-US" sz="800">
                          <a:solidFill>
                            <a:srgbClr val="292934"/>
                          </a:solidFill>
                          <a:latin typeface="Calibri"/>
                        </a:rPr>
                        <a:t>Other revenue</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44.0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5.3</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1.8</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51.1</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extLst>
                  <a:ext uri="{0D108BD9-81ED-4DB2-BD59-A6C34878D82A}">
                    <a16:rowId xmlns:a16="http://schemas.microsoft.com/office/drawing/2014/main" val="320656054"/>
                  </a:ext>
                </a:extLst>
              </a:tr>
              <a:tr h="165100">
                <a:tc>
                  <a:txBody>
                    <a:bodyPr/>
                    <a:lstStyle/>
                    <a:p>
                      <a:pPr algn="l"/>
                      <a:r>
                        <a:rPr lang="en-US" sz="800" b="1">
                          <a:solidFill>
                            <a:srgbClr val="292934"/>
                          </a:solidFill>
                          <a:latin typeface="Calibri"/>
                        </a:rPr>
                        <a:t>Total revenue</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434.9</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105.6</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29.4</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10.1</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580.0</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3788203566"/>
                  </a:ext>
                </a:extLst>
              </a:tr>
              <a:tr h="165100">
                <a:tc>
                  <a:txBody>
                    <a:bodyPr/>
                    <a:lstStyle/>
                    <a:p>
                      <a:pPr algn="l"/>
                      <a:r>
                        <a:rPr lang="en-US" sz="800">
                          <a:solidFill>
                            <a:srgbClr val="292934"/>
                          </a:solidFill>
                          <a:latin typeface="Calibri"/>
                        </a:rPr>
                        <a:t>Maintenance expense</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(131.8)</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(19.2)</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(0.8)</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(151.8)</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199594558"/>
                  </a:ext>
                </a:extLst>
              </a:tr>
              <a:tr h="165100">
                <a:tc>
                  <a:txBody>
                    <a:bodyPr/>
                    <a:lstStyle/>
                    <a:p>
                      <a:pPr algn="l"/>
                      <a:r>
                        <a:rPr lang="en-US" sz="800">
                          <a:solidFill>
                            <a:srgbClr val="292934"/>
                          </a:solidFill>
                          <a:latin typeface="Calibri"/>
                        </a:rPr>
                        <a:t>Depreciation</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(124.0)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(27.9)</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(10.6)</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(4.0)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(166.5)</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3403257547"/>
                  </a:ext>
                </a:extLst>
              </a:tr>
              <a:tr h="165100">
                <a:tc>
                  <a:txBody>
                    <a:bodyPr/>
                    <a:lstStyle/>
                    <a:p>
                      <a:pPr algn="l"/>
                      <a:r>
                        <a:rPr lang="en-US" sz="800">
                          <a:solidFill>
                            <a:srgbClr val="292934"/>
                          </a:solidFill>
                          <a:latin typeface="Calibri"/>
                        </a:rPr>
                        <a:t>Operating lease expense</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(7.4)</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(7.4)</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1122253731"/>
                  </a:ext>
                </a:extLst>
              </a:tr>
              <a:tr h="165100">
                <a:tc>
                  <a:txBody>
                    <a:bodyPr/>
                    <a:lstStyle/>
                    <a:p>
                      <a:pPr algn="l"/>
                      <a:r>
                        <a:rPr lang="en-US" sz="800">
                          <a:solidFill>
                            <a:srgbClr val="292934"/>
                          </a:solidFill>
                          <a:latin typeface="Calibri"/>
                        </a:rPr>
                        <a:t>Other operating expense</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(15.8)</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(4.9)</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(3.0)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(1.1)</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(24.8)</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213376429"/>
                  </a:ext>
                </a:extLst>
              </a:tr>
              <a:tr h="165100">
                <a:tc>
                  <a:txBody>
                    <a:bodyPr/>
                    <a:lstStyle/>
                    <a:p>
                      <a:pPr algn="l"/>
                      <a:r>
                        <a:rPr lang="en-US" sz="800">
                          <a:solidFill>
                            <a:srgbClr val="292934"/>
                          </a:solidFill>
                          <a:latin typeface="Calibri"/>
                        </a:rPr>
                        <a:t>Net gain on asset dispositions</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67.7</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2.0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69.7</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024576181"/>
                  </a:ext>
                </a:extLst>
              </a:tr>
              <a:tr h="165100">
                <a:tc>
                  <a:txBody>
                    <a:bodyPr/>
                    <a:lstStyle/>
                    <a:p>
                      <a:pPr algn="l"/>
                      <a:r>
                        <a:rPr lang="en-US" sz="800">
                          <a:solidFill>
                            <a:srgbClr val="292934"/>
                          </a:solidFill>
                          <a:latin typeface="Calibri"/>
                        </a:rPr>
                        <a:t>Interest expense, net</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(103.7)</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(23.9)</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(12.7)</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(2.7)</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(143.0)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3061535281"/>
                  </a:ext>
                </a:extLst>
              </a:tr>
              <a:tr h="165100">
                <a:tc>
                  <a:txBody>
                    <a:bodyPr/>
                    <a:lstStyle/>
                    <a:p>
                      <a:pPr algn="l"/>
                      <a:r>
                        <a:rPr lang="en-US" sz="800">
                          <a:solidFill>
                            <a:srgbClr val="292934"/>
                          </a:solidFill>
                          <a:latin typeface="Calibri"/>
                        </a:rPr>
                        <a:t>Other income (expense)</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(1.5)</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(0.1)</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13.7</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0.6</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12.7</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1267810613"/>
                  </a:ext>
                </a:extLst>
              </a:tr>
              <a:tr h="165100">
                <a:tc>
                  <a:txBody>
                    <a:bodyPr/>
                    <a:lstStyle/>
                    <a:p>
                      <a:pPr algn="l"/>
                      <a:r>
                        <a:rPr lang="en-US" sz="800">
                          <a:solidFill>
                            <a:srgbClr val="292934"/>
                          </a:solidFill>
                          <a:latin typeface="Calibri"/>
                        </a:rPr>
                        <a:t>Share of affiliates' pretax earnings</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49.6</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49.6</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extLst>
                  <a:ext uri="{0D108BD9-81ED-4DB2-BD59-A6C34878D82A}">
                    <a16:rowId xmlns:a16="http://schemas.microsoft.com/office/drawing/2014/main" val="9466528"/>
                  </a:ext>
                </a:extLst>
              </a:tr>
              <a:tr h="165100">
                <a:tc>
                  <a:txBody>
                    <a:bodyPr/>
                    <a:lstStyle/>
                    <a:p>
                      <a:pPr algn="l"/>
                      <a:r>
                        <a:rPr lang="en-US" sz="800" b="1">
                          <a:solidFill>
                            <a:srgbClr val="292934"/>
                          </a:solidFill>
                          <a:latin typeface="Calibri"/>
                        </a:rPr>
                        <a:t>Segment profit</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15875">
                      <a:solidFill>
                        <a:srgbClr val="292934"/>
                      </a:solidFill>
                      <a:prstDash val="solid"/>
                    </a:lnB>
                    <a:noFill/>
                  </a:tcPr>
                </a:tc>
                <a:tc>
                  <a:txBody>
                    <a:bodyPr/>
                    <a:lstStyle/>
                    <a:p>
                      <a:pPr algn="r"/>
                      <a:r>
                        <a:rPr lang="en-US" sz="800" b="1">
                          <a:solidFill>
                            <a:srgbClr val="292934"/>
                          </a:solidFill>
                          <a:latin typeface="Calibri"/>
                        </a:rPr>
                        <a:t>118.4</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15875">
                      <a:solidFill>
                        <a:srgbClr val="292934"/>
                      </a:solidFill>
                      <a:prstDash val="solid"/>
                    </a:lnB>
                    <a:noFill/>
                  </a:tcPr>
                </a:tc>
                <a:tc>
                  <a:txBody>
                    <a:bodyPr/>
                    <a:lstStyle/>
                    <a:p>
                      <a:pPr algn="r"/>
                      <a:r>
                        <a:rPr lang="en-US" sz="800" b="1">
                          <a:solidFill>
                            <a:srgbClr val="292934"/>
                          </a:solidFill>
                          <a:latin typeface="Calibri"/>
                        </a:rPr>
                        <a:t>31.6</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15875">
                      <a:solidFill>
                        <a:srgbClr val="292934"/>
                      </a:solidFill>
                      <a:prstDash val="solid"/>
                    </a:lnB>
                    <a:noFill/>
                  </a:tcPr>
                </a:tc>
                <a:tc>
                  <a:txBody>
                    <a:bodyPr/>
                    <a:lstStyle/>
                    <a:p>
                      <a:pPr algn="r"/>
                      <a:r>
                        <a:rPr lang="en-US" sz="800" b="1">
                          <a:solidFill>
                            <a:srgbClr val="292934"/>
                          </a:solidFill>
                          <a:latin typeface="Calibri"/>
                        </a:rPr>
                        <a:t>66.4</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15875">
                      <a:solidFill>
                        <a:srgbClr val="292934"/>
                      </a:solidFill>
                      <a:prstDash val="solid"/>
                    </a:lnB>
                    <a:noFill/>
                  </a:tcPr>
                </a:tc>
                <a:tc>
                  <a:txBody>
                    <a:bodyPr/>
                    <a:lstStyle/>
                    <a:p>
                      <a:pPr algn="r"/>
                      <a:r>
                        <a:rPr lang="en-US" sz="800" b="1">
                          <a:solidFill>
                            <a:srgbClr val="292934"/>
                          </a:solidFill>
                          <a:latin typeface="Calibri"/>
                        </a:rPr>
                        <a:t>2.1</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15875">
                      <a:solidFill>
                        <a:srgbClr val="292934"/>
                      </a:solidFill>
                      <a:prstDash val="solid"/>
                    </a:lnB>
                    <a:noFill/>
                  </a:tcPr>
                </a:tc>
                <a:tc>
                  <a:txBody>
                    <a:bodyPr/>
                    <a:lstStyle/>
                    <a:p>
                      <a:pPr algn="r"/>
                      <a:r>
                        <a:rPr lang="en-US" sz="800" b="1">
                          <a:solidFill>
                            <a:srgbClr val="292934"/>
                          </a:solidFill>
                          <a:latin typeface="Calibri"/>
                        </a:rPr>
                        <a:t>218.5</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15875">
                      <a:solidFill>
                        <a:srgbClr val="292934"/>
                      </a:solidFill>
                      <a:prstDash val="solid"/>
                    </a:lnB>
                    <a:noFill/>
                  </a:tcPr>
                </a:tc>
                <a:extLst>
                  <a:ext uri="{0D108BD9-81ED-4DB2-BD59-A6C34878D82A}">
                    <a16:rowId xmlns:a16="http://schemas.microsoft.com/office/drawing/2014/main" val="1323634068"/>
                  </a:ext>
                </a:extLst>
              </a:tr>
              <a:tr h="165100">
                <a:tc>
                  <a:txBody>
                    <a:bodyPr/>
                    <a:lstStyle/>
                    <a:p>
                      <a:pPr algn="l"/>
                      <a:r>
                        <a:rPr lang="en-US" sz="800">
                          <a:solidFill>
                            <a:srgbClr val="292934"/>
                          </a:solidFill>
                          <a:latin typeface="Calibri"/>
                        </a:rPr>
                        <a:t>Less: SG&amp;A</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(69.2)</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3292006733"/>
                  </a:ext>
                </a:extLst>
              </a:tr>
              <a:tr h="165100">
                <a:tc>
                  <a:txBody>
                    <a:bodyPr/>
                    <a:lstStyle/>
                    <a:p>
                      <a:pPr algn="l"/>
                      <a:r>
                        <a:rPr lang="en-US" sz="800">
                          <a:solidFill>
                            <a:srgbClr val="292934"/>
                          </a:solidFill>
                          <a:latin typeface="Calibri"/>
                        </a:rPr>
                        <a:t>Less: Income taxes</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(38.4)</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1538665947"/>
                  </a:ext>
                </a:extLst>
              </a:tr>
              <a:tr h="165100">
                <a:tc>
                  <a:txBody>
                    <a:bodyPr/>
                    <a:lstStyle/>
                    <a:p>
                      <a:pPr algn="l"/>
                      <a:r>
                        <a:rPr lang="en-US" sz="800">
                          <a:solidFill>
                            <a:srgbClr val="292934"/>
                          </a:solidFill>
                          <a:latin typeface="Calibri"/>
                        </a:rPr>
                        <a:t>Less: Non-controlling interest</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(7.6)</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3221355842"/>
                  </a:ext>
                </a:extLst>
              </a:tr>
              <a:tr h="165100">
                <a:tc>
                  <a:txBody>
                    <a:bodyPr/>
                    <a:lstStyle/>
                    <a:p>
                      <a:pPr algn="l"/>
                      <a:r>
                        <a:rPr lang="en-US" sz="800">
                          <a:solidFill>
                            <a:srgbClr val="292934"/>
                          </a:solidFill>
                          <a:latin typeface="Calibri"/>
                        </a:rPr>
                        <a:t>Net income attributable to GATX</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103.4</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4096889285"/>
                  </a:ext>
                </a:extLst>
              </a:tr>
              <a:tr h="165100">
                <a:tc>
                  <a:txBody>
                    <a:bodyPr/>
                    <a:lstStyle/>
                    <a:p>
                      <a:pPr algn="l"/>
                      <a:r>
                        <a:rPr lang="en-US" sz="800">
                          <a:solidFill>
                            <a:srgbClr val="292934"/>
                          </a:solidFill>
                          <a:latin typeface="Calibri"/>
                        </a:rPr>
                        <a:t>Adjustment to common</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(1.9)</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extLst>
                  <a:ext uri="{0D108BD9-81ED-4DB2-BD59-A6C34878D82A}">
                    <a16:rowId xmlns:a16="http://schemas.microsoft.com/office/drawing/2014/main" val="831677744"/>
                  </a:ext>
                </a:extLst>
              </a:tr>
              <a:tr h="165100">
                <a:tc>
                  <a:txBody>
                    <a:bodyPr/>
                    <a:lstStyle/>
                    <a:p>
                      <a:pPr algn="l"/>
                      <a:r>
                        <a:rPr lang="en-US" sz="800" b="1">
                          <a:solidFill>
                            <a:srgbClr val="292934"/>
                          </a:solidFill>
                          <a:latin typeface="Calibri"/>
                        </a:rPr>
                        <a:t>Net income available to common</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101.5</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3888292545"/>
                  </a:ext>
                </a:extLst>
              </a:tr>
              <a:tr h="165100">
                <a:tc>
                  <a:txBody>
                    <a:bodyPr/>
                    <a:lstStyle/>
                    <a:p>
                      <a:pPr algn="l"/>
                      <a:r>
                        <a:rPr lang="en-US" sz="800">
                          <a:solidFill>
                            <a:srgbClr val="292934"/>
                          </a:solidFill>
                          <a:latin typeface="Calibri"/>
                        </a:rPr>
                        <a:t>Diluted shares (M)</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35.8</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extLst>
                  <a:ext uri="{0D108BD9-81ED-4DB2-BD59-A6C34878D82A}">
                    <a16:rowId xmlns:a16="http://schemas.microsoft.com/office/drawing/2014/main" val="1574487536"/>
                  </a:ext>
                </a:extLst>
              </a:tr>
              <a:tr h="165100">
                <a:tc>
                  <a:txBody>
                    <a:bodyPr/>
                    <a:lstStyle/>
                    <a:p>
                      <a:pPr algn="l"/>
                      <a:r>
                        <a:rPr lang="en-US" sz="800" b="1">
                          <a:solidFill>
                            <a:srgbClr val="292934"/>
                          </a:solidFill>
                          <a:latin typeface="Calibri"/>
                        </a:rPr>
                        <a:t>Diluted EPS</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$2.83</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672282237"/>
                  </a:ext>
                </a:extLst>
              </a:tr>
            </a:tbl>
          </a:graphicData>
        </a:graphic>
      </p:graphicFrame>
    </p:spTree>
    <p:extLst>
      <p:ext uri="{BB962C8B-B14F-4D97-AF65-F5344CB8AC3E}">
        <p14:creationId xmlns:p14="http://schemas.microsoft.com/office/powerpoint/2010/main" val="5495269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74E65-1E34-DBC6-C130-B03EC0B63D02}"/>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9368D4AB-5DE9-DD69-95CC-25301C075099}"/>
              </a:ext>
            </a:extLst>
          </p:cNvPr>
          <p:cNvGrpSpPr/>
          <p:nvPr/>
        </p:nvGrpSpPr>
        <p:grpSpPr>
          <a:xfrm>
            <a:off x="0" y="6222249"/>
            <a:ext cx="9144000" cy="457200"/>
            <a:chOff x="0" y="2732884"/>
            <a:chExt cx="9144000" cy="457200"/>
          </a:xfrm>
        </p:grpSpPr>
        <p:sp>
          <p:nvSpPr>
            <p:cNvPr id="58" name="Rectangle 57">
              <a:extLst>
                <a:ext uri="{FF2B5EF4-FFF2-40B4-BE49-F238E27FC236}">
                  <a16:creationId xmlns:a16="http://schemas.microsoft.com/office/drawing/2014/main" id="{C3BD8122-A7AD-53E9-B9A6-ED13574F76DF}"/>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9" name="Group 58">
              <a:extLst>
                <a:ext uri="{FF2B5EF4-FFF2-40B4-BE49-F238E27FC236}">
                  <a16:creationId xmlns:a16="http://schemas.microsoft.com/office/drawing/2014/main" id="{9D9113DA-9E8F-FD7B-3CEC-9634EF76EABF}"/>
                </a:ext>
              </a:extLst>
            </p:cNvPr>
            <p:cNvGrpSpPr/>
            <p:nvPr/>
          </p:nvGrpSpPr>
          <p:grpSpPr>
            <a:xfrm>
              <a:off x="5021579" y="2732884"/>
              <a:ext cx="545306" cy="457200"/>
              <a:chOff x="4981575" y="2712036"/>
              <a:chExt cx="545306" cy="457200"/>
            </a:xfrm>
          </p:grpSpPr>
          <p:sp>
            <p:nvSpPr>
              <p:cNvPr id="183321" name="Oval 183320">
                <a:extLst>
                  <a:ext uri="{FF2B5EF4-FFF2-40B4-BE49-F238E27FC236}">
                    <a16:creationId xmlns:a16="http://schemas.microsoft.com/office/drawing/2014/main" id="{3160B693-9DFE-B623-9222-EF669B518B13}"/>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83322" name="Picture 183321" descr="Related image">
                <a:extLst>
                  <a:ext uri="{FF2B5EF4-FFF2-40B4-BE49-F238E27FC236}">
                    <a16:creationId xmlns:a16="http://schemas.microsoft.com/office/drawing/2014/main" id="{D84C24A8-D87D-74B4-B81B-0FEA3F30F6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83319" name="Oval 183318">
              <a:extLst>
                <a:ext uri="{FF2B5EF4-FFF2-40B4-BE49-F238E27FC236}">
                  <a16:creationId xmlns:a16="http://schemas.microsoft.com/office/drawing/2014/main" id="{119CACE5-99F7-CAF9-12BF-51C228740B95}"/>
                </a:ext>
              </a:extLst>
            </p:cNvPr>
            <p:cNvSpPr/>
            <p:nvPr/>
          </p:nvSpPr>
          <p:spPr bwMode="auto">
            <a:xfrm>
              <a:off x="7910513"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5" name="Oval 183314">
              <a:extLst>
                <a:ext uri="{FF2B5EF4-FFF2-40B4-BE49-F238E27FC236}">
                  <a16:creationId xmlns:a16="http://schemas.microsoft.com/office/drawing/2014/main" id="{C6C8911B-72D6-C6B6-CDA9-22DFCD5315DA}"/>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2" name="Group 61">
              <a:extLst>
                <a:ext uri="{FF2B5EF4-FFF2-40B4-BE49-F238E27FC236}">
                  <a16:creationId xmlns:a16="http://schemas.microsoft.com/office/drawing/2014/main" id="{A1CB1CAA-49D0-A0F4-C5EB-9FC5ACC0D379}"/>
                </a:ext>
              </a:extLst>
            </p:cNvPr>
            <p:cNvGrpSpPr/>
            <p:nvPr/>
          </p:nvGrpSpPr>
          <p:grpSpPr>
            <a:xfrm>
              <a:off x="6466045" y="2732884"/>
              <a:ext cx="545306" cy="457200"/>
              <a:chOff x="6353175" y="2712036"/>
              <a:chExt cx="545306" cy="457200"/>
            </a:xfrm>
          </p:grpSpPr>
          <p:sp>
            <p:nvSpPr>
              <p:cNvPr id="183313" name="Oval 183312">
                <a:extLst>
                  <a:ext uri="{FF2B5EF4-FFF2-40B4-BE49-F238E27FC236}">
                    <a16:creationId xmlns:a16="http://schemas.microsoft.com/office/drawing/2014/main" id="{B90C6040-F8C4-9BB3-1E7B-3F4C8EC27FED}"/>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4" name="Graphic 14379" descr="Dollar with solid fill">
                <a:extLst>
                  <a:ext uri="{FF2B5EF4-FFF2-40B4-BE49-F238E27FC236}">
                    <a16:creationId xmlns:a16="http://schemas.microsoft.com/office/drawing/2014/main" id="{B78552E7-BA29-E539-2FC4-988F614B66F5}"/>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nvGrpSpPr>
            <p:cNvPr id="63" name="Group 62">
              <a:extLst>
                <a:ext uri="{FF2B5EF4-FFF2-40B4-BE49-F238E27FC236}">
                  <a16:creationId xmlns:a16="http://schemas.microsoft.com/office/drawing/2014/main" id="{F30F6A15-6994-6290-1CF5-A2DCCA9D7A29}"/>
                </a:ext>
              </a:extLst>
            </p:cNvPr>
            <p:cNvGrpSpPr/>
            <p:nvPr/>
          </p:nvGrpSpPr>
          <p:grpSpPr>
            <a:xfrm>
              <a:off x="3577113" y="2732884"/>
              <a:ext cx="545306" cy="457200"/>
              <a:chOff x="3609974" y="2715607"/>
              <a:chExt cx="545306" cy="457200"/>
            </a:xfrm>
          </p:grpSpPr>
          <p:sp>
            <p:nvSpPr>
              <p:cNvPr id="183309" name="Oval 183308">
                <a:extLst>
                  <a:ext uri="{FF2B5EF4-FFF2-40B4-BE49-F238E27FC236}">
                    <a16:creationId xmlns:a16="http://schemas.microsoft.com/office/drawing/2014/main" id="{C3CA20BA-A6AB-C275-E2E8-AAA16DB27447}"/>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83310" name="Group 183309">
                <a:extLst>
                  <a:ext uri="{FF2B5EF4-FFF2-40B4-BE49-F238E27FC236}">
                    <a16:creationId xmlns:a16="http://schemas.microsoft.com/office/drawing/2014/main" id="{85350F66-7AE6-0D3D-A4F0-AE51C99FFA87}"/>
                  </a:ext>
                </a:extLst>
              </p:cNvPr>
              <p:cNvGrpSpPr/>
              <p:nvPr/>
            </p:nvGrpSpPr>
            <p:grpSpPr>
              <a:xfrm>
                <a:off x="3769049" y="2811218"/>
                <a:ext cx="227157" cy="265979"/>
                <a:chOff x="3771206" y="2761936"/>
                <a:chExt cx="227157" cy="265979"/>
              </a:xfrm>
            </p:grpSpPr>
            <p:sp>
              <p:nvSpPr>
                <p:cNvPr id="183311" name="Freeform: Shape 183310">
                  <a:extLst>
                    <a:ext uri="{FF2B5EF4-FFF2-40B4-BE49-F238E27FC236}">
                      <a16:creationId xmlns:a16="http://schemas.microsoft.com/office/drawing/2014/main" id="{724C66FD-B916-DA9B-A21D-C42193DBD9E9}"/>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sp>
              <p:nvSpPr>
                <p:cNvPr id="183312" name="Freeform: Shape 183311">
                  <a:extLst>
                    <a:ext uri="{FF2B5EF4-FFF2-40B4-BE49-F238E27FC236}">
                      <a16:creationId xmlns:a16="http://schemas.microsoft.com/office/drawing/2014/main" id="{0FC552BF-20A4-5303-6EBF-B958C3599ADF}"/>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6" name="Group 183305">
              <a:extLst>
                <a:ext uri="{FF2B5EF4-FFF2-40B4-BE49-F238E27FC236}">
                  <a16:creationId xmlns:a16="http://schemas.microsoft.com/office/drawing/2014/main" id="{75B2AB5C-E5E6-0F3B-B55B-F77F5B73BAC7}"/>
                </a:ext>
              </a:extLst>
            </p:cNvPr>
            <p:cNvGrpSpPr/>
            <p:nvPr/>
          </p:nvGrpSpPr>
          <p:grpSpPr>
            <a:xfrm>
              <a:off x="2132647" y="2732884"/>
              <a:ext cx="545306" cy="457200"/>
              <a:chOff x="2238375" y="2712635"/>
              <a:chExt cx="545306" cy="457200"/>
            </a:xfrm>
          </p:grpSpPr>
          <p:sp>
            <p:nvSpPr>
              <p:cNvPr id="183307" name="Oval 183306">
                <a:extLst>
                  <a:ext uri="{FF2B5EF4-FFF2-40B4-BE49-F238E27FC236}">
                    <a16:creationId xmlns:a16="http://schemas.microsoft.com/office/drawing/2014/main" id="{2823BBB0-D190-DBAC-1CCE-53817C2E1A55}"/>
                  </a:ext>
                </a:extLst>
              </p:cNvPr>
              <p:cNvSpPr/>
              <p:nvPr/>
            </p:nvSpPr>
            <p:spPr bwMode="auto">
              <a:xfrm>
                <a:off x="2238375" y="2712635"/>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83308" name="Graphic 14377" descr="Board Of Directors with solid fill">
                <a:extLst>
                  <a:ext uri="{FF2B5EF4-FFF2-40B4-BE49-F238E27FC236}">
                    <a16:creationId xmlns:a16="http://schemas.microsoft.com/office/drawing/2014/main" id="{352FDA36-9155-D9D9-A216-3C24AD7FDA13}"/>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1" name="Group 183300">
            <a:extLst>
              <a:ext uri="{FF2B5EF4-FFF2-40B4-BE49-F238E27FC236}">
                <a16:creationId xmlns:a16="http://schemas.microsoft.com/office/drawing/2014/main" id="{B2A0C590-7E8D-9D34-7386-C7C98106B57F}"/>
              </a:ext>
            </a:extLst>
          </p:cNvPr>
          <p:cNvGrpSpPr>
            <a:grpSpLocks/>
          </p:cNvGrpSpPr>
          <p:nvPr/>
        </p:nvGrpSpPr>
        <p:grpSpPr bwMode="auto">
          <a:xfrm>
            <a:off x="0" y="82336"/>
            <a:ext cx="9144000" cy="576857"/>
            <a:chOff x="-2" y="-17873"/>
            <a:chExt cx="12192002" cy="769372"/>
          </a:xfrm>
        </p:grpSpPr>
        <p:sp>
          <p:nvSpPr>
            <p:cNvPr id="183302" name="Title 1">
              <a:extLst>
                <a:ext uri="{FF2B5EF4-FFF2-40B4-BE49-F238E27FC236}">
                  <a16:creationId xmlns:a16="http://schemas.microsoft.com/office/drawing/2014/main" id="{46920654-D4F8-8641-8C80-8EDD4F9F3901}"/>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a:solidFill>
                    <a:schemeClr val="tx1"/>
                  </a:solidFill>
                  <a:latin typeface="Calibri" panose="020F0502020204030204" pitchFamily="34" charset="0"/>
                  <a:cs typeface="Calibri" panose="020F0502020204030204" pitchFamily="34" charset="0"/>
                </a:rPr>
                <a:t>Appendix: Debt by Maturity and Rate Type</a:t>
              </a:r>
              <a:endParaRPr lang="en-US" sz="2100" b="1">
                <a:solidFill>
                  <a:srgbClr val="000000"/>
                </a:solidFill>
                <a:latin typeface="Calibri" panose="020F0502020204030204" pitchFamily="34" charset="0"/>
                <a:cs typeface="Calibri" panose="020F0502020204030204" pitchFamily="34" charset="0"/>
              </a:endParaRPr>
            </a:p>
          </p:txBody>
        </p:sp>
        <p:grpSp>
          <p:nvGrpSpPr>
            <p:cNvPr id="183303" name="Group 39">
              <a:extLst>
                <a:ext uri="{FF2B5EF4-FFF2-40B4-BE49-F238E27FC236}">
                  <a16:creationId xmlns:a16="http://schemas.microsoft.com/office/drawing/2014/main" id="{107B52A4-CC05-0385-7234-03341370E710}"/>
                </a:ext>
              </a:extLst>
            </p:cNvPr>
            <p:cNvGrpSpPr>
              <a:grpSpLocks/>
            </p:cNvGrpSpPr>
            <p:nvPr/>
          </p:nvGrpSpPr>
          <p:grpSpPr bwMode="auto">
            <a:xfrm>
              <a:off x="-2" y="645614"/>
              <a:ext cx="12192002" cy="105885"/>
              <a:chOff x="2373524" y="569416"/>
              <a:chExt cx="6496168" cy="87055"/>
            </a:xfrm>
          </p:grpSpPr>
          <p:sp>
            <p:nvSpPr>
              <p:cNvPr id="183304" name="Rectangle 183303">
                <a:extLst>
                  <a:ext uri="{FF2B5EF4-FFF2-40B4-BE49-F238E27FC236}">
                    <a16:creationId xmlns:a16="http://schemas.microsoft.com/office/drawing/2014/main" id="{45E0B963-CFE7-7A6F-E154-60D3012D858D}"/>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sp>
            <p:nvSpPr>
              <p:cNvPr id="183305" name="Rectangle 183304">
                <a:extLst>
                  <a:ext uri="{FF2B5EF4-FFF2-40B4-BE49-F238E27FC236}">
                    <a16:creationId xmlns:a16="http://schemas.microsoft.com/office/drawing/2014/main" id="{CE05B6F2-3157-E1E6-F774-1160B4D0A3B9}"/>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grpSp>
      </p:grpSp>
      <p:pic>
        <p:nvPicPr>
          <p:cNvPr id="56" name="Picture 30" descr="Related image">
            <a:extLst>
              <a:ext uri="{FF2B5EF4-FFF2-40B4-BE49-F238E27FC236}">
                <a16:creationId xmlns:a16="http://schemas.microsoft.com/office/drawing/2014/main" id="{86748D64-726B-5CE7-E07B-F45ECFB830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4" b="4326"/>
          <a:stretch>
            <a:fillRect/>
          </a:stretch>
        </p:blipFill>
        <p:spPr bwMode="auto">
          <a:xfrm>
            <a:off x="8023225" y="6295142"/>
            <a:ext cx="328164" cy="292628"/>
          </a:xfrm>
          <a:prstGeom prst="rect">
            <a:avLst/>
          </a:prstGeom>
          <a:solidFill>
            <a:srgbClr val="F2C755"/>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2" name="Graphic 31" descr="Lights On with solid fill">
            <a:extLst>
              <a:ext uri="{FF2B5EF4-FFF2-40B4-BE49-F238E27FC236}">
                <a16:creationId xmlns:a16="http://schemas.microsoft.com/office/drawing/2014/main" id="{79BBCBDC-034F-E818-702A-16CF9D471C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077" y="6223233"/>
            <a:ext cx="461513" cy="461513"/>
          </a:xfrm>
          <a:prstGeom prst="rect">
            <a:avLst/>
          </a:prstGeom>
        </p:spPr>
      </p:pic>
      <p:sp>
        <p:nvSpPr>
          <p:cNvPr id="23" name="Text Box 2">
            <a:extLst>
              <a:ext uri="{FF2B5EF4-FFF2-40B4-BE49-F238E27FC236}">
                <a16:creationId xmlns:a16="http://schemas.microsoft.com/office/drawing/2014/main" id="{271C7BE9-10D6-9D75-3743-260868072D20}"/>
              </a:ext>
            </a:extLst>
          </p:cNvPr>
          <p:cNvSpPr txBox="1">
            <a:spLocks noChangeArrowheads="1"/>
          </p:cNvSpPr>
          <p:nvPr/>
        </p:nvSpPr>
        <p:spPr bwMode="auto">
          <a:xfrm>
            <a:off x="152400" y="838200"/>
            <a:ext cx="88392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pPr>
            <a:r>
              <a:rPr lang="en-US" altLang="en-US" sz="1200">
                <a:latin typeface="Calibri" panose="020F0502020204030204" pitchFamily="34" charset="0"/>
                <a:ea typeface="Calibri" panose="020F0502020204030204" pitchFamily="34" charset="0"/>
                <a:cs typeface="Calibri" panose="020F0502020204030204" pitchFamily="34" charset="0"/>
              </a:rPr>
              <a:t>Figure 60: Debt maturity ladder with fixed and floating split ($M). Source: FY2025 10-K Note 8.</a:t>
            </a:r>
          </a:p>
        </p:txBody>
      </p:sp>
      <p:pic>
        <p:nvPicPr>
          <p:cNvPr id="2" name="Picture 1" descr="A black background with blue text&#10;&#10;Description automatically generated">
            <a:extLst>
              <a:ext uri="{FF2B5EF4-FFF2-40B4-BE49-F238E27FC236}">
                <a16:creationId xmlns:a16="http://schemas.microsoft.com/office/drawing/2014/main" id="{439ABE4D-5D07-9956-EBDB-03D8986443E7}"/>
              </a:ext>
            </a:extLst>
          </p:cNvPr>
          <p:cNvPicPr>
            <a:picLocks noChangeAspect="1"/>
          </p:cNvPicPr>
          <p:nvPr/>
        </p:nvPicPr>
        <p:blipFill>
          <a:blip r:embed="rId5">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4" name="TextBox 3">
            <a:extLst>
              <a:ext uri="{FF2B5EF4-FFF2-40B4-BE49-F238E27FC236}">
                <a16:creationId xmlns:a16="http://schemas.microsoft.com/office/drawing/2014/main" id="{A1238974-FFFC-7072-BF15-6200FF198B60}"/>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33</a:t>
            </a:fld>
            <a:endParaRPr lang="en-US" sz="1400">
              <a:latin typeface="Calibri" panose="020F0502020204030204" pitchFamily="34" charset="0"/>
              <a:cs typeface="Calibri" panose="020F0502020204030204" pitchFamily="34" charset="0"/>
            </a:endParaRPr>
          </a:p>
        </p:txBody>
      </p:sp>
      <p:sp>
        <p:nvSpPr>
          <p:cNvPr id="902" name="Sub heading">
            <a:extLst>
              <a:ext uri="{FF2B5EF4-FFF2-40B4-BE49-F238E27FC236}">
                <a16:creationId xmlns:a16="http://schemas.microsoft.com/office/drawing/2014/main" id="{271C7BE9-10D6-9D75-3743-260868072D20}"/>
              </a:ext>
            </a:extLst>
          </p:cNvPr>
          <p:cNvSpPr txBox="1">
            <a:spLocks noChangeArrowheads="1"/>
          </p:cNvSpPr>
          <p:nvPr/>
        </p:nvSpPr>
        <p:spPr bwMode="auto">
          <a:xfrm>
            <a:off x="152400" y="3530600"/>
            <a:ext cx="4318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pPr>
            <a:r>
              <a:rPr lang="en-US" sz="900" b="1">
                <a:solidFill>
                  <a:srgbClr val="292934"/>
                </a:solidFill>
                <a:latin typeface="Calibri" panose="020F0502020204030204" pitchFamily="34" charset="0"/>
              </a:rPr>
              <a:t>Floating-rate exposure, net of hedges</a:t>
            </a:r>
          </a:p>
        </p:txBody>
      </p:sp>
      <p:sp>
        <p:nvSpPr>
          <p:cNvPr id="3" name="Footnote">
            <a:extLst>
              <a:ext uri="{FF2B5EF4-FFF2-40B4-BE49-F238E27FC236}">
                <a16:creationId xmlns:a16="http://schemas.microsoft.com/office/drawing/2014/main" id="{271C7BE9-10D6-9D75-3743-260868072D20}"/>
              </a:ext>
            </a:extLst>
          </p:cNvPr>
          <p:cNvSpPr txBox="1">
            <a:spLocks noChangeArrowheads="1"/>
          </p:cNvSpPr>
          <p:nvPr/>
        </p:nvSpPr>
        <p:spPr bwMode="auto">
          <a:xfrm>
            <a:off x="4724400" y="3810000"/>
            <a:ext cx="4267200" cy="204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pPr>
            <a:r>
              <a:rPr lang="en-US" sz="800">
                <a:solidFill>
                  <a:srgbClr val="726056"/>
                </a:solidFill>
                <a:latin typeface="Calibri" panose="020F0502020204030204" pitchFamily="34" charset="0"/>
              </a:rPr>
              <a:t>Fixed weighted coupons are derived from the individual tranche coupons in Note 8. The thereafter split is derived: total floating of $3,830.5M less 2026 to 2030 floating of $3,677.8M leaves $152.7M; fixed is the residual. The GABX term loan is 77% of the total floating book. Hedge figures from the Q2 2026 10-Q derivatives note; confirmation that the $1,754.4M is interest-rate swaps only, excluding currency hedges, is pending.</a:t>
            </a:r>
          </a:p>
        </p:txBody>
      </p:sp>
      <p:graphicFrame>
        <p:nvGraphicFramePr>
          <p:cNvPr id="6" name="Table 5">
            <a:extLst>
              <a:ext uri="{FF2B5EF4-FFF2-40B4-BE49-F238E27FC236}">
                <a16:creationId xmlns:a16="http://schemas.microsoft.com/office/drawing/2014/main" id="{E049E053-D7F0-4056-91B3-539C7DD02173}"/>
              </a:ext>
            </a:extLst>
          </p:cNvPr>
          <p:cNvGraphicFramePr>
            <a:graphicFrameLocks noGrp="1"/>
          </p:cNvGraphicFramePr>
          <p:nvPr/>
        </p:nvGraphicFramePr>
        <p:xfrm>
          <a:off x="152400" y="1143000"/>
          <a:ext cx="8839200" cy="2235200"/>
        </p:xfrm>
        <a:graphic>
          <a:graphicData uri="http://schemas.openxmlformats.org/drawingml/2006/table">
            <a:tbl>
              <a:tblPr/>
              <a:tblGrid>
                <a:gridCol w="787400">
                  <a:extLst>
                    <a:ext uri="{9D8B030D-6E8A-4147-A177-3AD203B41FA5}">
                      <a16:colId xmlns:a16="http://schemas.microsoft.com/office/drawing/2014/main" val="3374231412"/>
                    </a:ext>
                  </a:extLst>
                </a:gridCol>
                <a:gridCol w="914400">
                  <a:extLst>
                    <a:ext uri="{9D8B030D-6E8A-4147-A177-3AD203B41FA5}">
                      <a16:colId xmlns:a16="http://schemas.microsoft.com/office/drawing/2014/main" val="384475834"/>
                    </a:ext>
                  </a:extLst>
                </a:gridCol>
                <a:gridCol w="1092200">
                  <a:extLst>
                    <a:ext uri="{9D8B030D-6E8A-4147-A177-3AD203B41FA5}">
                      <a16:colId xmlns:a16="http://schemas.microsoft.com/office/drawing/2014/main" val="169450047"/>
                    </a:ext>
                  </a:extLst>
                </a:gridCol>
                <a:gridCol w="1016000">
                  <a:extLst>
                    <a:ext uri="{9D8B030D-6E8A-4147-A177-3AD203B41FA5}">
                      <a16:colId xmlns:a16="http://schemas.microsoft.com/office/drawing/2014/main" val="2544747082"/>
                    </a:ext>
                  </a:extLst>
                </a:gridCol>
                <a:gridCol w="1016000">
                  <a:extLst>
                    <a:ext uri="{9D8B030D-6E8A-4147-A177-3AD203B41FA5}">
                      <a16:colId xmlns:a16="http://schemas.microsoft.com/office/drawing/2014/main" val="2630571370"/>
                    </a:ext>
                  </a:extLst>
                </a:gridCol>
                <a:gridCol w="4013200">
                  <a:extLst>
                    <a:ext uri="{9D8B030D-6E8A-4147-A177-3AD203B41FA5}">
                      <a16:colId xmlns:a16="http://schemas.microsoft.com/office/drawing/2014/main" val="3601369227"/>
                    </a:ext>
                  </a:extLst>
                </a:gridCol>
              </a:tblGrid>
              <a:tr h="279400">
                <a:tc>
                  <a:txBody>
                    <a:bodyPr/>
                    <a:lstStyle/>
                    <a:p>
                      <a:pPr algn="l"/>
                      <a:r>
                        <a:rPr lang="en-US" sz="800" b="1">
                          <a:solidFill>
                            <a:srgbClr val="292934"/>
                          </a:solidFill>
                          <a:latin typeface="Calibri"/>
                        </a:rPr>
                        <a:t>Maturity</a:t>
                      </a:r>
                    </a:p>
                  </a:txBody>
                  <a:tcPr marL="45720" marR="45720" marT="0" marB="0" anchor="ctr">
                    <a:lnL w="12700">
                      <a:noFill/>
                    </a:lnL>
                    <a:lnR w="12700">
                      <a:noFill/>
                    </a:lnR>
                    <a:lnT w="12700">
                      <a:noFill/>
                    </a:lnT>
                    <a:lnB w="15875">
                      <a:solidFill>
                        <a:srgbClr val="292934"/>
                      </a:solidFill>
                      <a:prstDash val="solid"/>
                    </a:lnB>
                    <a:noFill/>
                  </a:tcPr>
                </a:tc>
                <a:tc>
                  <a:txBody>
                    <a:bodyPr/>
                    <a:lstStyle/>
                    <a:p>
                      <a:pPr algn="r"/>
                      <a:r>
                        <a:rPr lang="en-US" sz="800" b="1">
                          <a:solidFill>
                            <a:srgbClr val="292934"/>
                          </a:solidFill>
                          <a:latin typeface="Calibri"/>
                        </a:rPr>
                        <a:t>Fixed ($M)</a:t>
                      </a:r>
                    </a:p>
                  </a:txBody>
                  <a:tcPr marL="45720" marR="45720" marT="0" marB="0" anchor="ctr">
                    <a:lnL w="12700">
                      <a:noFill/>
                    </a:lnL>
                    <a:lnR w="12700">
                      <a:noFill/>
                    </a:lnR>
                    <a:lnT w="12700">
                      <a:noFill/>
                    </a:lnT>
                    <a:lnB w="15875">
                      <a:solidFill>
                        <a:srgbClr val="292934"/>
                      </a:solidFill>
                      <a:prstDash val="solid"/>
                    </a:lnB>
                    <a:noFill/>
                  </a:tcPr>
                </a:tc>
                <a:tc>
                  <a:txBody>
                    <a:bodyPr/>
                    <a:lstStyle/>
                    <a:p>
                      <a:pPr algn="r"/>
                      <a:r>
                        <a:rPr lang="en-US" sz="800" b="1">
                          <a:solidFill>
                            <a:srgbClr val="292934"/>
                          </a:solidFill>
                          <a:latin typeface="Calibri"/>
                        </a:rPr>
                        <a:t>Fixed avg coupon</a:t>
                      </a:r>
                    </a:p>
                  </a:txBody>
                  <a:tcPr marL="45720" marR="45720" marT="0" marB="0" anchor="ctr">
                    <a:lnL w="12700">
                      <a:noFill/>
                    </a:lnL>
                    <a:lnR w="12700">
                      <a:noFill/>
                    </a:lnR>
                    <a:lnT w="12700">
                      <a:noFill/>
                    </a:lnT>
                    <a:lnB w="15875">
                      <a:solidFill>
                        <a:srgbClr val="292934"/>
                      </a:solidFill>
                      <a:prstDash val="solid"/>
                    </a:lnB>
                    <a:noFill/>
                  </a:tcPr>
                </a:tc>
                <a:tc>
                  <a:txBody>
                    <a:bodyPr/>
                    <a:lstStyle/>
                    <a:p>
                      <a:pPr algn="r"/>
                      <a:r>
                        <a:rPr lang="en-US" sz="800" b="1">
                          <a:solidFill>
                            <a:srgbClr val="292934"/>
                          </a:solidFill>
                          <a:latin typeface="Calibri"/>
                        </a:rPr>
                        <a:t>Floating ($M)</a:t>
                      </a:r>
                    </a:p>
                  </a:txBody>
                  <a:tcPr marL="45720" marR="45720" marT="0" marB="0" anchor="ctr">
                    <a:lnL w="12700">
                      <a:noFill/>
                    </a:lnL>
                    <a:lnR w="12700">
                      <a:noFill/>
                    </a:lnR>
                    <a:lnT w="12700">
                      <a:noFill/>
                    </a:lnT>
                    <a:lnB w="15875">
                      <a:solidFill>
                        <a:srgbClr val="292934"/>
                      </a:solidFill>
                      <a:prstDash val="solid"/>
                    </a:lnB>
                    <a:noFill/>
                  </a:tcPr>
                </a:tc>
                <a:tc>
                  <a:txBody>
                    <a:bodyPr/>
                    <a:lstStyle/>
                    <a:p>
                      <a:pPr algn="r"/>
                      <a:r>
                        <a:rPr lang="en-US" sz="800" b="1">
                          <a:solidFill>
                            <a:srgbClr val="292934"/>
                          </a:solidFill>
                          <a:latin typeface="Calibri"/>
                        </a:rPr>
                        <a:t>Total ($M)</a:t>
                      </a:r>
                    </a:p>
                  </a:txBody>
                  <a:tcPr marL="45720" marR="45720" marT="0" marB="0" anchor="ctr">
                    <a:lnL w="12700">
                      <a:noFill/>
                    </a:lnL>
                    <a:lnR w="12700">
                      <a:noFill/>
                    </a:lnR>
                    <a:lnT w="12700">
                      <a:noFill/>
                    </a:lnT>
                    <a:lnB w="15875">
                      <a:solidFill>
                        <a:srgbClr val="292934"/>
                      </a:solidFill>
                      <a:prstDash val="solid"/>
                    </a:lnB>
                    <a:noFill/>
                  </a:tcPr>
                </a:tc>
                <a:tc>
                  <a:txBody>
                    <a:bodyPr/>
                    <a:lstStyle/>
                    <a:p>
                      <a:pPr algn="l"/>
                      <a:r>
                        <a:rPr lang="en-US" sz="800" b="1">
                          <a:solidFill>
                            <a:srgbClr val="292934"/>
                          </a:solidFill>
                          <a:latin typeface="Calibri"/>
                        </a:rPr>
                        <a:t>Note</a:t>
                      </a:r>
                    </a:p>
                  </a:txBody>
                  <a:tcPr marL="45720" marR="45720" marT="0" marB="0" anchor="ctr">
                    <a:lnL w="12700">
                      <a:noFill/>
                    </a:lnL>
                    <a:lnR w="12700">
                      <a:noFill/>
                    </a:lnR>
                    <a:lnT w="12700">
                      <a:noFill/>
                    </a:lnT>
                    <a:lnB w="15875">
                      <a:solidFill>
                        <a:srgbClr val="292934"/>
                      </a:solidFill>
                      <a:prstDash val="solid"/>
                    </a:lnB>
                    <a:noFill/>
                  </a:tcPr>
                </a:tc>
                <a:extLst>
                  <a:ext uri="{0D108BD9-81ED-4DB2-BD59-A6C34878D82A}">
                    <a16:rowId xmlns:a16="http://schemas.microsoft.com/office/drawing/2014/main" val="2258394214"/>
                  </a:ext>
                </a:extLst>
              </a:tr>
              <a:tr h="279400">
                <a:tc>
                  <a:txBody>
                    <a:bodyPr/>
                    <a:lstStyle/>
                    <a:p>
                      <a:pPr algn="l"/>
                      <a:r>
                        <a:rPr lang="en-US" sz="800">
                          <a:solidFill>
                            <a:srgbClr val="292934"/>
                          </a:solidFill>
                          <a:latin typeface="Calibri"/>
                        </a:rPr>
                        <a:t>2026</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520.5</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3.04%</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132.7</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653.2</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l"/>
                      <a:r>
                        <a:rPr lang="en-US" sz="800">
                          <a:solidFill>
                            <a:srgbClr val="292934"/>
                          </a:solidFill>
                          <a:latin typeface="Calibri"/>
                        </a:rPr>
                        <a:t>Mostly European bonds at 0.90% to 1.07%</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802157680"/>
                  </a:ext>
                </a:extLst>
              </a:tr>
              <a:tr h="279400">
                <a:tc>
                  <a:txBody>
                    <a:bodyPr/>
                    <a:lstStyle/>
                    <a:p>
                      <a:pPr algn="l"/>
                      <a:r>
                        <a:rPr lang="en-US" sz="800">
                          <a:solidFill>
                            <a:srgbClr val="292934"/>
                          </a:solidFill>
                          <a:latin typeface="Calibri"/>
                        </a:rPr>
                        <a:t>2027</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725.3</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4.85%</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129.2</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854.5</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l"/>
                      <a:endParaRPr lang="en-US" sz="1600"/>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377015153"/>
                  </a:ext>
                </a:extLst>
              </a:tr>
              <a:tr h="279400">
                <a:tc>
                  <a:txBody>
                    <a:bodyPr/>
                    <a:lstStyle/>
                    <a:p>
                      <a:pPr algn="l"/>
                      <a:r>
                        <a:rPr lang="en-US" sz="800">
                          <a:solidFill>
                            <a:srgbClr val="292934"/>
                          </a:solidFill>
                          <a:latin typeface="Calibri"/>
                        </a:rPr>
                        <a:t>2028</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774.8</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3.85%</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50.0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824.8</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l"/>
                      <a:endParaRPr lang="en-US" sz="1600"/>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4178032614"/>
                  </a:ext>
                </a:extLst>
              </a:tr>
              <a:tr h="279400">
                <a:tc>
                  <a:txBody>
                    <a:bodyPr/>
                    <a:lstStyle/>
                    <a:p>
                      <a:pPr algn="l"/>
                      <a:r>
                        <a:rPr lang="en-US" sz="800">
                          <a:solidFill>
                            <a:srgbClr val="292934"/>
                          </a:solidFill>
                          <a:latin typeface="Calibri"/>
                        </a:rPr>
                        <a:t>2029</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544.5</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5.03%</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362.9</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907.4</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l"/>
                      <a:endParaRPr lang="en-US" sz="1600"/>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1034611546"/>
                  </a:ext>
                </a:extLst>
              </a:tr>
              <a:tr h="279400">
                <a:tc>
                  <a:txBody>
                    <a:bodyPr/>
                    <a:lstStyle/>
                    <a:p>
                      <a:pPr algn="l"/>
                      <a:r>
                        <a:rPr lang="en-US" sz="800">
                          <a:solidFill>
                            <a:srgbClr val="292934"/>
                          </a:solidFill>
                          <a:latin typeface="Calibri"/>
                        </a:rPr>
                        <a:t>2030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657.4</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3.99%</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3,003.0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3,660.4</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l"/>
                      <a:r>
                        <a:rPr lang="en-US" sz="800">
                          <a:solidFill>
                            <a:srgbClr val="292934"/>
                          </a:solidFill>
                          <a:latin typeface="Calibri"/>
                        </a:rPr>
                        <a:t>Includes GABX term loan $2,959.0M at 5.02%, SOFR-based, GATX-guaranteed</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997765139"/>
                  </a:ext>
                </a:extLst>
              </a:tr>
              <a:tr h="279400">
                <a:tc>
                  <a:txBody>
                    <a:bodyPr/>
                    <a:lstStyle/>
                    <a:p>
                      <a:pPr algn="l"/>
                      <a:r>
                        <a:rPr lang="en-US" sz="800">
                          <a:solidFill>
                            <a:srgbClr val="292934"/>
                          </a:solidFill>
                          <a:latin typeface="Calibri"/>
                        </a:rPr>
                        <a:t>Thereafter</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~5,452</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not disclosed</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~152.7</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5,605.0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l"/>
                      <a:r>
                        <a:rPr lang="en-US" sz="800">
                          <a:solidFill>
                            <a:srgbClr val="292934"/>
                          </a:solidFill>
                          <a:latin typeface="Calibri"/>
                        </a:rPr>
                        <a:t>Aggregate only in Note 8; split is derived</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extLst>
                  <a:ext uri="{0D108BD9-81ED-4DB2-BD59-A6C34878D82A}">
                    <a16:rowId xmlns:a16="http://schemas.microsoft.com/office/drawing/2014/main" val="3135832544"/>
                  </a:ext>
                </a:extLst>
              </a:tr>
              <a:tr h="279400">
                <a:tc>
                  <a:txBody>
                    <a:bodyPr/>
                    <a:lstStyle/>
                    <a:p>
                      <a:pPr algn="l"/>
                      <a:r>
                        <a:rPr lang="en-US" sz="800" b="1">
                          <a:solidFill>
                            <a:srgbClr val="292934"/>
                          </a:solidFill>
                          <a:latin typeface="Calibri"/>
                        </a:rPr>
                        <a:t>Total</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~8,675</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600"/>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3,830.5</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12,505.3</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l"/>
                      <a:endParaRPr lang="en-US" sz="1600"/>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192348423"/>
                  </a:ext>
                </a:extLst>
              </a:tr>
            </a:tbl>
          </a:graphicData>
        </a:graphic>
      </p:graphicFrame>
      <p:graphicFrame>
        <p:nvGraphicFramePr>
          <p:cNvPr id="8" name="Table 7">
            <a:extLst>
              <a:ext uri="{FF2B5EF4-FFF2-40B4-BE49-F238E27FC236}">
                <a16:creationId xmlns:a16="http://schemas.microsoft.com/office/drawing/2014/main" id="{EA59156E-96C2-4358-AEF7-9F57365C5742}"/>
              </a:ext>
            </a:extLst>
          </p:cNvPr>
          <p:cNvGraphicFramePr>
            <a:graphicFrameLocks noGrp="1"/>
          </p:cNvGraphicFramePr>
          <p:nvPr/>
        </p:nvGraphicFramePr>
        <p:xfrm>
          <a:off x="152400" y="3810000"/>
          <a:ext cx="4318000" cy="2044700"/>
        </p:xfrm>
        <a:graphic>
          <a:graphicData uri="http://schemas.openxmlformats.org/drawingml/2006/table">
            <a:tbl>
              <a:tblPr/>
              <a:tblGrid>
                <a:gridCol w="3048000">
                  <a:extLst>
                    <a:ext uri="{9D8B030D-6E8A-4147-A177-3AD203B41FA5}">
                      <a16:colId xmlns:a16="http://schemas.microsoft.com/office/drawing/2014/main" val="1252338881"/>
                    </a:ext>
                  </a:extLst>
                </a:gridCol>
                <a:gridCol w="1270000">
                  <a:extLst>
                    <a:ext uri="{9D8B030D-6E8A-4147-A177-3AD203B41FA5}">
                      <a16:colId xmlns:a16="http://schemas.microsoft.com/office/drawing/2014/main" val="4161335388"/>
                    </a:ext>
                  </a:extLst>
                </a:gridCol>
              </a:tblGrid>
              <a:tr h="292100">
                <a:tc>
                  <a:txBody>
                    <a:bodyPr/>
                    <a:lstStyle/>
                    <a:p>
                      <a:pPr algn="l"/>
                      <a:r>
                        <a:rPr lang="en-US" sz="800" b="1">
                          <a:solidFill>
                            <a:srgbClr val="292934"/>
                          </a:solidFill>
                          <a:latin typeface="Calibri"/>
                        </a:rPr>
                        <a:t>Item</a:t>
                      </a:r>
                    </a:p>
                  </a:txBody>
                  <a:tcPr marL="45720" marR="45720" marT="0" marB="0" anchor="ctr">
                    <a:lnL w="12700">
                      <a:noFill/>
                    </a:lnL>
                    <a:lnR w="12700">
                      <a:noFill/>
                    </a:lnR>
                    <a:lnT w="12700">
                      <a:noFill/>
                    </a:lnT>
                    <a:lnB w="15875">
                      <a:solidFill>
                        <a:srgbClr val="292934"/>
                      </a:solidFill>
                      <a:prstDash val="solid"/>
                    </a:lnB>
                    <a:noFill/>
                  </a:tcPr>
                </a:tc>
                <a:tc>
                  <a:txBody>
                    <a:bodyPr/>
                    <a:lstStyle/>
                    <a:p>
                      <a:pPr algn="r"/>
                      <a:r>
                        <a:rPr lang="en-US" sz="800" b="1">
                          <a:solidFill>
                            <a:srgbClr val="292934"/>
                          </a:solidFill>
                          <a:latin typeface="Calibri"/>
                        </a:rPr>
                        <a:t>$M</a:t>
                      </a:r>
                    </a:p>
                  </a:txBody>
                  <a:tcPr marL="45720" marR="45720" marT="0" marB="0" anchor="ctr">
                    <a:lnL w="12700">
                      <a:noFill/>
                    </a:lnL>
                    <a:lnR w="12700">
                      <a:noFill/>
                    </a:lnR>
                    <a:lnT w="12700">
                      <a:noFill/>
                    </a:lnT>
                    <a:lnB w="15875">
                      <a:solidFill>
                        <a:srgbClr val="292934"/>
                      </a:solidFill>
                      <a:prstDash val="solid"/>
                    </a:lnB>
                    <a:noFill/>
                  </a:tcPr>
                </a:tc>
                <a:extLst>
                  <a:ext uri="{0D108BD9-81ED-4DB2-BD59-A6C34878D82A}">
                    <a16:rowId xmlns:a16="http://schemas.microsoft.com/office/drawing/2014/main" val="894935951"/>
                  </a:ext>
                </a:extLst>
              </a:tr>
              <a:tr h="292100">
                <a:tc>
                  <a:txBody>
                    <a:bodyPr/>
                    <a:lstStyle/>
                    <a:p>
                      <a:pPr algn="l"/>
                      <a:r>
                        <a:rPr lang="en-US" sz="800">
                          <a:solidFill>
                            <a:srgbClr val="292934"/>
                          </a:solidFill>
                          <a:latin typeface="Calibri"/>
                        </a:rPr>
                        <a:t>Gross floating-rate debt</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3,830.5</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4131079758"/>
                  </a:ext>
                </a:extLst>
              </a:tr>
              <a:tr h="292100">
                <a:tc>
                  <a:txBody>
                    <a:bodyPr/>
                    <a:lstStyle/>
                    <a:p>
                      <a:pPr algn="l"/>
                      <a:r>
                        <a:rPr lang="en-US" sz="800">
                          <a:solidFill>
                            <a:srgbClr val="292934"/>
                          </a:solidFill>
                          <a:latin typeface="Calibri"/>
                        </a:rPr>
                        <a:t>Less: cash flow hedges (floating to fixed swaps)</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(1,754.4)</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1321774396"/>
                  </a:ext>
                </a:extLst>
              </a:tr>
              <a:tr h="292100">
                <a:tc>
                  <a:txBody>
                    <a:bodyPr/>
                    <a:lstStyle/>
                    <a:p>
                      <a:pPr algn="l"/>
                      <a:r>
                        <a:rPr lang="en-US" sz="800">
                          <a:solidFill>
                            <a:srgbClr val="292934"/>
                          </a:solidFill>
                          <a:latin typeface="Calibri"/>
                        </a:rPr>
                        <a:t>Plus: fair value hedges (fixed to floating)</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50.0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extLst>
                  <a:ext uri="{0D108BD9-81ED-4DB2-BD59-A6C34878D82A}">
                    <a16:rowId xmlns:a16="http://schemas.microsoft.com/office/drawing/2014/main" val="4006229365"/>
                  </a:ext>
                </a:extLst>
              </a:tr>
              <a:tr h="292100">
                <a:tc>
                  <a:txBody>
                    <a:bodyPr/>
                    <a:lstStyle/>
                    <a:p>
                      <a:pPr algn="l"/>
                      <a:r>
                        <a:rPr lang="en-US" sz="800" b="1">
                          <a:solidFill>
                            <a:srgbClr val="292934"/>
                          </a:solidFill>
                          <a:latin typeface="Calibri"/>
                        </a:rPr>
                        <a:t>Net floating exposure</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2,126.1</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492743105"/>
                  </a:ext>
                </a:extLst>
              </a:tr>
              <a:tr h="292100">
                <a:tc>
                  <a:txBody>
                    <a:bodyPr/>
                    <a:lstStyle/>
                    <a:p>
                      <a:pPr algn="l"/>
                      <a:r>
                        <a:rPr lang="en-US" sz="800">
                          <a:solidFill>
                            <a:srgbClr val="292934"/>
                          </a:solidFill>
                          <a:latin typeface="Calibri"/>
                        </a:rPr>
                        <a:t>100bp sensitivity, pretax</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21.3</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extLst>
                  <a:ext uri="{0D108BD9-81ED-4DB2-BD59-A6C34878D82A}">
                    <a16:rowId xmlns:a16="http://schemas.microsoft.com/office/drawing/2014/main" val="4194392102"/>
                  </a:ext>
                </a:extLst>
              </a:tr>
              <a:tr h="292100">
                <a:tc>
                  <a:txBody>
                    <a:bodyPr/>
                    <a:lstStyle/>
                    <a:p>
                      <a:pPr algn="l"/>
                      <a:r>
                        <a:rPr lang="en-US" sz="800" b="1">
                          <a:solidFill>
                            <a:srgbClr val="292934"/>
                          </a:solidFill>
                          <a:latin typeface="Calibri"/>
                        </a:rPr>
                        <a:t>100bp sensitivity, per share</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$0.45</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781449367"/>
                  </a:ext>
                </a:extLst>
              </a:tr>
            </a:tbl>
          </a:graphicData>
        </a:graphic>
      </p:graphicFrame>
    </p:spTree>
    <p:extLst>
      <p:ext uri="{BB962C8B-B14F-4D97-AF65-F5344CB8AC3E}">
        <p14:creationId xmlns:p14="http://schemas.microsoft.com/office/powerpoint/2010/main" val="7671089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FSPANMODE" val="span"/>
</p:tagLst>
</file>

<file path=ppt/tags/tag2.xml><?xml version="1.0" encoding="utf-8"?>
<p:tagLst xmlns:a="http://schemas.openxmlformats.org/drawingml/2006/main" xmlns:r="http://schemas.openxmlformats.org/officeDocument/2006/relationships" xmlns:p="http://schemas.openxmlformats.org/presentationml/2006/main">
  <p:tag name="AFSPANMODE" val="span"/>
</p:tagLst>
</file>

<file path=ppt/tags/tag3.xml><?xml version="1.0" encoding="utf-8"?>
<p:tagLst xmlns:a="http://schemas.openxmlformats.org/drawingml/2006/main" xmlns:r="http://schemas.openxmlformats.org/officeDocument/2006/relationships" xmlns:p="http://schemas.openxmlformats.org/presentationml/2006/main">
  <p:tag name="AFSPANMODE" val="span"/>
</p:tagLst>
</file>

<file path=ppt/tags/tag4.xml><?xml version="1.0" encoding="utf-8"?>
<p:tagLst xmlns:a="http://schemas.openxmlformats.org/drawingml/2006/main" xmlns:r="http://schemas.openxmlformats.org/officeDocument/2006/relationships" xmlns:p="http://schemas.openxmlformats.org/presentationml/2006/main">
  <p:tag name="AFSPANMODE" val="span"/>
</p:tagLst>
</file>

<file path=ppt/tags/tag5.xml><?xml version="1.0" encoding="utf-8"?>
<p:tagLst xmlns:a="http://schemas.openxmlformats.org/drawingml/2006/main" xmlns:r="http://schemas.openxmlformats.org/officeDocument/2006/relationships" xmlns:p="http://schemas.openxmlformats.org/presentationml/2006/main">
  <p:tag name="AFSPANMODE" val="span"/>
</p:tagLst>
</file>

<file path=ppt/tags/tag6.xml><?xml version="1.0" encoding="utf-8"?>
<p:tagLst xmlns:a="http://schemas.openxmlformats.org/drawingml/2006/main" xmlns:r="http://schemas.openxmlformats.org/officeDocument/2006/relationships" xmlns:p="http://schemas.openxmlformats.org/presentationml/2006/main">
  <p:tag name="AFSPANMODE" val="span"/>
</p:tagLst>
</file>

<file path=ppt/tags/tag7.xml><?xml version="1.0" encoding="utf-8"?>
<p:tagLst xmlns:a="http://schemas.openxmlformats.org/drawingml/2006/main" xmlns:r="http://schemas.openxmlformats.org/officeDocument/2006/relationships" xmlns:p="http://schemas.openxmlformats.org/presentationml/2006/main">
  <p:tag name="AFSPANMODE" val="span"/>
</p:tagLst>
</file>

<file path=ppt/tags/tag8.xml><?xml version="1.0" encoding="utf-8"?>
<p:tagLst xmlns:a="http://schemas.openxmlformats.org/drawingml/2006/main" xmlns:r="http://schemas.openxmlformats.org/officeDocument/2006/relationships" xmlns:p="http://schemas.openxmlformats.org/presentationml/2006/main">
  <p:tag name="AFSPANMODE" val="span"/>
</p:tagLst>
</file>

<file path=ppt/tags/tag9.xml><?xml version="1.0" encoding="utf-8"?>
<p:tagLst xmlns:a="http://schemas.openxmlformats.org/drawingml/2006/main" xmlns:r="http://schemas.openxmlformats.org/officeDocument/2006/relationships" xmlns:p="http://schemas.openxmlformats.org/presentationml/2006/main">
  <p:tag name="AFSPANMODE" val="span"/>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ustom 2">
      <a:dk1>
        <a:srgbClr val="292934"/>
      </a:dk1>
      <a:lt1>
        <a:srgbClr val="FFFFFF"/>
      </a:lt1>
      <a:dk2>
        <a:srgbClr val="D2533C"/>
      </a:dk2>
      <a:lt2>
        <a:srgbClr val="F3F2DC"/>
      </a:lt2>
      <a:accent1>
        <a:srgbClr val="FFFFFF"/>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
    <a:dk1>
      <a:srgbClr val="292934"/>
    </a:dk1>
    <a:lt1>
      <a:srgbClr val="FFFFFF"/>
    </a:lt1>
    <a:dk2>
      <a:srgbClr val="D2533C"/>
    </a:dk2>
    <a:lt2>
      <a:srgbClr val="F3F2DC"/>
    </a:lt2>
    <a:accent1>
      <a:srgbClr val="FFFFFF"/>
    </a:accent1>
    <a:accent2>
      <a:srgbClr val="AD8F67"/>
    </a:accent2>
    <a:accent3>
      <a:srgbClr val="726056"/>
    </a:accent3>
    <a:accent4>
      <a:srgbClr val="4C5A6A"/>
    </a:accent4>
    <a:accent5>
      <a:srgbClr val="808DA0"/>
    </a:accent5>
    <a:accent6>
      <a:srgbClr val="79463D"/>
    </a:accent6>
    <a:hlink>
      <a:srgbClr val="0000FF"/>
    </a:hlink>
    <a:folHlink>
      <a:srgbClr val="800080"/>
    </a:folHlink>
  </a:clrScheme>
</a:themeOverride>
</file>

<file path=ppt/theme/themeOverride2.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C96414-B18C-4014-A91C-E0C98E6EE30C}">
  <we:reference id="WA200010725" version="1.0.0.1" store="en-US" storeType="omex"/>
  <we:alternateReferences>
    <we:reference id="WA200010725" version="1.0.0.1" store="omex" storeType="omex"/>
  </we:alternateReferences>
  <we:properties>
    <we:property name="claude.fileId" value="&quot;9f154b7c-544d-409b-91fb-9503ed67f67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Clarity</Template>
  <Application>Microsoft Office PowerPoint</Application>
  <PresentationFormat>On-screen Show (4:3)</PresentationFormat>
  <Slides>33</Slides>
  <Notes>26</Notes>
  <HiddenSlides>0</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Clarity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Tammy Ampomah</dc:creator>
  <cp:revision>22</cp:revision>
  <cp:lastPrinted>2022-12-22T12:33:39Z</cp:lastPrinted>
  <dcterms:created xsi:type="dcterms:W3CDTF">2016-03-02T21:50:28Z</dcterms:created>
  <dcterms:modified xsi:type="dcterms:W3CDTF">2026-09-28T14:56:32Z</dcterms:modified>
</cp:coreProperties>
</file>